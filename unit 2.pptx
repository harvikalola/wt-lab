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heme/themeOverride1.xml" ContentType="application/vnd.openxmlformats-officedocument.themeOverr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6" r:id="rId2"/>
  </p:sldMasterIdLst>
  <p:sldIdLst>
    <p:sldId id="570" r:id="rId3"/>
    <p:sldId id="261" r:id="rId4"/>
    <p:sldId id="259" r:id="rId5"/>
    <p:sldId id="262" r:id="rId6"/>
    <p:sldId id="263" r:id="rId7"/>
    <p:sldId id="264" r:id="rId8"/>
    <p:sldId id="267" r:id="rId9"/>
    <p:sldId id="265"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521" r:id="rId36"/>
    <p:sldId id="522" r:id="rId37"/>
    <p:sldId id="523" r:id="rId38"/>
    <p:sldId id="533" r:id="rId39"/>
    <p:sldId id="534" r:id="rId40"/>
    <p:sldId id="535" r:id="rId41"/>
    <p:sldId id="536" r:id="rId42"/>
    <p:sldId id="538" r:id="rId43"/>
    <p:sldId id="537" r:id="rId44"/>
    <p:sldId id="539" r:id="rId45"/>
    <p:sldId id="541" r:id="rId46"/>
    <p:sldId id="542" r:id="rId47"/>
    <p:sldId id="540" r:id="rId48"/>
    <p:sldId id="543" r:id="rId49"/>
    <p:sldId id="544" r:id="rId50"/>
    <p:sldId id="549" r:id="rId51"/>
    <p:sldId id="550" r:id="rId52"/>
    <p:sldId id="551" r:id="rId53"/>
    <p:sldId id="552" r:id="rId54"/>
    <p:sldId id="553" r:id="rId55"/>
    <p:sldId id="554" r:id="rId56"/>
    <p:sldId id="555" r:id="rId57"/>
    <p:sldId id="556" r:id="rId58"/>
    <p:sldId id="557" r:id="rId59"/>
    <p:sldId id="558" r:id="rId60"/>
    <p:sldId id="559" r:id="rId61"/>
    <p:sldId id="560" r:id="rId62"/>
    <p:sldId id="561" r:id="rId63"/>
    <p:sldId id="562" r:id="rId64"/>
    <p:sldId id="563" r:id="rId65"/>
    <p:sldId id="564" r:id="rId66"/>
    <p:sldId id="565" r:id="rId67"/>
    <p:sldId id="566" r:id="rId68"/>
    <p:sldId id="567" r:id="rId69"/>
    <p:sldId id="568" r:id="rId70"/>
    <p:sldId id="571" r:id="rId71"/>
    <p:sldId id="572" r:id="rId72"/>
    <p:sldId id="573" r:id="rId73"/>
    <p:sldId id="574" r:id="rId74"/>
    <p:sldId id="575" r:id="rId75"/>
    <p:sldId id="576" r:id="rId76"/>
    <p:sldId id="577" r:id="rId77"/>
    <p:sldId id="578" r:id="rId78"/>
    <p:sldId id="579" r:id="rId79"/>
    <p:sldId id="580" r:id="rId80"/>
    <p:sldId id="581" r:id="rId81"/>
    <p:sldId id="583" r:id="rId82"/>
    <p:sldId id="582" r:id="rId83"/>
    <p:sldId id="584" r:id="rId84"/>
    <p:sldId id="585" r:id="rId85"/>
    <p:sldId id="586" r:id="rId86"/>
    <p:sldId id="587" r:id="rId87"/>
    <p:sldId id="588" r:id="rId88"/>
    <p:sldId id="589" r:id="rId89"/>
    <p:sldId id="590" r:id="rId90"/>
    <p:sldId id="591" r:id="rId91"/>
    <p:sldId id="592" r:id="rId92"/>
    <p:sldId id="593" r:id="rId93"/>
    <p:sldId id="594" r:id="rId94"/>
    <p:sldId id="595" r:id="rId95"/>
    <p:sldId id="596" r:id="rId96"/>
    <p:sldId id="597" r:id="rId97"/>
    <p:sldId id="598" r:id="rId98"/>
    <p:sldId id="599" r:id="rId99"/>
    <p:sldId id="600" r:id="rId100"/>
    <p:sldId id="601" r:id="rId101"/>
    <p:sldId id="602" r:id="rId102"/>
    <p:sldId id="603" r:id="rId103"/>
    <p:sldId id="604" r:id="rId104"/>
    <p:sldId id="605" r:id="rId105"/>
    <p:sldId id="606" r:id="rId106"/>
    <p:sldId id="607" r:id="rId107"/>
    <p:sldId id="608" r:id="rId108"/>
    <p:sldId id="609" r:id="rId109"/>
    <p:sldId id="610" r:id="rId110"/>
    <p:sldId id="611" r:id="rId111"/>
    <p:sldId id="612" r:id="rId112"/>
    <p:sldId id="613" r:id="rId113"/>
    <p:sldId id="614" r:id="rId114"/>
    <p:sldId id="615" r:id="rId115"/>
    <p:sldId id="616" r:id="rId116"/>
    <p:sldId id="617" r:id="rId117"/>
    <p:sldId id="633" r:id="rId118"/>
    <p:sldId id="635" r:id="rId119"/>
    <p:sldId id="636" r:id="rId120"/>
    <p:sldId id="637" r:id="rId121"/>
    <p:sldId id="634" r:id="rId122"/>
    <p:sldId id="639" r:id="rId123"/>
    <p:sldId id="640" r:id="rId124"/>
    <p:sldId id="642" r:id="rId125"/>
    <p:sldId id="644" r:id="rId126"/>
    <p:sldId id="645" r:id="rId127"/>
    <p:sldId id="646" r:id="rId128"/>
    <p:sldId id="647" r:id="rId129"/>
    <p:sldId id="650" r:id="rId130"/>
    <p:sldId id="649" r:id="rId131"/>
    <p:sldId id="651" r:id="rId132"/>
    <p:sldId id="653" r:id="rId133"/>
    <p:sldId id="655" r:id="rId134"/>
    <p:sldId id="656" r:id="rId135"/>
    <p:sldId id="657" r:id="rId136"/>
    <p:sldId id="658" r:id="rId137"/>
    <p:sldId id="659" r:id="rId138"/>
    <p:sldId id="648" r:id="rId139"/>
    <p:sldId id="660" r:id="rId140"/>
    <p:sldId id="661" r:id="rId141"/>
    <p:sldId id="652" r:id="rId142"/>
    <p:sldId id="662" r:id="rId143"/>
    <p:sldId id="641" r:id="rId144"/>
    <p:sldId id="663" r:id="rId145"/>
    <p:sldId id="664" r:id="rId146"/>
    <p:sldId id="666" r:id="rId147"/>
    <p:sldId id="667" r:id="rId148"/>
    <p:sldId id="668" r:id="rId149"/>
    <p:sldId id="670" r:id="rId150"/>
    <p:sldId id="671" r:id="rId151"/>
    <p:sldId id="675" r:id="rId152"/>
    <p:sldId id="673" r:id="rId153"/>
    <p:sldId id="674" r:id="rId154"/>
    <p:sldId id="676" r:id="rId155"/>
    <p:sldId id="677" r:id="rId156"/>
    <p:sldId id="678" r:id="rId157"/>
    <p:sldId id="679" r:id="rId158"/>
    <p:sldId id="680" r:id="rId159"/>
    <p:sldId id="681" r:id="rId160"/>
    <p:sldId id="682" r:id="rId161"/>
    <p:sldId id="683" r:id="rId162"/>
    <p:sldId id="684" r:id="rId163"/>
    <p:sldId id="685" r:id="rId164"/>
    <p:sldId id="686" r:id="rId165"/>
    <p:sldId id="687" r:id="rId166"/>
    <p:sldId id="688" r:id="rId167"/>
    <p:sldId id="689" r:id="rId168"/>
    <p:sldId id="690" r:id="rId169"/>
    <p:sldId id="691" r:id="rId170"/>
    <p:sldId id="692" r:id="rId171"/>
    <p:sldId id="693" r:id="rId172"/>
    <p:sldId id="694" r:id="rId173"/>
    <p:sldId id="695" r:id="rId174"/>
    <p:sldId id="696" r:id="rId175"/>
    <p:sldId id="697" r:id="rId176"/>
    <p:sldId id="698" r:id="rId177"/>
    <p:sldId id="699" r:id="rId178"/>
    <p:sldId id="700" r:id="rId179"/>
    <p:sldId id="701" r:id="rId180"/>
    <p:sldId id="702" r:id="rId181"/>
    <p:sldId id="703" r:id="rId182"/>
    <p:sldId id="704" r:id="rId183"/>
    <p:sldId id="705" r:id="rId184"/>
    <p:sldId id="706" r:id="rId185"/>
    <p:sldId id="707" r:id="rId186"/>
    <p:sldId id="708" r:id="rId187"/>
    <p:sldId id="709" r:id="rId188"/>
    <p:sldId id="710" r:id="rId189"/>
    <p:sldId id="711" r:id="rId190"/>
    <p:sldId id="712" r:id="rId191"/>
    <p:sldId id="713" r:id="rId192"/>
    <p:sldId id="714" r:id="rId193"/>
    <p:sldId id="715" r:id="rId194"/>
    <p:sldId id="716" r:id="rId195"/>
    <p:sldId id="717" r:id="rId196"/>
    <p:sldId id="718" r:id="rId197"/>
    <p:sldId id="719" r:id="rId198"/>
    <p:sldId id="720" r:id="rId199"/>
    <p:sldId id="724" r:id="rId200"/>
    <p:sldId id="722" r:id="rId201"/>
    <p:sldId id="723" r:id="rId202"/>
    <p:sldId id="721" r:id="rId203"/>
    <p:sldId id="725" r:id="rId204"/>
    <p:sldId id="726" r:id="rId205"/>
    <p:sldId id="727" r:id="rId206"/>
    <p:sldId id="728" r:id="rId207"/>
    <p:sldId id="258" r:id="rId2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5" d="100"/>
          <a:sy n="85" d="100"/>
        </p:scale>
        <p:origin x="547"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slide" Target="slides/slide206.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presProps" Target="presProps.xml"/><Relationship Id="rId190" Type="http://schemas.openxmlformats.org/officeDocument/2006/relationships/slide" Target="slides/slide188.xml"/><Relationship Id="rId204" Type="http://schemas.openxmlformats.org/officeDocument/2006/relationships/slide" Target="slides/slide202.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viewProps" Target="viewProps.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theme" Target="theme/theme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tableStyles" Target="tableStyles.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D5015E-67BD-4AA8-9638-000A26CBB814}" type="doc">
      <dgm:prSet loTypeId="urn:microsoft.com/office/officeart/2005/8/layout/list1" loCatId="list" qsTypeId="urn:microsoft.com/office/officeart/2005/8/quickstyle/simple1#1" qsCatId="simple" csTypeId="urn:microsoft.com/office/officeart/2005/8/colors/accent1_2#1" csCatId="accent1" phldr="1"/>
      <dgm:spPr/>
      <dgm:t>
        <a:bodyPr/>
        <a:lstStyle/>
        <a:p>
          <a:endParaRPr lang="en-IN"/>
        </a:p>
      </dgm:t>
    </dgm:pt>
    <dgm:pt modelId="{9EBB50EC-18DB-420D-A30C-B78257F0A544}">
      <dgm:prSet phldrT="[Text]"/>
      <dgm:spPr/>
      <dgm:t>
        <a:bodyPr/>
        <a:lstStyle/>
        <a:p>
          <a:r>
            <a:rPr lang="en-US" dirty="0"/>
            <a:t>CSS Saves Time</a:t>
          </a:r>
          <a:endParaRPr lang="en-IN" dirty="0"/>
        </a:p>
      </dgm:t>
    </dgm:pt>
    <dgm:pt modelId="{74CA34F1-AE31-4BEE-8DA7-1A52689AF162}" type="parTrans" cxnId="{34645DD4-65CD-42FF-AFFD-C092C16D83D7}">
      <dgm:prSet/>
      <dgm:spPr/>
      <dgm:t>
        <a:bodyPr/>
        <a:lstStyle/>
        <a:p>
          <a:endParaRPr lang="en-IN"/>
        </a:p>
      </dgm:t>
    </dgm:pt>
    <dgm:pt modelId="{2837EB98-A747-46FA-AC22-8B7531BF3568}" type="sibTrans" cxnId="{34645DD4-65CD-42FF-AFFD-C092C16D83D7}">
      <dgm:prSet/>
      <dgm:spPr/>
      <dgm:t>
        <a:bodyPr/>
        <a:lstStyle/>
        <a:p>
          <a:endParaRPr lang="en-IN"/>
        </a:p>
      </dgm:t>
    </dgm:pt>
    <dgm:pt modelId="{C98265BC-C93F-4EDD-A262-EC199FEEE7A3}">
      <dgm:prSet/>
      <dgm:spPr/>
      <dgm:t>
        <a:bodyPr/>
        <a:lstStyle/>
        <a:p>
          <a:r>
            <a:rPr lang="en-IN" dirty="0"/>
            <a:t>Pages load faster </a:t>
          </a:r>
        </a:p>
      </dgm:t>
    </dgm:pt>
    <dgm:pt modelId="{0A5BF1FA-C4BB-49FA-8170-CBE5D003CB30}" type="parTrans" cxnId="{4A2CC800-8C2B-4DE7-A02C-223A7784F3FE}">
      <dgm:prSet/>
      <dgm:spPr/>
      <dgm:t>
        <a:bodyPr/>
        <a:lstStyle/>
        <a:p>
          <a:endParaRPr lang="en-IN"/>
        </a:p>
      </dgm:t>
    </dgm:pt>
    <dgm:pt modelId="{FFB72276-3F9C-4C87-A818-5B8FC3C0EFAA}" type="sibTrans" cxnId="{4A2CC800-8C2B-4DE7-A02C-223A7784F3FE}">
      <dgm:prSet/>
      <dgm:spPr/>
      <dgm:t>
        <a:bodyPr/>
        <a:lstStyle/>
        <a:p>
          <a:endParaRPr lang="en-IN"/>
        </a:p>
      </dgm:t>
    </dgm:pt>
    <dgm:pt modelId="{BAFA36F7-26BC-4280-9B7C-5923014F68BD}">
      <dgm:prSet/>
      <dgm:spPr/>
      <dgm:t>
        <a:bodyPr/>
        <a:lstStyle/>
        <a:p>
          <a:r>
            <a:rPr lang="en-IN"/>
            <a:t>Easy maintenance </a:t>
          </a:r>
        </a:p>
      </dgm:t>
    </dgm:pt>
    <dgm:pt modelId="{8A66A216-A8B0-4056-BB7B-4FBDC2D032F1}" type="parTrans" cxnId="{C1E74AC4-29EE-4562-940B-8A195206041E}">
      <dgm:prSet/>
      <dgm:spPr/>
      <dgm:t>
        <a:bodyPr/>
        <a:lstStyle/>
        <a:p>
          <a:endParaRPr lang="en-IN"/>
        </a:p>
      </dgm:t>
    </dgm:pt>
    <dgm:pt modelId="{305A6C7C-B2A0-46F4-9167-ADC6B6644C49}" type="sibTrans" cxnId="{C1E74AC4-29EE-4562-940B-8A195206041E}">
      <dgm:prSet/>
      <dgm:spPr/>
      <dgm:t>
        <a:bodyPr/>
        <a:lstStyle/>
        <a:p>
          <a:endParaRPr lang="en-IN"/>
        </a:p>
      </dgm:t>
    </dgm:pt>
    <dgm:pt modelId="{F7910670-F669-460F-95FB-A9F953664B30}">
      <dgm:prSet/>
      <dgm:spPr/>
      <dgm:t>
        <a:bodyPr/>
        <a:lstStyle/>
        <a:p>
          <a:r>
            <a:rPr lang="en-IN"/>
            <a:t>Superior styles to HTML </a:t>
          </a:r>
        </a:p>
      </dgm:t>
    </dgm:pt>
    <dgm:pt modelId="{B81B1D9C-945F-4A71-8569-819B6EFD8D74}" type="parTrans" cxnId="{9BA7843B-E833-429C-8D64-3F8A7AFA13BF}">
      <dgm:prSet/>
      <dgm:spPr/>
      <dgm:t>
        <a:bodyPr/>
        <a:lstStyle/>
        <a:p>
          <a:endParaRPr lang="en-IN"/>
        </a:p>
      </dgm:t>
    </dgm:pt>
    <dgm:pt modelId="{75CD4C1B-72B6-4EE3-936C-E470EC918A58}" type="sibTrans" cxnId="{9BA7843B-E833-429C-8D64-3F8A7AFA13BF}">
      <dgm:prSet/>
      <dgm:spPr/>
      <dgm:t>
        <a:bodyPr/>
        <a:lstStyle/>
        <a:p>
          <a:endParaRPr lang="en-IN"/>
        </a:p>
      </dgm:t>
    </dgm:pt>
    <dgm:pt modelId="{A45E7ED1-FF5C-4797-9580-4C5C5839FA19}">
      <dgm:prSet/>
      <dgm:spPr/>
      <dgm:t>
        <a:bodyPr/>
        <a:lstStyle/>
        <a:p>
          <a:r>
            <a:rPr lang="en-IN" dirty="0"/>
            <a:t>Multiple Device Compatibility </a:t>
          </a:r>
        </a:p>
      </dgm:t>
    </dgm:pt>
    <dgm:pt modelId="{9C3F3A97-DD0D-48EC-BB3A-68F902055DDD}" type="parTrans" cxnId="{9321241E-C8E2-4C3D-A879-663C3FACC948}">
      <dgm:prSet/>
      <dgm:spPr/>
      <dgm:t>
        <a:bodyPr/>
        <a:lstStyle/>
        <a:p>
          <a:endParaRPr lang="en-IN"/>
        </a:p>
      </dgm:t>
    </dgm:pt>
    <dgm:pt modelId="{8A3929B7-3F92-4E08-B815-A2DBBC722659}" type="sibTrans" cxnId="{9321241E-C8E2-4C3D-A879-663C3FACC948}">
      <dgm:prSet/>
      <dgm:spPr/>
      <dgm:t>
        <a:bodyPr/>
        <a:lstStyle/>
        <a:p>
          <a:endParaRPr lang="en-IN"/>
        </a:p>
      </dgm:t>
    </dgm:pt>
    <dgm:pt modelId="{DBEAECA3-AD70-42E6-9926-24D67A5854F3}">
      <dgm:prSet/>
      <dgm:spPr/>
      <dgm:t>
        <a:bodyPr/>
        <a:lstStyle/>
        <a:p>
          <a:r>
            <a:rPr lang="en-IN" dirty="0"/>
            <a:t>Offline Browsing </a:t>
          </a:r>
        </a:p>
      </dgm:t>
    </dgm:pt>
    <dgm:pt modelId="{317D3E14-3A06-4823-A4C3-24D27698709D}" type="parTrans" cxnId="{9B71696E-F614-4550-B2D1-66ADCE2F3115}">
      <dgm:prSet/>
      <dgm:spPr/>
      <dgm:t>
        <a:bodyPr/>
        <a:lstStyle/>
        <a:p>
          <a:endParaRPr lang="en-IN"/>
        </a:p>
      </dgm:t>
    </dgm:pt>
    <dgm:pt modelId="{46CFB994-5945-4874-BEC1-EC89EEFDAE6D}" type="sibTrans" cxnId="{9B71696E-F614-4550-B2D1-66ADCE2F3115}">
      <dgm:prSet/>
      <dgm:spPr/>
      <dgm:t>
        <a:bodyPr/>
        <a:lstStyle/>
        <a:p>
          <a:endParaRPr lang="en-IN"/>
        </a:p>
      </dgm:t>
    </dgm:pt>
    <dgm:pt modelId="{7E30655D-D16B-42A9-8CC0-E6F7D230D49D}">
      <dgm:prSet/>
      <dgm:spPr/>
      <dgm:t>
        <a:bodyPr/>
        <a:lstStyle/>
        <a:p>
          <a:r>
            <a:rPr lang="en-IN" dirty="0"/>
            <a:t>Platform Independence </a:t>
          </a:r>
        </a:p>
      </dgm:t>
    </dgm:pt>
    <dgm:pt modelId="{6067C9CB-5FE6-477C-BAC7-429925E258E9}" type="parTrans" cxnId="{C77C0D7F-06C4-4A2C-8004-9E792647E266}">
      <dgm:prSet/>
      <dgm:spPr/>
      <dgm:t>
        <a:bodyPr/>
        <a:lstStyle/>
        <a:p>
          <a:endParaRPr lang="en-IN"/>
        </a:p>
      </dgm:t>
    </dgm:pt>
    <dgm:pt modelId="{1690B8CD-F469-4562-83A0-622D6732FED6}" type="sibTrans" cxnId="{C77C0D7F-06C4-4A2C-8004-9E792647E266}">
      <dgm:prSet/>
      <dgm:spPr/>
      <dgm:t>
        <a:bodyPr/>
        <a:lstStyle/>
        <a:p>
          <a:endParaRPr lang="en-IN"/>
        </a:p>
      </dgm:t>
    </dgm:pt>
    <dgm:pt modelId="{137C97D4-CF77-4461-A357-EEEF649A150B}" type="pres">
      <dgm:prSet presAssocID="{FDD5015E-67BD-4AA8-9638-000A26CBB814}" presName="linear" presStyleCnt="0">
        <dgm:presLayoutVars>
          <dgm:dir/>
          <dgm:animLvl val="lvl"/>
          <dgm:resizeHandles val="exact"/>
        </dgm:presLayoutVars>
      </dgm:prSet>
      <dgm:spPr/>
    </dgm:pt>
    <dgm:pt modelId="{38737D66-C581-45A5-BDC0-ED1B833E8C62}" type="pres">
      <dgm:prSet presAssocID="{9EBB50EC-18DB-420D-A30C-B78257F0A544}" presName="parentLin" presStyleCnt="0"/>
      <dgm:spPr/>
    </dgm:pt>
    <dgm:pt modelId="{65B537F2-A990-4938-A1F8-3F870AAB9815}" type="pres">
      <dgm:prSet presAssocID="{9EBB50EC-18DB-420D-A30C-B78257F0A544}" presName="parentLeftMargin" presStyleLbl="node1" presStyleIdx="0" presStyleCnt="7"/>
      <dgm:spPr/>
    </dgm:pt>
    <dgm:pt modelId="{440A2CE1-DA1D-4562-8822-ACAEEBB74271}" type="pres">
      <dgm:prSet presAssocID="{9EBB50EC-18DB-420D-A30C-B78257F0A544}" presName="parentText" presStyleLbl="node1" presStyleIdx="0" presStyleCnt="7">
        <dgm:presLayoutVars>
          <dgm:chMax val="0"/>
          <dgm:bulletEnabled val="1"/>
        </dgm:presLayoutVars>
      </dgm:prSet>
      <dgm:spPr/>
    </dgm:pt>
    <dgm:pt modelId="{98C05F33-857E-4531-B844-06496758E105}" type="pres">
      <dgm:prSet presAssocID="{9EBB50EC-18DB-420D-A30C-B78257F0A544}" presName="negativeSpace" presStyleCnt="0"/>
      <dgm:spPr/>
    </dgm:pt>
    <dgm:pt modelId="{9D5A23E1-19E3-4D96-A8E2-8E7BC94C091E}" type="pres">
      <dgm:prSet presAssocID="{9EBB50EC-18DB-420D-A30C-B78257F0A544}" presName="childText" presStyleLbl="conFgAcc1" presStyleIdx="0" presStyleCnt="7">
        <dgm:presLayoutVars>
          <dgm:bulletEnabled val="1"/>
        </dgm:presLayoutVars>
      </dgm:prSet>
      <dgm:spPr/>
    </dgm:pt>
    <dgm:pt modelId="{A1C3F39D-AA85-452D-8474-9A2FB94106A6}" type="pres">
      <dgm:prSet presAssocID="{2837EB98-A747-46FA-AC22-8B7531BF3568}" presName="spaceBetweenRectangles" presStyleCnt="0"/>
      <dgm:spPr/>
    </dgm:pt>
    <dgm:pt modelId="{B0E6B2FC-19B6-4651-A0DD-5575E2903412}" type="pres">
      <dgm:prSet presAssocID="{A45E7ED1-FF5C-4797-9580-4C5C5839FA19}" presName="parentLin" presStyleCnt="0"/>
      <dgm:spPr/>
    </dgm:pt>
    <dgm:pt modelId="{0F552B6B-6AD8-44B2-8D2C-8DAD730FC03E}" type="pres">
      <dgm:prSet presAssocID="{A45E7ED1-FF5C-4797-9580-4C5C5839FA19}" presName="parentLeftMargin" presStyleLbl="node1" presStyleIdx="0" presStyleCnt="7"/>
      <dgm:spPr/>
    </dgm:pt>
    <dgm:pt modelId="{72A39BEE-D178-4199-ADEA-D92AF05EF377}" type="pres">
      <dgm:prSet presAssocID="{A45E7ED1-FF5C-4797-9580-4C5C5839FA19}" presName="parentText" presStyleLbl="node1" presStyleIdx="1" presStyleCnt="7">
        <dgm:presLayoutVars>
          <dgm:chMax val="0"/>
          <dgm:bulletEnabled val="1"/>
        </dgm:presLayoutVars>
      </dgm:prSet>
      <dgm:spPr/>
    </dgm:pt>
    <dgm:pt modelId="{61E9CA92-DC08-4888-8505-5AC2DAAD7819}" type="pres">
      <dgm:prSet presAssocID="{A45E7ED1-FF5C-4797-9580-4C5C5839FA19}" presName="negativeSpace" presStyleCnt="0"/>
      <dgm:spPr/>
    </dgm:pt>
    <dgm:pt modelId="{B0D35C16-CC4D-4F30-BB06-7AB7269D18A2}" type="pres">
      <dgm:prSet presAssocID="{A45E7ED1-FF5C-4797-9580-4C5C5839FA19}" presName="childText" presStyleLbl="conFgAcc1" presStyleIdx="1" presStyleCnt="7">
        <dgm:presLayoutVars>
          <dgm:bulletEnabled val="1"/>
        </dgm:presLayoutVars>
      </dgm:prSet>
      <dgm:spPr/>
    </dgm:pt>
    <dgm:pt modelId="{D7D57F5D-D66C-49AA-B0F0-A0D3F1F870A1}" type="pres">
      <dgm:prSet presAssocID="{8A3929B7-3F92-4E08-B815-A2DBBC722659}" presName="spaceBetweenRectangles" presStyleCnt="0"/>
      <dgm:spPr/>
    </dgm:pt>
    <dgm:pt modelId="{279E2FB2-5380-4A74-931B-471EC91FD1DA}" type="pres">
      <dgm:prSet presAssocID="{C98265BC-C93F-4EDD-A262-EC199FEEE7A3}" presName="parentLin" presStyleCnt="0"/>
      <dgm:spPr/>
    </dgm:pt>
    <dgm:pt modelId="{83F2D118-8074-4356-9D94-6041086203D5}" type="pres">
      <dgm:prSet presAssocID="{C98265BC-C93F-4EDD-A262-EC199FEEE7A3}" presName="parentLeftMargin" presStyleLbl="node1" presStyleIdx="1" presStyleCnt="7"/>
      <dgm:spPr/>
    </dgm:pt>
    <dgm:pt modelId="{3BE63AE6-CC31-4DA2-8BAC-BF3407B1D2CC}" type="pres">
      <dgm:prSet presAssocID="{C98265BC-C93F-4EDD-A262-EC199FEEE7A3}" presName="parentText" presStyleLbl="node1" presStyleIdx="2" presStyleCnt="7">
        <dgm:presLayoutVars>
          <dgm:chMax val="0"/>
          <dgm:bulletEnabled val="1"/>
        </dgm:presLayoutVars>
      </dgm:prSet>
      <dgm:spPr/>
    </dgm:pt>
    <dgm:pt modelId="{EB9757B7-FD95-404C-A222-ED040D0F24CA}" type="pres">
      <dgm:prSet presAssocID="{C98265BC-C93F-4EDD-A262-EC199FEEE7A3}" presName="negativeSpace" presStyleCnt="0"/>
      <dgm:spPr/>
    </dgm:pt>
    <dgm:pt modelId="{68F34E0E-3F8B-4F9A-8A49-BBDD65DE74AB}" type="pres">
      <dgm:prSet presAssocID="{C98265BC-C93F-4EDD-A262-EC199FEEE7A3}" presName="childText" presStyleLbl="conFgAcc1" presStyleIdx="2" presStyleCnt="7">
        <dgm:presLayoutVars>
          <dgm:bulletEnabled val="1"/>
        </dgm:presLayoutVars>
      </dgm:prSet>
      <dgm:spPr/>
    </dgm:pt>
    <dgm:pt modelId="{DB069B87-6865-407F-A61D-D631C06D80DA}" type="pres">
      <dgm:prSet presAssocID="{FFB72276-3F9C-4C87-A818-5B8FC3C0EFAA}" presName="spaceBetweenRectangles" presStyleCnt="0"/>
      <dgm:spPr/>
    </dgm:pt>
    <dgm:pt modelId="{4C111646-3EE0-437E-A9DA-9153F9D4BE60}" type="pres">
      <dgm:prSet presAssocID="{7E30655D-D16B-42A9-8CC0-E6F7D230D49D}" presName="parentLin" presStyleCnt="0"/>
      <dgm:spPr/>
    </dgm:pt>
    <dgm:pt modelId="{79181688-16CF-494F-96F1-4BAC14382DA5}" type="pres">
      <dgm:prSet presAssocID="{7E30655D-D16B-42A9-8CC0-E6F7D230D49D}" presName="parentLeftMargin" presStyleLbl="node1" presStyleIdx="2" presStyleCnt="7"/>
      <dgm:spPr/>
    </dgm:pt>
    <dgm:pt modelId="{A1B4DA67-9FC1-44A2-BFB2-753DD87B1B04}" type="pres">
      <dgm:prSet presAssocID="{7E30655D-D16B-42A9-8CC0-E6F7D230D49D}" presName="parentText" presStyleLbl="node1" presStyleIdx="3" presStyleCnt="7">
        <dgm:presLayoutVars>
          <dgm:chMax val="0"/>
          <dgm:bulletEnabled val="1"/>
        </dgm:presLayoutVars>
      </dgm:prSet>
      <dgm:spPr/>
    </dgm:pt>
    <dgm:pt modelId="{C8CEF5AB-5592-44BF-8C68-387FFC8473B5}" type="pres">
      <dgm:prSet presAssocID="{7E30655D-D16B-42A9-8CC0-E6F7D230D49D}" presName="negativeSpace" presStyleCnt="0"/>
      <dgm:spPr/>
    </dgm:pt>
    <dgm:pt modelId="{108F68EF-0EF3-4A49-9FA1-8BE6FE02A585}" type="pres">
      <dgm:prSet presAssocID="{7E30655D-D16B-42A9-8CC0-E6F7D230D49D}" presName="childText" presStyleLbl="conFgAcc1" presStyleIdx="3" presStyleCnt="7">
        <dgm:presLayoutVars>
          <dgm:bulletEnabled val="1"/>
        </dgm:presLayoutVars>
      </dgm:prSet>
      <dgm:spPr/>
    </dgm:pt>
    <dgm:pt modelId="{486C827C-1CEB-4B7F-940B-C92A6107C239}" type="pres">
      <dgm:prSet presAssocID="{1690B8CD-F469-4562-83A0-622D6732FED6}" presName="spaceBetweenRectangles" presStyleCnt="0"/>
      <dgm:spPr/>
    </dgm:pt>
    <dgm:pt modelId="{DD91B925-CB29-4578-8F65-EA2903A42EFC}" type="pres">
      <dgm:prSet presAssocID="{DBEAECA3-AD70-42E6-9926-24D67A5854F3}" presName="parentLin" presStyleCnt="0"/>
      <dgm:spPr/>
    </dgm:pt>
    <dgm:pt modelId="{1C36363F-0565-4776-AD96-3C858F9A4B40}" type="pres">
      <dgm:prSet presAssocID="{DBEAECA3-AD70-42E6-9926-24D67A5854F3}" presName="parentLeftMargin" presStyleLbl="node1" presStyleIdx="3" presStyleCnt="7"/>
      <dgm:spPr/>
    </dgm:pt>
    <dgm:pt modelId="{CDC64631-415E-4B64-B391-265C04EDDD47}" type="pres">
      <dgm:prSet presAssocID="{DBEAECA3-AD70-42E6-9926-24D67A5854F3}" presName="parentText" presStyleLbl="node1" presStyleIdx="4" presStyleCnt="7">
        <dgm:presLayoutVars>
          <dgm:chMax val="0"/>
          <dgm:bulletEnabled val="1"/>
        </dgm:presLayoutVars>
      </dgm:prSet>
      <dgm:spPr/>
    </dgm:pt>
    <dgm:pt modelId="{ED2C20DA-A035-4662-A6CE-BF26AC39CECD}" type="pres">
      <dgm:prSet presAssocID="{DBEAECA3-AD70-42E6-9926-24D67A5854F3}" presName="negativeSpace" presStyleCnt="0"/>
      <dgm:spPr/>
    </dgm:pt>
    <dgm:pt modelId="{0D0E9EA5-8B5D-4D5E-B162-3BCADED28B74}" type="pres">
      <dgm:prSet presAssocID="{DBEAECA3-AD70-42E6-9926-24D67A5854F3}" presName="childText" presStyleLbl="conFgAcc1" presStyleIdx="4" presStyleCnt="7">
        <dgm:presLayoutVars>
          <dgm:bulletEnabled val="1"/>
        </dgm:presLayoutVars>
      </dgm:prSet>
      <dgm:spPr/>
    </dgm:pt>
    <dgm:pt modelId="{5DBDE955-C565-4819-8F72-0C11D7771E8C}" type="pres">
      <dgm:prSet presAssocID="{46CFB994-5945-4874-BEC1-EC89EEFDAE6D}" presName="spaceBetweenRectangles" presStyleCnt="0"/>
      <dgm:spPr/>
    </dgm:pt>
    <dgm:pt modelId="{1FD7129C-F558-4213-B1CD-BFBF1CBAFA0E}" type="pres">
      <dgm:prSet presAssocID="{F7910670-F669-460F-95FB-A9F953664B30}" presName="parentLin" presStyleCnt="0"/>
      <dgm:spPr/>
    </dgm:pt>
    <dgm:pt modelId="{BE8620C4-B281-452B-A786-9B4FF3723A1C}" type="pres">
      <dgm:prSet presAssocID="{F7910670-F669-460F-95FB-A9F953664B30}" presName="parentLeftMargin" presStyleLbl="node1" presStyleIdx="4" presStyleCnt="7"/>
      <dgm:spPr/>
    </dgm:pt>
    <dgm:pt modelId="{1EB994AD-64A9-4DDF-B5C8-98E27E484003}" type="pres">
      <dgm:prSet presAssocID="{F7910670-F669-460F-95FB-A9F953664B30}" presName="parentText" presStyleLbl="node1" presStyleIdx="5" presStyleCnt="7">
        <dgm:presLayoutVars>
          <dgm:chMax val="0"/>
          <dgm:bulletEnabled val="1"/>
        </dgm:presLayoutVars>
      </dgm:prSet>
      <dgm:spPr/>
    </dgm:pt>
    <dgm:pt modelId="{B21C0B24-FCD5-4125-9319-80624AEB0046}" type="pres">
      <dgm:prSet presAssocID="{F7910670-F669-460F-95FB-A9F953664B30}" presName="negativeSpace" presStyleCnt="0"/>
      <dgm:spPr/>
    </dgm:pt>
    <dgm:pt modelId="{5D2F0E7A-16A8-438A-87FC-1CCF822A29D8}" type="pres">
      <dgm:prSet presAssocID="{F7910670-F669-460F-95FB-A9F953664B30}" presName="childText" presStyleLbl="conFgAcc1" presStyleIdx="5" presStyleCnt="7">
        <dgm:presLayoutVars>
          <dgm:bulletEnabled val="1"/>
        </dgm:presLayoutVars>
      </dgm:prSet>
      <dgm:spPr/>
    </dgm:pt>
    <dgm:pt modelId="{5510C5A8-0E77-4E89-9A85-9AA4CDAB8EA6}" type="pres">
      <dgm:prSet presAssocID="{75CD4C1B-72B6-4EE3-936C-E470EC918A58}" presName="spaceBetweenRectangles" presStyleCnt="0"/>
      <dgm:spPr/>
    </dgm:pt>
    <dgm:pt modelId="{346DE4EE-4B08-429B-83D3-E43FB69C4EA7}" type="pres">
      <dgm:prSet presAssocID="{BAFA36F7-26BC-4280-9B7C-5923014F68BD}" presName="parentLin" presStyleCnt="0"/>
      <dgm:spPr/>
    </dgm:pt>
    <dgm:pt modelId="{416D0D4B-7695-4534-A92B-F8E26107C510}" type="pres">
      <dgm:prSet presAssocID="{BAFA36F7-26BC-4280-9B7C-5923014F68BD}" presName="parentLeftMargin" presStyleLbl="node1" presStyleIdx="5" presStyleCnt="7"/>
      <dgm:spPr/>
    </dgm:pt>
    <dgm:pt modelId="{6581E3F6-9F6D-4641-9359-2814FFF12EBF}" type="pres">
      <dgm:prSet presAssocID="{BAFA36F7-26BC-4280-9B7C-5923014F68BD}" presName="parentText" presStyleLbl="node1" presStyleIdx="6" presStyleCnt="7">
        <dgm:presLayoutVars>
          <dgm:chMax val="0"/>
          <dgm:bulletEnabled val="1"/>
        </dgm:presLayoutVars>
      </dgm:prSet>
      <dgm:spPr/>
    </dgm:pt>
    <dgm:pt modelId="{F7F080EB-D84F-4DE0-B5B9-62EB521F7349}" type="pres">
      <dgm:prSet presAssocID="{BAFA36F7-26BC-4280-9B7C-5923014F68BD}" presName="negativeSpace" presStyleCnt="0"/>
      <dgm:spPr/>
    </dgm:pt>
    <dgm:pt modelId="{2A0002AA-2ED6-4409-A694-36517E85EA0D}" type="pres">
      <dgm:prSet presAssocID="{BAFA36F7-26BC-4280-9B7C-5923014F68BD}" presName="childText" presStyleLbl="conFgAcc1" presStyleIdx="6" presStyleCnt="7">
        <dgm:presLayoutVars>
          <dgm:bulletEnabled val="1"/>
        </dgm:presLayoutVars>
      </dgm:prSet>
      <dgm:spPr/>
    </dgm:pt>
  </dgm:ptLst>
  <dgm:cxnLst>
    <dgm:cxn modelId="{4A2CC800-8C2B-4DE7-A02C-223A7784F3FE}" srcId="{FDD5015E-67BD-4AA8-9638-000A26CBB814}" destId="{C98265BC-C93F-4EDD-A262-EC199FEEE7A3}" srcOrd="2" destOrd="0" parTransId="{0A5BF1FA-C4BB-49FA-8170-CBE5D003CB30}" sibTransId="{FFB72276-3F9C-4C87-A818-5B8FC3C0EFAA}"/>
    <dgm:cxn modelId="{79500506-29EF-4614-9718-A832924871A7}" type="presOf" srcId="{9EBB50EC-18DB-420D-A30C-B78257F0A544}" destId="{440A2CE1-DA1D-4562-8822-ACAEEBB74271}" srcOrd="1" destOrd="0" presId="urn:microsoft.com/office/officeart/2005/8/layout/list1"/>
    <dgm:cxn modelId="{1563000C-78AD-41A5-81A9-6AB5C466D997}" type="presOf" srcId="{7E30655D-D16B-42A9-8CC0-E6F7D230D49D}" destId="{A1B4DA67-9FC1-44A2-BFB2-753DD87B1B04}" srcOrd="1" destOrd="0" presId="urn:microsoft.com/office/officeart/2005/8/layout/list1"/>
    <dgm:cxn modelId="{E8AB2112-6076-4EEC-A547-22339C4B0332}" type="presOf" srcId="{A45E7ED1-FF5C-4797-9580-4C5C5839FA19}" destId="{72A39BEE-D178-4199-ADEA-D92AF05EF377}" srcOrd="1" destOrd="0" presId="urn:microsoft.com/office/officeart/2005/8/layout/list1"/>
    <dgm:cxn modelId="{B996ED1A-A9AA-42E3-9282-5D403AB56686}" type="presOf" srcId="{C98265BC-C93F-4EDD-A262-EC199FEEE7A3}" destId="{3BE63AE6-CC31-4DA2-8BAC-BF3407B1D2CC}" srcOrd="1" destOrd="0" presId="urn:microsoft.com/office/officeart/2005/8/layout/list1"/>
    <dgm:cxn modelId="{9321241E-C8E2-4C3D-A879-663C3FACC948}" srcId="{FDD5015E-67BD-4AA8-9638-000A26CBB814}" destId="{A45E7ED1-FF5C-4797-9580-4C5C5839FA19}" srcOrd="1" destOrd="0" parTransId="{9C3F3A97-DD0D-48EC-BB3A-68F902055DDD}" sibTransId="{8A3929B7-3F92-4E08-B815-A2DBBC722659}"/>
    <dgm:cxn modelId="{9BA7843B-E833-429C-8D64-3F8A7AFA13BF}" srcId="{FDD5015E-67BD-4AA8-9638-000A26CBB814}" destId="{F7910670-F669-460F-95FB-A9F953664B30}" srcOrd="5" destOrd="0" parTransId="{B81B1D9C-945F-4A71-8569-819B6EFD8D74}" sibTransId="{75CD4C1B-72B6-4EE3-936C-E470EC918A58}"/>
    <dgm:cxn modelId="{33CBB84D-4680-4BAE-AFA4-F54B77E548BF}" type="presOf" srcId="{7E30655D-D16B-42A9-8CC0-E6F7D230D49D}" destId="{79181688-16CF-494F-96F1-4BAC14382DA5}" srcOrd="0" destOrd="0" presId="urn:microsoft.com/office/officeart/2005/8/layout/list1"/>
    <dgm:cxn modelId="{9B71696E-F614-4550-B2D1-66ADCE2F3115}" srcId="{FDD5015E-67BD-4AA8-9638-000A26CBB814}" destId="{DBEAECA3-AD70-42E6-9926-24D67A5854F3}" srcOrd="4" destOrd="0" parTransId="{317D3E14-3A06-4823-A4C3-24D27698709D}" sibTransId="{46CFB994-5945-4874-BEC1-EC89EEFDAE6D}"/>
    <dgm:cxn modelId="{C77C0D7F-06C4-4A2C-8004-9E792647E266}" srcId="{FDD5015E-67BD-4AA8-9638-000A26CBB814}" destId="{7E30655D-D16B-42A9-8CC0-E6F7D230D49D}" srcOrd="3" destOrd="0" parTransId="{6067C9CB-5FE6-477C-BAC7-429925E258E9}" sibTransId="{1690B8CD-F469-4562-83A0-622D6732FED6}"/>
    <dgm:cxn modelId="{C9F33082-088B-4ECD-96F7-92287951B3D3}" type="presOf" srcId="{FDD5015E-67BD-4AA8-9638-000A26CBB814}" destId="{137C97D4-CF77-4461-A357-EEEF649A150B}" srcOrd="0" destOrd="0" presId="urn:microsoft.com/office/officeart/2005/8/layout/list1"/>
    <dgm:cxn modelId="{28520588-54B9-444B-94F3-8736B656C6FA}" type="presOf" srcId="{DBEAECA3-AD70-42E6-9926-24D67A5854F3}" destId="{1C36363F-0565-4776-AD96-3C858F9A4B40}" srcOrd="0" destOrd="0" presId="urn:microsoft.com/office/officeart/2005/8/layout/list1"/>
    <dgm:cxn modelId="{61C784B2-AE1F-4384-8787-B3099CAB2804}" type="presOf" srcId="{BAFA36F7-26BC-4280-9B7C-5923014F68BD}" destId="{6581E3F6-9F6D-4641-9359-2814FFF12EBF}" srcOrd="1" destOrd="0" presId="urn:microsoft.com/office/officeart/2005/8/layout/list1"/>
    <dgm:cxn modelId="{BD914BB5-1D36-4790-9332-1F7D9834D96C}" type="presOf" srcId="{C98265BC-C93F-4EDD-A262-EC199FEEE7A3}" destId="{83F2D118-8074-4356-9D94-6041086203D5}" srcOrd="0" destOrd="0" presId="urn:microsoft.com/office/officeart/2005/8/layout/list1"/>
    <dgm:cxn modelId="{278BAFBF-B9F7-4666-B83E-149F01E285DC}" type="presOf" srcId="{F7910670-F669-460F-95FB-A9F953664B30}" destId="{1EB994AD-64A9-4DDF-B5C8-98E27E484003}" srcOrd="1" destOrd="0" presId="urn:microsoft.com/office/officeart/2005/8/layout/list1"/>
    <dgm:cxn modelId="{C1E74AC4-29EE-4562-940B-8A195206041E}" srcId="{FDD5015E-67BD-4AA8-9638-000A26CBB814}" destId="{BAFA36F7-26BC-4280-9B7C-5923014F68BD}" srcOrd="6" destOrd="0" parTransId="{8A66A216-A8B0-4056-BB7B-4FBDC2D032F1}" sibTransId="{305A6C7C-B2A0-46F4-9167-ADC6B6644C49}"/>
    <dgm:cxn modelId="{1C63EACF-3F46-4661-BE96-AE02FD5CA92C}" type="presOf" srcId="{A45E7ED1-FF5C-4797-9580-4C5C5839FA19}" destId="{0F552B6B-6AD8-44B2-8D2C-8DAD730FC03E}" srcOrd="0" destOrd="0" presId="urn:microsoft.com/office/officeart/2005/8/layout/list1"/>
    <dgm:cxn modelId="{34645DD4-65CD-42FF-AFFD-C092C16D83D7}" srcId="{FDD5015E-67BD-4AA8-9638-000A26CBB814}" destId="{9EBB50EC-18DB-420D-A30C-B78257F0A544}" srcOrd="0" destOrd="0" parTransId="{74CA34F1-AE31-4BEE-8DA7-1A52689AF162}" sibTransId="{2837EB98-A747-46FA-AC22-8B7531BF3568}"/>
    <dgm:cxn modelId="{35EA7AE0-70DB-4472-8A02-6DBA506B81C7}" type="presOf" srcId="{BAFA36F7-26BC-4280-9B7C-5923014F68BD}" destId="{416D0D4B-7695-4534-A92B-F8E26107C510}" srcOrd="0" destOrd="0" presId="urn:microsoft.com/office/officeart/2005/8/layout/list1"/>
    <dgm:cxn modelId="{EB2F18EF-8E7A-4729-B9A8-DBCBA9B4B766}" type="presOf" srcId="{DBEAECA3-AD70-42E6-9926-24D67A5854F3}" destId="{CDC64631-415E-4B64-B391-265C04EDDD47}" srcOrd="1" destOrd="0" presId="urn:microsoft.com/office/officeart/2005/8/layout/list1"/>
    <dgm:cxn modelId="{A71C0FFB-2AE1-4A9B-B6D9-5EFA968DBD54}" type="presOf" srcId="{F7910670-F669-460F-95FB-A9F953664B30}" destId="{BE8620C4-B281-452B-A786-9B4FF3723A1C}" srcOrd="0" destOrd="0" presId="urn:microsoft.com/office/officeart/2005/8/layout/list1"/>
    <dgm:cxn modelId="{D3D61AFB-77A5-4155-A7D2-ECC431FA1121}" type="presOf" srcId="{9EBB50EC-18DB-420D-A30C-B78257F0A544}" destId="{65B537F2-A990-4938-A1F8-3F870AAB9815}" srcOrd="0" destOrd="0" presId="urn:microsoft.com/office/officeart/2005/8/layout/list1"/>
    <dgm:cxn modelId="{EAE527B7-3B20-4AB0-8B94-47F3D54C2A2A}" type="presParOf" srcId="{137C97D4-CF77-4461-A357-EEEF649A150B}" destId="{38737D66-C581-45A5-BDC0-ED1B833E8C62}" srcOrd="0" destOrd="0" presId="urn:microsoft.com/office/officeart/2005/8/layout/list1"/>
    <dgm:cxn modelId="{D4AE1DC5-2F96-4ABA-96AA-AC789C764E4A}" type="presParOf" srcId="{38737D66-C581-45A5-BDC0-ED1B833E8C62}" destId="{65B537F2-A990-4938-A1F8-3F870AAB9815}" srcOrd="0" destOrd="0" presId="urn:microsoft.com/office/officeart/2005/8/layout/list1"/>
    <dgm:cxn modelId="{9C8BCF5D-2716-4CF1-8FC1-9C67832D862D}" type="presParOf" srcId="{38737D66-C581-45A5-BDC0-ED1B833E8C62}" destId="{440A2CE1-DA1D-4562-8822-ACAEEBB74271}" srcOrd="1" destOrd="0" presId="urn:microsoft.com/office/officeart/2005/8/layout/list1"/>
    <dgm:cxn modelId="{D82BFE44-D4D3-4110-A9B7-0B3E09A9EDDE}" type="presParOf" srcId="{137C97D4-CF77-4461-A357-EEEF649A150B}" destId="{98C05F33-857E-4531-B844-06496758E105}" srcOrd="1" destOrd="0" presId="urn:microsoft.com/office/officeart/2005/8/layout/list1"/>
    <dgm:cxn modelId="{76B8E8C3-9195-4BF5-8FD6-FD9845D66BBD}" type="presParOf" srcId="{137C97D4-CF77-4461-A357-EEEF649A150B}" destId="{9D5A23E1-19E3-4D96-A8E2-8E7BC94C091E}" srcOrd="2" destOrd="0" presId="urn:microsoft.com/office/officeart/2005/8/layout/list1"/>
    <dgm:cxn modelId="{D83CBBA9-A620-4424-87A2-CC3215DE0A2A}" type="presParOf" srcId="{137C97D4-CF77-4461-A357-EEEF649A150B}" destId="{A1C3F39D-AA85-452D-8474-9A2FB94106A6}" srcOrd="3" destOrd="0" presId="urn:microsoft.com/office/officeart/2005/8/layout/list1"/>
    <dgm:cxn modelId="{4198489B-2EC8-471C-94EE-DB98DF05528B}" type="presParOf" srcId="{137C97D4-CF77-4461-A357-EEEF649A150B}" destId="{B0E6B2FC-19B6-4651-A0DD-5575E2903412}" srcOrd="4" destOrd="0" presId="urn:microsoft.com/office/officeart/2005/8/layout/list1"/>
    <dgm:cxn modelId="{D881D9D5-B5DF-491B-9262-BD1C9D9692E2}" type="presParOf" srcId="{B0E6B2FC-19B6-4651-A0DD-5575E2903412}" destId="{0F552B6B-6AD8-44B2-8D2C-8DAD730FC03E}" srcOrd="0" destOrd="0" presId="urn:microsoft.com/office/officeart/2005/8/layout/list1"/>
    <dgm:cxn modelId="{64188AD9-A830-49EE-83F5-3BFCD4E4BFE3}" type="presParOf" srcId="{B0E6B2FC-19B6-4651-A0DD-5575E2903412}" destId="{72A39BEE-D178-4199-ADEA-D92AF05EF377}" srcOrd="1" destOrd="0" presId="urn:microsoft.com/office/officeart/2005/8/layout/list1"/>
    <dgm:cxn modelId="{017C9B75-8B28-4179-9A59-BE36EACB6A33}" type="presParOf" srcId="{137C97D4-CF77-4461-A357-EEEF649A150B}" destId="{61E9CA92-DC08-4888-8505-5AC2DAAD7819}" srcOrd="5" destOrd="0" presId="urn:microsoft.com/office/officeart/2005/8/layout/list1"/>
    <dgm:cxn modelId="{163CD3C6-815D-47DD-B375-FD085914E4D5}" type="presParOf" srcId="{137C97D4-CF77-4461-A357-EEEF649A150B}" destId="{B0D35C16-CC4D-4F30-BB06-7AB7269D18A2}" srcOrd="6" destOrd="0" presId="urn:microsoft.com/office/officeart/2005/8/layout/list1"/>
    <dgm:cxn modelId="{71698886-9BB9-443D-8078-FDC8ECA35D94}" type="presParOf" srcId="{137C97D4-CF77-4461-A357-EEEF649A150B}" destId="{D7D57F5D-D66C-49AA-B0F0-A0D3F1F870A1}" srcOrd="7" destOrd="0" presId="urn:microsoft.com/office/officeart/2005/8/layout/list1"/>
    <dgm:cxn modelId="{9E045E54-A379-4B0F-9648-89EB23761349}" type="presParOf" srcId="{137C97D4-CF77-4461-A357-EEEF649A150B}" destId="{279E2FB2-5380-4A74-931B-471EC91FD1DA}" srcOrd="8" destOrd="0" presId="urn:microsoft.com/office/officeart/2005/8/layout/list1"/>
    <dgm:cxn modelId="{BEA95830-E8E4-4DC8-89AF-803B8AC21569}" type="presParOf" srcId="{279E2FB2-5380-4A74-931B-471EC91FD1DA}" destId="{83F2D118-8074-4356-9D94-6041086203D5}" srcOrd="0" destOrd="0" presId="urn:microsoft.com/office/officeart/2005/8/layout/list1"/>
    <dgm:cxn modelId="{4A4CA22E-CF8F-42CF-9EAD-208BE040583A}" type="presParOf" srcId="{279E2FB2-5380-4A74-931B-471EC91FD1DA}" destId="{3BE63AE6-CC31-4DA2-8BAC-BF3407B1D2CC}" srcOrd="1" destOrd="0" presId="urn:microsoft.com/office/officeart/2005/8/layout/list1"/>
    <dgm:cxn modelId="{5811AC3A-096E-48C3-A5B1-98E9B9FA9BA2}" type="presParOf" srcId="{137C97D4-CF77-4461-A357-EEEF649A150B}" destId="{EB9757B7-FD95-404C-A222-ED040D0F24CA}" srcOrd="9" destOrd="0" presId="urn:microsoft.com/office/officeart/2005/8/layout/list1"/>
    <dgm:cxn modelId="{BC3D2B87-153D-4EE5-892C-0662505E1F47}" type="presParOf" srcId="{137C97D4-CF77-4461-A357-EEEF649A150B}" destId="{68F34E0E-3F8B-4F9A-8A49-BBDD65DE74AB}" srcOrd="10" destOrd="0" presId="urn:microsoft.com/office/officeart/2005/8/layout/list1"/>
    <dgm:cxn modelId="{B30CAF32-49C5-4BDB-B95A-F90EC8BE2602}" type="presParOf" srcId="{137C97D4-CF77-4461-A357-EEEF649A150B}" destId="{DB069B87-6865-407F-A61D-D631C06D80DA}" srcOrd="11" destOrd="0" presId="urn:microsoft.com/office/officeart/2005/8/layout/list1"/>
    <dgm:cxn modelId="{F096397D-5FB0-4FD7-B805-E06D5DE1D10B}" type="presParOf" srcId="{137C97D4-CF77-4461-A357-EEEF649A150B}" destId="{4C111646-3EE0-437E-A9DA-9153F9D4BE60}" srcOrd="12" destOrd="0" presId="urn:microsoft.com/office/officeart/2005/8/layout/list1"/>
    <dgm:cxn modelId="{2357F1FE-DA29-48CF-B0D1-3BB3FD04A48E}" type="presParOf" srcId="{4C111646-3EE0-437E-A9DA-9153F9D4BE60}" destId="{79181688-16CF-494F-96F1-4BAC14382DA5}" srcOrd="0" destOrd="0" presId="urn:microsoft.com/office/officeart/2005/8/layout/list1"/>
    <dgm:cxn modelId="{A6AA7E74-6982-42C0-8EB0-FA3960320A6E}" type="presParOf" srcId="{4C111646-3EE0-437E-A9DA-9153F9D4BE60}" destId="{A1B4DA67-9FC1-44A2-BFB2-753DD87B1B04}" srcOrd="1" destOrd="0" presId="urn:microsoft.com/office/officeart/2005/8/layout/list1"/>
    <dgm:cxn modelId="{05F10A0F-93FD-42D7-BE5B-33387096E4D1}" type="presParOf" srcId="{137C97D4-CF77-4461-A357-EEEF649A150B}" destId="{C8CEF5AB-5592-44BF-8C68-387FFC8473B5}" srcOrd="13" destOrd="0" presId="urn:microsoft.com/office/officeart/2005/8/layout/list1"/>
    <dgm:cxn modelId="{A46FBB33-E432-4DEA-BD03-5ADFEA37AA6A}" type="presParOf" srcId="{137C97D4-CF77-4461-A357-EEEF649A150B}" destId="{108F68EF-0EF3-4A49-9FA1-8BE6FE02A585}" srcOrd="14" destOrd="0" presId="urn:microsoft.com/office/officeart/2005/8/layout/list1"/>
    <dgm:cxn modelId="{3E7FD9F8-96F8-4FE6-A462-D8F045161722}" type="presParOf" srcId="{137C97D4-CF77-4461-A357-EEEF649A150B}" destId="{486C827C-1CEB-4B7F-940B-C92A6107C239}" srcOrd="15" destOrd="0" presId="urn:microsoft.com/office/officeart/2005/8/layout/list1"/>
    <dgm:cxn modelId="{827368D9-35B8-4810-95E9-C22C19369A84}" type="presParOf" srcId="{137C97D4-CF77-4461-A357-EEEF649A150B}" destId="{DD91B925-CB29-4578-8F65-EA2903A42EFC}" srcOrd="16" destOrd="0" presId="urn:microsoft.com/office/officeart/2005/8/layout/list1"/>
    <dgm:cxn modelId="{8AA30B8E-E06D-49A7-904B-B9EFD7B9AB80}" type="presParOf" srcId="{DD91B925-CB29-4578-8F65-EA2903A42EFC}" destId="{1C36363F-0565-4776-AD96-3C858F9A4B40}" srcOrd="0" destOrd="0" presId="urn:microsoft.com/office/officeart/2005/8/layout/list1"/>
    <dgm:cxn modelId="{C38368DF-9B54-454F-83DE-4857DABBCD4F}" type="presParOf" srcId="{DD91B925-CB29-4578-8F65-EA2903A42EFC}" destId="{CDC64631-415E-4B64-B391-265C04EDDD47}" srcOrd="1" destOrd="0" presId="urn:microsoft.com/office/officeart/2005/8/layout/list1"/>
    <dgm:cxn modelId="{52E8D15E-7170-4850-8803-7EB1315F1C4C}" type="presParOf" srcId="{137C97D4-CF77-4461-A357-EEEF649A150B}" destId="{ED2C20DA-A035-4662-A6CE-BF26AC39CECD}" srcOrd="17" destOrd="0" presId="urn:microsoft.com/office/officeart/2005/8/layout/list1"/>
    <dgm:cxn modelId="{74E7E28B-439E-4FAC-BCA0-1D9F2AC89A4C}" type="presParOf" srcId="{137C97D4-CF77-4461-A357-EEEF649A150B}" destId="{0D0E9EA5-8B5D-4D5E-B162-3BCADED28B74}" srcOrd="18" destOrd="0" presId="urn:microsoft.com/office/officeart/2005/8/layout/list1"/>
    <dgm:cxn modelId="{FC0B5E1F-BB04-46D6-8F82-4F24488561EE}" type="presParOf" srcId="{137C97D4-CF77-4461-A357-EEEF649A150B}" destId="{5DBDE955-C565-4819-8F72-0C11D7771E8C}" srcOrd="19" destOrd="0" presId="urn:microsoft.com/office/officeart/2005/8/layout/list1"/>
    <dgm:cxn modelId="{60637D74-372E-4AAF-8DE9-C0AED2129CD2}" type="presParOf" srcId="{137C97D4-CF77-4461-A357-EEEF649A150B}" destId="{1FD7129C-F558-4213-B1CD-BFBF1CBAFA0E}" srcOrd="20" destOrd="0" presId="urn:microsoft.com/office/officeart/2005/8/layout/list1"/>
    <dgm:cxn modelId="{D5F4C008-EC46-4197-B6EA-1D0520CB3E96}" type="presParOf" srcId="{1FD7129C-F558-4213-B1CD-BFBF1CBAFA0E}" destId="{BE8620C4-B281-452B-A786-9B4FF3723A1C}" srcOrd="0" destOrd="0" presId="urn:microsoft.com/office/officeart/2005/8/layout/list1"/>
    <dgm:cxn modelId="{19348C12-81E7-42A5-910E-EA30E7F19CAE}" type="presParOf" srcId="{1FD7129C-F558-4213-B1CD-BFBF1CBAFA0E}" destId="{1EB994AD-64A9-4DDF-B5C8-98E27E484003}" srcOrd="1" destOrd="0" presId="urn:microsoft.com/office/officeart/2005/8/layout/list1"/>
    <dgm:cxn modelId="{F7BAB57C-44C1-40F0-BD9A-F8B75C18638C}" type="presParOf" srcId="{137C97D4-CF77-4461-A357-EEEF649A150B}" destId="{B21C0B24-FCD5-4125-9319-80624AEB0046}" srcOrd="21" destOrd="0" presId="urn:microsoft.com/office/officeart/2005/8/layout/list1"/>
    <dgm:cxn modelId="{569A3AB4-BD1D-4B06-BD8E-F4E68F14E100}" type="presParOf" srcId="{137C97D4-CF77-4461-A357-EEEF649A150B}" destId="{5D2F0E7A-16A8-438A-87FC-1CCF822A29D8}" srcOrd="22" destOrd="0" presId="urn:microsoft.com/office/officeart/2005/8/layout/list1"/>
    <dgm:cxn modelId="{4B756EF4-2BEC-4A1E-8508-0A89BD09065C}" type="presParOf" srcId="{137C97D4-CF77-4461-A357-EEEF649A150B}" destId="{5510C5A8-0E77-4E89-9A85-9AA4CDAB8EA6}" srcOrd="23" destOrd="0" presId="urn:microsoft.com/office/officeart/2005/8/layout/list1"/>
    <dgm:cxn modelId="{16254CB1-C56C-44B9-ACB2-30B556B57CB3}" type="presParOf" srcId="{137C97D4-CF77-4461-A357-EEEF649A150B}" destId="{346DE4EE-4B08-429B-83D3-E43FB69C4EA7}" srcOrd="24" destOrd="0" presId="urn:microsoft.com/office/officeart/2005/8/layout/list1"/>
    <dgm:cxn modelId="{ABC9E061-327D-43D9-9BC2-61AED653FB9B}" type="presParOf" srcId="{346DE4EE-4B08-429B-83D3-E43FB69C4EA7}" destId="{416D0D4B-7695-4534-A92B-F8E26107C510}" srcOrd="0" destOrd="0" presId="urn:microsoft.com/office/officeart/2005/8/layout/list1"/>
    <dgm:cxn modelId="{6D5AFA0B-7DC6-4930-ADF9-9BA865E29929}" type="presParOf" srcId="{346DE4EE-4B08-429B-83D3-E43FB69C4EA7}" destId="{6581E3F6-9F6D-4641-9359-2814FFF12EBF}" srcOrd="1" destOrd="0" presId="urn:microsoft.com/office/officeart/2005/8/layout/list1"/>
    <dgm:cxn modelId="{F61F0581-54EC-4D56-9146-7E24130D7081}" type="presParOf" srcId="{137C97D4-CF77-4461-A357-EEEF649A150B}" destId="{F7F080EB-D84F-4DE0-B5B9-62EB521F7349}" srcOrd="25" destOrd="0" presId="urn:microsoft.com/office/officeart/2005/8/layout/list1"/>
    <dgm:cxn modelId="{8B5CB855-C79E-4133-BDC8-B4542DC07789}" type="presParOf" srcId="{137C97D4-CF77-4461-A357-EEEF649A150B}" destId="{2A0002AA-2ED6-4409-A694-36517E85EA0D}"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870681-601C-4F36-9595-280612D38C7F}" type="doc">
      <dgm:prSet loTypeId="urn:microsoft.com/office/officeart/2005/8/layout/hierarchy1" loCatId="hierarchy" qsTypeId="urn:microsoft.com/office/officeart/2005/8/quickstyle/simple4#1" qsCatId="simple" csTypeId="urn:microsoft.com/office/officeart/2005/8/colors/accent1_1#1" csCatId="accent1" phldr="1"/>
      <dgm:spPr/>
      <dgm:t>
        <a:bodyPr/>
        <a:lstStyle/>
        <a:p>
          <a:endParaRPr lang="en-IN"/>
        </a:p>
      </dgm:t>
    </dgm:pt>
    <dgm:pt modelId="{2083F51A-2ED7-4851-92F8-7EC00B7EBC2A}">
      <dgm:prSet phldrT="[Text]"/>
      <dgm:spPr/>
      <dgm:t>
        <a:bodyPr/>
        <a:lstStyle/>
        <a:p>
          <a:r>
            <a:rPr lang="en-US" dirty="0"/>
            <a:t>Types of CSS</a:t>
          </a:r>
          <a:endParaRPr lang="en-IN" dirty="0"/>
        </a:p>
      </dgm:t>
    </dgm:pt>
    <dgm:pt modelId="{88BD7A9A-C229-4753-B2A4-599D6BA17367}" type="parTrans" cxnId="{FD95AEEF-F227-4C38-AD89-AF19A83F82C1}">
      <dgm:prSet/>
      <dgm:spPr/>
      <dgm:t>
        <a:bodyPr/>
        <a:lstStyle/>
        <a:p>
          <a:endParaRPr lang="en-IN"/>
        </a:p>
      </dgm:t>
    </dgm:pt>
    <dgm:pt modelId="{8D5A81DF-CB44-4AFD-AB28-FF9B85286558}" type="sibTrans" cxnId="{FD95AEEF-F227-4C38-AD89-AF19A83F82C1}">
      <dgm:prSet/>
      <dgm:spPr/>
      <dgm:t>
        <a:bodyPr/>
        <a:lstStyle/>
        <a:p>
          <a:endParaRPr lang="en-IN"/>
        </a:p>
      </dgm:t>
    </dgm:pt>
    <dgm:pt modelId="{CEC01AB4-955F-4B1D-8F5B-D5AE88046076}">
      <dgm:prSet phldrT="[Text]"/>
      <dgm:spPr/>
      <dgm:t>
        <a:bodyPr/>
        <a:lstStyle/>
        <a:p>
          <a:r>
            <a:rPr lang="en-US" dirty="0"/>
            <a:t>Inline</a:t>
          </a:r>
          <a:endParaRPr lang="en-IN" dirty="0"/>
        </a:p>
      </dgm:t>
    </dgm:pt>
    <dgm:pt modelId="{83BC2E74-CAA2-41CB-BCF3-D4BA884A7EF4}" type="parTrans" cxnId="{20866A7F-EAB1-4BCF-A8E5-8CD6B7677C2D}">
      <dgm:prSet/>
      <dgm:spPr/>
      <dgm:t>
        <a:bodyPr/>
        <a:lstStyle/>
        <a:p>
          <a:endParaRPr lang="en-IN"/>
        </a:p>
      </dgm:t>
    </dgm:pt>
    <dgm:pt modelId="{D94A2FC7-A06D-4039-9499-0C8BA9D70AFC}" type="sibTrans" cxnId="{20866A7F-EAB1-4BCF-A8E5-8CD6B7677C2D}">
      <dgm:prSet/>
      <dgm:spPr/>
      <dgm:t>
        <a:bodyPr/>
        <a:lstStyle/>
        <a:p>
          <a:endParaRPr lang="en-IN"/>
        </a:p>
      </dgm:t>
    </dgm:pt>
    <dgm:pt modelId="{4BB0DCAF-BDB0-464C-820A-34264DDD5D03}">
      <dgm:prSet phldrT="[Text]"/>
      <dgm:spPr/>
      <dgm:t>
        <a:bodyPr/>
        <a:lstStyle/>
        <a:p>
          <a:r>
            <a:rPr lang="en-US" dirty="0"/>
            <a:t>Internal</a:t>
          </a:r>
          <a:endParaRPr lang="en-IN" dirty="0"/>
        </a:p>
      </dgm:t>
    </dgm:pt>
    <dgm:pt modelId="{4F8996E1-E6CC-4561-8BE7-0846532A36C2}" type="parTrans" cxnId="{44EA823A-A98A-4F4B-B2A9-E5F8626A8212}">
      <dgm:prSet/>
      <dgm:spPr/>
      <dgm:t>
        <a:bodyPr/>
        <a:lstStyle/>
        <a:p>
          <a:endParaRPr lang="en-IN"/>
        </a:p>
      </dgm:t>
    </dgm:pt>
    <dgm:pt modelId="{42CA7052-F916-4203-B1E3-8B0912297A03}" type="sibTrans" cxnId="{44EA823A-A98A-4F4B-B2A9-E5F8626A8212}">
      <dgm:prSet/>
      <dgm:spPr/>
      <dgm:t>
        <a:bodyPr/>
        <a:lstStyle/>
        <a:p>
          <a:endParaRPr lang="en-IN"/>
        </a:p>
      </dgm:t>
    </dgm:pt>
    <dgm:pt modelId="{A24BDB85-A8F7-4D2E-9410-1BB91334E65E}">
      <dgm:prSet/>
      <dgm:spPr/>
      <dgm:t>
        <a:bodyPr/>
        <a:lstStyle/>
        <a:p>
          <a:r>
            <a:rPr lang="en-US" dirty="0"/>
            <a:t>External</a:t>
          </a:r>
          <a:endParaRPr lang="en-IN" dirty="0"/>
        </a:p>
      </dgm:t>
    </dgm:pt>
    <dgm:pt modelId="{DCBDA7CB-2B96-457E-AE1D-0F6505705CCA}" type="parTrans" cxnId="{2B5B0DD6-A862-40B7-BC10-9D6000CCB4A1}">
      <dgm:prSet/>
      <dgm:spPr/>
      <dgm:t>
        <a:bodyPr/>
        <a:lstStyle/>
        <a:p>
          <a:endParaRPr lang="en-IN"/>
        </a:p>
      </dgm:t>
    </dgm:pt>
    <dgm:pt modelId="{5322B1A4-8DB7-4230-864B-81BB4E20FCC6}" type="sibTrans" cxnId="{2B5B0DD6-A862-40B7-BC10-9D6000CCB4A1}">
      <dgm:prSet/>
      <dgm:spPr/>
      <dgm:t>
        <a:bodyPr/>
        <a:lstStyle/>
        <a:p>
          <a:endParaRPr lang="en-IN"/>
        </a:p>
      </dgm:t>
    </dgm:pt>
    <dgm:pt modelId="{0F5C69BD-74CE-4E92-99E2-F17EE8D7949F}" type="pres">
      <dgm:prSet presAssocID="{39870681-601C-4F36-9595-280612D38C7F}" presName="hierChild1" presStyleCnt="0">
        <dgm:presLayoutVars>
          <dgm:chPref val="1"/>
          <dgm:dir/>
          <dgm:animOne val="branch"/>
          <dgm:animLvl val="lvl"/>
          <dgm:resizeHandles/>
        </dgm:presLayoutVars>
      </dgm:prSet>
      <dgm:spPr/>
    </dgm:pt>
    <dgm:pt modelId="{5E7FC8D3-5641-40D2-9265-95050686362C}" type="pres">
      <dgm:prSet presAssocID="{2083F51A-2ED7-4851-92F8-7EC00B7EBC2A}" presName="hierRoot1" presStyleCnt="0"/>
      <dgm:spPr/>
    </dgm:pt>
    <dgm:pt modelId="{27FFC7F7-7811-4745-961E-80C1633F9E18}" type="pres">
      <dgm:prSet presAssocID="{2083F51A-2ED7-4851-92F8-7EC00B7EBC2A}" presName="composite" presStyleCnt="0"/>
      <dgm:spPr/>
    </dgm:pt>
    <dgm:pt modelId="{4069C6B1-8ABC-4D9E-909C-E2056A152243}" type="pres">
      <dgm:prSet presAssocID="{2083F51A-2ED7-4851-92F8-7EC00B7EBC2A}" presName="background" presStyleLbl="node0" presStyleIdx="0" presStyleCnt="1"/>
      <dgm:spPr/>
    </dgm:pt>
    <dgm:pt modelId="{06BB8CC4-0220-4C45-9BC3-E7107ACB2D74}" type="pres">
      <dgm:prSet presAssocID="{2083F51A-2ED7-4851-92F8-7EC00B7EBC2A}" presName="text" presStyleLbl="fgAcc0" presStyleIdx="0" presStyleCnt="1">
        <dgm:presLayoutVars>
          <dgm:chPref val="3"/>
        </dgm:presLayoutVars>
      </dgm:prSet>
      <dgm:spPr/>
    </dgm:pt>
    <dgm:pt modelId="{F9853CD3-90A4-421E-BE1A-421F5D761008}" type="pres">
      <dgm:prSet presAssocID="{2083F51A-2ED7-4851-92F8-7EC00B7EBC2A}" presName="hierChild2" presStyleCnt="0"/>
      <dgm:spPr/>
    </dgm:pt>
    <dgm:pt modelId="{CCD49D01-9466-4BD8-8778-365040923654}" type="pres">
      <dgm:prSet presAssocID="{83BC2E74-CAA2-41CB-BCF3-D4BA884A7EF4}" presName="Name10" presStyleLbl="parChTrans1D2" presStyleIdx="0" presStyleCnt="3"/>
      <dgm:spPr/>
    </dgm:pt>
    <dgm:pt modelId="{17F12F00-C9E1-422D-AADE-6EA41E5544D9}" type="pres">
      <dgm:prSet presAssocID="{CEC01AB4-955F-4B1D-8F5B-D5AE88046076}" presName="hierRoot2" presStyleCnt="0"/>
      <dgm:spPr/>
    </dgm:pt>
    <dgm:pt modelId="{F45EF141-4D49-46E7-A2EC-837208831B66}" type="pres">
      <dgm:prSet presAssocID="{CEC01AB4-955F-4B1D-8F5B-D5AE88046076}" presName="composite2" presStyleCnt="0"/>
      <dgm:spPr/>
    </dgm:pt>
    <dgm:pt modelId="{47040175-BD60-4595-AE16-E7DA6CA957C4}" type="pres">
      <dgm:prSet presAssocID="{CEC01AB4-955F-4B1D-8F5B-D5AE88046076}" presName="background2" presStyleLbl="node2" presStyleIdx="0" presStyleCnt="3"/>
      <dgm:spPr/>
    </dgm:pt>
    <dgm:pt modelId="{6AB3FAEE-7E8F-429B-AE74-F1C459FB6B28}" type="pres">
      <dgm:prSet presAssocID="{CEC01AB4-955F-4B1D-8F5B-D5AE88046076}" presName="text2" presStyleLbl="fgAcc2" presStyleIdx="0" presStyleCnt="3">
        <dgm:presLayoutVars>
          <dgm:chPref val="3"/>
        </dgm:presLayoutVars>
      </dgm:prSet>
      <dgm:spPr/>
    </dgm:pt>
    <dgm:pt modelId="{FDA77CE3-2B8E-4384-BA6E-35D464E1FE21}" type="pres">
      <dgm:prSet presAssocID="{CEC01AB4-955F-4B1D-8F5B-D5AE88046076}" presName="hierChild3" presStyleCnt="0"/>
      <dgm:spPr/>
    </dgm:pt>
    <dgm:pt modelId="{C0B9603C-D885-4C5B-B155-F03058C3A05F}" type="pres">
      <dgm:prSet presAssocID="{4F8996E1-E6CC-4561-8BE7-0846532A36C2}" presName="Name10" presStyleLbl="parChTrans1D2" presStyleIdx="1" presStyleCnt="3"/>
      <dgm:spPr/>
    </dgm:pt>
    <dgm:pt modelId="{F25555D2-51DD-4E0F-9427-E8C3031EFA5B}" type="pres">
      <dgm:prSet presAssocID="{4BB0DCAF-BDB0-464C-820A-34264DDD5D03}" presName="hierRoot2" presStyleCnt="0"/>
      <dgm:spPr/>
    </dgm:pt>
    <dgm:pt modelId="{08CB13ED-6367-49AF-A8D1-2E5295A80738}" type="pres">
      <dgm:prSet presAssocID="{4BB0DCAF-BDB0-464C-820A-34264DDD5D03}" presName="composite2" presStyleCnt="0"/>
      <dgm:spPr/>
    </dgm:pt>
    <dgm:pt modelId="{77F49F7E-6131-43EE-BEAE-0E29BC928F06}" type="pres">
      <dgm:prSet presAssocID="{4BB0DCAF-BDB0-464C-820A-34264DDD5D03}" presName="background2" presStyleLbl="node2" presStyleIdx="1" presStyleCnt="3"/>
      <dgm:spPr/>
    </dgm:pt>
    <dgm:pt modelId="{E7F11DC8-FB64-4F34-9D07-716A1AA5EDD0}" type="pres">
      <dgm:prSet presAssocID="{4BB0DCAF-BDB0-464C-820A-34264DDD5D03}" presName="text2" presStyleLbl="fgAcc2" presStyleIdx="1" presStyleCnt="3">
        <dgm:presLayoutVars>
          <dgm:chPref val="3"/>
        </dgm:presLayoutVars>
      </dgm:prSet>
      <dgm:spPr/>
    </dgm:pt>
    <dgm:pt modelId="{7DDC35D3-4357-4FCA-8A89-C4209EBB1940}" type="pres">
      <dgm:prSet presAssocID="{4BB0DCAF-BDB0-464C-820A-34264DDD5D03}" presName="hierChild3" presStyleCnt="0"/>
      <dgm:spPr/>
    </dgm:pt>
    <dgm:pt modelId="{60C9EFA8-D902-432D-AC66-69A559824F1F}" type="pres">
      <dgm:prSet presAssocID="{DCBDA7CB-2B96-457E-AE1D-0F6505705CCA}" presName="Name10" presStyleLbl="parChTrans1D2" presStyleIdx="2" presStyleCnt="3"/>
      <dgm:spPr/>
    </dgm:pt>
    <dgm:pt modelId="{303C6045-BC02-44FF-ABC0-94EC88B9BD3D}" type="pres">
      <dgm:prSet presAssocID="{A24BDB85-A8F7-4D2E-9410-1BB91334E65E}" presName="hierRoot2" presStyleCnt="0"/>
      <dgm:spPr/>
    </dgm:pt>
    <dgm:pt modelId="{DD9920F3-CD58-4EEA-B1FF-2E074AF4FE59}" type="pres">
      <dgm:prSet presAssocID="{A24BDB85-A8F7-4D2E-9410-1BB91334E65E}" presName="composite2" presStyleCnt="0"/>
      <dgm:spPr/>
    </dgm:pt>
    <dgm:pt modelId="{62216D4F-6ED8-4C29-8C2F-8ACD3225C3BD}" type="pres">
      <dgm:prSet presAssocID="{A24BDB85-A8F7-4D2E-9410-1BB91334E65E}" presName="background2" presStyleLbl="node2" presStyleIdx="2" presStyleCnt="3"/>
      <dgm:spPr/>
    </dgm:pt>
    <dgm:pt modelId="{924E779E-33E2-4387-8D3B-7DDF56D9A82F}" type="pres">
      <dgm:prSet presAssocID="{A24BDB85-A8F7-4D2E-9410-1BB91334E65E}" presName="text2" presStyleLbl="fgAcc2" presStyleIdx="2" presStyleCnt="3">
        <dgm:presLayoutVars>
          <dgm:chPref val="3"/>
        </dgm:presLayoutVars>
      </dgm:prSet>
      <dgm:spPr/>
    </dgm:pt>
    <dgm:pt modelId="{C997CE6B-3564-4633-8E26-FDD67E323F97}" type="pres">
      <dgm:prSet presAssocID="{A24BDB85-A8F7-4D2E-9410-1BB91334E65E}" presName="hierChild3" presStyleCnt="0"/>
      <dgm:spPr/>
    </dgm:pt>
  </dgm:ptLst>
  <dgm:cxnLst>
    <dgm:cxn modelId="{9271AB0F-35F9-4204-95D7-C97461FD15CF}" type="presOf" srcId="{83BC2E74-CAA2-41CB-BCF3-D4BA884A7EF4}" destId="{CCD49D01-9466-4BD8-8778-365040923654}" srcOrd="0" destOrd="0" presId="urn:microsoft.com/office/officeart/2005/8/layout/hierarchy1"/>
    <dgm:cxn modelId="{E3513832-C39F-4723-9E6D-CE45080A2851}" type="presOf" srcId="{39870681-601C-4F36-9595-280612D38C7F}" destId="{0F5C69BD-74CE-4E92-99E2-F17EE8D7949F}" srcOrd="0" destOrd="0" presId="urn:microsoft.com/office/officeart/2005/8/layout/hierarchy1"/>
    <dgm:cxn modelId="{D2D27737-FA81-461E-8577-8A5509680A7B}" type="presOf" srcId="{2083F51A-2ED7-4851-92F8-7EC00B7EBC2A}" destId="{06BB8CC4-0220-4C45-9BC3-E7107ACB2D74}" srcOrd="0" destOrd="0" presId="urn:microsoft.com/office/officeart/2005/8/layout/hierarchy1"/>
    <dgm:cxn modelId="{44EA823A-A98A-4F4B-B2A9-E5F8626A8212}" srcId="{2083F51A-2ED7-4851-92F8-7EC00B7EBC2A}" destId="{4BB0DCAF-BDB0-464C-820A-34264DDD5D03}" srcOrd="1" destOrd="0" parTransId="{4F8996E1-E6CC-4561-8BE7-0846532A36C2}" sibTransId="{42CA7052-F916-4203-B1E3-8B0912297A03}"/>
    <dgm:cxn modelId="{3AC8003E-C539-46AD-9BB9-31E851ED111D}" type="presOf" srcId="{CEC01AB4-955F-4B1D-8F5B-D5AE88046076}" destId="{6AB3FAEE-7E8F-429B-AE74-F1C459FB6B28}" srcOrd="0" destOrd="0" presId="urn:microsoft.com/office/officeart/2005/8/layout/hierarchy1"/>
    <dgm:cxn modelId="{B303D576-4187-425E-B96D-71D097C1B1D0}" type="presOf" srcId="{A24BDB85-A8F7-4D2E-9410-1BB91334E65E}" destId="{924E779E-33E2-4387-8D3B-7DDF56D9A82F}" srcOrd="0" destOrd="0" presId="urn:microsoft.com/office/officeart/2005/8/layout/hierarchy1"/>
    <dgm:cxn modelId="{20866A7F-EAB1-4BCF-A8E5-8CD6B7677C2D}" srcId="{2083F51A-2ED7-4851-92F8-7EC00B7EBC2A}" destId="{CEC01AB4-955F-4B1D-8F5B-D5AE88046076}" srcOrd="0" destOrd="0" parTransId="{83BC2E74-CAA2-41CB-BCF3-D4BA884A7EF4}" sibTransId="{D94A2FC7-A06D-4039-9499-0C8BA9D70AFC}"/>
    <dgm:cxn modelId="{EA586186-B941-4AF7-83D5-0A9D63336881}" type="presOf" srcId="{4F8996E1-E6CC-4561-8BE7-0846532A36C2}" destId="{C0B9603C-D885-4C5B-B155-F03058C3A05F}" srcOrd="0" destOrd="0" presId="urn:microsoft.com/office/officeart/2005/8/layout/hierarchy1"/>
    <dgm:cxn modelId="{E60C9EA8-7C3C-494C-B6B0-55EC844E4A78}" type="presOf" srcId="{4BB0DCAF-BDB0-464C-820A-34264DDD5D03}" destId="{E7F11DC8-FB64-4F34-9D07-716A1AA5EDD0}" srcOrd="0" destOrd="0" presId="urn:microsoft.com/office/officeart/2005/8/layout/hierarchy1"/>
    <dgm:cxn modelId="{2B5B0DD6-A862-40B7-BC10-9D6000CCB4A1}" srcId="{2083F51A-2ED7-4851-92F8-7EC00B7EBC2A}" destId="{A24BDB85-A8F7-4D2E-9410-1BB91334E65E}" srcOrd="2" destOrd="0" parTransId="{DCBDA7CB-2B96-457E-AE1D-0F6505705CCA}" sibTransId="{5322B1A4-8DB7-4230-864B-81BB4E20FCC6}"/>
    <dgm:cxn modelId="{A47778EB-0BD0-4EF5-91F4-E1B10CEAA51C}" type="presOf" srcId="{DCBDA7CB-2B96-457E-AE1D-0F6505705CCA}" destId="{60C9EFA8-D902-432D-AC66-69A559824F1F}" srcOrd="0" destOrd="0" presId="urn:microsoft.com/office/officeart/2005/8/layout/hierarchy1"/>
    <dgm:cxn modelId="{FD95AEEF-F227-4C38-AD89-AF19A83F82C1}" srcId="{39870681-601C-4F36-9595-280612D38C7F}" destId="{2083F51A-2ED7-4851-92F8-7EC00B7EBC2A}" srcOrd="0" destOrd="0" parTransId="{88BD7A9A-C229-4753-B2A4-599D6BA17367}" sibTransId="{8D5A81DF-CB44-4AFD-AB28-FF9B85286558}"/>
    <dgm:cxn modelId="{75B439D1-61D6-4314-AB9C-CB09F5A27DE5}" type="presParOf" srcId="{0F5C69BD-74CE-4E92-99E2-F17EE8D7949F}" destId="{5E7FC8D3-5641-40D2-9265-95050686362C}" srcOrd="0" destOrd="0" presId="urn:microsoft.com/office/officeart/2005/8/layout/hierarchy1"/>
    <dgm:cxn modelId="{B75DD25C-EFF9-4261-884F-F6CB761C74F6}" type="presParOf" srcId="{5E7FC8D3-5641-40D2-9265-95050686362C}" destId="{27FFC7F7-7811-4745-961E-80C1633F9E18}" srcOrd="0" destOrd="0" presId="urn:microsoft.com/office/officeart/2005/8/layout/hierarchy1"/>
    <dgm:cxn modelId="{72A27E22-2E4B-4AF2-8EBE-830773632AC2}" type="presParOf" srcId="{27FFC7F7-7811-4745-961E-80C1633F9E18}" destId="{4069C6B1-8ABC-4D9E-909C-E2056A152243}" srcOrd="0" destOrd="0" presId="urn:microsoft.com/office/officeart/2005/8/layout/hierarchy1"/>
    <dgm:cxn modelId="{046C6901-5788-44F3-9184-0C009D8CC708}" type="presParOf" srcId="{27FFC7F7-7811-4745-961E-80C1633F9E18}" destId="{06BB8CC4-0220-4C45-9BC3-E7107ACB2D74}" srcOrd="1" destOrd="0" presId="urn:microsoft.com/office/officeart/2005/8/layout/hierarchy1"/>
    <dgm:cxn modelId="{64F12068-9B52-43B9-95A5-A55BA17864AD}" type="presParOf" srcId="{5E7FC8D3-5641-40D2-9265-95050686362C}" destId="{F9853CD3-90A4-421E-BE1A-421F5D761008}" srcOrd="1" destOrd="0" presId="urn:microsoft.com/office/officeart/2005/8/layout/hierarchy1"/>
    <dgm:cxn modelId="{4EB56F0F-B2C5-4D91-B250-6CABAAC37CCB}" type="presParOf" srcId="{F9853CD3-90A4-421E-BE1A-421F5D761008}" destId="{CCD49D01-9466-4BD8-8778-365040923654}" srcOrd="0" destOrd="0" presId="urn:microsoft.com/office/officeart/2005/8/layout/hierarchy1"/>
    <dgm:cxn modelId="{7CA7C072-01C3-4FA7-A40A-0614F779E71E}" type="presParOf" srcId="{F9853CD3-90A4-421E-BE1A-421F5D761008}" destId="{17F12F00-C9E1-422D-AADE-6EA41E5544D9}" srcOrd="1" destOrd="0" presId="urn:microsoft.com/office/officeart/2005/8/layout/hierarchy1"/>
    <dgm:cxn modelId="{2C1372B7-0A20-45AC-8FD1-0964AF816997}" type="presParOf" srcId="{17F12F00-C9E1-422D-AADE-6EA41E5544D9}" destId="{F45EF141-4D49-46E7-A2EC-837208831B66}" srcOrd="0" destOrd="0" presId="urn:microsoft.com/office/officeart/2005/8/layout/hierarchy1"/>
    <dgm:cxn modelId="{6E9E381E-754B-4D42-9ABA-0A9073CE3DF3}" type="presParOf" srcId="{F45EF141-4D49-46E7-A2EC-837208831B66}" destId="{47040175-BD60-4595-AE16-E7DA6CA957C4}" srcOrd="0" destOrd="0" presId="urn:microsoft.com/office/officeart/2005/8/layout/hierarchy1"/>
    <dgm:cxn modelId="{C8DDFA89-1D59-44E6-8FC6-025F6A5AFADA}" type="presParOf" srcId="{F45EF141-4D49-46E7-A2EC-837208831B66}" destId="{6AB3FAEE-7E8F-429B-AE74-F1C459FB6B28}" srcOrd="1" destOrd="0" presId="urn:microsoft.com/office/officeart/2005/8/layout/hierarchy1"/>
    <dgm:cxn modelId="{5A0CE3AD-D968-4B07-BCF6-7CA622B743A9}" type="presParOf" srcId="{17F12F00-C9E1-422D-AADE-6EA41E5544D9}" destId="{FDA77CE3-2B8E-4384-BA6E-35D464E1FE21}" srcOrd="1" destOrd="0" presId="urn:microsoft.com/office/officeart/2005/8/layout/hierarchy1"/>
    <dgm:cxn modelId="{B5B586A1-7330-44C2-8FBE-4B0A0EDF6CE5}" type="presParOf" srcId="{F9853CD3-90A4-421E-BE1A-421F5D761008}" destId="{C0B9603C-D885-4C5B-B155-F03058C3A05F}" srcOrd="2" destOrd="0" presId="urn:microsoft.com/office/officeart/2005/8/layout/hierarchy1"/>
    <dgm:cxn modelId="{20DA5C03-DD7A-4A0A-AB7A-29D93548080D}" type="presParOf" srcId="{F9853CD3-90A4-421E-BE1A-421F5D761008}" destId="{F25555D2-51DD-4E0F-9427-E8C3031EFA5B}" srcOrd="3" destOrd="0" presId="urn:microsoft.com/office/officeart/2005/8/layout/hierarchy1"/>
    <dgm:cxn modelId="{34E366BE-A2E0-4080-93B1-5D3C240CA809}" type="presParOf" srcId="{F25555D2-51DD-4E0F-9427-E8C3031EFA5B}" destId="{08CB13ED-6367-49AF-A8D1-2E5295A80738}" srcOrd="0" destOrd="0" presId="urn:microsoft.com/office/officeart/2005/8/layout/hierarchy1"/>
    <dgm:cxn modelId="{A87D5A48-83EB-4702-AE0C-8D4927B6B9B3}" type="presParOf" srcId="{08CB13ED-6367-49AF-A8D1-2E5295A80738}" destId="{77F49F7E-6131-43EE-BEAE-0E29BC928F06}" srcOrd="0" destOrd="0" presId="urn:microsoft.com/office/officeart/2005/8/layout/hierarchy1"/>
    <dgm:cxn modelId="{10E45018-62A0-4DFF-BFFE-2BA1A5E9CF62}" type="presParOf" srcId="{08CB13ED-6367-49AF-A8D1-2E5295A80738}" destId="{E7F11DC8-FB64-4F34-9D07-716A1AA5EDD0}" srcOrd="1" destOrd="0" presId="urn:microsoft.com/office/officeart/2005/8/layout/hierarchy1"/>
    <dgm:cxn modelId="{B570666A-7FB5-4395-8B3D-DA9F920D92DF}" type="presParOf" srcId="{F25555D2-51DD-4E0F-9427-E8C3031EFA5B}" destId="{7DDC35D3-4357-4FCA-8A89-C4209EBB1940}" srcOrd="1" destOrd="0" presId="urn:microsoft.com/office/officeart/2005/8/layout/hierarchy1"/>
    <dgm:cxn modelId="{B120D9F6-B5F2-4E9E-9B7A-F8EEDFF5CA85}" type="presParOf" srcId="{F9853CD3-90A4-421E-BE1A-421F5D761008}" destId="{60C9EFA8-D902-432D-AC66-69A559824F1F}" srcOrd="4" destOrd="0" presId="urn:microsoft.com/office/officeart/2005/8/layout/hierarchy1"/>
    <dgm:cxn modelId="{87F60623-CDAF-410D-8B53-6BA8B17CD5FD}" type="presParOf" srcId="{F9853CD3-90A4-421E-BE1A-421F5D761008}" destId="{303C6045-BC02-44FF-ABC0-94EC88B9BD3D}" srcOrd="5" destOrd="0" presId="urn:microsoft.com/office/officeart/2005/8/layout/hierarchy1"/>
    <dgm:cxn modelId="{6BE1147A-0E87-48D9-AFA7-A22EDCA06459}" type="presParOf" srcId="{303C6045-BC02-44FF-ABC0-94EC88B9BD3D}" destId="{DD9920F3-CD58-4EEA-B1FF-2E074AF4FE59}" srcOrd="0" destOrd="0" presId="urn:microsoft.com/office/officeart/2005/8/layout/hierarchy1"/>
    <dgm:cxn modelId="{84B9052A-DF85-4928-896E-ADA27B339B0C}" type="presParOf" srcId="{DD9920F3-CD58-4EEA-B1FF-2E074AF4FE59}" destId="{62216D4F-6ED8-4C29-8C2F-8ACD3225C3BD}" srcOrd="0" destOrd="0" presId="urn:microsoft.com/office/officeart/2005/8/layout/hierarchy1"/>
    <dgm:cxn modelId="{EA416EDD-4DFC-4032-A9C8-6B4FBCDB8880}" type="presParOf" srcId="{DD9920F3-CD58-4EEA-B1FF-2E074AF4FE59}" destId="{924E779E-33E2-4387-8D3B-7DDF56D9A82F}" srcOrd="1" destOrd="0" presId="urn:microsoft.com/office/officeart/2005/8/layout/hierarchy1"/>
    <dgm:cxn modelId="{C5536EB7-2FD1-4A57-B7D7-81CF783241CF}" type="presParOf" srcId="{303C6045-BC02-44FF-ABC0-94EC88B9BD3D}" destId="{C997CE6B-3564-4633-8E26-FDD67E323F9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0D50FD-C95D-4BD6-BD1E-DA83DB71FA66}" type="doc">
      <dgm:prSet loTypeId="urn:microsoft.com/office/officeart/2005/8/layout/list1" loCatId="list" qsTypeId="urn:microsoft.com/office/officeart/2005/8/quickstyle/simple1#2" qsCatId="simple" csTypeId="urn:microsoft.com/office/officeart/2005/8/colors/accent1_2#2" csCatId="accent1" phldr="1"/>
      <dgm:spPr/>
      <dgm:t>
        <a:bodyPr/>
        <a:lstStyle/>
        <a:p>
          <a:endParaRPr lang="en-IN"/>
        </a:p>
      </dgm:t>
    </dgm:pt>
    <dgm:pt modelId="{24F3C6B7-0AA5-4EBE-A62E-62E1E946968B}">
      <dgm:prSet custT="1"/>
      <dgm:spPr/>
      <dgm:t>
        <a:bodyPr/>
        <a:lstStyle/>
        <a:p>
          <a:r>
            <a:rPr lang="en-US" sz="1400" dirty="0">
              <a:latin typeface="Proxima Nova" panose="020B0604020202020204"/>
            </a:rPr>
            <a:t>Simple selectors (select elements based on name, id, and class)</a:t>
          </a:r>
          <a:endParaRPr lang="en-IN" sz="1400" dirty="0">
            <a:latin typeface="Proxima Nova" panose="020B0604020202020204"/>
          </a:endParaRPr>
        </a:p>
      </dgm:t>
    </dgm:pt>
    <dgm:pt modelId="{23691486-F140-40AC-A601-C95052603E53}" type="parTrans" cxnId="{E3CCCCC6-65DA-44CE-8741-166F60668A0D}">
      <dgm:prSet/>
      <dgm:spPr/>
      <dgm:t>
        <a:bodyPr/>
        <a:lstStyle/>
        <a:p>
          <a:endParaRPr lang="en-IN"/>
        </a:p>
      </dgm:t>
    </dgm:pt>
    <dgm:pt modelId="{2D7F17B7-FBF5-4AB2-9D18-C29707C6F9E2}" type="sibTrans" cxnId="{E3CCCCC6-65DA-44CE-8741-166F60668A0D}">
      <dgm:prSet/>
      <dgm:spPr/>
      <dgm:t>
        <a:bodyPr/>
        <a:lstStyle/>
        <a:p>
          <a:endParaRPr lang="en-IN"/>
        </a:p>
      </dgm:t>
    </dgm:pt>
    <dgm:pt modelId="{F659F145-9C74-4E7A-ABDD-E94222E95B83}">
      <dgm:prSet custT="1"/>
      <dgm:spPr/>
      <dgm:t>
        <a:bodyPr/>
        <a:lstStyle/>
        <a:p>
          <a:r>
            <a:rPr lang="en-US" sz="1400" dirty="0">
              <a:latin typeface="Proxima Nova" panose="020B0604020202020204"/>
            </a:rPr>
            <a:t>Pseudo-class selectors (select elements based on a certain state)</a:t>
          </a:r>
          <a:endParaRPr lang="en-IN" sz="1400" dirty="0">
            <a:latin typeface="Proxima Nova" panose="020B0604020202020204"/>
          </a:endParaRPr>
        </a:p>
      </dgm:t>
    </dgm:pt>
    <dgm:pt modelId="{C4283DE8-92ED-428C-94A5-F63A564F8E7F}" type="parTrans" cxnId="{AA3C5159-A417-44D3-BE4E-02246AE10549}">
      <dgm:prSet/>
      <dgm:spPr/>
      <dgm:t>
        <a:bodyPr/>
        <a:lstStyle/>
        <a:p>
          <a:endParaRPr lang="en-IN"/>
        </a:p>
      </dgm:t>
    </dgm:pt>
    <dgm:pt modelId="{CF78A035-C512-402D-8895-8A957BC47EFE}" type="sibTrans" cxnId="{AA3C5159-A417-44D3-BE4E-02246AE10549}">
      <dgm:prSet/>
      <dgm:spPr/>
      <dgm:t>
        <a:bodyPr/>
        <a:lstStyle/>
        <a:p>
          <a:endParaRPr lang="en-IN"/>
        </a:p>
      </dgm:t>
    </dgm:pt>
    <dgm:pt modelId="{CEBEAD73-1F09-4991-91AD-FA0873EABF4B}">
      <dgm:prSet custT="1"/>
      <dgm:spPr/>
      <dgm:t>
        <a:bodyPr/>
        <a:lstStyle/>
        <a:p>
          <a:r>
            <a:rPr lang="en-US" sz="1400" dirty="0">
              <a:latin typeface="Proxima Nova" panose="020B0604020202020204"/>
            </a:rPr>
            <a:t>Attribute selectors (select elements based on an attribute or attribute value)</a:t>
          </a:r>
          <a:endParaRPr lang="en-IN" sz="1400" dirty="0">
            <a:latin typeface="Proxima Nova" panose="020B0604020202020204"/>
          </a:endParaRPr>
        </a:p>
      </dgm:t>
    </dgm:pt>
    <dgm:pt modelId="{DB909EA8-231D-4578-B8BD-8F19DC449D5B}" type="parTrans" cxnId="{6B744162-252B-4DCF-B3EE-7341355DE06E}">
      <dgm:prSet/>
      <dgm:spPr/>
      <dgm:t>
        <a:bodyPr/>
        <a:lstStyle/>
        <a:p>
          <a:endParaRPr lang="en-IN"/>
        </a:p>
      </dgm:t>
    </dgm:pt>
    <dgm:pt modelId="{48936B67-6F07-47D7-8DAA-7268A1C451A8}" type="sibTrans" cxnId="{6B744162-252B-4DCF-B3EE-7341355DE06E}">
      <dgm:prSet/>
      <dgm:spPr/>
      <dgm:t>
        <a:bodyPr/>
        <a:lstStyle/>
        <a:p>
          <a:endParaRPr lang="en-IN"/>
        </a:p>
      </dgm:t>
    </dgm:pt>
    <dgm:pt modelId="{E035E4AF-AAE4-4095-966A-B6C17A786BE3}">
      <dgm:prSet custT="1"/>
      <dgm:spPr/>
      <dgm:t>
        <a:bodyPr/>
        <a:lstStyle/>
        <a:p>
          <a:r>
            <a:rPr lang="en-US" sz="1400">
              <a:latin typeface="Proxima Nova" panose="020B0604020202020204"/>
            </a:rPr>
            <a:t>Pseudo-element selectors (select and style a part of an element)</a:t>
          </a:r>
          <a:endParaRPr lang="en-IN" sz="1400" dirty="0">
            <a:latin typeface="Proxima Nova" panose="020B0604020202020204"/>
          </a:endParaRPr>
        </a:p>
      </dgm:t>
    </dgm:pt>
    <dgm:pt modelId="{9D791F52-D1B1-4C3E-9F20-958B88F5BBCE}" type="parTrans" cxnId="{663E7834-4860-4B95-B029-A5F303C6B1CB}">
      <dgm:prSet/>
      <dgm:spPr/>
      <dgm:t>
        <a:bodyPr/>
        <a:lstStyle/>
        <a:p>
          <a:endParaRPr lang="en-IN"/>
        </a:p>
      </dgm:t>
    </dgm:pt>
    <dgm:pt modelId="{0DD47AFC-9CFA-4493-A03B-CBB41B5F53FB}" type="sibTrans" cxnId="{663E7834-4860-4B95-B029-A5F303C6B1CB}">
      <dgm:prSet/>
      <dgm:spPr/>
      <dgm:t>
        <a:bodyPr/>
        <a:lstStyle/>
        <a:p>
          <a:endParaRPr lang="en-IN"/>
        </a:p>
      </dgm:t>
    </dgm:pt>
    <dgm:pt modelId="{C109B8B7-425B-41FB-BCAD-32EBE833EA7D}" type="pres">
      <dgm:prSet presAssocID="{1D0D50FD-C95D-4BD6-BD1E-DA83DB71FA66}" presName="linear" presStyleCnt="0">
        <dgm:presLayoutVars>
          <dgm:dir/>
          <dgm:animLvl val="lvl"/>
          <dgm:resizeHandles val="exact"/>
        </dgm:presLayoutVars>
      </dgm:prSet>
      <dgm:spPr/>
    </dgm:pt>
    <dgm:pt modelId="{2560419F-C91D-403F-AFA5-F3AB5136B991}" type="pres">
      <dgm:prSet presAssocID="{24F3C6B7-0AA5-4EBE-A62E-62E1E946968B}" presName="parentLin" presStyleCnt="0"/>
      <dgm:spPr/>
    </dgm:pt>
    <dgm:pt modelId="{D9CF40AF-706A-4F52-8D89-9B152F6EBBB4}" type="pres">
      <dgm:prSet presAssocID="{24F3C6B7-0AA5-4EBE-A62E-62E1E946968B}" presName="parentLeftMargin" presStyleLbl="node1" presStyleIdx="0" presStyleCnt="4"/>
      <dgm:spPr/>
    </dgm:pt>
    <dgm:pt modelId="{D87EA7BD-7E65-4524-9AAB-9F954535D7C6}" type="pres">
      <dgm:prSet presAssocID="{24F3C6B7-0AA5-4EBE-A62E-62E1E946968B}" presName="parentText" presStyleLbl="node1" presStyleIdx="0" presStyleCnt="4">
        <dgm:presLayoutVars>
          <dgm:chMax val="0"/>
          <dgm:bulletEnabled val="1"/>
        </dgm:presLayoutVars>
      </dgm:prSet>
      <dgm:spPr/>
    </dgm:pt>
    <dgm:pt modelId="{7209CEAA-2AD2-4C6C-BC51-7BFB16F53E98}" type="pres">
      <dgm:prSet presAssocID="{24F3C6B7-0AA5-4EBE-A62E-62E1E946968B}" presName="negativeSpace" presStyleCnt="0"/>
      <dgm:spPr/>
    </dgm:pt>
    <dgm:pt modelId="{60985459-46E4-4D01-A769-EF4812330D95}" type="pres">
      <dgm:prSet presAssocID="{24F3C6B7-0AA5-4EBE-A62E-62E1E946968B}" presName="childText" presStyleLbl="conFgAcc1" presStyleIdx="0" presStyleCnt="4">
        <dgm:presLayoutVars>
          <dgm:bulletEnabled val="1"/>
        </dgm:presLayoutVars>
      </dgm:prSet>
      <dgm:spPr/>
    </dgm:pt>
    <dgm:pt modelId="{B0246EDC-9862-469D-9E52-DBCA2660E588}" type="pres">
      <dgm:prSet presAssocID="{2D7F17B7-FBF5-4AB2-9D18-C29707C6F9E2}" presName="spaceBetweenRectangles" presStyleCnt="0"/>
      <dgm:spPr/>
    </dgm:pt>
    <dgm:pt modelId="{3FD8E5DD-479B-4B10-86ED-E4A0B8A2359F}" type="pres">
      <dgm:prSet presAssocID="{F659F145-9C74-4E7A-ABDD-E94222E95B83}" presName="parentLin" presStyleCnt="0"/>
      <dgm:spPr/>
    </dgm:pt>
    <dgm:pt modelId="{53F5DCE3-3EE1-4827-AC23-F3E09B13C5B2}" type="pres">
      <dgm:prSet presAssocID="{F659F145-9C74-4E7A-ABDD-E94222E95B83}" presName="parentLeftMargin" presStyleLbl="node1" presStyleIdx="0" presStyleCnt="4"/>
      <dgm:spPr/>
    </dgm:pt>
    <dgm:pt modelId="{0977B155-BF57-46C4-9237-01EA195AC230}" type="pres">
      <dgm:prSet presAssocID="{F659F145-9C74-4E7A-ABDD-E94222E95B83}" presName="parentText" presStyleLbl="node1" presStyleIdx="1" presStyleCnt="4">
        <dgm:presLayoutVars>
          <dgm:chMax val="0"/>
          <dgm:bulletEnabled val="1"/>
        </dgm:presLayoutVars>
      </dgm:prSet>
      <dgm:spPr/>
    </dgm:pt>
    <dgm:pt modelId="{83D9729A-7093-4782-AB69-415C96E1D183}" type="pres">
      <dgm:prSet presAssocID="{F659F145-9C74-4E7A-ABDD-E94222E95B83}" presName="negativeSpace" presStyleCnt="0"/>
      <dgm:spPr/>
    </dgm:pt>
    <dgm:pt modelId="{D338AC6C-E5BF-4B97-9310-E9669077A543}" type="pres">
      <dgm:prSet presAssocID="{F659F145-9C74-4E7A-ABDD-E94222E95B83}" presName="childText" presStyleLbl="conFgAcc1" presStyleIdx="1" presStyleCnt="4">
        <dgm:presLayoutVars>
          <dgm:bulletEnabled val="1"/>
        </dgm:presLayoutVars>
      </dgm:prSet>
      <dgm:spPr/>
    </dgm:pt>
    <dgm:pt modelId="{05EE5D16-55B6-44C6-850A-D25E3FCE841A}" type="pres">
      <dgm:prSet presAssocID="{CF78A035-C512-402D-8895-8A957BC47EFE}" presName="spaceBetweenRectangles" presStyleCnt="0"/>
      <dgm:spPr/>
    </dgm:pt>
    <dgm:pt modelId="{74CA5D48-A38C-438C-95C2-59136C297129}" type="pres">
      <dgm:prSet presAssocID="{E035E4AF-AAE4-4095-966A-B6C17A786BE3}" presName="parentLin" presStyleCnt="0"/>
      <dgm:spPr/>
    </dgm:pt>
    <dgm:pt modelId="{D1B0689B-A66D-476B-B44A-B16A428474C1}" type="pres">
      <dgm:prSet presAssocID="{E035E4AF-AAE4-4095-966A-B6C17A786BE3}" presName="parentLeftMargin" presStyleLbl="node1" presStyleIdx="1" presStyleCnt="4"/>
      <dgm:spPr/>
    </dgm:pt>
    <dgm:pt modelId="{BDE30026-294B-4E0A-B503-C81217203D40}" type="pres">
      <dgm:prSet presAssocID="{E035E4AF-AAE4-4095-966A-B6C17A786BE3}" presName="parentText" presStyleLbl="node1" presStyleIdx="2" presStyleCnt="4">
        <dgm:presLayoutVars>
          <dgm:chMax val="0"/>
          <dgm:bulletEnabled val="1"/>
        </dgm:presLayoutVars>
      </dgm:prSet>
      <dgm:spPr/>
    </dgm:pt>
    <dgm:pt modelId="{05BA80ED-28EC-47DD-9B00-0605CD07CE45}" type="pres">
      <dgm:prSet presAssocID="{E035E4AF-AAE4-4095-966A-B6C17A786BE3}" presName="negativeSpace" presStyleCnt="0"/>
      <dgm:spPr/>
    </dgm:pt>
    <dgm:pt modelId="{3A08CA1E-EA38-4FD7-AE22-877434D3D7CE}" type="pres">
      <dgm:prSet presAssocID="{E035E4AF-AAE4-4095-966A-B6C17A786BE3}" presName="childText" presStyleLbl="conFgAcc1" presStyleIdx="2" presStyleCnt="4">
        <dgm:presLayoutVars>
          <dgm:bulletEnabled val="1"/>
        </dgm:presLayoutVars>
      </dgm:prSet>
      <dgm:spPr/>
    </dgm:pt>
    <dgm:pt modelId="{C167D80F-F608-40AA-ABF2-E21EF96DE61E}" type="pres">
      <dgm:prSet presAssocID="{0DD47AFC-9CFA-4493-A03B-CBB41B5F53FB}" presName="spaceBetweenRectangles" presStyleCnt="0"/>
      <dgm:spPr/>
    </dgm:pt>
    <dgm:pt modelId="{D7BE69E2-EBB6-4405-95EB-3C18D1305CC7}" type="pres">
      <dgm:prSet presAssocID="{CEBEAD73-1F09-4991-91AD-FA0873EABF4B}" presName="parentLin" presStyleCnt="0"/>
      <dgm:spPr/>
    </dgm:pt>
    <dgm:pt modelId="{2B5BACB3-C65B-4125-86F5-C8A08EAB3593}" type="pres">
      <dgm:prSet presAssocID="{CEBEAD73-1F09-4991-91AD-FA0873EABF4B}" presName="parentLeftMargin" presStyleLbl="node1" presStyleIdx="2" presStyleCnt="4"/>
      <dgm:spPr/>
    </dgm:pt>
    <dgm:pt modelId="{CECEF393-A5E0-4CDE-889E-FD73838D5864}" type="pres">
      <dgm:prSet presAssocID="{CEBEAD73-1F09-4991-91AD-FA0873EABF4B}" presName="parentText" presStyleLbl="node1" presStyleIdx="3" presStyleCnt="4">
        <dgm:presLayoutVars>
          <dgm:chMax val="0"/>
          <dgm:bulletEnabled val="1"/>
        </dgm:presLayoutVars>
      </dgm:prSet>
      <dgm:spPr/>
    </dgm:pt>
    <dgm:pt modelId="{827B9E9F-5BC1-48FD-A363-862A4ABD5EBE}" type="pres">
      <dgm:prSet presAssocID="{CEBEAD73-1F09-4991-91AD-FA0873EABF4B}" presName="negativeSpace" presStyleCnt="0"/>
      <dgm:spPr/>
    </dgm:pt>
    <dgm:pt modelId="{768F8D96-626A-42AA-A002-E3E706FD2A18}" type="pres">
      <dgm:prSet presAssocID="{CEBEAD73-1F09-4991-91AD-FA0873EABF4B}" presName="childText" presStyleLbl="conFgAcc1" presStyleIdx="3" presStyleCnt="4">
        <dgm:presLayoutVars>
          <dgm:bulletEnabled val="1"/>
        </dgm:presLayoutVars>
      </dgm:prSet>
      <dgm:spPr/>
    </dgm:pt>
  </dgm:ptLst>
  <dgm:cxnLst>
    <dgm:cxn modelId="{9B9B8D08-B676-4C52-8BE2-AAAC122F40E6}" type="presOf" srcId="{CEBEAD73-1F09-4991-91AD-FA0873EABF4B}" destId="{CECEF393-A5E0-4CDE-889E-FD73838D5864}" srcOrd="1" destOrd="0" presId="urn:microsoft.com/office/officeart/2005/8/layout/list1"/>
    <dgm:cxn modelId="{663E7834-4860-4B95-B029-A5F303C6B1CB}" srcId="{1D0D50FD-C95D-4BD6-BD1E-DA83DB71FA66}" destId="{E035E4AF-AAE4-4095-966A-B6C17A786BE3}" srcOrd="2" destOrd="0" parTransId="{9D791F52-D1B1-4C3E-9F20-958B88F5BBCE}" sibTransId="{0DD47AFC-9CFA-4493-A03B-CBB41B5F53FB}"/>
    <dgm:cxn modelId="{189B473C-967E-4C68-8628-31300F176504}" type="presOf" srcId="{F659F145-9C74-4E7A-ABDD-E94222E95B83}" destId="{53F5DCE3-3EE1-4827-AC23-F3E09B13C5B2}" srcOrd="0" destOrd="0" presId="urn:microsoft.com/office/officeart/2005/8/layout/list1"/>
    <dgm:cxn modelId="{6B744162-252B-4DCF-B3EE-7341355DE06E}" srcId="{1D0D50FD-C95D-4BD6-BD1E-DA83DB71FA66}" destId="{CEBEAD73-1F09-4991-91AD-FA0873EABF4B}" srcOrd="3" destOrd="0" parTransId="{DB909EA8-231D-4578-B8BD-8F19DC449D5B}" sibTransId="{48936B67-6F07-47D7-8DAA-7268A1C451A8}"/>
    <dgm:cxn modelId="{000EA364-AC1D-458C-9CB5-A4B138BA409F}" type="presOf" srcId="{24F3C6B7-0AA5-4EBE-A62E-62E1E946968B}" destId="{D9CF40AF-706A-4F52-8D89-9B152F6EBBB4}" srcOrd="0" destOrd="0" presId="urn:microsoft.com/office/officeart/2005/8/layout/list1"/>
    <dgm:cxn modelId="{7BED1351-CFB9-4FBC-A4C8-475221F849FA}" type="presOf" srcId="{E035E4AF-AAE4-4095-966A-B6C17A786BE3}" destId="{D1B0689B-A66D-476B-B44A-B16A428474C1}" srcOrd="0" destOrd="0" presId="urn:microsoft.com/office/officeart/2005/8/layout/list1"/>
    <dgm:cxn modelId="{35D06176-A7C2-4AF3-9E06-FF4DE84F661C}" type="presOf" srcId="{CEBEAD73-1F09-4991-91AD-FA0873EABF4B}" destId="{2B5BACB3-C65B-4125-86F5-C8A08EAB3593}" srcOrd="0" destOrd="0" presId="urn:microsoft.com/office/officeart/2005/8/layout/list1"/>
    <dgm:cxn modelId="{AA3C5159-A417-44D3-BE4E-02246AE10549}" srcId="{1D0D50FD-C95D-4BD6-BD1E-DA83DB71FA66}" destId="{F659F145-9C74-4E7A-ABDD-E94222E95B83}" srcOrd="1" destOrd="0" parTransId="{C4283DE8-92ED-428C-94A5-F63A564F8E7F}" sibTransId="{CF78A035-C512-402D-8895-8A957BC47EFE}"/>
    <dgm:cxn modelId="{0318CC82-CBDA-4CB4-9261-6173599955D6}" type="presOf" srcId="{F659F145-9C74-4E7A-ABDD-E94222E95B83}" destId="{0977B155-BF57-46C4-9237-01EA195AC230}" srcOrd="1" destOrd="0" presId="urn:microsoft.com/office/officeart/2005/8/layout/list1"/>
    <dgm:cxn modelId="{574049AA-6604-4849-A9AB-B00DCEC93AE1}" type="presOf" srcId="{24F3C6B7-0AA5-4EBE-A62E-62E1E946968B}" destId="{D87EA7BD-7E65-4524-9AAB-9F954535D7C6}" srcOrd="1" destOrd="0" presId="urn:microsoft.com/office/officeart/2005/8/layout/list1"/>
    <dgm:cxn modelId="{B2E8EEC4-1F34-4D61-B735-C3B3DAC202ED}" type="presOf" srcId="{E035E4AF-AAE4-4095-966A-B6C17A786BE3}" destId="{BDE30026-294B-4E0A-B503-C81217203D40}" srcOrd="1" destOrd="0" presId="urn:microsoft.com/office/officeart/2005/8/layout/list1"/>
    <dgm:cxn modelId="{E3CCCCC6-65DA-44CE-8741-166F60668A0D}" srcId="{1D0D50FD-C95D-4BD6-BD1E-DA83DB71FA66}" destId="{24F3C6B7-0AA5-4EBE-A62E-62E1E946968B}" srcOrd="0" destOrd="0" parTransId="{23691486-F140-40AC-A601-C95052603E53}" sibTransId="{2D7F17B7-FBF5-4AB2-9D18-C29707C6F9E2}"/>
    <dgm:cxn modelId="{DC9DE2CA-8893-4CF9-969C-8D3F2398ADFA}" type="presOf" srcId="{1D0D50FD-C95D-4BD6-BD1E-DA83DB71FA66}" destId="{C109B8B7-425B-41FB-BCAD-32EBE833EA7D}" srcOrd="0" destOrd="0" presId="urn:microsoft.com/office/officeart/2005/8/layout/list1"/>
    <dgm:cxn modelId="{01CAD26D-C668-4824-ACF3-A9EDD5FDBF0E}" type="presParOf" srcId="{C109B8B7-425B-41FB-BCAD-32EBE833EA7D}" destId="{2560419F-C91D-403F-AFA5-F3AB5136B991}" srcOrd="0" destOrd="0" presId="urn:microsoft.com/office/officeart/2005/8/layout/list1"/>
    <dgm:cxn modelId="{A23E8BDE-F66E-4DCE-A684-4463CF83984F}" type="presParOf" srcId="{2560419F-C91D-403F-AFA5-F3AB5136B991}" destId="{D9CF40AF-706A-4F52-8D89-9B152F6EBBB4}" srcOrd="0" destOrd="0" presId="urn:microsoft.com/office/officeart/2005/8/layout/list1"/>
    <dgm:cxn modelId="{0CD959A5-CE0A-4CD3-A2C1-7C8DEC562056}" type="presParOf" srcId="{2560419F-C91D-403F-AFA5-F3AB5136B991}" destId="{D87EA7BD-7E65-4524-9AAB-9F954535D7C6}" srcOrd="1" destOrd="0" presId="urn:microsoft.com/office/officeart/2005/8/layout/list1"/>
    <dgm:cxn modelId="{14A9D2C2-7E97-4D78-9854-39F1C1EC2093}" type="presParOf" srcId="{C109B8B7-425B-41FB-BCAD-32EBE833EA7D}" destId="{7209CEAA-2AD2-4C6C-BC51-7BFB16F53E98}" srcOrd="1" destOrd="0" presId="urn:microsoft.com/office/officeart/2005/8/layout/list1"/>
    <dgm:cxn modelId="{7616619A-1992-46A1-AAB1-07FDFA6B10C3}" type="presParOf" srcId="{C109B8B7-425B-41FB-BCAD-32EBE833EA7D}" destId="{60985459-46E4-4D01-A769-EF4812330D95}" srcOrd="2" destOrd="0" presId="urn:microsoft.com/office/officeart/2005/8/layout/list1"/>
    <dgm:cxn modelId="{4FB89ABE-A907-4608-940B-FDF4D31A63E2}" type="presParOf" srcId="{C109B8B7-425B-41FB-BCAD-32EBE833EA7D}" destId="{B0246EDC-9862-469D-9E52-DBCA2660E588}" srcOrd="3" destOrd="0" presId="urn:microsoft.com/office/officeart/2005/8/layout/list1"/>
    <dgm:cxn modelId="{D82F5ACE-B1CA-4B94-A6EF-A2E3D27FE4ED}" type="presParOf" srcId="{C109B8B7-425B-41FB-BCAD-32EBE833EA7D}" destId="{3FD8E5DD-479B-4B10-86ED-E4A0B8A2359F}" srcOrd="4" destOrd="0" presId="urn:microsoft.com/office/officeart/2005/8/layout/list1"/>
    <dgm:cxn modelId="{5C76C609-B567-4DA5-8AD0-9BA0594BC3D1}" type="presParOf" srcId="{3FD8E5DD-479B-4B10-86ED-E4A0B8A2359F}" destId="{53F5DCE3-3EE1-4827-AC23-F3E09B13C5B2}" srcOrd="0" destOrd="0" presId="urn:microsoft.com/office/officeart/2005/8/layout/list1"/>
    <dgm:cxn modelId="{514A9B31-3CB0-4F8B-971A-68746DCCB20E}" type="presParOf" srcId="{3FD8E5DD-479B-4B10-86ED-E4A0B8A2359F}" destId="{0977B155-BF57-46C4-9237-01EA195AC230}" srcOrd="1" destOrd="0" presId="urn:microsoft.com/office/officeart/2005/8/layout/list1"/>
    <dgm:cxn modelId="{6863EEDD-1938-48BB-80C8-5C5F8C6CC8C1}" type="presParOf" srcId="{C109B8B7-425B-41FB-BCAD-32EBE833EA7D}" destId="{83D9729A-7093-4782-AB69-415C96E1D183}" srcOrd="5" destOrd="0" presId="urn:microsoft.com/office/officeart/2005/8/layout/list1"/>
    <dgm:cxn modelId="{BDE8885B-1CAC-4AD7-AA81-07A1A770C53E}" type="presParOf" srcId="{C109B8B7-425B-41FB-BCAD-32EBE833EA7D}" destId="{D338AC6C-E5BF-4B97-9310-E9669077A543}" srcOrd="6" destOrd="0" presId="urn:microsoft.com/office/officeart/2005/8/layout/list1"/>
    <dgm:cxn modelId="{898FF582-1E65-4BCB-88BF-2F5EB4C3C3DA}" type="presParOf" srcId="{C109B8B7-425B-41FB-BCAD-32EBE833EA7D}" destId="{05EE5D16-55B6-44C6-850A-D25E3FCE841A}" srcOrd="7" destOrd="0" presId="urn:microsoft.com/office/officeart/2005/8/layout/list1"/>
    <dgm:cxn modelId="{6D5195A4-3210-4FDD-9B1A-C269F3F8E6AE}" type="presParOf" srcId="{C109B8B7-425B-41FB-BCAD-32EBE833EA7D}" destId="{74CA5D48-A38C-438C-95C2-59136C297129}" srcOrd="8" destOrd="0" presId="urn:microsoft.com/office/officeart/2005/8/layout/list1"/>
    <dgm:cxn modelId="{BAC16B26-F169-4CFA-B2AA-806B277A57F5}" type="presParOf" srcId="{74CA5D48-A38C-438C-95C2-59136C297129}" destId="{D1B0689B-A66D-476B-B44A-B16A428474C1}" srcOrd="0" destOrd="0" presId="urn:microsoft.com/office/officeart/2005/8/layout/list1"/>
    <dgm:cxn modelId="{E9EFAA6A-EBD8-453D-8E08-6D2636C5A9BC}" type="presParOf" srcId="{74CA5D48-A38C-438C-95C2-59136C297129}" destId="{BDE30026-294B-4E0A-B503-C81217203D40}" srcOrd="1" destOrd="0" presId="urn:microsoft.com/office/officeart/2005/8/layout/list1"/>
    <dgm:cxn modelId="{60787DBB-593D-40F4-8C7A-2E1E5BC72812}" type="presParOf" srcId="{C109B8B7-425B-41FB-BCAD-32EBE833EA7D}" destId="{05BA80ED-28EC-47DD-9B00-0605CD07CE45}" srcOrd="9" destOrd="0" presId="urn:microsoft.com/office/officeart/2005/8/layout/list1"/>
    <dgm:cxn modelId="{5BB2BA84-3F3B-438E-8D12-1312E17002D8}" type="presParOf" srcId="{C109B8B7-425B-41FB-BCAD-32EBE833EA7D}" destId="{3A08CA1E-EA38-4FD7-AE22-877434D3D7CE}" srcOrd="10" destOrd="0" presId="urn:microsoft.com/office/officeart/2005/8/layout/list1"/>
    <dgm:cxn modelId="{31C82DDE-69A6-4C16-801C-E3390FAE92AD}" type="presParOf" srcId="{C109B8B7-425B-41FB-BCAD-32EBE833EA7D}" destId="{C167D80F-F608-40AA-ABF2-E21EF96DE61E}" srcOrd="11" destOrd="0" presId="urn:microsoft.com/office/officeart/2005/8/layout/list1"/>
    <dgm:cxn modelId="{ADF4E6A9-D685-4E72-940B-C2F56336A2FE}" type="presParOf" srcId="{C109B8B7-425B-41FB-BCAD-32EBE833EA7D}" destId="{D7BE69E2-EBB6-4405-95EB-3C18D1305CC7}" srcOrd="12" destOrd="0" presId="urn:microsoft.com/office/officeart/2005/8/layout/list1"/>
    <dgm:cxn modelId="{96E5EFB8-21C3-4DEA-83A2-5A938EEAFC66}" type="presParOf" srcId="{D7BE69E2-EBB6-4405-95EB-3C18D1305CC7}" destId="{2B5BACB3-C65B-4125-86F5-C8A08EAB3593}" srcOrd="0" destOrd="0" presId="urn:microsoft.com/office/officeart/2005/8/layout/list1"/>
    <dgm:cxn modelId="{14DCDD0F-BCE4-4F34-94DD-59BDD7BE9EAC}" type="presParOf" srcId="{D7BE69E2-EBB6-4405-95EB-3C18D1305CC7}" destId="{CECEF393-A5E0-4CDE-889E-FD73838D5864}" srcOrd="1" destOrd="0" presId="urn:microsoft.com/office/officeart/2005/8/layout/list1"/>
    <dgm:cxn modelId="{EB21E8F8-6941-4173-B1D3-6802E13F5A80}" type="presParOf" srcId="{C109B8B7-425B-41FB-BCAD-32EBE833EA7D}" destId="{827B9E9F-5BC1-48FD-A363-862A4ABD5EBE}" srcOrd="13" destOrd="0" presId="urn:microsoft.com/office/officeart/2005/8/layout/list1"/>
    <dgm:cxn modelId="{C2C25DF3-589D-4CB4-BE14-BB7E379537B6}" type="presParOf" srcId="{C109B8B7-425B-41FB-BCAD-32EBE833EA7D}" destId="{768F8D96-626A-42AA-A002-E3E706FD2A18}"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C01E351-D398-4706-8B96-BC4CB7C6A777}" type="doc">
      <dgm:prSet loTypeId="urn:microsoft.com/office/officeart/2005/8/layout/venn3" loCatId="relationship" qsTypeId="urn:microsoft.com/office/officeart/2005/8/quickstyle/simple1#3" qsCatId="simple" csTypeId="urn:microsoft.com/office/officeart/2005/8/colors/accent1_2#3" csCatId="accent1" phldr="1"/>
      <dgm:spPr/>
      <dgm:t>
        <a:bodyPr/>
        <a:lstStyle/>
        <a:p>
          <a:endParaRPr lang="en-IN"/>
        </a:p>
      </dgm:t>
    </dgm:pt>
    <dgm:pt modelId="{035307DA-98A9-4441-BC58-BB202E184CBA}">
      <dgm:prSet phldrT="[Text]"/>
      <dgm:spPr/>
      <dgm:t>
        <a:bodyPr/>
        <a:lstStyle/>
        <a:p>
          <a:r>
            <a:rPr lang="en-US" dirty="0"/>
            <a:t>Static</a:t>
          </a:r>
          <a:endParaRPr lang="en-IN" dirty="0"/>
        </a:p>
      </dgm:t>
    </dgm:pt>
    <dgm:pt modelId="{1C5B4B8D-832E-4D56-9D4B-F42D5BC8B504}" type="parTrans" cxnId="{D9AF7335-AA3C-47E7-B74B-8FC5B9191BA1}">
      <dgm:prSet/>
      <dgm:spPr/>
      <dgm:t>
        <a:bodyPr/>
        <a:lstStyle/>
        <a:p>
          <a:endParaRPr lang="en-IN"/>
        </a:p>
      </dgm:t>
    </dgm:pt>
    <dgm:pt modelId="{715D553D-72AE-4A5E-9F74-2E25F623A06A}" type="sibTrans" cxnId="{D9AF7335-AA3C-47E7-B74B-8FC5B9191BA1}">
      <dgm:prSet/>
      <dgm:spPr/>
      <dgm:t>
        <a:bodyPr/>
        <a:lstStyle/>
        <a:p>
          <a:endParaRPr lang="en-IN"/>
        </a:p>
      </dgm:t>
    </dgm:pt>
    <dgm:pt modelId="{46689135-115D-48F2-B5E4-069B88C636B4}">
      <dgm:prSet phldrT="[Text]"/>
      <dgm:spPr/>
      <dgm:t>
        <a:bodyPr/>
        <a:lstStyle/>
        <a:p>
          <a:r>
            <a:rPr lang="en-US" dirty="0"/>
            <a:t>Relative</a:t>
          </a:r>
          <a:endParaRPr lang="en-IN" dirty="0"/>
        </a:p>
      </dgm:t>
    </dgm:pt>
    <dgm:pt modelId="{64482540-B927-43B6-AC3F-4F215221F754}" type="parTrans" cxnId="{28E33FAB-1CDD-44C3-9BC6-894C05FF1712}">
      <dgm:prSet/>
      <dgm:spPr/>
      <dgm:t>
        <a:bodyPr/>
        <a:lstStyle/>
        <a:p>
          <a:endParaRPr lang="en-IN"/>
        </a:p>
      </dgm:t>
    </dgm:pt>
    <dgm:pt modelId="{7B18C0DD-5910-409D-BEDF-2324718055AD}" type="sibTrans" cxnId="{28E33FAB-1CDD-44C3-9BC6-894C05FF1712}">
      <dgm:prSet/>
      <dgm:spPr/>
      <dgm:t>
        <a:bodyPr/>
        <a:lstStyle/>
        <a:p>
          <a:endParaRPr lang="en-IN"/>
        </a:p>
      </dgm:t>
    </dgm:pt>
    <dgm:pt modelId="{4508FABD-3F75-43EA-B8AE-B3319DD0EFEF}">
      <dgm:prSet phldrT="[Text]"/>
      <dgm:spPr/>
      <dgm:t>
        <a:bodyPr/>
        <a:lstStyle/>
        <a:p>
          <a:r>
            <a:rPr lang="en-US" dirty="0"/>
            <a:t>Absolute</a:t>
          </a:r>
          <a:endParaRPr lang="en-IN" dirty="0"/>
        </a:p>
      </dgm:t>
    </dgm:pt>
    <dgm:pt modelId="{FB5328F4-DBB6-45C0-9C09-B344594CB23A}" type="parTrans" cxnId="{0E9CC314-3973-4FC4-897F-47519196A78E}">
      <dgm:prSet/>
      <dgm:spPr/>
      <dgm:t>
        <a:bodyPr/>
        <a:lstStyle/>
        <a:p>
          <a:endParaRPr lang="en-IN"/>
        </a:p>
      </dgm:t>
    </dgm:pt>
    <dgm:pt modelId="{ADC4D3EC-B3DC-40AF-A1E4-0F6929C16450}" type="sibTrans" cxnId="{0E9CC314-3973-4FC4-897F-47519196A78E}">
      <dgm:prSet/>
      <dgm:spPr/>
      <dgm:t>
        <a:bodyPr/>
        <a:lstStyle/>
        <a:p>
          <a:endParaRPr lang="en-IN"/>
        </a:p>
      </dgm:t>
    </dgm:pt>
    <dgm:pt modelId="{22CB5A2B-43B3-4E7D-BB3E-698C730D211D}">
      <dgm:prSet phldrT="[Text]"/>
      <dgm:spPr/>
      <dgm:t>
        <a:bodyPr/>
        <a:lstStyle/>
        <a:p>
          <a:r>
            <a:rPr lang="en-US" dirty="0"/>
            <a:t>Sticky</a:t>
          </a:r>
          <a:endParaRPr lang="en-IN" dirty="0"/>
        </a:p>
      </dgm:t>
    </dgm:pt>
    <dgm:pt modelId="{E44BA021-31B4-4778-9770-F6E2D465AA24}" type="parTrans" cxnId="{F5D5F4B4-4723-4C69-ABCC-C82332A86DA9}">
      <dgm:prSet/>
      <dgm:spPr/>
      <dgm:t>
        <a:bodyPr/>
        <a:lstStyle/>
        <a:p>
          <a:endParaRPr lang="en-IN"/>
        </a:p>
      </dgm:t>
    </dgm:pt>
    <dgm:pt modelId="{A1BD2D7B-251F-48C3-BA8B-7738C87431A7}" type="sibTrans" cxnId="{F5D5F4B4-4723-4C69-ABCC-C82332A86DA9}">
      <dgm:prSet/>
      <dgm:spPr/>
      <dgm:t>
        <a:bodyPr/>
        <a:lstStyle/>
        <a:p>
          <a:endParaRPr lang="en-IN"/>
        </a:p>
      </dgm:t>
    </dgm:pt>
    <dgm:pt modelId="{13C17A6B-53FF-43F2-8187-F54E9162704B}">
      <dgm:prSet/>
      <dgm:spPr/>
      <dgm:t>
        <a:bodyPr/>
        <a:lstStyle/>
        <a:p>
          <a:r>
            <a:rPr lang="en-US" dirty="0"/>
            <a:t>Fixed</a:t>
          </a:r>
          <a:endParaRPr lang="en-IN" dirty="0"/>
        </a:p>
      </dgm:t>
    </dgm:pt>
    <dgm:pt modelId="{24B804CD-B2B1-447B-B3CF-9FDE789E8A48}" type="parTrans" cxnId="{FE3841B6-73D7-4D13-AEC3-2AB81A68F581}">
      <dgm:prSet/>
      <dgm:spPr/>
      <dgm:t>
        <a:bodyPr/>
        <a:lstStyle/>
        <a:p>
          <a:endParaRPr lang="en-IN"/>
        </a:p>
      </dgm:t>
    </dgm:pt>
    <dgm:pt modelId="{683239FA-C54E-49AA-A884-7690BE60D015}" type="sibTrans" cxnId="{FE3841B6-73D7-4D13-AEC3-2AB81A68F581}">
      <dgm:prSet/>
      <dgm:spPr/>
      <dgm:t>
        <a:bodyPr/>
        <a:lstStyle/>
        <a:p>
          <a:endParaRPr lang="en-IN"/>
        </a:p>
      </dgm:t>
    </dgm:pt>
    <dgm:pt modelId="{8AC27F89-D967-43D4-8D09-22735E2862B7}" type="pres">
      <dgm:prSet presAssocID="{3C01E351-D398-4706-8B96-BC4CB7C6A777}" presName="Name0" presStyleCnt="0">
        <dgm:presLayoutVars>
          <dgm:dir/>
          <dgm:resizeHandles val="exact"/>
        </dgm:presLayoutVars>
      </dgm:prSet>
      <dgm:spPr/>
    </dgm:pt>
    <dgm:pt modelId="{8C479BEF-E81B-4B28-88F6-205132F14978}" type="pres">
      <dgm:prSet presAssocID="{035307DA-98A9-4441-BC58-BB202E184CBA}" presName="Name5" presStyleLbl="vennNode1" presStyleIdx="0" presStyleCnt="5">
        <dgm:presLayoutVars>
          <dgm:bulletEnabled val="1"/>
        </dgm:presLayoutVars>
      </dgm:prSet>
      <dgm:spPr/>
    </dgm:pt>
    <dgm:pt modelId="{BAEC4A30-F9F3-40F5-AFC4-F433EE12CFFE}" type="pres">
      <dgm:prSet presAssocID="{715D553D-72AE-4A5E-9F74-2E25F623A06A}" presName="space" presStyleCnt="0"/>
      <dgm:spPr/>
    </dgm:pt>
    <dgm:pt modelId="{7690C5A1-DBC9-4051-BCB2-9B79EA437636}" type="pres">
      <dgm:prSet presAssocID="{46689135-115D-48F2-B5E4-069B88C636B4}" presName="Name5" presStyleLbl="vennNode1" presStyleIdx="1" presStyleCnt="5">
        <dgm:presLayoutVars>
          <dgm:bulletEnabled val="1"/>
        </dgm:presLayoutVars>
      </dgm:prSet>
      <dgm:spPr/>
    </dgm:pt>
    <dgm:pt modelId="{181A177A-9578-430C-9C8A-824D9933366D}" type="pres">
      <dgm:prSet presAssocID="{7B18C0DD-5910-409D-BEDF-2324718055AD}" presName="space" presStyleCnt="0"/>
      <dgm:spPr/>
    </dgm:pt>
    <dgm:pt modelId="{09A81BBA-9213-45AB-9F3B-9B667C9FE6B0}" type="pres">
      <dgm:prSet presAssocID="{4508FABD-3F75-43EA-B8AE-B3319DD0EFEF}" presName="Name5" presStyleLbl="vennNode1" presStyleIdx="2" presStyleCnt="5">
        <dgm:presLayoutVars>
          <dgm:bulletEnabled val="1"/>
        </dgm:presLayoutVars>
      </dgm:prSet>
      <dgm:spPr/>
    </dgm:pt>
    <dgm:pt modelId="{18C4FA84-AE03-4CCE-B7E7-998B588F7211}" type="pres">
      <dgm:prSet presAssocID="{ADC4D3EC-B3DC-40AF-A1E4-0F6929C16450}" presName="space" presStyleCnt="0"/>
      <dgm:spPr/>
    </dgm:pt>
    <dgm:pt modelId="{61BD6EFD-A96F-419E-BBCF-2F6C94FC3CB3}" type="pres">
      <dgm:prSet presAssocID="{22CB5A2B-43B3-4E7D-BB3E-698C730D211D}" presName="Name5" presStyleLbl="vennNode1" presStyleIdx="3" presStyleCnt="5">
        <dgm:presLayoutVars>
          <dgm:bulletEnabled val="1"/>
        </dgm:presLayoutVars>
      </dgm:prSet>
      <dgm:spPr/>
    </dgm:pt>
    <dgm:pt modelId="{CE8E7075-1066-496A-B049-317ACC217E7A}" type="pres">
      <dgm:prSet presAssocID="{A1BD2D7B-251F-48C3-BA8B-7738C87431A7}" presName="space" presStyleCnt="0"/>
      <dgm:spPr/>
    </dgm:pt>
    <dgm:pt modelId="{D9ECCE63-14B2-4883-AAA1-F49C4E4C1DD3}" type="pres">
      <dgm:prSet presAssocID="{13C17A6B-53FF-43F2-8187-F54E9162704B}" presName="Name5" presStyleLbl="vennNode1" presStyleIdx="4" presStyleCnt="5">
        <dgm:presLayoutVars>
          <dgm:bulletEnabled val="1"/>
        </dgm:presLayoutVars>
      </dgm:prSet>
      <dgm:spPr/>
    </dgm:pt>
  </dgm:ptLst>
  <dgm:cxnLst>
    <dgm:cxn modelId="{0E9CC314-3973-4FC4-897F-47519196A78E}" srcId="{3C01E351-D398-4706-8B96-BC4CB7C6A777}" destId="{4508FABD-3F75-43EA-B8AE-B3319DD0EFEF}" srcOrd="2" destOrd="0" parTransId="{FB5328F4-DBB6-45C0-9C09-B344594CB23A}" sibTransId="{ADC4D3EC-B3DC-40AF-A1E4-0F6929C16450}"/>
    <dgm:cxn modelId="{E1AD882A-0E37-41FE-A57A-F5CA9D6B2AD5}" type="presOf" srcId="{13C17A6B-53FF-43F2-8187-F54E9162704B}" destId="{D9ECCE63-14B2-4883-AAA1-F49C4E4C1DD3}" srcOrd="0" destOrd="0" presId="urn:microsoft.com/office/officeart/2005/8/layout/venn3"/>
    <dgm:cxn modelId="{8DA8C02E-CAE6-46A3-A36D-CBD4AF1369FA}" type="presOf" srcId="{4508FABD-3F75-43EA-B8AE-B3319DD0EFEF}" destId="{09A81BBA-9213-45AB-9F3B-9B667C9FE6B0}" srcOrd="0" destOrd="0" presId="urn:microsoft.com/office/officeart/2005/8/layout/venn3"/>
    <dgm:cxn modelId="{D9AF7335-AA3C-47E7-B74B-8FC5B9191BA1}" srcId="{3C01E351-D398-4706-8B96-BC4CB7C6A777}" destId="{035307DA-98A9-4441-BC58-BB202E184CBA}" srcOrd="0" destOrd="0" parTransId="{1C5B4B8D-832E-4D56-9D4B-F42D5BC8B504}" sibTransId="{715D553D-72AE-4A5E-9F74-2E25F623A06A}"/>
    <dgm:cxn modelId="{16614C94-D6D0-41AA-AABF-27F8AB53B706}" type="presOf" srcId="{3C01E351-D398-4706-8B96-BC4CB7C6A777}" destId="{8AC27F89-D967-43D4-8D09-22735E2862B7}" srcOrd="0" destOrd="0" presId="urn:microsoft.com/office/officeart/2005/8/layout/venn3"/>
    <dgm:cxn modelId="{28E33FAB-1CDD-44C3-9BC6-894C05FF1712}" srcId="{3C01E351-D398-4706-8B96-BC4CB7C6A777}" destId="{46689135-115D-48F2-B5E4-069B88C636B4}" srcOrd="1" destOrd="0" parTransId="{64482540-B927-43B6-AC3F-4F215221F754}" sibTransId="{7B18C0DD-5910-409D-BEDF-2324718055AD}"/>
    <dgm:cxn modelId="{F5D5F4B4-4723-4C69-ABCC-C82332A86DA9}" srcId="{3C01E351-D398-4706-8B96-BC4CB7C6A777}" destId="{22CB5A2B-43B3-4E7D-BB3E-698C730D211D}" srcOrd="3" destOrd="0" parTransId="{E44BA021-31B4-4778-9770-F6E2D465AA24}" sibTransId="{A1BD2D7B-251F-48C3-BA8B-7738C87431A7}"/>
    <dgm:cxn modelId="{FE3841B6-73D7-4D13-AEC3-2AB81A68F581}" srcId="{3C01E351-D398-4706-8B96-BC4CB7C6A777}" destId="{13C17A6B-53FF-43F2-8187-F54E9162704B}" srcOrd="4" destOrd="0" parTransId="{24B804CD-B2B1-447B-B3CF-9FDE789E8A48}" sibTransId="{683239FA-C54E-49AA-A884-7690BE60D015}"/>
    <dgm:cxn modelId="{00C8AAD1-58DC-47FF-9430-23462B682FD8}" type="presOf" srcId="{22CB5A2B-43B3-4E7D-BB3E-698C730D211D}" destId="{61BD6EFD-A96F-419E-BBCF-2F6C94FC3CB3}" srcOrd="0" destOrd="0" presId="urn:microsoft.com/office/officeart/2005/8/layout/venn3"/>
    <dgm:cxn modelId="{0ADECFD9-8243-41DA-B051-6E694ACEDFA3}" type="presOf" srcId="{46689135-115D-48F2-B5E4-069B88C636B4}" destId="{7690C5A1-DBC9-4051-BCB2-9B79EA437636}" srcOrd="0" destOrd="0" presId="urn:microsoft.com/office/officeart/2005/8/layout/venn3"/>
    <dgm:cxn modelId="{E8EAF7E2-4553-4C87-87C4-4D00BDCC7CCD}" type="presOf" srcId="{035307DA-98A9-4441-BC58-BB202E184CBA}" destId="{8C479BEF-E81B-4B28-88F6-205132F14978}" srcOrd="0" destOrd="0" presId="urn:microsoft.com/office/officeart/2005/8/layout/venn3"/>
    <dgm:cxn modelId="{1196F8F1-FC7F-4D14-BC29-DD4066E3AEA7}" type="presParOf" srcId="{8AC27F89-D967-43D4-8D09-22735E2862B7}" destId="{8C479BEF-E81B-4B28-88F6-205132F14978}" srcOrd="0" destOrd="0" presId="urn:microsoft.com/office/officeart/2005/8/layout/venn3"/>
    <dgm:cxn modelId="{A16A9063-8427-4841-A02F-3B40B033FE50}" type="presParOf" srcId="{8AC27F89-D967-43D4-8D09-22735E2862B7}" destId="{BAEC4A30-F9F3-40F5-AFC4-F433EE12CFFE}" srcOrd="1" destOrd="0" presId="urn:microsoft.com/office/officeart/2005/8/layout/venn3"/>
    <dgm:cxn modelId="{1A60DC11-5EB7-48A4-836F-EDD421FF0F8D}" type="presParOf" srcId="{8AC27F89-D967-43D4-8D09-22735E2862B7}" destId="{7690C5A1-DBC9-4051-BCB2-9B79EA437636}" srcOrd="2" destOrd="0" presId="urn:microsoft.com/office/officeart/2005/8/layout/venn3"/>
    <dgm:cxn modelId="{E0FFA980-6E3D-4CFC-98CC-1F5FD00A8974}" type="presParOf" srcId="{8AC27F89-D967-43D4-8D09-22735E2862B7}" destId="{181A177A-9578-430C-9C8A-824D9933366D}" srcOrd="3" destOrd="0" presId="urn:microsoft.com/office/officeart/2005/8/layout/venn3"/>
    <dgm:cxn modelId="{2BB66E32-B9AC-48BD-9764-0E797FF7808D}" type="presParOf" srcId="{8AC27F89-D967-43D4-8D09-22735E2862B7}" destId="{09A81BBA-9213-45AB-9F3B-9B667C9FE6B0}" srcOrd="4" destOrd="0" presId="urn:microsoft.com/office/officeart/2005/8/layout/venn3"/>
    <dgm:cxn modelId="{A43F3EF7-44AC-41EC-A7E9-56EDCAA24484}" type="presParOf" srcId="{8AC27F89-D967-43D4-8D09-22735E2862B7}" destId="{18C4FA84-AE03-4CCE-B7E7-998B588F7211}" srcOrd="5" destOrd="0" presId="urn:microsoft.com/office/officeart/2005/8/layout/venn3"/>
    <dgm:cxn modelId="{A3E61AD1-D4EF-4778-8F17-1D4615EC4EE0}" type="presParOf" srcId="{8AC27F89-D967-43D4-8D09-22735E2862B7}" destId="{61BD6EFD-A96F-419E-BBCF-2F6C94FC3CB3}" srcOrd="6" destOrd="0" presId="urn:microsoft.com/office/officeart/2005/8/layout/venn3"/>
    <dgm:cxn modelId="{7C701BD4-CC3F-4BE6-9D92-A9349F8A921B}" type="presParOf" srcId="{8AC27F89-D967-43D4-8D09-22735E2862B7}" destId="{CE8E7075-1066-496A-B049-317ACC217E7A}" srcOrd="7" destOrd="0" presId="urn:microsoft.com/office/officeart/2005/8/layout/venn3"/>
    <dgm:cxn modelId="{5027D2C1-DF83-42CD-B384-E38DBCCCE155}" type="presParOf" srcId="{8AC27F89-D967-43D4-8D09-22735E2862B7}" destId="{D9ECCE63-14B2-4883-AAA1-F49C4E4C1DD3}" srcOrd="8"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4E9C2BA-5DC4-403E-BC3A-2A711082441E}" type="doc">
      <dgm:prSet loTypeId="urn:microsoft.com/office/officeart/2005/8/layout/orgChart1" loCatId="hierarchy" qsTypeId="urn:microsoft.com/office/officeart/2005/8/quickstyle/simple3#1" qsCatId="simple" csTypeId="urn:microsoft.com/office/officeart/2005/8/colors/accent1_2#4" csCatId="accent1" phldr="1"/>
      <dgm:spPr/>
      <dgm:t>
        <a:bodyPr/>
        <a:lstStyle/>
        <a:p>
          <a:endParaRPr lang="en-IN"/>
        </a:p>
      </dgm:t>
    </dgm:pt>
    <dgm:pt modelId="{2248CD08-1A0C-425A-B5B5-9C3CC33495D5}">
      <dgm:prSet phldrT="[Text]"/>
      <dgm:spPr/>
      <dgm:t>
        <a:bodyPr/>
        <a:lstStyle/>
        <a:p>
          <a:r>
            <a:rPr lang="en-US" dirty="0"/>
            <a:t>Parent Element </a:t>
          </a:r>
          <a:endParaRPr lang="en-IN" dirty="0"/>
        </a:p>
      </dgm:t>
    </dgm:pt>
    <dgm:pt modelId="{DBA899DF-5C74-44A8-94FB-6906DB6D6997}" type="parTrans" cxnId="{6B38E20E-550E-4AF7-AC72-C121448BAD68}">
      <dgm:prSet/>
      <dgm:spPr/>
      <dgm:t>
        <a:bodyPr/>
        <a:lstStyle/>
        <a:p>
          <a:endParaRPr lang="en-IN"/>
        </a:p>
      </dgm:t>
    </dgm:pt>
    <dgm:pt modelId="{93FC3002-11FF-4F2B-9500-AD32399274FF}" type="sibTrans" cxnId="{6B38E20E-550E-4AF7-AC72-C121448BAD68}">
      <dgm:prSet/>
      <dgm:spPr/>
      <dgm:t>
        <a:bodyPr/>
        <a:lstStyle/>
        <a:p>
          <a:endParaRPr lang="en-IN"/>
        </a:p>
      </dgm:t>
    </dgm:pt>
    <dgm:pt modelId="{3767A45A-A4B4-4167-9DDB-C69E1FCAC1E2}">
      <dgm:prSet phldrT="[Text]"/>
      <dgm:spPr/>
      <dgm:t>
        <a:bodyPr/>
        <a:lstStyle/>
        <a:p>
          <a:r>
            <a:rPr lang="en-US" dirty="0"/>
            <a:t>flex-direction</a:t>
          </a:r>
          <a:endParaRPr lang="en-IN" dirty="0"/>
        </a:p>
      </dgm:t>
    </dgm:pt>
    <dgm:pt modelId="{4E1DE0EA-9634-4412-9A11-CEBB3E7D5EE9}" type="parTrans" cxnId="{1D9DCCE2-4895-48D4-86D5-98560226CA20}">
      <dgm:prSet/>
      <dgm:spPr/>
      <dgm:t>
        <a:bodyPr/>
        <a:lstStyle/>
        <a:p>
          <a:endParaRPr lang="en-IN"/>
        </a:p>
      </dgm:t>
    </dgm:pt>
    <dgm:pt modelId="{40D6EF39-43B4-46E0-98AD-CBCA1E7A6C2A}" type="sibTrans" cxnId="{1D9DCCE2-4895-48D4-86D5-98560226CA20}">
      <dgm:prSet/>
      <dgm:spPr/>
      <dgm:t>
        <a:bodyPr/>
        <a:lstStyle/>
        <a:p>
          <a:endParaRPr lang="en-IN"/>
        </a:p>
      </dgm:t>
    </dgm:pt>
    <dgm:pt modelId="{D5CF93F0-3DB7-473D-96B6-20E1B0B9D5FB}">
      <dgm:prSet phldrT="[Text]"/>
      <dgm:spPr/>
      <dgm:t>
        <a:bodyPr/>
        <a:lstStyle/>
        <a:p>
          <a:r>
            <a:rPr lang="en-US" dirty="0"/>
            <a:t>flex-wrap</a:t>
          </a:r>
          <a:endParaRPr lang="en-IN" dirty="0"/>
        </a:p>
      </dgm:t>
    </dgm:pt>
    <dgm:pt modelId="{37C65516-9EDF-4508-85A0-1872CB2B45CB}" type="parTrans" cxnId="{E4FC3497-440E-4A9B-B7C6-A6D025F09BA0}">
      <dgm:prSet/>
      <dgm:spPr/>
      <dgm:t>
        <a:bodyPr/>
        <a:lstStyle/>
        <a:p>
          <a:endParaRPr lang="en-IN"/>
        </a:p>
      </dgm:t>
    </dgm:pt>
    <dgm:pt modelId="{4733E967-C185-430E-B366-E0B9EAFF2C0A}" type="sibTrans" cxnId="{E4FC3497-440E-4A9B-B7C6-A6D025F09BA0}">
      <dgm:prSet/>
      <dgm:spPr/>
      <dgm:t>
        <a:bodyPr/>
        <a:lstStyle/>
        <a:p>
          <a:endParaRPr lang="en-IN"/>
        </a:p>
      </dgm:t>
    </dgm:pt>
    <dgm:pt modelId="{4D207C44-FFB0-449E-A28B-BBB18288387A}">
      <dgm:prSet phldrT="[Text]"/>
      <dgm:spPr/>
      <dgm:t>
        <a:bodyPr/>
        <a:lstStyle/>
        <a:p>
          <a:r>
            <a:rPr lang="en-US" dirty="0"/>
            <a:t>flex-flow</a:t>
          </a:r>
          <a:endParaRPr lang="en-IN" dirty="0"/>
        </a:p>
      </dgm:t>
    </dgm:pt>
    <dgm:pt modelId="{D77F50DD-FF4E-40D3-8171-0DC0AB6737DD}" type="parTrans" cxnId="{9CC7652B-8109-4E1D-B7DE-A9961F627EE2}">
      <dgm:prSet/>
      <dgm:spPr/>
      <dgm:t>
        <a:bodyPr/>
        <a:lstStyle/>
        <a:p>
          <a:endParaRPr lang="en-IN"/>
        </a:p>
      </dgm:t>
    </dgm:pt>
    <dgm:pt modelId="{A57C3A5B-1814-4AD6-8BE2-0F589D540402}" type="sibTrans" cxnId="{9CC7652B-8109-4E1D-B7DE-A9961F627EE2}">
      <dgm:prSet/>
      <dgm:spPr/>
      <dgm:t>
        <a:bodyPr/>
        <a:lstStyle/>
        <a:p>
          <a:endParaRPr lang="en-IN"/>
        </a:p>
      </dgm:t>
    </dgm:pt>
    <dgm:pt modelId="{2013CBAF-2E7A-44B9-8EA3-75C541C6BC05}">
      <dgm:prSet/>
      <dgm:spPr/>
      <dgm:t>
        <a:bodyPr/>
        <a:lstStyle/>
        <a:p>
          <a:r>
            <a:rPr lang="en-US" dirty="0"/>
            <a:t>justify-content</a:t>
          </a:r>
          <a:endParaRPr lang="en-IN" dirty="0"/>
        </a:p>
      </dgm:t>
    </dgm:pt>
    <dgm:pt modelId="{5843A9FC-0978-4D4F-B5C9-E9978ED917C8}" type="parTrans" cxnId="{FDCFBBC9-629C-4D38-998A-085284192157}">
      <dgm:prSet/>
      <dgm:spPr/>
      <dgm:t>
        <a:bodyPr/>
        <a:lstStyle/>
        <a:p>
          <a:endParaRPr lang="en-IN"/>
        </a:p>
      </dgm:t>
    </dgm:pt>
    <dgm:pt modelId="{EB097614-7959-4679-AFB6-F7A21F2A1DFE}" type="sibTrans" cxnId="{FDCFBBC9-629C-4D38-998A-085284192157}">
      <dgm:prSet/>
      <dgm:spPr/>
      <dgm:t>
        <a:bodyPr/>
        <a:lstStyle/>
        <a:p>
          <a:endParaRPr lang="en-IN"/>
        </a:p>
      </dgm:t>
    </dgm:pt>
    <dgm:pt modelId="{52E2228B-3CA5-48EE-A245-BF05D5428328}">
      <dgm:prSet/>
      <dgm:spPr/>
      <dgm:t>
        <a:bodyPr/>
        <a:lstStyle/>
        <a:p>
          <a:r>
            <a:rPr lang="en-US" dirty="0"/>
            <a:t>align-items</a:t>
          </a:r>
          <a:endParaRPr lang="en-IN" dirty="0"/>
        </a:p>
      </dgm:t>
    </dgm:pt>
    <dgm:pt modelId="{929D830C-A0C8-407C-8A65-3AF859A5A92E}" type="parTrans" cxnId="{F7D5D1FC-B4BD-41E4-8EFE-2FB40DC8EBF8}">
      <dgm:prSet/>
      <dgm:spPr/>
      <dgm:t>
        <a:bodyPr/>
        <a:lstStyle/>
        <a:p>
          <a:endParaRPr lang="en-IN"/>
        </a:p>
      </dgm:t>
    </dgm:pt>
    <dgm:pt modelId="{9A6E9D77-08E8-4949-8DB7-A9E10BDF5518}" type="sibTrans" cxnId="{F7D5D1FC-B4BD-41E4-8EFE-2FB40DC8EBF8}">
      <dgm:prSet/>
      <dgm:spPr/>
      <dgm:t>
        <a:bodyPr/>
        <a:lstStyle/>
        <a:p>
          <a:endParaRPr lang="en-IN"/>
        </a:p>
      </dgm:t>
    </dgm:pt>
    <dgm:pt modelId="{FE3CC8DF-4194-49CF-8BBE-064769294124}">
      <dgm:prSet/>
      <dgm:spPr/>
      <dgm:t>
        <a:bodyPr/>
        <a:lstStyle/>
        <a:p>
          <a:r>
            <a:rPr lang="en-US" dirty="0"/>
            <a:t>align-content</a:t>
          </a:r>
          <a:endParaRPr lang="en-IN" dirty="0"/>
        </a:p>
      </dgm:t>
    </dgm:pt>
    <dgm:pt modelId="{711C03E4-1FDD-47CA-B2AF-16A8C1546498}" type="parTrans" cxnId="{012E80BE-C771-4E33-B904-2A96E7CA8FE4}">
      <dgm:prSet/>
      <dgm:spPr/>
      <dgm:t>
        <a:bodyPr/>
        <a:lstStyle/>
        <a:p>
          <a:endParaRPr lang="en-IN"/>
        </a:p>
      </dgm:t>
    </dgm:pt>
    <dgm:pt modelId="{9441D714-ABBD-428F-A440-4BC9D9C72985}" type="sibTrans" cxnId="{012E80BE-C771-4E33-B904-2A96E7CA8FE4}">
      <dgm:prSet/>
      <dgm:spPr/>
      <dgm:t>
        <a:bodyPr/>
        <a:lstStyle/>
        <a:p>
          <a:endParaRPr lang="en-IN"/>
        </a:p>
      </dgm:t>
    </dgm:pt>
    <dgm:pt modelId="{B91B0974-1B3F-4A26-B382-98EDF1C6B004}" type="pres">
      <dgm:prSet presAssocID="{24E9C2BA-5DC4-403E-BC3A-2A711082441E}" presName="hierChild1" presStyleCnt="0">
        <dgm:presLayoutVars>
          <dgm:orgChart val="1"/>
          <dgm:chPref val="1"/>
          <dgm:dir/>
          <dgm:animOne val="branch"/>
          <dgm:animLvl val="lvl"/>
          <dgm:resizeHandles/>
        </dgm:presLayoutVars>
      </dgm:prSet>
      <dgm:spPr/>
    </dgm:pt>
    <dgm:pt modelId="{679D2823-A35D-4A44-BD5B-A45348AB0096}" type="pres">
      <dgm:prSet presAssocID="{2248CD08-1A0C-425A-B5B5-9C3CC33495D5}" presName="hierRoot1" presStyleCnt="0">
        <dgm:presLayoutVars>
          <dgm:hierBranch val="init"/>
        </dgm:presLayoutVars>
      </dgm:prSet>
      <dgm:spPr/>
    </dgm:pt>
    <dgm:pt modelId="{C589ECA1-52F2-498B-984D-D5D36A6A7E65}" type="pres">
      <dgm:prSet presAssocID="{2248CD08-1A0C-425A-B5B5-9C3CC33495D5}" presName="rootComposite1" presStyleCnt="0"/>
      <dgm:spPr/>
    </dgm:pt>
    <dgm:pt modelId="{9169F290-B813-46F3-9C94-D6C298969F43}" type="pres">
      <dgm:prSet presAssocID="{2248CD08-1A0C-425A-B5B5-9C3CC33495D5}" presName="rootText1" presStyleLbl="node0" presStyleIdx="0" presStyleCnt="1">
        <dgm:presLayoutVars>
          <dgm:chPref val="3"/>
        </dgm:presLayoutVars>
      </dgm:prSet>
      <dgm:spPr/>
    </dgm:pt>
    <dgm:pt modelId="{11B2A473-392E-41EF-BC20-4D9400AA9A3B}" type="pres">
      <dgm:prSet presAssocID="{2248CD08-1A0C-425A-B5B5-9C3CC33495D5}" presName="rootConnector1" presStyleLbl="node1" presStyleIdx="0" presStyleCnt="0"/>
      <dgm:spPr/>
    </dgm:pt>
    <dgm:pt modelId="{0C070B8E-31BD-4ED7-A50B-285231D2CAC3}" type="pres">
      <dgm:prSet presAssocID="{2248CD08-1A0C-425A-B5B5-9C3CC33495D5}" presName="hierChild2" presStyleCnt="0"/>
      <dgm:spPr/>
    </dgm:pt>
    <dgm:pt modelId="{E560D95F-08A8-4117-8CDD-C9C4CAC0A767}" type="pres">
      <dgm:prSet presAssocID="{4E1DE0EA-9634-4412-9A11-CEBB3E7D5EE9}" presName="Name37" presStyleLbl="parChTrans1D2" presStyleIdx="0" presStyleCnt="6"/>
      <dgm:spPr/>
    </dgm:pt>
    <dgm:pt modelId="{1F59D5C8-B0C9-4D0D-BF1C-734016C84C9D}" type="pres">
      <dgm:prSet presAssocID="{3767A45A-A4B4-4167-9DDB-C69E1FCAC1E2}" presName="hierRoot2" presStyleCnt="0">
        <dgm:presLayoutVars>
          <dgm:hierBranch val="init"/>
        </dgm:presLayoutVars>
      </dgm:prSet>
      <dgm:spPr/>
    </dgm:pt>
    <dgm:pt modelId="{F9EE20DC-74C5-4C23-A898-D0BEDE5FDB97}" type="pres">
      <dgm:prSet presAssocID="{3767A45A-A4B4-4167-9DDB-C69E1FCAC1E2}" presName="rootComposite" presStyleCnt="0"/>
      <dgm:spPr/>
    </dgm:pt>
    <dgm:pt modelId="{D6D339F7-DEED-45E9-99E2-C3CEC667BF73}" type="pres">
      <dgm:prSet presAssocID="{3767A45A-A4B4-4167-9DDB-C69E1FCAC1E2}" presName="rootText" presStyleLbl="node2" presStyleIdx="0" presStyleCnt="6">
        <dgm:presLayoutVars>
          <dgm:chPref val="3"/>
        </dgm:presLayoutVars>
      </dgm:prSet>
      <dgm:spPr/>
    </dgm:pt>
    <dgm:pt modelId="{786D2579-871B-496C-A0A9-C22D63663596}" type="pres">
      <dgm:prSet presAssocID="{3767A45A-A4B4-4167-9DDB-C69E1FCAC1E2}" presName="rootConnector" presStyleLbl="node2" presStyleIdx="0" presStyleCnt="6"/>
      <dgm:spPr/>
    </dgm:pt>
    <dgm:pt modelId="{F3B44770-CE8A-4CC0-86C3-E5B3D2E9A9EE}" type="pres">
      <dgm:prSet presAssocID="{3767A45A-A4B4-4167-9DDB-C69E1FCAC1E2}" presName="hierChild4" presStyleCnt="0"/>
      <dgm:spPr/>
    </dgm:pt>
    <dgm:pt modelId="{5CCDA2B1-B793-4452-9518-22E07F3E7E80}" type="pres">
      <dgm:prSet presAssocID="{3767A45A-A4B4-4167-9DDB-C69E1FCAC1E2}" presName="hierChild5" presStyleCnt="0"/>
      <dgm:spPr/>
    </dgm:pt>
    <dgm:pt modelId="{FE05C137-5E7A-4DDF-902C-11AD2BA1B814}" type="pres">
      <dgm:prSet presAssocID="{37C65516-9EDF-4508-85A0-1872CB2B45CB}" presName="Name37" presStyleLbl="parChTrans1D2" presStyleIdx="1" presStyleCnt="6"/>
      <dgm:spPr/>
    </dgm:pt>
    <dgm:pt modelId="{7FCDE1B1-96BF-4BAD-8D0A-13F8547289B9}" type="pres">
      <dgm:prSet presAssocID="{D5CF93F0-3DB7-473D-96B6-20E1B0B9D5FB}" presName="hierRoot2" presStyleCnt="0">
        <dgm:presLayoutVars>
          <dgm:hierBranch val="init"/>
        </dgm:presLayoutVars>
      </dgm:prSet>
      <dgm:spPr/>
    </dgm:pt>
    <dgm:pt modelId="{492BE15F-03DC-469B-A529-430AC02BC35E}" type="pres">
      <dgm:prSet presAssocID="{D5CF93F0-3DB7-473D-96B6-20E1B0B9D5FB}" presName="rootComposite" presStyleCnt="0"/>
      <dgm:spPr/>
    </dgm:pt>
    <dgm:pt modelId="{4383CCE3-9B4D-47C4-BA1A-C98DF167940C}" type="pres">
      <dgm:prSet presAssocID="{D5CF93F0-3DB7-473D-96B6-20E1B0B9D5FB}" presName="rootText" presStyleLbl="node2" presStyleIdx="1" presStyleCnt="6">
        <dgm:presLayoutVars>
          <dgm:chPref val="3"/>
        </dgm:presLayoutVars>
      </dgm:prSet>
      <dgm:spPr/>
    </dgm:pt>
    <dgm:pt modelId="{61E90D56-12E7-48E9-936F-6DF87C12DB1F}" type="pres">
      <dgm:prSet presAssocID="{D5CF93F0-3DB7-473D-96B6-20E1B0B9D5FB}" presName="rootConnector" presStyleLbl="node2" presStyleIdx="1" presStyleCnt="6"/>
      <dgm:spPr/>
    </dgm:pt>
    <dgm:pt modelId="{71D09E98-2E27-4B27-B57E-5DD97B6D148F}" type="pres">
      <dgm:prSet presAssocID="{D5CF93F0-3DB7-473D-96B6-20E1B0B9D5FB}" presName="hierChild4" presStyleCnt="0"/>
      <dgm:spPr/>
    </dgm:pt>
    <dgm:pt modelId="{76FA659E-0C9B-44AF-B644-DC249382C2FB}" type="pres">
      <dgm:prSet presAssocID="{D5CF93F0-3DB7-473D-96B6-20E1B0B9D5FB}" presName="hierChild5" presStyleCnt="0"/>
      <dgm:spPr/>
    </dgm:pt>
    <dgm:pt modelId="{EF76F129-08D4-4A2B-8CBB-CCD7C6A06E01}" type="pres">
      <dgm:prSet presAssocID="{D77F50DD-FF4E-40D3-8171-0DC0AB6737DD}" presName="Name37" presStyleLbl="parChTrans1D2" presStyleIdx="2" presStyleCnt="6"/>
      <dgm:spPr/>
    </dgm:pt>
    <dgm:pt modelId="{DC7F2573-E3E7-42CD-A497-F728B1696D2D}" type="pres">
      <dgm:prSet presAssocID="{4D207C44-FFB0-449E-A28B-BBB18288387A}" presName="hierRoot2" presStyleCnt="0">
        <dgm:presLayoutVars>
          <dgm:hierBranch val="init"/>
        </dgm:presLayoutVars>
      </dgm:prSet>
      <dgm:spPr/>
    </dgm:pt>
    <dgm:pt modelId="{210524A5-9EE1-4960-BBE8-AD6A77655892}" type="pres">
      <dgm:prSet presAssocID="{4D207C44-FFB0-449E-A28B-BBB18288387A}" presName="rootComposite" presStyleCnt="0"/>
      <dgm:spPr/>
    </dgm:pt>
    <dgm:pt modelId="{2327B70E-8684-4DB3-91C9-C3105263295E}" type="pres">
      <dgm:prSet presAssocID="{4D207C44-FFB0-449E-A28B-BBB18288387A}" presName="rootText" presStyleLbl="node2" presStyleIdx="2" presStyleCnt="6">
        <dgm:presLayoutVars>
          <dgm:chPref val="3"/>
        </dgm:presLayoutVars>
      </dgm:prSet>
      <dgm:spPr/>
    </dgm:pt>
    <dgm:pt modelId="{5325A2D8-E5AB-49D6-9501-3B81CA1DEBE9}" type="pres">
      <dgm:prSet presAssocID="{4D207C44-FFB0-449E-A28B-BBB18288387A}" presName="rootConnector" presStyleLbl="node2" presStyleIdx="2" presStyleCnt="6"/>
      <dgm:spPr/>
    </dgm:pt>
    <dgm:pt modelId="{BBFE6347-CB5A-46C2-9833-9320E84C5D9E}" type="pres">
      <dgm:prSet presAssocID="{4D207C44-FFB0-449E-A28B-BBB18288387A}" presName="hierChild4" presStyleCnt="0"/>
      <dgm:spPr/>
    </dgm:pt>
    <dgm:pt modelId="{564FA137-6524-44E0-AC62-82FBCAD97DBE}" type="pres">
      <dgm:prSet presAssocID="{4D207C44-FFB0-449E-A28B-BBB18288387A}" presName="hierChild5" presStyleCnt="0"/>
      <dgm:spPr/>
    </dgm:pt>
    <dgm:pt modelId="{10812E50-FD12-49C9-99FA-1309B2593630}" type="pres">
      <dgm:prSet presAssocID="{5843A9FC-0978-4D4F-B5C9-E9978ED917C8}" presName="Name37" presStyleLbl="parChTrans1D2" presStyleIdx="3" presStyleCnt="6"/>
      <dgm:spPr/>
    </dgm:pt>
    <dgm:pt modelId="{40CEC1FE-78B8-49AA-87B7-4E45CF592A37}" type="pres">
      <dgm:prSet presAssocID="{2013CBAF-2E7A-44B9-8EA3-75C541C6BC05}" presName="hierRoot2" presStyleCnt="0">
        <dgm:presLayoutVars>
          <dgm:hierBranch val="init"/>
        </dgm:presLayoutVars>
      </dgm:prSet>
      <dgm:spPr/>
    </dgm:pt>
    <dgm:pt modelId="{895685F2-948A-4662-82EB-68DFEC0FC78B}" type="pres">
      <dgm:prSet presAssocID="{2013CBAF-2E7A-44B9-8EA3-75C541C6BC05}" presName="rootComposite" presStyleCnt="0"/>
      <dgm:spPr/>
    </dgm:pt>
    <dgm:pt modelId="{0DEFD876-F1AD-4626-8B60-D6F0247BC59B}" type="pres">
      <dgm:prSet presAssocID="{2013CBAF-2E7A-44B9-8EA3-75C541C6BC05}" presName="rootText" presStyleLbl="node2" presStyleIdx="3" presStyleCnt="6">
        <dgm:presLayoutVars>
          <dgm:chPref val="3"/>
        </dgm:presLayoutVars>
      </dgm:prSet>
      <dgm:spPr/>
    </dgm:pt>
    <dgm:pt modelId="{134236B5-6797-4D90-A15D-BDB59FDE7069}" type="pres">
      <dgm:prSet presAssocID="{2013CBAF-2E7A-44B9-8EA3-75C541C6BC05}" presName="rootConnector" presStyleLbl="node2" presStyleIdx="3" presStyleCnt="6"/>
      <dgm:spPr/>
    </dgm:pt>
    <dgm:pt modelId="{F399707C-1F67-4B86-B27A-68A8C1DFD415}" type="pres">
      <dgm:prSet presAssocID="{2013CBAF-2E7A-44B9-8EA3-75C541C6BC05}" presName="hierChild4" presStyleCnt="0"/>
      <dgm:spPr/>
    </dgm:pt>
    <dgm:pt modelId="{0C87CD7B-7F33-482E-8474-953079255032}" type="pres">
      <dgm:prSet presAssocID="{2013CBAF-2E7A-44B9-8EA3-75C541C6BC05}" presName="hierChild5" presStyleCnt="0"/>
      <dgm:spPr/>
    </dgm:pt>
    <dgm:pt modelId="{33EBB690-F030-4BC0-8B1D-9B98149C3F66}" type="pres">
      <dgm:prSet presAssocID="{929D830C-A0C8-407C-8A65-3AF859A5A92E}" presName="Name37" presStyleLbl="parChTrans1D2" presStyleIdx="4" presStyleCnt="6"/>
      <dgm:spPr/>
    </dgm:pt>
    <dgm:pt modelId="{17F16ECB-A0DC-4EA0-B9B7-ACF8503368EB}" type="pres">
      <dgm:prSet presAssocID="{52E2228B-3CA5-48EE-A245-BF05D5428328}" presName="hierRoot2" presStyleCnt="0">
        <dgm:presLayoutVars>
          <dgm:hierBranch val="init"/>
        </dgm:presLayoutVars>
      </dgm:prSet>
      <dgm:spPr/>
    </dgm:pt>
    <dgm:pt modelId="{07F3CB81-08E8-4776-B499-F57332F3439A}" type="pres">
      <dgm:prSet presAssocID="{52E2228B-3CA5-48EE-A245-BF05D5428328}" presName="rootComposite" presStyleCnt="0"/>
      <dgm:spPr/>
    </dgm:pt>
    <dgm:pt modelId="{CB23D554-65AC-45AE-B845-F023A6D7C792}" type="pres">
      <dgm:prSet presAssocID="{52E2228B-3CA5-48EE-A245-BF05D5428328}" presName="rootText" presStyleLbl="node2" presStyleIdx="4" presStyleCnt="6">
        <dgm:presLayoutVars>
          <dgm:chPref val="3"/>
        </dgm:presLayoutVars>
      </dgm:prSet>
      <dgm:spPr/>
    </dgm:pt>
    <dgm:pt modelId="{ACE64199-AC9B-4E9B-A4DB-B167807C4968}" type="pres">
      <dgm:prSet presAssocID="{52E2228B-3CA5-48EE-A245-BF05D5428328}" presName="rootConnector" presStyleLbl="node2" presStyleIdx="4" presStyleCnt="6"/>
      <dgm:spPr/>
    </dgm:pt>
    <dgm:pt modelId="{A92EC47C-3526-4F10-9C3B-A5485B46D6BC}" type="pres">
      <dgm:prSet presAssocID="{52E2228B-3CA5-48EE-A245-BF05D5428328}" presName="hierChild4" presStyleCnt="0"/>
      <dgm:spPr/>
    </dgm:pt>
    <dgm:pt modelId="{AE682B20-A179-47D6-9914-61F73257F070}" type="pres">
      <dgm:prSet presAssocID="{52E2228B-3CA5-48EE-A245-BF05D5428328}" presName="hierChild5" presStyleCnt="0"/>
      <dgm:spPr/>
    </dgm:pt>
    <dgm:pt modelId="{99925184-D07B-49F0-A4E6-8812A766846B}" type="pres">
      <dgm:prSet presAssocID="{711C03E4-1FDD-47CA-B2AF-16A8C1546498}" presName="Name37" presStyleLbl="parChTrans1D2" presStyleIdx="5" presStyleCnt="6"/>
      <dgm:spPr/>
    </dgm:pt>
    <dgm:pt modelId="{7FB435DE-96E4-4A1B-86B0-306D35CEDCEF}" type="pres">
      <dgm:prSet presAssocID="{FE3CC8DF-4194-49CF-8BBE-064769294124}" presName="hierRoot2" presStyleCnt="0">
        <dgm:presLayoutVars>
          <dgm:hierBranch val="init"/>
        </dgm:presLayoutVars>
      </dgm:prSet>
      <dgm:spPr/>
    </dgm:pt>
    <dgm:pt modelId="{FD89EFBF-15D2-466F-95D6-C611483FD763}" type="pres">
      <dgm:prSet presAssocID="{FE3CC8DF-4194-49CF-8BBE-064769294124}" presName="rootComposite" presStyleCnt="0"/>
      <dgm:spPr/>
    </dgm:pt>
    <dgm:pt modelId="{B9508E9A-35A6-466E-B9A9-F10B7DE45B19}" type="pres">
      <dgm:prSet presAssocID="{FE3CC8DF-4194-49CF-8BBE-064769294124}" presName="rootText" presStyleLbl="node2" presStyleIdx="5" presStyleCnt="6">
        <dgm:presLayoutVars>
          <dgm:chPref val="3"/>
        </dgm:presLayoutVars>
      </dgm:prSet>
      <dgm:spPr/>
    </dgm:pt>
    <dgm:pt modelId="{03E9108D-7189-4346-8E27-C72353B45472}" type="pres">
      <dgm:prSet presAssocID="{FE3CC8DF-4194-49CF-8BBE-064769294124}" presName="rootConnector" presStyleLbl="node2" presStyleIdx="5" presStyleCnt="6"/>
      <dgm:spPr/>
    </dgm:pt>
    <dgm:pt modelId="{EE875877-5C0E-42B3-9F9E-4ED42737FD54}" type="pres">
      <dgm:prSet presAssocID="{FE3CC8DF-4194-49CF-8BBE-064769294124}" presName="hierChild4" presStyleCnt="0"/>
      <dgm:spPr/>
    </dgm:pt>
    <dgm:pt modelId="{8484A759-7EB3-4673-A441-87D73B8182FC}" type="pres">
      <dgm:prSet presAssocID="{FE3CC8DF-4194-49CF-8BBE-064769294124}" presName="hierChild5" presStyleCnt="0"/>
      <dgm:spPr/>
    </dgm:pt>
    <dgm:pt modelId="{4C60CA24-C110-43C1-90E7-E8A62BB95213}" type="pres">
      <dgm:prSet presAssocID="{2248CD08-1A0C-425A-B5B5-9C3CC33495D5}" presName="hierChild3" presStyleCnt="0"/>
      <dgm:spPr/>
    </dgm:pt>
  </dgm:ptLst>
  <dgm:cxnLst>
    <dgm:cxn modelId="{519D4103-425D-4573-AD41-438BF522E296}" type="presOf" srcId="{5843A9FC-0978-4D4F-B5C9-E9978ED917C8}" destId="{10812E50-FD12-49C9-99FA-1309B2593630}" srcOrd="0" destOrd="0" presId="urn:microsoft.com/office/officeart/2005/8/layout/orgChart1"/>
    <dgm:cxn modelId="{6B38E20E-550E-4AF7-AC72-C121448BAD68}" srcId="{24E9C2BA-5DC4-403E-BC3A-2A711082441E}" destId="{2248CD08-1A0C-425A-B5B5-9C3CC33495D5}" srcOrd="0" destOrd="0" parTransId="{DBA899DF-5C74-44A8-94FB-6906DB6D6997}" sibTransId="{93FC3002-11FF-4F2B-9500-AD32399274FF}"/>
    <dgm:cxn modelId="{CA141F12-9567-405D-AAA7-979C1AB4B01F}" type="presOf" srcId="{929D830C-A0C8-407C-8A65-3AF859A5A92E}" destId="{33EBB690-F030-4BC0-8B1D-9B98149C3F66}" srcOrd="0" destOrd="0" presId="urn:microsoft.com/office/officeart/2005/8/layout/orgChart1"/>
    <dgm:cxn modelId="{C9BED924-7E92-429A-8163-7C56491DCF1A}" type="presOf" srcId="{37C65516-9EDF-4508-85A0-1872CB2B45CB}" destId="{FE05C137-5E7A-4DDF-902C-11AD2BA1B814}" srcOrd="0" destOrd="0" presId="urn:microsoft.com/office/officeart/2005/8/layout/orgChart1"/>
    <dgm:cxn modelId="{9CC7652B-8109-4E1D-B7DE-A9961F627EE2}" srcId="{2248CD08-1A0C-425A-B5B5-9C3CC33495D5}" destId="{4D207C44-FFB0-449E-A28B-BBB18288387A}" srcOrd="2" destOrd="0" parTransId="{D77F50DD-FF4E-40D3-8171-0DC0AB6737DD}" sibTransId="{A57C3A5B-1814-4AD6-8BE2-0F589D540402}"/>
    <dgm:cxn modelId="{616E4039-A238-4F98-BA6E-874829E36665}" type="presOf" srcId="{4D207C44-FFB0-449E-A28B-BBB18288387A}" destId="{5325A2D8-E5AB-49D6-9501-3B81CA1DEBE9}" srcOrd="1" destOrd="0" presId="urn:microsoft.com/office/officeart/2005/8/layout/orgChart1"/>
    <dgm:cxn modelId="{48EE7E3F-3A77-490D-A1BF-472C8C974584}" type="presOf" srcId="{D5CF93F0-3DB7-473D-96B6-20E1B0B9D5FB}" destId="{61E90D56-12E7-48E9-936F-6DF87C12DB1F}" srcOrd="1" destOrd="0" presId="urn:microsoft.com/office/officeart/2005/8/layout/orgChart1"/>
    <dgm:cxn modelId="{4EFF5E46-98E8-409B-AEC8-464ABD32F42E}" type="presOf" srcId="{D5CF93F0-3DB7-473D-96B6-20E1B0B9D5FB}" destId="{4383CCE3-9B4D-47C4-BA1A-C98DF167940C}" srcOrd="0" destOrd="0" presId="urn:microsoft.com/office/officeart/2005/8/layout/orgChart1"/>
    <dgm:cxn modelId="{8C3A9949-2C7D-4F39-A696-4080110F175A}" type="presOf" srcId="{FE3CC8DF-4194-49CF-8BBE-064769294124}" destId="{B9508E9A-35A6-466E-B9A9-F10B7DE45B19}" srcOrd="0" destOrd="0" presId="urn:microsoft.com/office/officeart/2005/8/layout/orgChart1"/>
    <dgm:cxn modelId="{FBE8684E-DA7F-4F4C-9083-AE2BAA06B217}" type="presOf" srcId="{2248CD08-1A0C-425A-B5B5-9C3CC33495D5}" destId="{11B2A473-392E-41EF-BC20-4D9400AA9A3B}" srcOrd="1" destOrd="0" presId="urn:microsoft.com/office/officeart/2005/8/layout/orgChart1"/>
    <dgm:cxn modelId="{C33FBE70-F0B3-409C-8506-0F9795097F1A}" type="presOf" srcId="{3767A45A-A4B4-4167-9DDB-C69E1FCAC1E2}" destId="{D6D339F7-DEED-45E9-99E2-C3CEC667BF73}" srcOrd="0" destOrd="0" presId="urn:microsoft.com/office/officeart/2005/8/layout/orgChart1"/>
    <dgm:cxn modelId="{2C6BFC75-74E9-47F0-8C26-D77AD5639CEC}" type="presOf" srcId="{4D207C44-FFB0-449E-A28B-BBB18288387A}" destId="{2327B70E-8684-4DB3-91C9-C3105263295E}" srcOrd="0" destOrd="0" presId="urn:microsoft.com/office/officeart/2005/8/layout/orgChart1"/>
    <dgm:cxn modelId="{58D77A59-480E-49F5-A22E-166A3222D881}" type="presOf" srcId="{2013CBAF-2E7A-44B9-8EA3-75C541C6BC05}" destId="{134236B5-6797-4D90-A15D-BDB59FDE7069}" srcOrd="1" destOrd="0" presId="urn:microsoft.com/office/officeart/2005/8/layout/orgChart1"/>
    <dgm:cxn modelId="{358E158B-0F72-4357-BCE9-856F5A93D703}" type="presOf" srcId="{711C03E4-1FDD-47CA-B2AF-16A8C1546498}" destId="{99925184-D07B-49F0-A4E6-8812A766846B}" srcOrd="0" destOrd="0" presId="urn:microsoft.com/office/officeart/2005/8/layout/orgChart1"/>
    <dgm:cxn modelId="{A80FFF96-3AFB-44CE-A134-B81B43948944}" type="presOf" srcId="{52E2228B-3CA5-48EE-A245-BF05D5428328}" destId="{CB23D554-65AC-45AE-B845-F023A6D7C792}" srcOrd="0" destOrd="0" presId="urn:microsoft.com/office/officeart/2005/8/layout/orgChart1"/>
    <dgm:cxn modelId="{E4FC3497-440E-4A9B-B7C6-A6D025F09BA0}" srcId="{2248CD08-1A0C-425A-B5B5-9C3CC33495D5}" destId="{D5CF93F0-3DB7-473D-96B6-20E1B0B9D5FB}" srcOrd="1" destOrd="0" parTransId="{37C65516-9EDF-4508-85A0-1872CB2B45CB}" sibTransId="{4733E967-C185-430E-B366-E0B9EAFF2C0A}"/>
    <dgm:cxn modelId="{55B13798-5D11-41AF-9684-DDC69B87828A}" type="presOf" srcId="{4E1DE0EA-9634-4412-9A11-CEBB3E7D5EE9}" destId="{E560D95F-08A8-4117-8CDD-C9C4CAC0A767}" srcOrd="0" destOrd="0" presId="urn:microsoft.com/office/officeart/2005/8/layout/orgChart1"/>
    <dgm:cxn modelId="{B13FBF9A-BDEB-4FD2-AAC5-DC9CDCE6B1E7}" type="presOf" srcId="{24E9C2BA-5DC4-403E-BC3A-2A711082441E}" destId="{B91B0974-1B3F-4A26-B382-98EDF1C6B004}" srcOrd="0" destOrd="0" presId="urn:microsoft.com/office/officeart/2005/8/layout/orgChart1"/>
    <dgm:cxn modelId="{012E80BE-C771-4E33-B904-2A96E7CA8FE4}" srcId="{2248CD08-1A0C-425A-B5B5-9C3CC33495D5}" destId="{FE3CC8DF-4194-49CF-8BBE-064769294124}" srcOrd="5" destOrd="0" parTransId="{711C03E4-1FDD-47CA-B2AF-16A8C1546498}" sibTransId="{9441D714-ABBD-428F-A440-4BC9D9C72985}"/>
    <dgm:cxn modelId="{A635E2C2-1939-40B8-A5D9-0F0962EEE636}" type="presOf" srcId="{3767A45A-A4B4-4167-9DDB-C69E1FCAC1E2}" destId="{786D2579-871B-496C-A0A9-C22D63663596}" srcOrd="1" destOrd="0" presId="urn:microsoft.com/office/officeart/2005/8/layout/orgChart1"/>
    <dgm:cxn modelId="{F1F2CEC6-79B9-4AA1-9448-88B5A48E510D}" type="presOf" srcId="{D77F50DD-FF4E-40D3-8171-0DC0AB6737DD}" destId="{EF76F129-08D4-4A2B-8CBB-CCD7C6A06E01}" srcOrd="0" destOrd="0" presId="urn:microsoft.com/office/officeart/2005/8/layout/orgChart1"/>
    <dgm:cxn modelId="{FDCFBBC9-629C-4D38-998A-085284192157}" srcId="{2248CD08-1A0C-425A-B5B5-9C3CC33495D5}" destId="{2013CBAF-2E7A-44B9-8EA3-75C541C6BC05}" srcOrd="3" destOrd="0" parTransId="{5843A9FC-0978-4D4F-B5C9-E9978ED917C8}" sibTransId="{EB097614-7959-4679-AFB6-F7A21F2A1DFE}"/>
    <dgm:cxn modelId="{6FC5CED1-8553-446A-B3ED-4D7971D15261}" type="presOf" srcId="{2248CD08-1A0C-425A-B5B5-9C3CC33495D5}" destId="{9169F290-B813-46F3-9C94-D6C298969F43}" srcOrd="0" destOrd="0" presId="urn:microsoft.com/office/officeart/2005/8/layout/orgChart1"/>
    <dgm:cxn modelId="{C13DD1D5-BC65-4C8E-BCC9-E56D31A877BD}" type="presOf" srcId="{FE3CC8DF-4194-49CF-8BBE-064769294124}" destId="{03E9108D-7189-4346-8E27-C72353B45472}" srcOrd="1" destOrd="0" presId="urn:microsoft.com/office/officeart/2005/8/layout/orgChart1"/>
    <dgm:cxn modelId="{E4CEA9E2-923F-42FB-AB1C-F6FB933DFBD6}" type="presOf" srcId="{52E2228B-3CA5-48EE-A245-BF05D5428328}" destId="{ACE64199-AC9B-4E9B-A4DB-B167807C4968}" srcOrd="1" destOrd="0" presId="urn:microsoft.com/office/officeart/2005/8/layout/orgChart1"/>
    <dgm:cxn modelId="{1D9DCCE2-4895-48D4-86D5-98560226CA20}" srcId="{2248CD08-1A0C-425A-B5B5-9C3CC33495D5}" destId="{3767A45A-A4B4-4167-9DDB-C69E1FCAC1E2}" srcOrd="0" destOrd="0" parTransId="{4E1DE0EA-9634-4412-9A11-CEBB3E7D5EE9}" sibTransId="{40D6EF39-43B4-46E0-98AD-CBCA1E7A6C2A}"/>
    <dgm:cxn modelId="{2D1F4DF9-42FB-48BD-8017-89D58F6B6A9B}" type="presOf" srcId="{2013CBAF-2E7A-44B9-8EA3-75C541C6BC05}" destId="{0DEFD876-F1AD-4626-8B60-D6F0247BC59B}" srcOrd="0" destOrd="0" presId="urn:microsoft.com/office/officeart/2005/8/layout/orgChart1"/>
    <dgm:cxn modelId="{F7D5D1FC-B4BD-41E4-8EFE-2FB40DC8EBF8}" srcId="{2248CD08-1A0C-425A-B5B5-9C3CC33495D5}" destId="{52E2228B-3CA5-48EE-A245-BF05D5428328}" srcOrd="4" destOrd="0" parTransId="{929D830C-A0C8-407C-8A65-3AF859A5A92E}" sibTransId="{9A6E9D77-08E8-4949-8DB7-A9E10BDF5518}"/>
    <dgm:cxn modelId="{AB0913B0-A3EA-489B-B1A8-9FF072262ED6}" type="presParOf" srcId="{B91B0974-1B3F-4A26-B382-98EDF1C6B004}" destId="{679D2823-A35D-4A44-BD5B-A45348AB0096}" srcOrd="0" destOrd="0" presId="urn:microsoft.com/office/officeart/2005/8/layout/orgChart1"/>
    <dgm:cxn modelId="{E7283160-D83E-4B7F-9185-E19B9409F3AE}" type="presParOf" srcId="{679D2823-A35D-4A44-BD5B-A45348AB0096}" destId="{C589ECA1-52F2-498B-984D-D5D36A6A7E65}" srcOrd="0" destOrd="0" presId="urn:microsoft.com/office/officeart/2005/8/layout/orgChart1"/>
    <dgm:cxn modelId="{4E6C2A5B-B271-4176-90DE-FB52BD01A62A}" type="presParOf" srcId="{C589ECA1-52F2-498B-984D-D5D36A6A7E65}" destId="{9169F290-B813-46F3-9C94-D6C298969F43}" srcOrd="0" destOrd="0" presId="urn:microsoft.com/office/officeart/2005/8/layout/orgChart1"/>
    <dgm:cxn modelId="{4475487C-243D-483E-827F-B30438D2A286}" type="presParOf" srcId="{C589ECA1-52F2-498B-984D-D5D36A6A7E65}" destId="{11B2A473-392E-41EF-BC20-4D9400AA9A3B}" srcOrd="1" destOrd="0" presId="urn:microsoft.com/office/officeart/2005/8/layout/orgChart1"/>
    <dgm:cxn modelId="{D84594F1-3AF1-4F8F-A7B4-AAF5EE3FED11}" type="presParOf" srcId="{679D2823-A35D-4A44-BD5B-A45348AB0096}" destId="{0C070B8E-31BD-4ED7-A50B-285231D2CAC3}" srcOrd="1" destOrd="0" presId="urn:microsoft.com/office/officeart/2005/8/layout/orgChart1"/>
    <dgm:cxn modelId="{E3F0725F-E2FC-422A-8586-FC5409238901}" type="presParOf" srcId="{0C070B8E-31BD-4ED7-A50B-285231D2CAC3}" destId="{E560D95F-08A8-4117-8CDD-C9C4CAC0A767}" srcOrd="0" destOrd="0" presId="urn:microsoft.com/office/officeart/2005/8/layout/orgChart1"/>
    <dgm:cxn modelId="{C431746A-78CC-4679-87FF-3A1B2C53E8E9}" type="presParOf" srcId="{0C070B8E-31BD-4ED7-A50B-285231D2CAC3}" destId="{1F59D5C8-B0C9-4D0D-BF1C-734016C84C9D}" srcOrd="1" destOrd="0" presId="urn:microsoft.com/office/officeart/2005/8/layout/orgChart1"/>
    <dgm:cxn modelId="{98D8543C-38C6-46ED-9827-23369D8A4FF3}" type="presParOf" srcId="{1F59D5C8-B0C9-4D0D-BF1C-734016C84C9D}" destId="{F9EE20DC-74C5-4C23-A898-D0BEDE5FDB97}" srcOrd="0" destOrd="0" presId="urn:microsoft.com/office/officeart/2005/8/layout/orgChart1"/>
    <dgm:cxn modelId="{628D129E-F8E6-4967-A1CA-0735ED9E7B3D}" type="presParOf" srcId="{F9EE20DC-74C5-4C23-A898-D0BEDE5FDB97}" destId="{D6D339F7-DEED-45E9-99E2-C3CEC667BF73}" srcOrd="0" destOrd="0" presId="urn:microsoft.com/office/officeart/2005/8/layout/orgChart1"/>
    <dgm:cxn modelId="{A75639B1-8052-4D1B-B1B6-DD60EE1F60F1}" type="presParOf" srcId="{F9EE20DC-74C5-4C23-A898-D0BEDE5FDB97}" destId="{786D2579-871B-496C-A0A9-C22D63663596}" srcOrd="1" destOrd="0" presId="urn:microsoft.com/office/officeart/2005/8/layout/orgChart1"/>
    <dgm:cxn modelId="{521DBA12-4687-48F3-8F84-183359F8A24A}" type="presParOf" srcId="{1F59D5C8-B0C9-4D0D-BF1C-734016C84C9D}" destId="{F3B44770-CE8A-4CC0-86C3-E5B3D2E9A9EE}" srcOrd="1" destOrd="0" presId="urn:microsoft.com/office/officeart/2005/8/layout/orgChart1"/>
    <dgm:cxn modelId="{6E7113EE-4646-4027-B7E4-C97C50B31063}" type="presParOf" srcId="{1F59D5C8-B0C9-4D0D-BF1C-734016C84C9D}" destId="{5CCDA2B1-B793-4452-9518-22E07F3E7E80}" srcOrd="2" destOrd="0" presId="urn:microsoft.com/office/officeart/2005/8/layout/orgChart1"/>
    <dgm:cxn modelId="{C8BE8B14-DA26-4AD4-8247-41FD6F5036F2}" type="presParOf" srcId="{0C070B8E-31BD-4ED7-A50B-285231D2CAC3}" destId="{FE05C137-5E7A-4DDF-902C-11AD2BA1B814}" srcOrd="2" destOrd="0" presId="urn:microsoft.com/office/officeart/2005/8/layout/orgChart1"/>
    <dgm:cxn modelId="{084C5F68-EB98-41C8-AA62-D278AD9D27D9}" type="presParOf" srcId="{0C070B8E-31BD-4ED7-A50B-285231D2CAC3}" destId="{7FCDE1B1-96BF-4BAD-8D0A-13F8547289B9}" srcOrd="3" destOrd="0" presId="urn:microsoft.com/office/officeart/2005/8/layout/orgChart1"/>
    <dgm:cxn modelId="{7F7ECAE8-F6CB-41FC-894E-249C90397AEB}" type="presParOf" srcId="{7FCDE1B1-96BF-4BAD-8D0A-13F8547289B9}" destId="{492BE15F-03DC-469B-A529-430AC02BC35E}" srcOrd="0" destOrd="0" presId="urn:microsoft.com/office/officeart/2005/8/layout/orgChart1"/>
    <dgm:cxn modelId="{0BE96F81-8481-4976-B38F-82BA280BE475}" type="presParOf" srcId="{492BE15F-03DC-469B-A529-430AC02BC35E}" destId="{4383CCE3-9B4D-47C4-BA1A-C98DF167940C}" srcOrd="0" destOrd="0" presId="urn:microsoft.com/office/officeart/2005/8/layout/orgChart1"/>
    <dgm:cxn modelId="{6B2B0A55-813D-409F-95EE-E6EC461EB79B}" type="presParOf" srcId="{492BE15F-03DC-469B-A529-430AC02BC35E}" destId="{61E90D56-12E7-48E9-936F-6DF87C12DB1F}" srcOrd="1" destOrd="0" presId="urn:microsoft.com/office/officeart/2005/8/layout/orgChart1"/>
    <dgm:cxn modelId="{BE32292F-4495-403D-A149-3BCCF415CE96}" type="presParOf" srcId="{7FCDE1B1-96BF-4BAD-8D0A-13F8547289B9}" destId="{71D09E98-2E27-4B27-B57E-5DD97B6D148F}" srcOrd="1" destOrd="0" presId="urn:microsoft.com/office/officeart/2005/8/layout/orgChart1"/>
    <dgm:cxn modelId="{CB8F9D3F-F9DA-44A0-BEAF-117E6D8E8854}" type="presParOf" srcId="{7FCDE1B1-96BF-4BAD-8D0A-13F8547289B9}" destId="{76FA659E-0C9B-44AF-B644-DC249382C2FB}" srcOrd="2" destOrd="0" presId="urn:microsoft.com/office/officeart/2005/8/layout/orgChart1"/>
    <dgm:cxn modelId="{BFD7B0D5-2F45-4B40-9D70-1D8F354158B2}" type="presParOf" srcId="{0C070B8E-31BD-4ED7-A50B-285231D2CAC3}" destId="{EF76F129-08D4-4A2B-8CBB-CCD7C6A06E01}" srcOrd="4" destOrd="0" presId="urn:microsoft.com/office/officeart/2005/8/layout/orgChart1"/>
    <dgm:cxn modelId="{0EE872AD-F2AA-48F5-A4B2-1551ACDB05D3}" type="presParOf" srcId="{0C070B8E-31BD-4ED7-A50B-285231D2CAC3}" destId="{DC7F2573-E3E7-42CD-A497-F728B1696D2D}" srcOrd="5" destOrd="0" presId="urn:microsoft.com/office/officeart/2005/8/layout/orgChart1"/>
    <dgm:cxn modelId="{0BC3F867-F770-4029-A78A-1DB0E9D45405}" type="presParOf" srcId="{DC7F2573-E3E7-42CD-A497-F728B1696D2D}" destId="{210524A5-9EE1-4960-BBE8-AD6A77655892}" srcOrd="0" destOrd="0" presId="urn:microsoft.com/office/officeart/2005/8/layout/orgChart1"/>
    <dgm:cxn modelId="{A1C535EE-381B-4031-9176-5A23EFF791C2}" type="presParOf" srcId="{210524A5-9EE1-4960-BBE8-AD6A77655892}" destId="{2327B70E-8684-4DB3-91C9-C3105263295E}" srcOrd="0" destOrd="0" presId="urn:microsoft.com/office/officeart/2005/8/layout/orgChart1"/>
    <dgm:cxn modelId="{4CE60614-6FDD-4B86-BF0C-25AAED5765A3}" type="presParOf" srcId="{210524A5-9EE1-4960-BBE8-AD6A77655892}" destId="{5325A2D8-E5AB-49D6-9501-3B81CA1DEBE9}" srcOrd="1" destOrd="0" presId="urn:microsoft.com/office/officeart/2005/8/layout/orgChart1"/>
    <dgm:cxn modelId="{5E15C964-B17C-4F5E-9E6F-A29C19E23266}" type="presParOf" srcId="{DC7F2573-E3E7-42CD-A497-F728B1696D2D}" destId="{BBFE6347-CB5A-46C2-9833-9320E84C5D9E}" srcOrd="1" destOrd="0" presId="urn:microsoft.com/office/officeart/2005/8/layout/orgChart1"/>
    <dgm:cxn modelId="{54A649A3-7209-48D3-8963-D5369A6D602E}" type="presParOf" srcId="{DC7F2573-E3E7-42CD-A497-F728B1696D2D}" destId="{564FA137-6524-44E0-AC62-82FBCAD97DBE}" srcOrd="2" destOrd="0" presId="urn:microsoft.com/office/officeart/2005/8/layout/orgChart1"/>
    <dgm:cxn modelId="{CB137DBD-0F46-4028-B479-F2B9B9B91AD3}" type="presParOf" srcId="{0C070B8E-31BD-4ED7-A50B-285231D2CAC3}" destId="{10812E50-FD12-49C9-99FA-1309B2593630}" srcOrd="6" destOrd="0" presId="urn:microsoft.com/office/officeart/2005/8/layout/orgChart1"/>
    <dgm:cxn modelId="{D313F948-D01E-4DD5-8A21-62305282F348}" type="presParOf" srcId="{0C070B8E-31BD-4ED7-A50B-285231D2CAC3}" destId="{40CEC1FE-78B8-49AA-87B7-4E45CF592A37}" srcOrd="7" destOrd="0" presId="urn:microsoft.com/office/officeart/2005/8/layout/orgChart1"/>
    <dgm:cxn modelId="{82D0FDE5-7369-4744-857D-6E1BF8C98420}" type="presParOf" srcId="{40CEC1FE-78B8-49AA-87B7-4E45CF592A37}" destId="{895685F2-948A-4662-82EB-68DFEC0FC78B}" srcOrd="0" destOrd="0" presId="urn:microsoft.com/office/officeart/2005/8/layout/orgChart1"/>
    <dgm:cxn modelId="{4A7B2E6D-07D6-4BF5-BE3D-6392B8585860}" type="presParOf" srcId="{895685F2-948A-4662-82EB-68DFEC0FC78B}" destId="{0DEFD876-F1AD-4626-8B60-D6F0247BC59B}" srcOrd="0" destOrd="0" presId="urn:microsoft.com/office/officeart/2005/8/layout/orgChart1"/>
    <dgm:cxn modelId="{8A318A69-E3BD-4ED6-909A-F430806CD3B1}" type="presParOf" srcId="{895685F2-948A-4662-82EB-68DFEC0FC78B}" destId="{134236B5-6797-4D90-A15D-BDB59FDE7069}" srcOrd="1" destOrd="0" presId="urn:microsoft.com/office/officeart/2005/8/layout/orgChart1"/>
    <dgm:cxn modelId="{06A8D60F-9187-4B14-A595-2DEE6FC0F1A0}" type="presParOf" srcId="{40CEC1FE-78B8-49AA-87B7-4E45CF592A37}" destId="{F399707C-1F67-4B86-B27A-68A8C1DFD415}" srcOrd="1" destOrd="0" presId="urn:microsoft.com/office/officeart/2005/8/layout/orgChart1"/>
    <dgm:cxn modelId="{22E0012C-3B50-4DFC-8101-CDF35E1F5D83}" type="presParOf" srcId="{40CEC1FE-78B8-49AA-87B7-4E45CF592A37}" destId="{0C87CD7B-7F33-482E-8474-953079255032}" srcOrd="2" destOrd="0" presId="urn:microsoft.com/office/officeart/2005/8/layout/orgChart1"/>
    <dgm:cxn modelId="{A428E17B-E7B1-43F0-90D3-76554FDD343A}" type="presParOf" srcId="{0C070B8E-31BD-4ED7-A50B-285231D2CAC3}" destId="{33EBB690-F030-4BC0-8B1D-9B98149C3F66}" srcOrd="8" destOrd="0" presId="urn:microsoft.com/office/officeart/2005/8/layout/orgChart1"/>
    <dgm:cxn modelId="{0726D6EA-ABAF-4B34-89E5-662C7F2A9115}" type="presParOf" srcId="{0C070B8E-31BD-4ED7-A50B-285231D2CAC3}" destId="{17F16ECB-A0DC-4EA0-B9B7-ACF8503368EB}" srcOrd="9" destOrd="0" presId="urn:microsoft.com/office/officeart/2005/8/layout/orgChart1"/>
    <dgm:cxn modelId="{8B500BF4-7C50-4243-8541-504872B81BC1}" type="presParOf" srcId="{17F16ECB-A0DC-4EA0-B9B7-ACF8503368EB}" destId="{07F3CB81-08E8-4776-B499-F57332F3439A}" srcOrd="0" destOrd="0" presId="urn:microsoft.com/office/officeart/2005/8/layout/orgChart1"/>
    <dgm:cxn modelId="{1C6091B3-85F4-4480-A6EF-CB4E95115E69}" type="presParOf" srcId="{07F3CB81-08E8-4776-B499-F57332F3439A}" destId="{CB23D554-65AC-45AE-B845-F023A6D7C792}" srcOrd="0" destOrd="0" presId="urn:microsoft.com/office/officeart/2005/8/layout/orgChart1"/>
    <dgm:cxn modelId="{20200DD1-DB52-450E-8532-1225C54339F5}" type="presParOf" srcId="{07F3CB81-08E8-4776-B499-F57332F3439A}" destId="{ACE64199-AC9B-4E9B-A4DB-B167807C4968}" srcOrd="1" destOrd="0" presId="urn:microsoft.com/office/officeart/2005/8/layout/orgChart1"/>
    <dgm:cxn modelId="{37AF326C-63A9-4E42-9D0F-947B2F00A572}" type="presParOf" srcId="{17F16ECB-A0DC-4EA0-B9B7-ACF8503368EB}" destId="{A92EC47C-3526-4F10-9C3B-A5485B46D6BC}" srcOrd="1" destOrd="0" presId="urn:microsoft.com/office/officeart/2005/8/layout/orgChart1"/>
    <dgm:cxn modelId="{19A40C0D-0067-4A84-86F1-3738DBCC65FE}" type="presParOf" srcId="{17F16ECB-A0DC-4EA0-B9B7-ACF8503368EB}" destId="{AE682B20-A179-47D6-9914-61F73257F070}" srcOrd="2" destOrd="0" presId="urn:microsoft.com/office/officeart/2005/8/layout/orgChart1"/>
    <dgm:cxn modelId="{BE580DF3-5AFF-44DD-B2A8-65601BF20984}" type="presParOf" srcId="{0C070B8E-31BD-4ED7-A50B-285231D2CAC3}" destId="{99925184-D07B-49F0-A4E6-8812A766846B}" srcOrd="10" destOrd="0" presId="urn:microsoft.com/office/officeart/2005/8/layout/orgChart1"/>
    <dgm:cxn modelId="{921D748F-E077-4707-841A-CEB3831E2667}" type="presParOf" srcId="{0C070B8E-31BD-4ED7-A50B-285231D2CAC3}" destId="{7FB435DE-96E4-4A1B-86B0-306D35CEDCEF}" srcOrd="11" destOrd="0" presId="urn:microsoft.com/office/officeart/2005/8/layout/orgChart1"/>
    <dgm:cxn modelId="{0F1483B6-6C2C-4AAA-8FAC-AF59B7E8D1BC}" type="presParOf" srcId="{7FB435DE-96E4-4A1B-86B0-306D35CEDCEF}" destId="{FD89EFBF-15D2-466F-95D6-C611483FD763}" srcOrd="0" destOrd="0" presId="urn:microsoft.com/office/officeart/2005/8/layout/orgChart1"/>
    <dgm:cxn modelId="{2DC9DBC4-9FE7-4927-9A05-D03D7E4F25CF}" type="presParOf" srcId="{FD89EFBF-15D2-466F-95D6-C611483FD763}" destId="{B9508E9A-35A6-466E-B9A9-F10B7DE45B19}" srcOrd="0" destOrd="0" presId="urn:microsoft.com/office/officeart/2005/8/layout/orgChart1"/>
    <dgm:cxn modelId="{5EB818C0-5B79-4C4A-9CCB-473D3623EED6}" type="presParOf" srcId="{FD89EFBF-15D2-466F-95D6-C611483FD763}" destId="{03E9108D-7189-4346-8E27-C72353B45472}" srcOrd="1" destOrd="0" presId="urn:microsoft.com/office/officeart/2005/8/layout/orgChart1"/>
    <dgm:cxn modelId="{D300D492-097B-455E-B3A2-A76B102A3A26}" type="presParOf" srcId="{7FB435DE-96E4-4A1B-86B0-306D35CEDCEF}" destId="{EE875877-5C0E-42B3-9F9E-4ED42737FD54}" srcOrd="1" destOrd="0" presId="urn:microsoft.com/office/officeart/2005/8/layout/orgChart1"/>
    <dgm:cxn modelId="{E6D7D0BB-6672-42AC-B890-1126F3FD2B72}" type="presParOf" srcId="{7FB435DE-96E4-4A1B-86B0-306D35CEDCEF}" destId="{8484A759-7EB3-4673-A441-87D73B8182FC}" srcOrd="2" destOrd="0" presId="urn:microsoft.com/office/officeart/2005/8/layout/orgChart1"/>
    <dgm:cxn modelId="{73D584FF-6956-4323-81B9-6B10F5713099}" type="presParOf" srcId="{679D2823-A35D-4A44-BD5B-A45348AB0096}" destId="{4C60CA24-C110-43C1-90E7-E8A62BB9521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4E9C2BA-5DC4-403E-BC3A-2A711082441E}" type="doc">
      <dgm:prSet loTypeId="urn:microsoft.com/office/officeart/2005/8/layout/orgChart1" loCatId="hierarchy" qsTypeId="urn:microsoft.com/office/officeart/2005/8/quickstyle/simple3#2" qsCatId="simple" csTypeId="urn:microsoft.com/office/officeart/2005/8/colors/accent1_2#5" csCatId="accent1" phldr="1"/>
      <dgm:spPr/>
      <dgm:t>
        <a:bodyPr/>
        <a:lstStyle/>
        <a:p>
          <a:endParaRPr lang="en-IN"/>
        </a:p>
      </dgm:t>
    </dgm:pt>
    <dgm:pt modelId="{2248CD08-1A0C-425A-B5B5-9C3CC33495D5}">
      <dgm:prSet phldrT="[Text]"/>
      <dgm:spPr/>
      <dgm:t>
        <a:bodyPr/>
        <a:lstStyle/>
        <a:p>
          <a:r>
            <a:rPr lang="en-US" dirty="0"/>
            <a:t>Child Element </a:t>
          </a:r>
          <a:endParaRPr lang="en-IN" dirty="0"/>
        </a:p>
      </dgm:t>
    </dgm:pt>
    <dgm:pt modelId="{DBA899DF-5C74-44A8-94FB-6906DB6D6997}" type="parTrans" cxnId="{6B38E20E-550E-4AF7-AC72-C121448BAD68}">
      <dgm:prSet/>
      <dgm:spPr/>
      <dgm:t>
        <a:bodyPr/>
        <a:lstStyle/>
        <a:p>
          <a:endParaRPr lang="en-IN"/>
        </a:p>
      </dgm:t>
    </dgm:pt>
    <dgm:pt modelId="{93FC3002-11FF-4F2B-9500-AD32399274FF}" type="sibTrans" cxnId="{6B38E20E-550E-4AF7-AC72-C121448BAD68}">
      <dgm:prSet/>
      <dgm:spPr/>
      <dgm:t>
        <a:bodyPr/>
        <a:lstStyle/>
        <a:p>
          <a:endParaRPr lang="en-IN"/>
        </a:p>
      </dgm:t>
    </dgm:pt>
    <dgm:pt modelId="{3767A45A-A4B4-4167-9DDB-C69E1FCAC1E2}">
      <dgm:prSet phldrT="[Text]"/>
      <dgm:spPr/>
      <dgm:t>
        <a:bodyPr/>
        <a:lstStyle/>
        <a:p>
          <a:r>
            <a:rPr lang="en-US" dirty="0"/>
            <a:t>order</a:t>
          </a:r>
          <a:endParaRPr lang="en-IN" dirty="0"/>
        </a:p>
      </dgm:t>
    </dgm:pt>
    <dgm:pt modelId="{4E1DE0EA-9634-4412-9A11-CEBB3E7D5EE9}" type="parTrans" cxnId="{1D9DCCE2-4895-48D4-86D5-98560226CA20}">
      <dgm:prSet/>
      <dgm:spPr/>
      <dgm:t>
        <a:bodyPr/>
        <a:lstStyle/>
        <a:p>
          <a:endParaRPr lang="en-IN"/>
        </a:p>
      </dgm:t>
    </dgm:pt>
    <dgm:pt modelId="{40D6EF39-43B4-46E0-98AD-CBCA1E7A6C2A}" type="sibTrans" cxnId="{1D9DCCE2-4895-48D4-86D5-98560226CA20}">
      <dgm:prSet/>
      <dgm:spPr/>
      <dgm:t>
        <a:bodyPr/>
        <a:lstStyle/>
        <a:p>
          <a:endParaRPr lang="en-IN"/>
        </a:p>
      </dgm:t>
    </dgm:pt>
    <dgm:pt modelId="{D5CF93F0-3DB7-473D-96B6-20E1B0B9D5FB}">
      <dgm:prSet phldrT="[Text]"/>
      <dgm:spPr/>
      <dgm:t>
        <a:bodyPr/>
        <a:lstStyle/>
        <a:p>
          <a:r>
            <a:rPr lang="en-US" dirty="0"/>
            <a:t>flex-grow</a:t>
          </a:r>
          <a:endParaRPr lang="en-IN" dirty="0"/>
        </a:p>
      </dgm:t>
    </dgm:pt>
    <dgm:pt modelId="{37C65516-9EDF-4508-85A0-1872CB2B45CB}" type="parTrans" cxnId="{E4FC3497-440E-4A9B-B7C6-A6D025F09BA0}">
      <dgm:prSet/>
      <dgm:spPr/>
      <dgm:t>
        <a:bodyPr/>
        <a:lstStyle/>
        <a:p>
          <a:endParaRPr lang="en-IN"/>
        </a:p>
      </dgm:t>
    </dgm:pt>
    <dgm:pt modelId="{4733E967-C185-430E-B366-E0B9EAFF2C0A}" type="sibTrans" cxnId="{E4FC3497-440E-4A9B-B7C6-A6D025F09BA0}">
      <dgm:prSet/>
      <dgm:spPr/>
      <dgm:t>
        <a:bodyPr/>
        <a:lstStyle/>
        <a:p>
          <a:endParaRPr lang="en-IN"/>
        </a:p>
      </dgm:t>
    </dgm:pt>
    <dgm:pt modelId="{4D207C44-FFB0-449E-A28B-BBB18288387A}">
      <dgm:prSet phldrT="[Text]"/>
      <dgm:spPr/>
      <dgm:t>
        <a:bodyPr/>
        <a:lstStyle/>
        <a:p>
          <a:r>
            <a:rPr lang="en-US" dirty="0"/>
            <a:t>flex-shrink</a:t>
          </a:r>
          <a:endParaRPr lang="en-IN" dirty="0"/>
        </a:p>
      </dgm:t>
    </dgm:pt>
    <dgm:pt modelId="{D77F50DD-FF4E-40D3-8171-0DC0AB6737DD}" type="parTrans" cxnId="{9CC7652B-8109-4E1D-B7DE-A9961F627EE2}">
      <dgm:prSet/>
      <dgm:spPr/>
      <dgm:t>
        <a:bodyPr/>
        <a:lstStyle/>
        <a:p>
          <a:endParaRPr lang="en-IN"/>
        </a:p>
      </dgm:t>
    </dgm:pt>
    <dgm:pt modelId="{A57C3A5B-1814-4AD6-8BE2-0F589D540402}" type="sibTrans" cxnId="{9CC7652B-8109-4E1D-B7DE-A9961F627EE2}">
      <dgm:prSet/>
      <dgm:spPr/>
      <dgm:t>
        <a:bodyPr/>
        <a:lstStyle/>
        <a:p>
          <a:endParaRPr lang="en-IN"/>
        </a:p>
      </dgm:t>
    </dgm:pt>
    <dgm:pt modelId="{2013CBAF-2E7A-44B9-8EA3-75C541C6BC05}">
      <dgm:prSet/>
      <dgm:spPr/>
      <dgm:t>
        <a:bodyPr/>
        <a:lstStyle/>
        <a:p>
          <a:r>
            <a:rPr lang="en-US" dirty="0"/>
            <a:t>flex-basis</a:t>
          </a:r>
          <a:endParaRPr lang="en-IN" dirty="0"/>
        </a:p>
      </dgm:t>
    </dgm:pt>
    <dgm:pt modelId="{5843A9FC-0978-4D4F-B5C9-E9978ED917C8}" type="parTrans" cxnId="{FDCFBBC9-629C-4D38-998A-085284192157}">
      <dgm:prSet/>
      <dgm:spPr/>
      <dgm:t>
        <a:bodyPr/>
        <a:lstStyle/>
        <a:p>
          <a:endParaRPr lang="en-IN"/>
        </a:p>
      </dgm:t>
    </dgm:pt>
    <dgm:pt modelId="{EB097614-7959-4679-AFB6-F7A21F2A1DFE}" type="sibTrans" cxnId="{FDCFBBC9-629C-4D38-998A-085284192157}">
      <dgm:prSet/>
      <dgm:spPr/>
      <dgm:t>
        <a:bodyPr/>
        <a:lstStyle/>
        <a:p>
          <a:endParaRPr lang="en-IN"/>
        </a:p>
      </dgm:t>
    </dgm:pt>
    <dgm:pt modelId="{52E2228B-3CA5-48EE-A245-BF05D5428328}">
      <dgm:prSet/>
      <dgm:spPr/>
      <dgm:t>
        <a:bodyPr/>
        <a:lstStyle/>
        <a:p>
          <a:r>
            <a:rPr lang="en-US" dirty="0"/>
            <a:t>flex</a:t>
          </a:r>
          <a:endParaRPr lang="en-IN" dirty="0"/>
        </a:p>
      </dgm:t>
    </dgm:pt>
    <dgm:pt modelId="{929D830C-A0C8-407C-8A65-3AF859A5A92E}" type="parTrans" cxnId="{F7D5D1FC-B4BD-41E4-8EFE-2FB40DC8EBF8}">
      <dgm:prSet/>
      <dgm:spPr/>
      <dgm:t>
        <a:bodyPr/>
        <a:lstStyle/>
        <a:p>
          <a:endParaRPr lang="en-IN"/>
        </a:p>
      </dgm:t>
    </dgm:pt>
    <dgm:pt modelId="{9A6E9D77-08E8-4949-8DB7-A9E10BDF5518}" type="sibTrans" cxnId="{F7D5D1FC-B4BD-41E4-8EFE-2FB40DC8EBF8}">
      <dgm:prSet/>
      <dgm:spPr/>
      <dgm:t>
        <a:bodyPr/>
        <a:lstStyle/>
        <a:p>
          <a:endParaRPr lang="en-IN"/>
        </a:p>
      </dgm:t>
    </dgm:pt>
    <dgm:pt modelId="{FE3CC8DF-4194-49CF-8BBE-064769294124}">
      <dgm:prSet/>
      <dgm:spPr/>
      <dgm:t>
        <a:bodyPr/>
        <a:lstStyle/>
        <a:p>
          <a:r>
            <a:rPr lang="en-US" dirty="0"/>
            <a:t>align-self</a:t>
          </a:r>
          <a:endParaRPr lang="en-IN" dirty="0"/>
        </a:p>
      </dgm:t>
    </dgm:pt>
    <dgm:pt modelId="{711C03E4-1FDD-47CA-B2AF-16A8C1546498}" type="parTrans" cxnId="{012E80BE-C771-4E33-B904-2A96E7CA8FE4}">
      <dgm:prSet/>
      <dgm:spPr/>
      <dgm:t>
        <a:bodyPr/>
        <a:lstStyle/>
        <a:p>
          <a:endParaRPr lang="en-IN"/>
        </a:p>
      </dgm:t>
    </dgm:pt>
    <dgm:pt modelId="{9441D714-ABBD-428F-A440-4BC9D9C72985}" type="sibTrans" cxnId="{012E80BE-C771-4E33-B904-2A96E7CA8FE4}">
      <dgm:prSet/>
      <dgm:spPr/>
      <dgm:t>
        <a:bodyPr/>
        <a:lstStyle/>
        <a:p>
          <a:endParaRPr lang="en-IN"/>
        </a:p>
      </dgm:t>
    </dgm:pt>
    <dgm:pt modelId="{B91B0974-1B3F-4A26-B382-98EDF1C6B004}" type="pres">
      <dgm:prSet presAssocID="{24E9C2BA-5DC4-403E-BC3A-2A711082441E}" presName="hierChild1" presStyleCnt="0">
        <dgm:presLayoutVars>
          <dgm:orgChart val="1"/>
          <dgm:chPref val="1"/>
          <dgm:dir/>
          <dgm:animOne val="branch"/>
          <dgm:animLvl val="lvl"/>
          <dgm:resizeHandles/>
        </dgm:presLayoutVars>
      </dgm:prSet>
      <dgm:spPr/>
    </dgm:pt>
    <dgm:pt modelId="{679D2823-A35D-4A44-BD5B-A45348AB0096}" type="pres">
      <dgm:prSet presAssocID="{2248CD08-1A0C-425A-B5B5-9C3CC33495D5}" presName="hierRoot1" presStyleCnt="0">
        <dgm:presLayoutVars>
          <dgm:hierBranch val="init"/>
        </dgm:presLayoutVars>
      </dgm:prSet>
      <dgm:spPr/>
    </dgm:pt>
    <dgm:pt modelId="{C589ECA1-52F2-498B-984D-D5D36A6A7E65}" type="pres">
      <dgm:prSet presAssocID="{2248CD08-1A0C-425A-B5B5-9C3CC33495D5}" presName="rootComposite1" presStyleCnt="0"/>
      <dgm:spPr/>
    </dgm:pt>
    <dgm:pt modelId="{9169F290-B813-46F3-9C94-D6C298969F43}" type="pres">
      <dgm:prSet presAssocID="{2248CD08-1A0C-425A-B5B5-9C3CC33495D5}" presName="rootText1" presStyleLbl="node0" presStyleIdx="0" presStyleCnt="1">
        <dgm:presLayoutVars>
          <dgm:chPref val="3"/>
        </dgm:presLayoutVars>
      </dgm:prSet>
      <dgm:spPr/>
    </dgm:pt>
    <dgm:pt modelId="{11B2A473-392E-41EF-BC20-4D9400AA9A3B}" type="pres">
      <dgm:prSet presAssocID="{2248CD08-1A0C-425A-B5B5-9C3CC33495D5}" presName="rootConnector1" presStyleLbl="node1" presStyleIdx="0" presStyleCnt="0"/>
      <dgm:spPr/>
    </dgm:pt>
    <dgm:pt modelId="{0C070B8E-31BD-4ED7-A50B-285231D2CAC3}" type="pres">
      <dgm:prSet presAssocID="{2248CD08-1A0C-425A-B5B5-9C3CC33495D5}" presName="hierChild2" presStyleCnt="0"/>
      <dgm:spPr/>
    </dgm:pt>
    <dgm:pt modelId="{E560D95F-08A8-4117-8CDD-C9C4CAC0A767}" type="pres">
      <dgm:prSet presAssocID="{4E1DE0EA-9634-4412-9A11-CEBB3E7D5EE9}" presName="Name37" presStyleLbl="parChTrans1D2" presStyleIdx="0" presStyleCnt="6"/>
      <dgm:spPr/>
    </dgm:pt>
    <dgm:pt modelId="{1F59D5C8-B0C9-4D0D-BF1C-734016C84C9D}" type="pres">
      <dgm:prSet presAssocID="{3767A45A-A4B4-4167-9DDB-C69E1FCAC1E2}" presName="hierRoot2" presStyleCnt="0">
        <dgm:presLayoutVars>
          <dgm:hierBranch val="init"/>
        </dgm:presLayoutVars>
      </dgm:prSet>
      <dgm:spPr/>
    </dgm:pt>
    <dgm:pt modelId="{F9EE20DC-74C5-4C23-A898-D0BEDE5FDB97}" type="pres">
      <dgm:prSet presAssocID="{3767A45A-A4B4-4167-9DDB-C69E1FCAC1E2}" presName="rootComposite" presStyleCnt="0"/>
      <dgm:spPr/>
    </dgm:pt>
    <dgm:pt modelId="{D6D339F7-DEED-45E9-99E2-C3CEC667BF73}" type="pres">
      <dgm:prSet presAssocID="{3767A45A-A4B4-4167-9DDB-C69E1FCAC1E2}" presName="rootText" presStyleLbl="node2" presStyleIdx="0" presStyleCnt="6">
        <dgm:presLayoutVars>
          <dgm:chPref val="3"/>
        </dgm:presLayoutVars>
      </dgm:prSet>
      <dgm:spPr/>
    </dgm:pt>
    <dgm:pt modelId="{786D2579-871B-496C-A0A9-C22D63663596}" type="pres">
      <dgm:prSet presAssocID="{3767A45A-A4B4-4167-9DDB-C69E1FCAC1E2}" presName="rootConnector" presStyleLbl="node2" presStyleIdx="0" presStyleCnt="6"/>
      <dgm:spPr/>
    </dgm:pt>
    <dgm:pt modelId="{F3B44770-CE8A-4CC0-86C3-E5B3D2E9A9EE}" type="pres">
      <dgm:prSet presAssocID="{3767A45A-A4B4-4167-9DDB-C69E1FCAC1E2}" presName="hierChild4" presStyleCnt="0"/>
      <dgm:spPr/>
    </dgm:pt>
    <dgm:pt modelId="{5CCDA2B1-B793-4452-9518-22E07F3E7E80}" type="pres">
      <dgm:prSet presAssocID="{3767A45A-A4B4-4167-9DDB-C69E1FCAC1E2}" presName="hierChild5" presStyleCnt="0"/>
      <dgm:spPr/>
    </dgm:pt>
    <dgm:pt modelId="{FE05C137-5E7A-4DDF-902C-11AD2BA1B814}" type="pres">
      <dgm:prSet presAssocID="{37C65516-9EDF-4508-85A0-1872CB2B45CB}" presName="Name37" presStyleLbl="parChTrans1D2" presStyleIdx="1" presStyleCnt="6"/>
      <dgm:spPr/>
    </dgm:pt>
    <dgm:pt modelId="{7FCDE1B1-96BF-4BAD-8D0A-13F8547289B9}" type="pres">
      <dgm:prSet presAssocID="{D5CF93F0-3DB7-473D-96B6-20E1B0B9D5FB}" presName="hierRoot2" presStyleCnt="0">
        <dgm:presLayoutVars>
          <dgm:hierBranch val="init"/>
        </dgm:presLayoutVars>
      </dgm:prSet>
      <dgm:spPr/>
    </dgm:pt>
    <dgm:pt modelId="{492BE15F-03DC-469B-A529-430AC02BC35E}" type="pres">
      <dgm:prSet presAssocID="{D5CF93F0-3DB7-473D-96B6-20E1B0B9D5FB}" presName="rootComposite" presStyleCnt="0"/>
      <dgm:spPr/>
    </dgm:pt>
    <dgm:pt modelId="{4383CCE3-9B4D-47C4-BA1A-C98DF167940C}" type="pres">
      <dgm:prSet presAssocID="{D5CF93F0-3DB7-473D-96B6-20E1B0B9D5FB}" presName="rootText" presStyleLbl="node2" presStyleIdx="1" presStyleCnt="6">
        <dgm:presLayoutVars>
          <dgm:chPref val="3"/>
        </dgm:presLayoutVars>
      </dgm:prSet>
      <dgm:spPr/>
    </dgm:pt>
    <dgm:pt modelId="{61E90D56-12E7-48E9-936F-6DF87C12DB1F}" type="pres">
      <dgm:prSet presAssocID="{D5CF93F0-3DB7-473D-96B6-20E1B0B9D5FB}" presName="rootConnector" presStyleLbl="node2" presStyleIdx="1" presStyleCnt="6"/>
      <dgm:spPr/>
    </dgm:pt>
    <dgm:pt modelId="{71D09E98-2E27-4B27-B57E-5DD97B6D148F}" type="pres">
      <dgm:prSet presAssocID="{D5CF93F0-3DB7-473D-96B6-20E1B0B9D5FB}" presName="hierChild4" presStyleCnt="0"/>
      <dgm:spPr/>
    </dgm:pt>
    <dgm:pt modelId="{76FA659E-0C9B-44AF-B644-DC249382C2FB}" type="pres">
      <dgm:prSet presAssocID="{D5CF93F0-3DB7-473D-96B6-20E1B0B9D5FB}" presName="hierChild5" presStyleCnt="0"/>
      <dgm:spPr/>
    </dgm:pt>
    <dgm:pt modelId="{EF76F129-08D4-4A2B-8CBB-CCD7C6A06E01}" type="pres">
      <dgm:prSet presAssocID="{D77F50DD-FF4E-40D3-8171-0DC0AB6737DD}" presName="Name37" presStyleLbl="parChTrans1D2" presStyleIdx="2" presStyleCnt="6"/>
      <dgm:spPr/>
    </dgm:pt>
    <dgm:pt modelId="{DC7F2573-E3E7-42CD-A497-F728B1696D2D}" type="pres">
      <dgm:prSet presAssocID="{4D207C44-FFB0-449E-A28B-BBB18288387A}" presName="hierRoot2" presStyleCnt="0">
        <dgm:presLayoutVars>
          <dgm:hierBranch val="init"/>
        </dgm:presLayoutVars>
      </dgm:prSet>
      <dgm:spPr/>
    </dgm:pt>
    <dgm:pt modelId="{210524A5-9EE1-4960-BBE8-AD6A77655892}" type="pres">
      <dgm:prSet presAssocID="{4D207C44-FFB0-449E-A28B-BBB18288387A}" presName="rootComposite" presStyleCnt="0"/>
      <dgm:spPr/>
    </dgm:pt>
    <dgm:pt modelId="{2327B70E-8684-4DB3-91C9-C3105263295E}" type="pres">
      <dgm:prSet presAssocID="{4D207C44-FFB0-449E-A28B-BBB18288387A}" presName="rootText" presStyleLbl="node2" presStyleIdx="2" presStyleCnt="6">
        <dgm:presLayoutVars>
          <dgm:chPref val="3"/>
        </dgm:presLayoutVars>
      </dgm:prSet>
      <dgm:spPr/>
    </dgm:pt>
    <dgm:pt modelId="{5325A2D8-E5AB-49D6-9501-3B81CA1DEBE9}" type="pres">
      <dgm:prSet presAssocID="{4D207C44-FFB0-449E-A28B-BBB18288387A}" presName="rootConnector" presStyleLbl="node2" presStyleIdx="2" presStyleCnt="6"/>
      <dgm:spPr/>
    </dgm:pt>
    <dgm:pt modelId="{BBFE6347-CB5A-46C2-9833-9320E84C5D9E}" type="pres">
      <dgm:prSet presAssocID="{4D207C44-FFB0-449E-A28B-BBB18288387A}" presName="hierChild4" presStyleCnt="0"/>
      <dgm:spPr/>
    </dgm:pt>
    <dgm:pt modelId="{564FA137-6524-44E0-AC62-82FBCAD97DBE}" type="pres">
      <dgm:prSet presAssocID="{4D207C44-FFB0-449E-A28B-BBB18288387A}" presName="hierChild5" presStyleCnt="0"/>
      <dgm:spPr/>
    </dgm:pt>
    <dgm:pt modelId="{10812E50-FD12-49C9-99FA-1309B2593630}" type="pres">
      <dgm:prSet presAssocID="{5843A9FC-0978-4D4F-B5C9-E9978ED917C8}" presName="Name37" presStyleLbl="parChTrans1D2" presStyleIdx="3" presStyleCnt="6"/>
      <dgm:spPr/>
    </dgm:pt>
    <dgm:pt modelId="{40CEC1FE-78B8-49AA-87B7-4E45CF592A37}" type="pres">
      <dgm:prSet presAssocID="{2013CBAF-2E7A-44B9-8EA3-75C541C6BC05}" presName="hierRoot2" presStyleCnt="0">
        <dgm:presLayoutVars>
          <dgm:hierBranch val="init"/>
        </dgm:presLayoutVars>
      </dgm:prSet>
      <dgm:spPr/>
    </dgm:pt>
    <dgm:pt modelId="{895685F2-948A-4662-82EB-68DFEC0FC78B}" type="pres">
      <dgm:prSet presAssocID="{2013CBAF-2E7A-44B9-8EA3-75C541C6BC05}" presName="rootComposite" presStyleCnt="0"/>
      <dgm:spPr/>
    </dgm:pt>
    <dgm:pt modelId="{0DEFD876-F1AD-4626-8B60-D6F0247BC59B}" type="pres">
      <dgm:prSet presAssocID="{2013CBAF-2E7A-44B9-8EA3-75C541C6BC05}" presName="rootText" presStyleLbl="node2" presStyleIdx="3" presStyleCnt="6">
        <dgm:presLayoutVars>
          <dgm:chPref val="3"/>
        </dgm:presLayoutVars>
      </dgm:prSet>
      <dgm:spPr/>
    </dgm:pt>
    <dgm:pt modelId="{134236B5-6797-4D90-A15D-BDB59FDE7069}" type="pres">
      <dgm:prSet presAssocID="{2013CBAF-2E7A-44B9-8EA3-75C541C6BC05}" presName="rootConnector" presStyleLbl="node2" presStyleIdx="3" presStyleCnt="6"/>
      <dgm:spPr/>
    </dgm:pt>
    <dgm:pt modelId="{F399707C-1F67-4B86-B27A-68A8C1DFD415}" type="pres">
      <dgm:prSet presAssocID="{2013CBAF-2E7A-44B9-8EA3-75C541C6BC05}" presName="hierChild4" presStyleCnt="0"/>
      <dgm:spPr/>
    </dgm:pt>
    <dgm:pt modelId="{0C87CD7B-7F33-482E-8474-953079255032}" type="pres">
      <dgm:prSet presAssocID="{2013CBAF-2E7A-44B9-8EA3-75C541C6BC05}" presName="hierChild5" presStyleCnt="0"/>
      <dgm:spPr/>
    </dgm:pt>
    <dgm:pt modelId="{33EBB690-F030-4BC0-8B1D-9B98149C3F66}" type="pres">
      <dgm:prSet presAssocID="{929D830C-A0C8-407C-8A65-3AF859A5A92E}" presName="Name37" presStyleLbl="parChTrans1D2" presStyleIdx="4" presStyleCnt="6"/>
      <dgm:spPr/>
    </dgm:pt>
    <dgm:pt modelId="{17F16ECB-A0DC-4EA0-B9B7-ACF8503368EB}" type="pres">
      <dgm:prSet presAssocID="{52E2228B-3CA5-48EE-A245-BF05D5428328}" presName="hierRoot2" presStyleCnt="0">
        <dgm:presLayoutVars>
          <dgm:hierBranch val="init"/>
        </dgm:presLayoutVars>
      </dgm:prSet>
      <dgm:spPr/>
    </dgm:pt>
    <dgm:pt modelId="{07F3CB81-08E8-4776-B499-F57332F3439A}" type="pres">
      <dgm:prSet presAssocID="{52E2228B-3CA5-48EE-A245-BF05D5428328}" presName="rootComposite" presStyleCnt="0"/>
      <dgm:spPr/>
    </dgm:pt>
    <dgm:pt modelId="{CB23D554-65AC-45AE-B845-F023A6D7C792}" type="pres">
      <dgm:prSet presAssocID="{52E2228B-3CA5-48EE-A245-BF05D5428328}" presName="rootText" presStyleLbl="node2" presStyleIdx="4" presStyleCnt="6">
        <dgm:presLayoutVars>
          <dgm:chPref val="3"/>
        </dgm:presLayoutVars>
      </dgm:prSet>
      <dgm:spPr/>
    </dgm:pt>
    <dgm:pt modelId="{ACE64199-AC9B-4E9B-A4DB-B167807C4968}" type="pres">
      <dgm:prSet presAssocID="{52E2228B-3CA5-48EE-A245-BF05D5428328}" presName="rootConnector" presStyleLbl="node2" presStyleIdx="4" presStyleCnt="6"/>
      <dgm:spPr/>
    </dgm:pt>
    <dgm:pt modelId="{A92EC47C-3526-4F10-9C3B-A5485B46D6BC}" type="pres">
      <dgm:prSet presAssocID="{52E2228B-3CA5-48EE-A245-BF05D5428328}" presName="hierChild4" presStyleCnt="0"/>
      <dgm:spPr/>
    </dgm:pt>
    <dgm:pt modelId="{AE682B20-A179-47D6-9914-61F73257F070}" type="pres">
      <dgm:prSet presAssocID="{52E2228B-3CA5-48EE-A245-BF05D5428328}" presName="hierChild5" presStyleCnt="0"/>
      <dgm:spPr/>
    </dgm:pt>
    <dgm:pt modelId="{99925184-D07B-49F0-A4E6-8812A766846B}" type="pres">
      <dgm:prSet presAssocID="{711C03E4-1FDD-47CA-B2AF-16A8C1546498}" presName="Name37" presStyleLbl="parChTrans1D2" presStyleIdx="5" presStyleCnt="6"/>
      <dgm:spPr/>
    </dgm:pt>
    <dgm:pt modelId="{7FB435DE-96E4-4A1B-86B0-306D35CEDCEF}" type="pres">
      <dgm:prSet presAssocID="{FE3CC8DF-4194-49CF-8BBE-064769294124}" presName="hierRoot2" presStyleCnt="0">
        <dgm:presLayoutVars>
          <dgm:hierBranch val="init"/>
        </dgm:presLayoutVars>
      </dgm:prSet>
      <dgm:spPr/>
    </dgm:pt>
    <dgm:pt modelId="{FD89EFBF-15D2-466F-95D6-C611483FD763}" type="pres">
      <dgm:prSet presAssocID="{FE3CC8DF-4194-49CF-8BBE-064769294124}" presName="rootComposite" presStyleCnt="0"/>
      <dgm:spPr/>
    </dgm:pt>
    <dgm:pt modelId="{B9508E9A-35A6-466E-B9A9-F10B7DE45B19}" type="pres">
      <dgm:prSet presAssocID="{FE3CC8DF-4194-49CF-8BBE-064769294124}" presName="rootText" presStyleLbl="node2" presStyleIdx="5" presStyleCnt="6">
        <dgm:presLayoutVars>
          <dgm:chPref val="3"/>
        </dgm:presLayoutVars>
      </dgm:prSet>
      <dgm:spPr/>
    </dgm:pt>
    <dgm:pt modelId="{03E9108D-7189-4346-8E27-C72353B45472}" type="pres">
      <dgm:prSet presAssocID="{FE3CC8DF-4194-49CF-8BBE-064769294124}" presName="rootConnector" presStyleLbl="node2" presStyleIdx="5" presStyleCnt="6"/>
      <dgm:spPr/>
    </dgm:pt>
    <dgm:pt modelId="{EE875877-5C0E-42B3-9F9E-4ED42737FD54}" type="pres">
      <dgm:prSet presAssocID="{FE3CC8DF-4194-49CF-8BBE-064769294124}" presName="hierChild4" presStyleCnt="0"/>
      <dgm:spPr/>
    </dgm:pt>
    <dgm:pt modelId="{8484A759-7EB3-4673-A441-87D73B8182FC}" type="pres">
      <dgm:prSet presAssocID="{FE3CC8DF-4194-49CF-8BBE-064769294124}" presName="hierChild5" presStyleCnt="0"/>
      <dgm:spPr/>
    </dgm:pt>
    <dgm:pt modelId="{4C60CA24-C110-43C1-90E7-E8A62BB95213}" type="pres">
      <dgm:prSet presAssocID="{2248CD08-1A0C-425A-B5B5-9C3CC33495D5}" presName="hierChild3" presStyleCnt="0"/>
      <dgm:spPr/>
    </dgm:pt>
  </dgm:ptLst>
  <dgm:cxnLst>
    <dgm:cxn modelId="{519D4103-425D-4573-AD41-438BF522E296}" type="presOf" srcId="{5843A9FC-0978-4D4F-B5C9-E9978ED917C8}" destId="{10812E50-FD12-49C9-99FA-1309B2593630}" srcOrd="0" destOrd="0" presId="urn:microsoft.com/office/officeart/2005/8/layout/orgChart1"/>
    <dgm:cxn modelId="{6B38E20E-550E-4AF7-AC72-C121448BAD68}" srcId="{24E9C2BA-5DC4-403E-BC3A-2A711082441E}" destId="{2248CD08-1A0C-425A-B5B5-9C3CC33495D5}" srcOrd="0" destOrd="0" parTransId="{DBA899DF-5C74-44A8-94FB-6906DB6D6997}" sibTransId="{93FC3002-11FF-4F2B-9500-AD32399274FF}"/>
    <dgm:cxn modelId="{CA141F12-9567-405D-AAA7-979C1AB4B01F}" type="presOf" srcId="{929D830C-A0C8-407C-8A65-3AF859A5A92E}" destId="{33EBB690-F030-4BC0-8B1D-9B98149C3F66}" srcOrd="0" destOrd="0" presId="urn:microsoft.com/office/officeart/2005/8/layout/orgChart1"/>
    <dgm:cxn modelId="{C9BED924-7E92-429A-8163-7C56491DCF1A}" type="presOf" srcId="{37C65516-9EDF-4508-85A0-1872CB2B45CB}" destId="{FE05C137-5E7A-4DDF-902C-11AD2BA1B814}" srcOrd="0" destOrd="0" presId="urn:microsoft.com/office/officeart/2005/8/layout/orgChart1"/>
    <dgm:cxn modelId="{9CC7652B-8109-4E1D-B7DE-A9961F627EE2}" srcId="{2248CD08-1A0C-425A-B5B5-9C3CC33495D5}" destId="{4D207C44-FFB0-449E-A28B-BBB18288387A}" srcOrd="2" destOrd="0" parTransId="{D77F50DD-FF4E-40D3-8171-0DC0AB6737DD}" sibTransId="{A57C3A5B-1814-4AD6-8BE2-0F589D540402}"/>
    <dgm:cxn modelId="{616E4039-A238-4F98-BA6E-874829E36665}" type="presOf" srcId="{4D207C44-FFB0-449E-A28B-BBB18288387A}" destId="{5325A2D8-E5AB-49D6-9501-3B81CA1DEBE9}" srcOrd="1" destOrd="0" presId="urn:microsoft.com/office/officeart/2005/8/layout/orgChart1"/>
    <dgm:cxn modelId="{48EE7E3F-3A77-490D-A1BF-472C8C974584}" type="presOf" srcId="{D5CF93F0-3DB7-473D-96B6-20E1B0B9D5FB}" destId="{61E90D56-12E7-48E9-936F-6DF87C12DB1F}" srcOrd="1" destOrd="0" presId="urn:microsoft.com/office/officeart/2005/8/layout/orgChart1"/>
    <dgm:cxn modelId="{4EFF5E46-98E8-409B-AEC8-464ABD32F42E}" type="presOf" srcId="{D5CF93F0-3DB7-473D-96B6-20E1B0B9D5FB}" destId="{4383CCE3-9B4D-47C4-BA1A-C98DF167940C}" srcOrd="0" destOrd="0" presId="urn:microsoft.com/office/officeart/2005/8/layout/orgChart1"/>
    <dgm:cxn modelId="{8C3A9949-2C7D-4F39-A696-4080110F175A}" type="presOf" srcId="{FE3CC8DF-4194-49CF-8BBE-064769294124}" destId="{B9508E9A-35A6-466E-B9A9-F10B7DE45B19}" srcOrd="0" destOrd="0" presId="urn:microsoft.com/office/officeart/2005/8/layout/orgChart1"/>
    <dgm:cxn modelId="{FBE8684E-DA7F-4F4C-9083-AE2BAA06B217}" type="presOf" srcId="{2248CD08-1A0C-425A-B5B5-9C3CC33495D5}" destId="{11B2A473-392E-41EF-BC20-4D9400AA9A3B}" srcOrd="1" destOrd="0" presId="urn:microsoft.com/office/officeart/2005/8/layout/orgChart1"/>
    <dgm:cxn modelId="{C33FBE70-F0B3-409C-8506-0F9795097F1A}" type="presOf" srcId="{3767A45A-A4B4-4167-9DDB-C69E1FCAC1E2}" destId="{D6D339F7-DEED-45E9-99E2-C3CEC667BF73}" srcOrd="0" destOrd="0" presId="urn:microsoft.com/office/officeart/2005/8/layout/orgChart1"/>
    <dgm:cxn modelId="{2C6BFC75-74E9-47F0-8C26-D77AD5639CEC}" type="presOf" srcId="{4D207C44-FFB0-449E-A28B-BBB18288387A}" destId="{2327B70E-8684-4DB3-91C9-C3105263295E}" srcOrd="0" destOrd="0" presId="urn:microsoft.com/office/officeart/2005/8/layout/orgChart1"/>
    <dgm:cxn modelId="{58D77A59-480E-49F5-A22E-166A3222D881}" type="presOf" srcId="{2013CBAF-2E7A-44B9-8EA3-75C541C6BC05}" destId="{134236B5-6797-4D90-A15D-BDB59FDE7069}" srcOrd="1" destOrd="0" presId="urn:microsoft.com/office/officeart/2005/8/layout/orgChart1"/>
    <dgm:cxn modelId="{358E158B-0F72-4357-BCE9-856F5A93D703}" type="presOf" srcId="{711C03E4-1FDD-47CA-B2AF-16A8C1546498}" destId="{99925184-D07B-49F0-A4E6-8812A766846B}" srcOrd="0" destOrd="0" presId="urn:microsoft.com/office/officeart/2005/8/layout/orgChart1"/>
    <dgm:cxn modelId="{A80FFF96-3AFB-44CE-A134-B81B43948944}" type="presOf" srcId="{52E2228B-3CA5-48EE-A245-BF05D5428328}" destId="{CB23D554-65AC-45AE-B845-F023A6D7C792}" srcOrd="0" destOrd="0" presId="urn:microsoft.com/office/officeart/2005/8/layout/orgChart1"/>
    <dgm:cxn modelId="{E4FC3497-440E-4A9B-B7C6-A6D025F09BA0}" srcId="{2248CD08-1A0C-425A-B5B5-9C3CC33495D5}" destId="{D5CF93F0-3DB7-473D-96B6-20E1B0B9D5FB}" srcOrd="1" destOrd="0" parTransId="{37C65516-9EDF-4508-85A0-1872CB2B45CB}" sibTransId="{4733E967-C185-430E-B366-E0B9EAFF2C0A}"/>
    <dgm:cxn modelId="{55B13798-5D11-41AF-9684-DDC69B87828A}" type="presOf" srcId="{4E1DE0EA-9634-4412-9A11-CEBB3E7D5EE9}" destId="{E560D95F-08A8-4117-8CDD-C9C4CAC0A767}" srcOrd="0" destOrd="0" presId="urn:microsoft.com/office/officeart/2005/8/layout/orgChart1"/>
    <dgm:cxn modelId="{B13FBF9A-BDEB-4FD2-AAC5-DC9CDCE6B1E7}" type="presOf" srcId="{24E9C2BA-5DC4-403E-BC3A-2A711082441E}" destId="{B91B0974-1B3F-4A26-B382-98EDF1C6B004}" srcOrd="0" destOrd="0" presId="urn:microsoft.com/office/officeart/2005/8/layout/orgChart1"/>
    <dgm:cxn modelId="{012E80BE-C771-4E33-B904-2A96E7CA8FE4}" srcId="{2248CD08-1A0C-425A-B5B5-9C3CC33495D5}" destId="{FE3CC8DF-4194-49CF-8BBE-064769294124}" srcOrd="5" destOrd="0" parTransId="{711C03E4-1FDD-47CA-B2AF-16A8C1546498}" sibTransId="{9441D714-ABBD-428F-A440-4BC9D9C72985}"/>
    <dgm:cxn modelId="{A635E2C2-1939-40B8-A5D9-0F0962EEE636}" type="presOf" srcId="{3767A45A-A4B4-4167-9DDB-C69E1FCAC1E2}" destId="{786D2579-871B-496C-A0A9-C22D63663596}" srcOrd="1" destOrd="0" presId="urn:microsoft.com/office/officeart/2005/8/layout/orgChart1"/>
    <dgm:cxn modelId="{F1F2CEC6-79B9-4AA1-9448-88B5A48E510D}" type="presOf" srcId="{D77F50DD-FF4E-40D3-8171-0DC0AB6737DD}" destId="{EF76F129-08D4-4A2B-8CBB-CCD7C6A06E01}" srcOrd="0" destOrd="0" presId="urn:microsoft.com/office/officeart/2005/8/layout/orgChart1"/>
    <dgm:cxn modelId="{FDCFBBC9-629C-4D38-998A-085284192157}" srcId="{2248CD08-1A0C-425A-B5B5-9C3CC33495D5}" destId="{2013CBAF-2E7A-44B9-8EA3-75C541C6BC05}" srcOrd="3" destOrd="0" parTransId="{5843A9FC-0978-4D4F-B5C9-E9978ED917C8}" sibTransId="{EB097614-7959-4679-AFB6-F7A21F2A1DFE}"/>
    <dgm:cxn modelId="{6FC5CED1-8553-446A-B3ED-4D7971D15261}" type="presOf" srcId="{2248CD08-1A0C-425A-B5B5-9C3CC33495D5}" destId="{9169F290-B813-46F3-9C94-D6C298969F43}" srcOrd="0" destOrd="0" presId="urn:microsoft.com/office/officeart/2005/8/layout/orgChart1"/>
    <dgm:cxn modelId="{C13DD1D5-BC65-4C8E-BCC9-E56D31A877BD}" type="presOf" srcId="{FE3CC8DF-4194-49CF-8BBE-064769294124}" destId="{03E9108D-7189-4346-8E27-C72353B45472}" srcOrd="1" destOrd="0" presId="urn:microsoft.com/office/officeart/2005/8/layout/orgChart1"/>
    <dgm:cxn modelId="{E4CEA9E2-923F-42FB-AB1C-F6FB933DFBD6}" type="presOf" srcId="{52E2228B-3CA5-48EE-A245-BF05D5428328}" destId="{ACE64199-AC9B-4E9B-A4DB-B167807C4968}" srcOrd="1" destOrd="0" presId="urn:microsoft.com/office/officeart/2005/8/layout/orgChart1"/>
    <dgm:cxn modelId="{1D9DCCE2-4895-48D4-86D5-98560226CA20}" srcId="{2248CD08-1A0C-425A-B5B5-9C3CC33495D5}" destId="{3767A45A-A4B4-4167-9DDB-C69E1FCAC1E2}" srcOrd="0" destOrd="0" parTransId="{4E1DE0EA-9634-4412-9A11-CEBB3E7D5EE9}" sibTransId="{40D6EF39-43B4-46E0-98AD-CBCA1E7A6C2A}"/>
    <dgm:cxn modelId="{2D1F4DF9-42FB-48BD-8017-89D58F6B6A9B}" type="presOf" srcId="{2013CBAF-2E7A-44B9-8EA3-75C541C6BC05}" destId="{0DEFD876-F1AD-4626-8B60-D6F0247BC59B}" srcOrd="0" destOrd="0" presId="urn:microsoft.com/office/officeart/2005/8/layout/orgChart1"/>
    <dgm:cxn modelId="{F7D5D1FC-B4BD-41E4-8EFE-2FB40DC8EBF8}" srcId="{2248CD08-1A0C-425A-B5B5-9C3CC33495D5}" destId="{52E2228B-3CA5-48EE-A245-BF05D5428328}" srcOrd="4" destOrd="0" parTransId="{929D830C-A0C8-407C-8A65-3AF859A5A92E}" sibTransId="{9A6E9D77-08E8-4949-8DB7-A9E10BDF5518}"/>
    <dgm:cxn modelId="{AB0913B0-A3EA-489B-B1A8-9FF072262ED6}" type="presParOf" srcId="{B91B0974-1B3F-4A26-B382-98EDF1C6B004}" destId="{679D2823-A35D-4A44-BD5B-A45348AB0096}" srcOrd="0" destOrd="0" presId="urn:microsoft.com/office/officeart/2005/8/layout/orgChart1"/>
    <dgm:cxn modelId="{E7283160-D83E-4B7F-9185-E19B9409F3AE}" type="presParOf" srcId="{679D2823-A35D-4A44-BD5B-A45348AB0096}" destId="{C589ECA1-52F2-498B-984D-D5D36A6A7E65}" srcOrd="0" destOrd="0" presId="urn:microsoft.com/office/officeart/2005/8/layout/orgChart1"/>
    <dgm:cxn modelId="{4E6C2A5B-B271-4176-90DE-FB52BD01A62A}" type="presParOf" srcId="{C589ECA1-52F2-498B-984D-D5D36A6A7E65}" destId="{9169F290-B813-46F3-9C94-D6C298969F43}" srcOrd="0" destOrd="0" presId="urn:microsoft.com/office/officeart/2005/8/layout/orgChart1"/>
    <dgm:cxn modelId="{4475487C-243D-483E-827F-B30438D2A286}" type="presParOf" srcId="{C589ECA1-52F2-498B-984D-D5D36A6A7E65}" destId="{11B2A473-392E-41EF-BC20-4D9400AA9A3B}" srcOrd="1" destOrd="0" presId="urn:microsoft.com/office/officeart/2005/8/layout/orgChart1"/>
    <dgm:cxn modelId="{D84594F1-3AF1-4F8F-A7B4-AAF5EE3FED11}" type="presParOf" srcId="{679D2823-A35D-4A44-BD5B-A45348AB0096}" destId="{0C070B8E-31BD-4ED7-A50B-285231D2CAC3}" srcOrd="1" destOrd="0" presId="urn:microsoft.com/office/officeart/2005/8/layout/orgChart1"/>
    <dgm:cxn modelId="{E3F0725F-E2FC-422A-8586-FC5409238901}" type="presParOf" srcId="{0C070B8E-31BD-4ED7-A50B-285231D2CAC3}" destId="{E560D95F-08A8-4117-8CDD-C9C4CAC0A767}" srcOrd="0" destOrd="0" presId="urn:microsoft.com/office/officeart/2005/8/layout/orgChart1"/>
    <dgm:cxn modelId="{C431746A-78CC-4679-87FF-3A1B2C53E8E9}" type="presParOf" srcId="{0C070B8E-31BD-4ED7-A50B-285231D2CAC3}" destId="{1F59D5C8-B0C9-4D0D-BF1C-734016C84C9D}" srcOrd="1" destOrd="0" presId="urn:microsoft.com/office/officeart/2005/8/layout/orgChart1"/>
    <dgm:cxn modelId="{98D8543C-38C6-46ED-9827-23369D8A4FF3}" type="presParOf" srcId="{1F59D5C8-B0C9-4D0D-BF1C-734016C84C9D}" destId="{F9EE20DC-74C5-4C23-A898-D0BEDE5FDB97}" srcOrd="0" destOrd="0" presId="urn:microsoft.com/office/officeart/2005/8/layout/orgChart1"/>
    <dgm:cxn modelId="{628D129E-F8E6-4967-A1CA-0735ED9E7B3D}" type="presParOf" srcId="{F9EE20DC-74C5-4C23-A898-D0BEDE5FDB97}" destId="{D6D339F7-DEED-45E9-99E2-C3CEC667BF73}" srcOrd="0" destOrd="0" presId="urn:microsoft.com/office/officeart/2005/8/layout/orgChart1"/>
    <dgm:cxn modelId="{A75639B1-8052-4D1B-B1B6-DD60EE1F60F1}" type="presParOf" srcId="{F9EE20DC-74C5-4C23-A898-D0BEDE5FDB97}" destId="{786D2579-871B-496C-A0A9-C22D63663596}" srcOrd="1" destOrd="0" presId="urn:microsoft.com/office/officeart/2005/8/layout/orgChart1"/>
    <dgm:cxn modelId="{521DBA12-4687-48F3-8F84-183359F8A24A}" type="presParOf" srcId="{1F59D5C8-B0C9-4D0D-BF1C-734016C84C9D}" destId="{F3B44770-CE8A-4CC0-86C3-E5B3D2E9A9EE}" srcOrd="1" destOrd="0" presId="urn:microsoft.com/office/officeart/2005/8/layout/orgChart1"/>
    <dgm:cxn modelId="{6E7113EE-4646-4027-B7E4-C97C50B31063}" type="presParOf" srcId="{1F59D5C8-B0C9-4D0D-BF1C-734016C84C9D}" destId="{5CCDA2B1-B793-4452-9518-22E07F3E7E80}" srcOrd="2" destOrd="0" presId="urn:microsoft.com/office/officeart/2005/8/layout/orgChart1"/>
    <dgm:cxn modelId="{C8BE8B14-DA26-4AD4-8247-41FD6F5036F2}" type="presParOf" srcId="{0C070B8E-31BD-4ED7-A50B-285231D2CAC3}" destId="{FE05C137-5E7A-4DDF-902C-11AD2BA1B814}" srcOrd="2" destOrd="0" presId="urn:microsoft.com/office/officeart/2005/8/layout/orgChart1"/>
    <dgm:cxn modelId="{084C5F68-EB98-41C8-AA62-D278AD9D27D9}" type="presParOf" srcId="{0C070B8E-31BD-4ED7-A50B-285231D2CAC3}" destId="{7FCDE1B1-96BF-4BAD-8D0A-13F8547289B9}" srcOrd="3" destOrd="0" presId="urn:microsoft.com/office/officeart/2005/8/layout/orgChart1"/>
    <dgm:cxn modelId="{7F7ECAE8-F6CB-41FC-894E-249C90397AEB}" type="presParOf" srcId="{7FCDE1B1-96BF-4BAD-8D0A-13F8547289B9}" destId="{492BE15F-03DC-469B-A529-430AC02BC35E}" srcOrd="0" destOrd="0" presId="urn:microsoft.com/office/officeart/2005/8/layout/orgChart1"/>
    <dgm:cxn modelId="{0BE96F81-8481-4976-B38F-82BA280BE475}" type="presParOf" srcId="{492BE15F-03DC-469B-A529-430AC02BC35E}" destId="{4383CCE3-9B4D-47C4-BA1A-C98DF167940C}" srcOrd="0" destOrd="0" presId="urn:microsoft.com/office/officeart/2005/8/layout/orgChart1"/>
    <dgm:cxn modelId="{6B2B0A55-813D-409F-95EE-E6EC461EB79B}" type="presParOf" srcId="{492BE15F-03DC-469B-A529-430AC02BC35E}" destId="{61E90D56-12E7-48E9-936F-6DF87C12DB1F}" srcOrd="1" destOrd="0" presId="urn:microsoft.com/office/officeart/2005/8/layout/orgChart1"/>
    <dgm:cxn modelId="{BE32292F-4495-403D-A149-3BCCF415CE96}" type="presParOf" srcId="{7FCDE1B1-96BF-4BAD-8D0A-13F8547289B9}" destId="{71D09E98-2E27-4B27-B57E-5DD97B6D148F}" srcOrd="1" destOrd="0" presId="urn:microsoft.com/office/officeart/2005/8/layout/orgChart1"/>
    <dgm:cxn modelId="{CB8F9D3F-F9DA-44A0-BEAF-117E6D8E8854}" type="presParOf" srcId="{7FCDE1B1-96BF-4BAD-8D0A-13F8547289B9}" destId="{76FA659E-0C9B-44AF-B644-DC249382C2FB}" srcOrd="2" destOrd="0" presId="urn:microsoft.com/office/officeart/2005/8/layout/orgChart1"/>
    <dgm:cxn modelId="{BFD7B0D5-2F45-4B40-9D70-1D8F354158B2}" type="presParOf" srcId="{0C070B8E-31BD-4ED7-A50B-285231D2CAC3}" destId="{EF76F129-08D4-4A2B-8CBB-CCD7C6A06E01}" srcOrd="4" destOrd="0" presId="urn:microsoft.com/office/officeart/2005/8/layout/orgChart1"/>
    <dgm:cxn modelId="{0EE872AD-F2AA-48F5-A4B2-1551ACDB05D3}" type="presParOf" srcId="{0C070B8E-31BD-4ED7-A50B-285231D2CAC3}" destId="{DC7F2573-E3E7-42CD-A497-F728B1696D2D}" srcOrd="5" destOrd="0" presId="urn:microsoft.com/office/officeart/2005/8/layout/orgChart1"/>
    <dgm:cxn modelId="{0BC3F867-F770-4029-A78A-1DB0E9D45405}" type="presParOf" srcId="{DC7F2573-E3E7-42CD-A497-F728B1696D2D}" destId="{210524A5-9EE1-4960-BBE8-AD6A77655892}" srcOrd="0" destOrd="0" presId="urn:microsoft.com/office/officeart/2005/8/layout/orgChart1"/>
    <dgm:cxn modelId="{A1C535EE-381B-4031-9176-5A23EFF791C2}" type="presParOf" srcId="{210524A5-9EE1-4960-BBE8-AD6A77655892}" destId="{2327B70E-8684-4DB3-91C9-C3105263295E}" srcOrd="0" destOrd="0" presId="urn:microsoft.com/office/officeart/2005/8/layout/orgChart1"/>
    <dgm:cxn modelId="{4CE60614-6FDD-4B86-BF0C-25AAED5765A3}" type="presParOf" srcId="{210524A5-9EE1-4960-BBE8-AD6A77655892}" destId="{5325A2D8-E5AB-49D6-9501-3B81CA1DEBE9}" srcOrd="1" destOrd="0" presId="urn:microsoft.com/office/officeart/2005/8/layout/orgChart1"/>
    <dgm:cxn modelId="{5E15C964-B17C-4F5E-9E6F-A29C19E23266}" type="presParOf" srcId="{DC7F2573-E3E7-42CD-A497-F728B1696D2D}" destId="{BBFE6347-CB5A-46C2-9833-9320E84C5D9E}" srcOrd="1" destOrd="0" presId="urn:microsoft.com/office/officeart/2005/8/layout/orgChart1"/>
    <dgm:cxn modelId="{54A649A3-7209-48D3-8963-D5369A6D602E}" type="presParOf" srcId="{DC7F2573-E3E7-42CD-A497-F728B1696D2D}" destId="{564FA137-6524-44E0-AC62-82FBCAD97DBE}" srcOrd="2" destOrd="0" presId="urn:microsoft.com/office/officeart/2005/8/layout/orgChart1"/>
    <dgm:cxn modelId="{CB137DBD-0F46-4028-B479-F2B9B9B91AD3}" type="presParOf" srcId="{0C070B8E-31BD-4ED7-A50B-285231D2CAC3}" destId="{10812E50-FD12-49C9-99FA-1309B2593630}" srcOrd="6" destOrd="0" presId="urn:microsoft.com/office/officeart/2005/8/layout/orgChart1"/>
    <dgm:cxn modelId="{D313F948-D01E-4DD5-8A21-62305282F348}" type="presParOf" srcId="{0C070B8E-31BD-4ED7-A50B-285231D2CAC3}" destId="{40CEC1FE-78B8-49AA-87B7-4E45CF592A37}" srcOrd="7" destOrd="0" presId="urn:microsoft.com/office/officeart/2005/8/layout/orgChart1"/>
    <dgm:cxn modelId="{82D0FDE5-7369-4744-857D-6E1BF8C98420}" type="presParOf" srcId="{40CEC1FE-78B8-49AA-87B7-4E45CF592A37}" destId="{895685F2-948A-4662-82EB-68DFEC0FC78B}" srcOrd="0" destOrd="0" presId="urn:microsoft.com/office/officeart/2005/8/layout/orgChart1"/>
    <dgm:cxn modelId="{4A7B2E6D-07D6-4BF5-BE3D-6392B8585860}" type="presParOf" srcId="{895685F2-948A-4662-82EB-68DFEC0FC78B}" destId="{0DEFD876-F1AD-4626-8B60-D6F0247BC59B}" srcOrd="0" destOrd="0" presId="urn:microsoft.com/office/officeart/2005/8/layout/orgChart1"/>
    <dgm:cxn modelId="{8A318A69-E3BD-4ED6-909A-F430806CD3B1}" type="presParOf" srcId="{895685F2-948A-4662-82EB-68DFEC0FC78B}" destId="{134236B5-6797-4D90-A15D-BDB59FDE7069}" srcOrd="1" destOrd="0" presId="urn:microsoft.com/office/officeart/2005/8/layout/orgChart1"/>
    <dgm:cxn modelId="{06A8D60F-9187-4B14-A595-2DEE6FC0F1A0}" type="presParOf" srcId="{40CEC1FE-78B8-49AA-87B7-4E45CF592A37}" destId="{F399707C-1F67-4B86-B27A-68A8C1DFD415}" srcOrd="1" destOrd="0" presId="urn:microsoft.com/office/officeart/2005/8/layout/orgChart1"/>
    <dgm:cxn modelId="{22E0012C-3B50-4DFC-8101-CDF35E1F5D83}" type="presParOf" srcId="{40CEC1FE-78B8-49AA-87B7-4E45CF592A37}" destId="{0C87CD7B-7F33-482E-8474-953079255032}" srcOrd="2" destOrd="0" presId="urn:microsoft.com/office/officeart/2005/8/layout/orgChart1"/>
    <dgm:cxn modelId="{A428E17B-E7B1-43F0-90D3-76554FDD343A}" type="presParOf" srcId="{0C070B8E-31BD-4ED7-A50B-285231D2CAC3}" destId="{33EBB690-F030-4BC0-8B1D-9B98149C3F66}" srcOrd="8" destOrd="0" presId="urn:microsoft.com/office/officeart/2005/8/layout/orgChart1"/>
    <dgm:cxn modelId="{0726D6EA-ABAF-4B34-89E5-662C7F2A9115}" type="presParOf" srcId="{0C070B8E-31BD-4ED7-A50B-285231D2CAC3}" destId="{17F16ECB-A0DC-4EA0-B9B7-ACF8503368EB}" srcOrd="9" destOrd="0" presId="urn:microsoft.com/office/officeart/2005/8/layout/orgChart1"/>
    <dgm:cxn modelId="{8B500BF4-7C50-4243-8541-504872B81BC1}" type="presParOf" srcId="{17F16ECB-A0DC-4EA0-B9B7-ACF8503368EB}" destId="{07F3CB81-08E8-4776-B499-F57332F3439A}" srcOrd="0" destOrd="0" presId="urn:microsoft.com/office/officeart/2005/8/layout/orgChart1"/>
    <dgm:cxn modelId="{1C6091B3-85F4-4480-A6EF-CB4E95115E69}" type="presParOf" srcId="{07F3CB81-08E8-4776-B499-F57332F3439A}" destId="{CB23D554-65AC-45AE-B845-F023A6D7C792}" srcOrd="0" destOrd="0" presId="urn:microsoft.com/office/officeart/2005/8/layout/orgChart1"/>
    <dgm:cxn modelId="{20200DD1-DB52-450E-8532-1225C54339F5}" type="presParOf" srcId="{07F3CB81-08E8-4776-B499-F57332F3439A}" destId="{ACE64199-AC9B-4E9B-A4DB-B167807C4968}" srcOrd="1" destOrd="0" presId="urn:microsoft.com/office/officeart/2005/8/layout/orgChart1"/>
    <dgm:cxn modelId="{37AF326C-63A9-4E42-9D0F-947B2F00A572}" type="presParOf" srcId="{17F16ECB-A0DC-4EA0-B9B7-ACF8503368EB}" destId="{A92EC47C-3526-4F10-9C3B-A5485B46D6BC}" srcOrd="1" destOrd="0" presId="urn:microsoft.com/office/officeart/2005/8/layout/orgChart1"/>
    <dgm:cxn modelId="{19A40C0D-0067-4A84-86F1-3738DBCC65FE}" type="presParOf" srcId="{17F16ECB-A0DC-4EA0-B9B7-ACF8503368EB}" destId="{AE682B20-A179-47D6-9914-61F73257F070}" srcOrd="2" destOrd="0" presId="urn:microsoft.com/office/officeart/2005/8/layout/orgChart1"/>
    <dgm:cxn modelId="{BE580DF3-5AFF-44DD-B2A8-65601BF20984}" type="presParOf" srcId="{0C070B8E-31BD-4ED7-A50B-285231D2CAC3}" destId="{99925184-D07B-49F0-A4E6-8812A766846B}" srcOrd="10" destOrd="0" presId="urn:microsoft.com/office/officeart/2005/8/layout/orgChart1"/>
    <dgm:cxn modelId="{921D748F-E077-4707-841A-CEB3831E2667}" type="presParOf" srcId="{0C070B8E-31BD-4ED7-A50B-285231D2CAC3}" destId="{7FB435DE-96E4-4A1B-86B0-306D35CEDCEF}" srcOrd="11" destOrd="0" presId="urn:microsoft.com/office/officeart/2005/8/layout/orgChart1"/>
    <dgm:cxn modelId="{0F1483B6-6C2C-4AAA-8FAC-AF59B7E8D1BC}" type="presParOf" srcId="{7FB435DE-96E4-4A1B-86B0-306D35CEDCEF}" destId="{FD89EFBF-15D2-466F-95D6-C611483FD763}" srcOrd="0" destOrd="0" presId="urn:microsoft.com/office/officeart/2005/8/layout/orgChart1"/>
    <dgm:cxn modelId="{2DC9DBC4-9FE7-4927-9A05-D03D7E4F25CF}" type="presParOf" srcId="{FD89EFBF-15D2-466F-95D6-C611483FD763}" destId="{B9508E9A-35A6-466E-B9A9-F10B7DE45B19}" srcOrd="0" destOrd="0" presId="urn:microsoft.com/office/officeart/2005/8/layout/orgChart1"/>
    <dgm:cxn modelId="{5EB818C0-5B79-4C4A-9CCB-473D3623EED6}" type="presParOf" srcId="{FD89EFBF-15D2-466F-95D6-C611483FD763}" destId="{03E9108D-7189-4346-8E27-C72353B45472}" srcOrd="1" destOrd="0" presId="urn:microsoft.com/office/officeart/2005/8/layout/orgChart1"/>
    <dgm:cxn modelId="{D300D492-097B-455E-B3A2-A76B102A3A26}" type="presParOf" srcId="{7FB435DE-96E4-4A1B-86B0-306D35CEDCEF}" destId="{EE875877-5C0E-42B3-9F9E-4ED42737FD54}" srcOrd="1" destOrd="0" presId="urn:microsoft.com/office/officeart/2005/8/layout/orgChart1"/>
    <dgm:cxn modelId="{E6D7D0BB-6672-42AC-B890-1126F3FD2B72}" type="presParOf" srcId="{7FB435DE-96E4-4A1B-86B0-306D35CEDCEF}" destId="{8484A759-7EB3-4673-A441-87D73B8182FC}" srcOrd="2" destOrd="0" presId="urn:microsoft.com/office/officeart/2005/8/layout/orgChart1"/>
    <dgm:cxn modelId="{73D584FF-6956-4323-81B9-6B10F5713099}" type="presParOf" srcId="{679D2823-A35D-4A44-BD5B-A45348AB0096}" destId="{4C60CA24-C110-43C1-90E7-E8A62BB9521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A23E1-19E3-4D96-A8E2-8E7BC94C091E}">
      <dsp:nvSpPr>
        <dsp:cNvPr id="0" name=""/>
        <dsp:cNvSpPr/>
      </dsp:nvSpPr>
      <dsp:spPr>
        <a:xfrm>
          <a:off x="0" y="307233"/>
          <a:ext cx="8128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0A2CE1-DA1D-4562-8822-ACAEEBB74271}">
      <dsp:nvSpPr>
        <dsp:cNvPr id="0" name=""/>
        <dsp:cNvSpPr/>
      </dsp:nvSpPr>
      <dsp:spPr>
        <a:xfrm>
          <a:off x="406400" y="56313"/>
          <a:ext cx="568960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dirty="0"/>
            <a:t>CSS Saves Time</a:t>
          </a:r>
          <a:endParaRPr lang="en-IN" sz="1700" kern="1200" dirty="0"/>
        </a:p>
      </dsp:txBody>
      <dsp:txXfrm>
        <a:off x="430898" y="80811"/>
        <a:ext cx="5640604" cy="452844"/>
      </dsp:txXfrm>
    </dsp:sp>
    <dsp:sp modelId="{B0D35C16-CC4D-4F30-BB06-7AB7269D18A2}">
      <dsp:nvSpPr>
        <dsp:cNvPr id="0" name=""/>
        <dsp:cNvSpPr/>
      </dsp:nvSpPr>
      <dsp:spPr>
        <a:xfrm>
          <a:off x="0" y="1078353"/>
          <a:ext cx="8128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A39BEE-D178-4199-ADEA-D92AF05EF377}">
      <dsp:nvSpPr>
        <dsp:cNvPr id="0" name=""/>
        <dsp:cNvSpPr/>
      </dsp:nvSpPr>
      <dsp:spPr>
        <a:xfrm>
          <a:off x="406400" y="827433"/>
          <a:ext cx="568960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IN" sz="1700" kern="1200" dirty="0"/>
            <a:t>Multiple Device Compatibility </a:t>
          </a:r>
        </a:p>
      </dsp:txBody>
      <dsp:txXfrm>
        <a:off x="430898" y="851931"/>
        <a:ext cx="5640604" cy="452844"/>
      </dsp:txXfrm>
    </dsp:sp>
    <dsp:sp modelId="{68F34E0E-3F8B-4F9A-8A49-BBDD65DE74AB}">
      <dsp:nvSpPr>
        <dsp:cNvPr id="0" name=""/>
        <dsp:cNvSpPr/>
      </dsp:nvSpPr>
      <dsp:spPr>
        <a:xfrm>
          <a:off x="0" y="1849473"/>
          <a:ext cx="8128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BE63AE6-CC31-4DA2-8BAC-BF3407B1D2CC}">
      <dsp:nvSpPr>
        <dsp:cNvPr id="0" name=""/>
        <dsp:cNvSpPr/>
      </dsp:nvSpPr>
      <dsp:spPr>
        <a:xfrm>
          <a:off x="406400" y="1598553"/>
          <a:ext cx="568960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IN" sz="1700" kern="1200" dirty="0"/>
            <a:t>Pages load faster </a:t>
          </a:r>
        </a:p>
      </dsp:txBody>
      <dsp:txXfrm>
        <a:off x="430898" y="1623051"/>
        <a:ext cx="5640604" cy="452844"/>
      </dsp:txXfrm>
    </dsp:sp>
    <dsp:sp modelId="{108F68EF-0EF3-4A49-9FA1-8BE6FE02A585}">
      <dsp:nvSpPr>
        <dsp:cNvPr id="0" name=""/>
        <dsp:cNvSpPr/>
      </dsp:nvSpPr>
      <dsp:spPr>
        <a:xfrm>
          <a:off x="0" y="2620593"/>
          <a:ext cx="8128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B4DA67-9FC1-44A2-BFB2-753DD87B1B04}">
      <dsp:nvSpPr>
        <dsp:cNvPr id="0" name=""/>
        <dsp:cNvSpPr/>
      </dsp:nvSpPr>
      <dsp:spPr>
        <a:xfrm>
          <a:off x="406400" y="2369673"/>
          <a:ext cx="568960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IN" sz="1700" kern="1200" dirty="0"/>
            <a:t>Platform Independence </a:t>
          </a:r>
        </a:p>
      </dsp:txBody>
      <dsp:txXfrm>
        <a:off x="430898" y="2394171"/>
        <a:ext cx="5640604" cy="452844"/>
      </dsp:txXfrm>
    </dsp:sp>
    <dsp:sp modelId="{0D0E9EA5-8B5D-4D5E-B162-3BCADED28B74}">
      <dsp:nvSpPr>
        <dsp:cNvPr id="0" name=""/>
        <dsp:cNvSpPr/>
      </dsp:nvSpPr>
      <dsp:spPr>
        <a:xfrm>
          <a:off x="0" y="3391713"/>
          <a:ext cx="8128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DC64631-415E-4B64-B391-265C04EDDD47}">
      <dsp:nvSpPr>
        <dsp:cNvPr id="0" name=""/>
        <dsp:cNvSpPr/>
      </dsp:nvSpPr>
      <dsp:spPr>
        <a:xfrm>
          <a:off x="406400" y="3140793"/>
          <a:ext cx="568960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IN" sz="1700" kern="1200" dirty="0"/>
            <a:t>Offline Browsing </a:t>
          </a:r>
        </a:p>
      </dsp:txBody>
      <dsp:txXfrm>
        <a:off x="430898" y="3165291"/>
        <a:ext cx="5640604" cy="452844"/>
      </dsp:txXfrm>
    </dsp:sp>
    <dsp:sp modelId="{5D2F0E7A-16A8-438A-87FC-1CCF822A29D8}">
      <dsp:nvSpPr>
        <dsp:cNvPr id="0" name=""/>
        <dsp:cNvSpPr/>
      </dsp:nvSpPr>
      <dsp:spPr>
        <a:xfrm>
          <a:off x="0" y="4162833"/>
          <a:ext cx="8128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B994AD-64A9-4DDF-B5C8-98E27E484003}">
      <dsp:nvSpPr>
        <dsp:cNvPr id="0" name=""/>
        <dsp:cNvSpPr/>
      </dsp:nvSpPr>
      <dsp:spPr>
        <a:xfrm>
          <a:off x="406400" y="3911913"/>
          <a:ext cx="568960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IN" sz="1700" kern="1200"/>
            <a:t>Superior styles to HTML </a:t>
          </a:r>
        </a:p>
      </dsp:txBody>
      <dsp:txXfrm>
        <a:off x="430898" y="3936411"/>
        <a:ext cx="5640604" cy="452844"/>
      </dsp:txXfrm>
    </dsp:sp>
    <dsp:sp modelId="{2A0002AA-2ED6-4409-A694-36517E85EA0D}">
      <dsp:nvSpPr>
        <dsp:cNvPr id="0" name=""/>
        <dsp:cNvSpPr/>
      </dsp:nvSpPr>
      <dsp:spPr>
        <a:xfrm>
          <a:off x="0" y="4933953"/>
          <a:ext cx="8128000"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81E3F6-9F6D-4641-9359-2814FFF12EBF}">
      <dsp:nvSpPr>
        <dsp:cNvPr id="0" name=""/>
        <dsp:cNvSpPr/>
      </dsp:nvSpPr>
      <dsp:spPr>
        <a:xfrm>
          <a:off x="406400" y="4683033"/>
          <a:ext cx="568960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IN" sz="1700" kern="1200"/>
            <a:t>Easy maintenance </a:t>
          </a:r>
        </a:p>
      </dsp:txBody>
      <dsp:txXfrm>
        <a:off x="430898" y="4707531"/>
        <a:ext cx="5640604" cy="45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C9EFA8-D902-432D-AC66-69A559824F1F}">
      <dsp:nvSpPr>
        <dsp:cNvPr id="0" name=""/>
        <dsp:cNvSpPr/>
      </dsp:nvSpPr>
      <dsp:spPr>
        <a:xfrm>
          <a:off x="3937000" y="1696931"/>
          <a:ext cx="2793999" cy="664844"/>
        </a:xfrm>
        <a:custGeom>
          <a:avLst/>
          <a:gdLst/>
          <a:ahLst/>
          <a:cxnLst/>
          <a:rect l="0" t="0" r="0" b="0"/>
          <a:pathLst>
            <a:path>
              <a:moveTo>
                <a:pt x="0" y="0"/>
              </a:moveTo>
              <a:lnTo>
                <a:pt x="0" y="453072"/>
              </a:lnTo>
              <a:lnTo>
                <a:pt x="2793999" y="453072"/>
              </a:lnTo>
              <a:lnTo>
                <a:pt x="2793999" y="664844"/>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0B9603C-D885-4C5B-B155-F03058C3A05F}">
      <dsp:nvSpPr>
        <dsp:cNvPr id="0" name=""/>
        <dsp:cNvSpPr/>
      </dsp:nvSpPr>
      <dsp:spPr>
        <a:xfrm>
          <a:off x="3891280" y="1696931"/>
          <a:ext cx="91440" cy="664844"/>
        </a:xfrm>
        <a:custGeom>
          <a:avLst/>
          <a:gdLst/>
          <a:ahLst/>
          <a:cxnLst/>
          <a:rect l="0" t="0" r="0" b="0"/>
          <a:pathLst>
            <a:path>
              <a:moveTo>
                <a:pt x="45720" y="0"/>
              </a:moveTo>
              <a:lnTo>
                <a:pt x="45720" y="664844"/>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CD49D01-9466-4BD8-8778-365040923654}">
      <dsp:nvSpPr>
        <dsp:cNvPr id="0" name=""/>
        <dsp:cNvSpPr/>
      </dsp:nvSpPr>
      <dsp:spPr>
        <a:xfrm>
          <a:off x="1143000" y="1696931"/>
          <a:ext cx="2793999" cy="664844"/>
        </a:xfrm>
        <a:custGeom>
          <a:avLst/>
          <a:gdLst/>
          <a:ahLst/>
          <a:cxnLst/>
          <a:rect l="0" t="0" r="0" b="0"/>
          <a:pathLst>
            <a:path>
              <a:moveTo>
                <a:pt x="2793999" y="0"/>
              </a:moveTo>
              <a:lnTo>
                <a:pt x="2793999" y="453072"/>
              </a:lnTo>
              <a:lnTo>
                <a:pt x="0" y="453072"/>
              </a:lnTo>
              <a:lnTo>
                <a:pt x="0" y="664844"/>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069C6B1-8ABC-4D9E-909C-E2056A152243}">
      <dsp:nvSpPr>
        <dsp:cNvPr id="0" name=""/>
        <dsp:cNvSpPr/>
      </dsp:nvSpPr>
      <dsp:spPr>
        <a:xfrm>
          <a:off x="2794000" y="245321"/>
          <a:ext cx="2285999" cy="1451609"/>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6BB8CC4-0220-4C45-9BC3-E7107ACB2D74}">
      <dsp:nvSpPr>
        <dsp:cNvPr id="0" name=""/>
        <dsp:cNvSpPr/>
      </dsp:nvSpPr>
      <dsp:spPr>
        <a:xfrm>
          <a:off x="3048000" y="486621"/>
          <a:ext cx="2285999" cy="1451609"/>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Types of CSS</a:t>
          </a:r>
          <a:endParaRPr lang="en-IN" sz="3800" kern="1200" dirty="0"/>
        </a:p>
      </dsp:txBody>
      <dsp:txXfrm>
        <a:off x="3090516" y="529137"/>
        <a:ext cx="2200967" cy="1366577"/>
      </dsp:txXfrm>
    </dsp:sp>
    <dsp:sp modelId="{47040175-BD60-4595-AE16-E7DA6CA957C4}">
      <dsp:nvSpPr>
        <dsp:cNvPr id="0" name=""/>
        <dsp:cNvSpPr/>
      </dsp:nvSpPr>
      <dsp:spPr>
        <a:xfrm>
          <a:off x="0" y="2361776"/>
          <a:ext cx="2285999" cy="1451609"/>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6AB3FAEE-7E8F-429B-AE74-F1C459FB6B28}">
      <dsp:nvSpPr>
        <dsp:cNvPr id="0" name=""/>
        <dsp:cNvSpPr/>
      </dsp:nvSpPr>
      <dsp:spPr>
        <a:xfrm>
          <a:off x="254000" y="2603076"/>
          <a:ext cx="2285999" cy="1451609"/>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Inline</a:t>
          </a:r>
          <a:endParaRPr lang="en-IN" sz="3800" kern="1200" dirty="0"/>
        </a:p>
      </dsp:txBody>
      <dsp:txXfrm>
        <a:off x="296516" y="2645592"/>
        <a:ext cx="2200967" cy="1366577"/>
      </dsp:txXfrm>
    </dsp:sp>
    <dsp:sp modelId="{77F49F7E-6131-43EE-BEAE-0E29BC928F06}">
      <dsp:nvSpPr>
        <dsp:cNvPr id="0" name=""/>
        <dsp:cNvSpPr/>
      </dsp:nvSpPr>
      <dsp:spPr>
        <a:xfrm>
          <a:off x="2794000" y="2361776"/>
          <a:ext cx="2285999" cy="1451609"/>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E7F11DC8-FB64-4F34-9D07-716A1AA5EDD0}">
      <dsp:nvSpPr>
        <dsp:cNvPr id="0" name=""/>
        <dsp:cNvSpPr/>
      </dsp:nvSpPr>
      <dsp:spPr>
        <a:xfrm>
          <a:off x="3048000" y="2603076"/>
          <a:ext cx="2285999" cy="1451609"/>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Internal</a:t>
          </a:r>
          <a:endParaRPr lang="en-IN" sz="3800" kern="1200" dirty="0"/>
        </a:p>
      </dsp:txBody>
      <dsp:txXfrm>
        <a:off x="3090516" y="2645592"/>
        <a:ext cx="2200967" cy="1366577"/>
      </dsp:txXfrm>
    </dsp:sp>
    <dsp:sp modelId="{62216D4F-6ED8-4C29-8C2F-8ACD3225C3BD}">
      <dsp:nvSpPr>
        <dsp:cNvPr id="0" name=""/>
        <dsp:cNvSpPr/>
      </dsp:nvSpPr>
      <dsp:spPr>
        <a:xfrm>
          <a:off x="5587999" y="2361776"/>
          <a:ext cx="2285999" cy="1451609"/>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24E779E-33E2-4387-8D3B-7DDF56D9A82F}">
      <dsp:nvSpPr>
        <dsp:cNvPr id="0" name=""/>
        <dsp:cNvSpPr/>
      </dsp:nvSpPr>
      <dsp:spPr>
        <a:xfrm>
          <a:off x="5841999" y="2603076"/>
          <a:ext cx="2285999" cy="1451609"/>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External</a:t>
          </a:r>
          <a:endParaRPr lang="en-IN" sz="3800" kern="1200" dirty="0"/>
        </a:p>
      </dsp:txBody>
      <dsp:txXfrm>
        <a:off x="5884515" y="2645592"/>
        <a:ext cx="2200967" cy="13665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985459-46E4-4D01-A769-EF4812330D95}">
      <dsp:nvSpPr>
        <dsp:cNvPr id="0" name=""/>
        <dsp:cNvSpPr/>
      </dsp:nvSpPr>
      <dsp:spPr>
        <a:xfrm>
          <a:off x="0" y="377476"/>
          <a:ext cx="8128000" cy="60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7EA7BD-7E65-4524-9AAB-9F954535D7C6}">
      <dsp:nvSpPr>
        <dsp:cNvPr id="0" name=""/>
        <dsp:cNvSpPr/>
      </dsp:nvSpPr>
      <dsp:spPr>
        <a:xfrm>
          <a:off x="406400" y="23236"/>
          <a:ext cx="568960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Proxima Nova" panose="020B0604020202020204"/>
            </a:rPr>
            <a:t>Simple selectors (select elements based on name, id, and class)</a:t>
          </a:r>
          <a:endParaRPr lang="en-IN" sz="1400" kern="1200" dirty="0">
            <a:latin typeface="Proxima Nova" panose="020B0604020202020204"/>
          </a:endParaRPr>
        </a:p>
      </dsp:txBody>
      <dsp:txXfrm>
        <a:off x="440985" y="57821"/>
        <a:ext cx="5620430" cy="639310"/>
      </dsp:txXfrm>
    </dsp:sp>
    <dsp:sp modelId="{D338AC6C-E5BF-4B97-9310-E9669077A543}">
      <dsp:nvSpPr>
        <dsp:cNvPr id="0" name=""/>
        <dsp:cNvSpPr/>
      </dsp:nvSpPr>
      <dsp:spPr>
        <a:xfrm>
          <a:off x="0" y="1466116"/>
          <a:ext cx="8128000" cy="60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77B155-BF57-46C4-9237-01EA195AC230}">
      <dsp:nvSpPr>
        <dsp:cNvPr id="0" name=""/>
        <dsp:cNvSpPr/>
      </dsp:nvSpPr>
      <dsp:spPr>
        <a:xfrm>
          <a:off x="406400" y="1111876"/>
          <a:ext cx="568960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Proxima Nova" panose="020B0604020202020204"/>
            </a:rPr>
            <a:t>Pseudo-class selectors (select elements based on a certain state)</a:t>
          </a:r>
          <a:endParaRPr lang="en-IN" sz="1400" kern="1200" dirty="0">
            <a:latin typeface="Proxima Nova" panose="020B0604020202020204"/>
          </a:endParaRPr>
        </a:p>
      </dsp:txBody>
      <dsp:txXfrm>
        <a:off x="440985" y="1146461"/>
        <a:ext cx="5620430" cy="639310"/>
      </dsp:txXfrm>
    </dsp:sp>
    <dsp:sp modelId="{3A08CA1E-EA38-4FD7-AE22-877434D3D7CE}">
      <dsp:nvSpPr>
        <dsp:cNvPr id="0" name=""/>
        <dsp:cNvSpPr/>
      </dsp:nvSpPr>
      <dsp:spPr>
        <a:xfrm>
          <a:off x="0" y="2554756"/>
          <a:ext cx="8128000" cy="60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E30026-294B-4E0A-B503-C81217203D40}">
      <dsp:nvSpPr>
        <dsp:cNvPr id="0" name=""/>
        <dsp:cNvSpPr/>
      </dsp:nvSpPr>
      <dsp:spPr>
        <a:xfrm>
          <a:off x="406400" y="2200516"/>
          <a:ext cx="568960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622300">
            <a:lnSpc>
              <a:spcPct val="90000"/>
            </a:lnSpc>
            <a:spcBef>
              <a:spcPct val="0"/>
            </a:spcBef>
            <a:spcAft>
              <a:spcPct val="35000"/>
            </a:spcAft>
            <a:buNone/>
          </a:pPr>
          <a:r>
            <a:rPr lang="en-US" sz="1400" kern="1200">
              <a:latin typeface="Proxima Nova" panose="020B0604020202020204"/>
            </a:rPr>
            <a:t>Pseudo-element selectors (select and style a part of an element)</a:t>
          </a:r>
          <a:endParaRPr lang="en-IN" sz="1400" kern="1200" dirty="0">
            <a:latin typeface="Proxima Nova" panose="020B0604020202020204"/>
          </a:endParaRPr>
        </a:p>
      </dsp:txBody>
      <dsp:txXfrm>
        <a:off x="440985" y="2235101"/>
        <a:ext cx="5620430" cy="639310"/>
      </dsp:txXfrm>
    </dsp:sp>
    <dsp:sp modelId="{768F8D96-626A-42AA-A002-E3E706FD2A18}">
      <dsp:nvSpPr>
        <dsp:cNvPr id="0" name=""/>
        <dsp:cNvSpPr/>
      </dsp:nvSpPr>
      <dsp:spPr>
        <a:xfrm>
          <a:off x="0" y="3643396"/>
          <a:ext cx="8128000" cy="60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CEF393-A5E0-4CDE-889E-FD73838D5864}">
      <dsp:nvSpPr>
        <dsp:cNvPr id="0" name=""/>
        <dsp:cNvSpPr/>
      </dsp:nvSpPr>
      <dsp:spPr>
        <a:xfrm>
          <a:off x="406400" y="3289156"/>
          <a:ext cx="568960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Proxima Nova" panose="020B0604020202020204"/>
            </a:rPr>
            <a:t>Attribute selectors (select elements based on an attribute or attribute value)</a:t>
          </a:r>
          <a:endParaRPr lang="en-IN" sz="1400" kern="1200" dirty="0">
            <a:latin typeface="Proxima Nova" panose="020B0604020202020204"/>
          </a:endParaRPr>
        </a:p>
      </dsp:txBody>
      <dsp:txXfrm>
        <a:off x="440985" y="3323741"/>
        <a:ext cx="5620430" cy="6393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79BEF-E81B-4B28-88F6-205132F14978}">
      <dsp:nvSpPr>
        <dsp:cNvPr id="0" name=""/>
        <dsp:cNvSpPr/>
      </dsp:nvSpPr>
      <dsp:spPr>
        <a:xfrm>
          <a:off x="992" y="728067"/>
          <a:ext cx="1934765" cy="193476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477" tIns="31750" rIns="106477" bIns="31750" numCol="1" spcCol="1270" anchor="ctr" anchorCtr="0">
          <a:noAutofit/>
        </a:bodyPr>
        <a:lstStyle/>
        <a:p>
          <a:pPr marL="0" lvl="0" indent="0" algn="ctr" defTabSz="1111250">
            <a:lnSpc>
              <a:spcPct val="90000"/>
            </a:lnSpc>
            <a:spcBef>
              <a:spcPct val="0"/>
            </a:spcBef>
            <a:spcAft>
              <a:spcPct val="35000"/>
            </a:spcAft>
            <a:buNone/>
          </a:pPr>
          <a:r>
            <a:rPr lang="en-US" sz="2500" kern="1200" dirty="0"/>
            <a:t>Static</a:t>
          </a:r>
          <a:endParaRPr lang="en-IN" sz="2500" kern="1200" dirty="0"/>
        </a:p>
      </dsp:txBody>
      <dsp:txXfrm>
        <a:off x="284332" y="1011407"/>
        <a:ext cx="1368085" cy="1368085"/>
      </dsp:txXfrm>
    </dsp:sp>
    <dsp:sp modelId="{7690C5A1-DBC9-4051-BCB2-9B79EA437636}">
      <dsp:nvSpPr>
        <dsp:cNvPr id="0" name=""/>
        <dsp:cNvSpPr/>
      </dsp:nvSpPr>
      <dsp:spPr>
        <a:xfrm>
          <a:off x="1548804" y="728067"/>
          <a:ext cx="1934765" cy="193476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477" tIns="31750" rIns="106477" bIns="31750" numCol="1" spcCol="1270" anchor="ctr" anchorCtr="0">
          <a:noAutofit/>
        </a:bodyPr>
        <a:lstStyle/>
        <a:p>
          <a:pPr marL="0" lvl="0" indent="0" algn="ctr" defTabSz="1111250">
            <a:lnSpc>
              <a:spcPct val="90000"/>
            </a:lnSpc>
            <a:spcBef>
              <a:spcPct val="0"/>
            </a:spcBef>
            <a:spcAft>
              <a:spcPct val="35000"/>
            </a:spcAft>
            <a:buNone/>
          </a:pPr>
          <a:r>
            <a:rPr lang="en-US" sz="2500" kern="1200" dirty="0"/>
            <a:t>Relative</a:t>
          </a:r>
          <a:endParaRPr lang="en-IN" sz="2500" kern="1200" dirty="0"/>
        </a:p>
      </dsp:txBody>
      <dsp:txXfrm>
        <a:off x="1832144" y="1011407"/>
        <a:ext cx="1368085" cy="1368085"/>
      </dsp:txXfrm>
    </dsp:sp>
    <dsp:sp modelId="{09A81BBA-9213-45AB-9F3B-9B667C9FE6B0}">
      <dsp:nvSpPr>
        <dsp:cNvPr id="0" name=""/>
        <dsp:cNvSpPr/>
      </dsp:nvSpPr>
      <dsp:spPr>
        <a:xfrm>
          <a:off x="3096617" y="728067"/>
          <a:ext cx="1934765" cy="193476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477" tIns="31750" rIns="106477" bIns="31750" numCol="1" spcCol="1270" anchor="ctr" anchorCtr="0">
          <a:noAutofit/>
        </a:bodyPr>
        <a:lstStyle/>
        <a:p>
          <a:pPr marL="0" lvl="0" indent="0" algn="ctr" defTabSz="1111250">
            <a:lnSpc>
              <a:spcPct val="90000"/>
            </a:lnSpc>
            <a:spcBef>
              <a:spcPct val="0"/>
            </a:spcBef>
            <a:spcAft>
              <a:spcPct val="35000"/>
            </a:spcAft>
            <a:buNone/>
          </a:pPr>
          <a:r>
            <a:rPr lang="en-US" sz="2500" kern="1200" dirty="0"/>
            <a:t>Absolute</a:t>
          </a:r>
          <a:endParaRPr lang="en-IN" sz="2500" kern="1200" dirty="0"/>
        </a:p>
      </dsp:txBody>
      <dsp:txXfrm>
        <a:off x="3379957" y="1011407"/>
        <a:ext cx="1368085" cy="1368085"/>
      </dsp:txXfrm>
    </dsp:sp>
    <dsp:sp modelId="{61BD6EFD-A96F-419E-BBCF-2F6C94FC3CB3}">
      <dsp:nvSpPr>
        <dsp:cNvPr id="0" name=""/>
        <dsp:cNvSpPr/>
      </dsp:nvSpPr>
      <dsp:spPr>
        <a:xfrm>
          <a:off x="4644429" y="728067"/>
          <a:ext cx="1934765" cy="193476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477" tIns="31750" rIns="106477" bIns="31750" numCol="1" spcCol="1270" anchor="ctr" anchorCtr="0">
          <a:noAutofit/>
        </a:bodyPr>
        <a:lstStyle/>
        <a:p>
          <a:pPr marL="0" lvl="0" indent="0" algn="ctr" defTabSz="1111250">
            <a:lnSpc>
              <a:spcPct val="90000"/>
            </a:lnSpc>
            <a:spcBef>
              <a:spcPct val="0"/>
            </a:spcBef>
            <a:spcAft>
              <a:spcPct val="35000"/>
            </a:spcAft>
            <a:buNone/>
          </a:pPr>
          <a:r>
            <a:rPr lang="en-US" sz="2500" kern="1200" dirty="0"/>
            <a:t>Sticky</a:t>
          </a:r>
          <a:endParaRPr lang="en-IN" sz="2500" kern="1200" dirty="0"/>
        </a:p>
      </dsp:txBody>
      <dsp:txXfrm>
        <a:off x="4927769" y="1011407"/>
        <a:ext cx="1368085" cy="1368085"/>
      </dsp:txXfrm>
    </dsp:sp>
    <dsp:sp modelId="{D9ECCE63-14B2-4883-AAA1-F49C4E4C1DD3}">
      <dsp:nvSpPr>
        <dsp:cNvPr id="0" name=""/>
        <dsp:cNvSpPr/>
      </dsp:nvSpPr>
      <dsp:spPr>
        <a:xfrm>
          <a:off x="6192242" y="728067"/>
          <a:ext cx="1934765" cy="193476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477" tIns="31750" rIns="106477" bIns="31750" numCol="1" spcCol="1270" anchor="ctr" anchorCtr="0">
          <a:noAutofit/>
        </a:bodyPr>
        <a:lstStyle/>
        <a:p>
          <a:pPr marL="0" lvl="0" indent="0" algn="ctr" defTabSz="1111250">
            <a:lnSpc>
              <a:spcPct val="90000"/>
            </a:lnSpc>
            <a:spcBef>
              <a:spcPct val="0"/>
            </a:spcBef>
            <a:spcAft>
              <a:spcPct val="35000"/>
            </a:spcAft>
            <a:buNone/>
          </a:pPr>
          <a:r>
            <a:rPr lang="en-US" sz="2500" kern="1200" dirty="0"/>
            <a:t>Fixed</a:t>
          </a:r>
          <a:endParaRPr lang="en-IN" sz="2500" kern="1200" dirty="0"/>
        </a:p>
      </dsp:txBody>
      <dsp:txXfrm>
        <a:off x="6475582" y="1011407"/>
        <a:ext cx="1368085" cy="136808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925184-D07B-49F0-A4E6-8812A766846B}">
      <dsp:nvSpPr>
        <dsp:cNvPr id="0" name=""/>
        <dsp:cNvSpPr/>
      </dsp:nvSpPr>
      <dsp:spPr>
        <a:xfrm>
          <a:off x="5646737" y="2008368"/>
          <a:ext cx="4842713" cy="336188"/>
        </a:xfrm>
        <a:custGeom>
          <a:avLst/>
          <a:gdLst/>
          <a:ahLst/>
          <a:cxnLst/>
          <a:rect l="0" t="0" r="0" b="0"/>
          <a:pathLst>
            <a:path>
              <a:moveTo>
                <a:pt x="0" y="0"/>
              </a:moveTo>
              <a:lnTo>
                <a:pt x="0" y="168094"/>
              </a:lnTo>
              <a:lnTo>
                <a:pt x="4842713" y="168094"/>
              </a:lnTo>
              <a:lnTo>
                <a:pt x="4842713"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EBB690-F030-4BC0-8B1D-9B98149C3F66}">
      <dsp:nvSpPr>
        <dsp:cNvPr id="0" name=""/>
        <dsp:cNvSpPr/>
      </dsp:nvSpPr>
      <dsp:spPr>
        <a:xfrm>
          <a:off x="5646737" y="2008368"/>
          <a:ext cx="2905627" cy="336188"/>
        </a:xfrm>
        <a:custGeom>
          <a:avLst/>
          <a:gdLst/>
          <a:ahLst/>
          <a:cxnLst/>
          <a:rect l="0" t="0" r="0" b="0"/>
          <a:pathLst>
            <a:path>
              <a:moveTo>
                <a:pt x="0" y="0"/>
              </a:moveTo>
              <a:lnTo>
                <a:pt x="0" y="168094"/>
              </a:lnTo>
              <a:lnTo>
                <a:pt x="2905627" y="168094"/>
              </a:lnTo>
              <a:lnTo>
                <a:pt x="2905627"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812E50-FD12-49C9-99FA-1309B2593630}">
      <dsp:nvSpPr>
        <dsp:cNvPr id="0" name=""/>
        <dsp:cNvSpPr/>
      </dsp:nvSpPr>
      <dsp:spPr>
        <a:xfrm>
          <a:off x="5646737" y="2008368"/>
          <a:ext cx="968542" cy="336188"/>
        </a:xfrm>
        <a:custGeom>
          <a:avLst/>
          <a:gdLst/>
          <a:ahLst/>
          <a:cxnLst/>
          <a:rect l="0" t="0" r="0" b="0"/>
          <a:pathLst>
            <a:path>
              <a:moveTo>
                <a:pt x="0" y="0"/>
              </a:moveTo>
              <a:lnTo>
                <a:pt x="0" y="168094"/>
              </a:lnTo>
              <a:lnTo>
                <a:pt x="968542" y="168094"/>
              </a:lnTo>
              <a:lnTo>
                <a:pt x="968542"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76F129-08D4-4A2B-8CBB-CCD7C6A06E01}">
      <dsp:nvSpPr>
        <dsp:cNvPr id="0" name=""/>
        <dsp:cNvSpPr/>
      </dsp:nvSpPr>
      <dsp:spPr>
        <a:xfrm>
          <a:off x="4678194" y="2008368"/>
          <a:ext cx="968542" cy="336188"/>
        </a:xfrm>
        <a:custGeom>
          <a:avLst/>
          <a:gdLst/>
          <a:ahLst/>
          <a:cxnLst/>
          <a:rect l="0" t="0" r="0" b="0"/>
          <a:pathLst>
            <a:path>
              <a:moveTo>
                <a:pt x="968542" y="0"/>
              </a:moveTo>
              <a:lnTo>
                <a:pt x="968542" y="168094"/>
              </a:lnTo>
              <a:lnTo>
                <a:pt x="0" y="168094"/>
              </a:lnTo>
              <a:lnTo>
                <a:pt x="0"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05C137-5E7A-4DDF-902C-11AD2BA1B814}">
      <dsp:nvSpPr>
        <dsp:cNvPr id="0" name=""/>
        <dsp:cNvSpPr/>
      </dsp:nvSpPr>
      <dsp:spPr>
        <a:xfrm>
          <a:off x="2741109" y="2008368"/>
          <a:ext cx="2905627" cy="336188"/>
        </a:xfrm>
        <a:custGeom>
          <a:avLst/>
          <a:gdLst/>
          <a:ahLst/>
          <a:cxnLst/>
          <a:rect l="0" t="0" r="0" b="0"/>
          <a:pathLst>
            <a:path>
              <a:moveTo>
                <a:pt x="2905627" y="0"/>
              </a:moveTo>
              <a:lnTo>
                <a:pt x="2905627" y="168094"/>
              </a:lnTo>
              <a:lnTo>
                <a:pt x="0" y="168094"/>
              </a:lnTo>
              <a:lnTo>
                <a:pt x="0"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60D95F-08A8-4117-8CDD-C9C4CAC0A767}">
      <dsp:nvSpPr>
        <dsp:cNvPr id="0" name=""/>
        <dsp:cNvSpPr/>
      </dsp:nvSpPr>
      <dsp:spPr>
        <a:xfrm>
          <a:off x="804024" y="2008368"/>
          <a:ext cx="4842713" cy="336188"/>
        </a:xfrm>
        <a:custGeom>
          <a:avLst/>
          <a:gdLst/>
          <a:ahLst/>
          <a:cxnLst/>
          <a:rect l="0" t="0" r="0" b="0"/>
          <a:pathLst>
            <a:path>
              <a:moveTo>
                <a:pt x="4842713" y="0"/>
              </a:moveTo>
              <a:lnTo>
                <a:pt x="4842713" y="168094"/>
              </a:lnTo>
              <a:lnTo>
                <a:pt x="0" y="168094"/>
              </a:lnTo>
              <a:lnTo>
                <a:pt x="0"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69F290-B813-46F3-9C94-D6C298969F43}">
      <dsp:nvSpPr>
        <dsp:cNvPr id="0" name=""/>
        <dsp:cNvSpPr/>
      </dsp:nvSpPr>
      <dsp:spPr>
        <a:xfrm>
          <a:off x="4846289" y="1207919"/>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Parent Element </a:t>
          </a:r>
          <a:endParaRPr lang="en-IN" sz="2700" kern="1200" dirty="0"/>
        </a:p>
      </dsp:txBody>
      <dsp:txXfrm>
        <a:off x="4846289" y="1207919"/>
        <a:ext cx="1600896" cy="800448"/>
      </dsp:txXfrm>
    </dsp:sp>
    <dsp:sp modelId="{D6D339F7-DEED-45E9-99E2-C3CEC667BF73}">
      <dsp:nvSpPr>
        <dsp:cNvPr id="0" name=""/>
        <dsp:cNvSpPr/>
      </dsp:nvSpPr>
      <dsp:spPr>
        <a:xfrm>
          <a:off x="3575"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flex-direction</a:t>
          </a:r>
          <a:endParaRPr lang="en-IN" sz="2700" kern="1200" dirty="0"/>
        </a:p>
      </dsp:txBody>
      <dsp:txXfrm>
        <a:off x="3575" y="2344556"/>
        <a:ext cx="1600896" cy="800448"/>
      </dsp:txXfrm>
    </dsp:sp>
    <dsp:sp modelId="{4383CCE3-9B4D-47C4-BA1A-C98DF167940C}">
      <dsp:nvSpPr>
        <dsp:cNvPr id="0" name=""/>
        <dsp:cNvSpPr/>
      </dsp:nvSpPr>
      <dsp:spPr>
        <a:xfrm>
          <a:off x="1940661"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flex-wrap</a:t>
          </a:r>
          <a:endParaRPr lang="en-IN" sz="2700" kern="1200" dirty="0"/>
        </a:p>
      </dsp:txBody>
      <dsp:txXfrm>
        <a:off x="1940661" y="2344556"/>
        <a:ext cx="1600896" cy="800448"/>
      </dsp:txXfrm>
    </dsp:sp>
    <dsp:sp modelId="{2327B70E-8684-4DB3-91C9-C3105263295E}">
      <dsp:nvSpPr>
        <dsp:cNvPr id="0" name=""/>
        <dsp:cNvSpPr/>
      </dsp:nvSpPr>
      <dsp:spPr>
        <a:xfrm>
          <a:off x="3877746"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flex-flow</a:t>
          </a:r>
          <a:endParaRPr lang="en-IN" sz="2700" kern="1200" dirty="0"/>
        </a:p>
      </dsp:txBody>
      <dsp:txXfrm>
        <a:off x="3877746" y="2344556"/>
        <a:ext cx="1600896" cy="800448"/>
      </dsp:txXfrm>
    </dsp:sp>
    <dsp:sp modelId="{0DEFD876-F1AD-4626-8B60-D6F0247BC59B}">
      <dsp:nvSpPr>
        <dsp:cNvPr id="0" name=""/>
        <dsp:cNvSpPr/>
      </dsp:nvSpPr>
      <dsp:spPr>
        <a:xfrm>
          <a:off x="5814831"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justify-content</a:t>
          </a:r>
          <a:endParaRPr lang="en-IN" sz="2700" kern="1200" dirty="0"/>
        </a:p>
      </dsp:txBody>
      <dsp:txXfrm>
        <a:off x="5814831" y="2344556"/>
        <a:ext cx="1600896" cy="800448"/>
      </dsp:txXfrm>
    </dsp:sp>
    <dsp:sp modelId="{CB23D554-65AC-45AE-B845-F023A6D7C792}">
      <dsp:nvSpPr>
        <dsp:cNvPr id="0" name=""/>
        <dsp:cNvSpPr/>
      </dsp:nvSpPr>
      <dsp:spPr>
        <a:xfrm>
          <a:off x="7751916"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align-items</a:t>
          </a:r>
          <a:endParaRPr lang="en-IN" sz="2700" kern="1200" dirty="0"/>
        </a:p>
      </dsp:txBody>
      <dsp:txXfrm>
        <a:off x="7751916" y="2344556"/>
        <a:ext cx="1600896" cy="800448"/>
      </dsp:txXfrm>
    </dsp:sp>
    <dsp:sp modelId="{B9508E9A-35A6-466E-B9A9-F10B7DE45B19}">
      <dsp:nvSpPr>
        <dsp:cNvPr id="0" name=""/>
        <dsp:cNvSpPr/>
      </dsp:nvSpPr>
      <dsp:spPr>
        <a:xfrm>
          <a:off x="9689002"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align-content</a:t>
          </a:r>
          <a:endParaRPr lang="en-IN" sz="2700" kern="1200" dirty="0"/>
        </a:p>
      </dsp:txBody>
      <dsp:txXfrm>
        <a:off x="9689002" y="2344556"/>
        <a:ext cx="1600896" cy="8004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925184-D07B-49F0-A4E6-8812A766846B}">
      <dsp:nvSpPr>
        <dsp:cNvPr id="0" name=""/>
        <dsp:cNvSpPr/>
      </dsp:nvSpPr>
      <dsp:spPr>
        <a:xfrm>
          <a:off x="5646737" y="2008368"/>
          <a:ext cx="4842713" cy="336188"/>
        </a:xfrm>
        <a:custGeom>
          <a:avLst/>
          <a:gdLst/>
          <a:ahLst/>
          <a:cxnLst/>
          <a:rect l="0" t="0" r="0" b="0"/>
          <a:pathLst>
            <a:path>
              <a:moveTo>
                <a:pt x="0" y="0"/>
              </a:moveTo>
              <a:lnTo>
                <a:pt x="0" y="168094"/>
              </a:lnTo>
              <a:lnTo>
                <a:pt x="4842713" y="168094"/>
              </a:lnTo>
              <a:lnTo>
                <a:pt x="4842713"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EBB690-F030-4BC0-8B1D-9B98149C3F66}">
      <dsp:nvSpPr>
        <dsp:cNvPr id="0" name=""/>
        <dsp:cNvSpPr/>
      </dsp:nvSpPr>
      <dsp:spPr>
        <a:xfrm>
          <a:off x="5646737" y="2008368"/>
          <a:ext cx="2905627" cy="336188"/>
        </a:xfrm>
        <a:custGeom>
          <a:avLst/>
          <a:gdLst/>
          <a:ahLst/>
          <a:cxnLst/>
          <a:rect l="0" t="0" r="0" b="0"/>
          <a:pathLst>
            <a:path>
              <a:moveTo>
                <a:pt x="0" y="0"/>
              </a:moveTo>
              <a:lnTo>
                <a:pt x="0" y="168094"/>
              </a:lnTo>
              <a:lnTo>
                <a:pt x="2905627" y="168094"/>
              </a:lnTo>
              <a:lnTo>
                <a:pt x="2905627"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812E50-FD12-49C9-99FA-1309B2593630}">
      <dsp:nvSpPr>
        <dsp:cNvPr id="0" name=""/>
        <dsp:cNvSpPr/>
      </dsp:nvSpPr>
      <dsp:spPr>
        <a:xfrm>
          <a:off x="5646737" y="2008368"/>
          <a:ext cx="968542" cy="336188"/>
        </a:xfrm>
        <a:custGeom>
          <a:avLst/>
          <a:gdLst/>
          <a:ahLst/>
          <a:cxnLst/>
          <a:rect l="0" t="0" r="0" b="0"/>
          <a:pathLst>
            <a:path>
              <a:moveTo>
                <a:pt x="0" y="0"/>
              </a:moveTo>
              <a:lnTo>
                <a:pt x="0" y="168094"/>
              </a:lnTo>
              <a:lnTo>
                <a:pt x="968542" y="168094"/>
              </a:lnTo>
              <a:lnTo>
                <a:pt x="968542"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76F129-08D4-4A2B-8CBB-CCD7C6A06E01}">
      <dsp:nvSpPr>
        <dsp:cNvPr id="0" name=""/>
        <dsp:cNvSpPr/>
      </dsp:nvSpPr>
      <dsp:spPr>
        <a:xfrm>
          <a:off x="4678194" y="2008368"/>
          <a:ext cx="968542" cy="336188"/>
        </a:xfrm>
        <a:custGeom>
          <a:avLst/>
          <a:gdLst/>
          <a:ahLst/>
          <a:cxnLst/>
          <a:rect l="0" t="0" r="0" b="0"/>
          <a:pathLst>
            <a:path>
              <a:moveTo>
                <a:pt x="968542" y="0"/>
              </a:moveTo>
              <a:lnTo>
                <a:pt x="968542" y="168094"/>
              </a:lnTo>
              <a:lnTo>
                <a:pt x="0" y="168094"/>
              </a:lnTo>
              <a:lnTo>
                <a:pt x="0"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05C137-5E7A-4DDF-902C-11AD2BA1B814}">
      <dsp:nvSpPr>
        <dsp:cNvPr id="0" name=""/>
        <dsp:cNvSpPr/>
      </dsp:nvSpPr>
      <dsp:spPr>
        <a:xfrm>
          <a:off x="2741109" y="2008368"/>
          <a:ext cx="2905627" cy="336188"/>
        </a:xfrm>
        <a:custGeom>
          <a:avLst/>
          <a:gdLst/>
          <a:ahLst/>
          <a:cxnLst/>
          <a:rect l="0" t="0" r="0" b="0"/>
          <a:pathLst>
            <a:path>
              <a:moveTo>
                <a:pt x="2905627" y="0"/>
              </a:moveTo>
              <a:lnTo>
                <a:pt x="2905627" y="168094"/>
              </a:lnTo>
              <a:lnTo>
                <a:pt x="0" y="168094"/>
              </a:lnTo>
              <a:lnTo>
                <a:pt x="0"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60D95F-08A8-4117-8CDD-C9C4CAC0A767}">
      <dsp:nvSpPr>
        <dsp:cNvPr id="0" name=""/>
        <dsp:cNvSpPr/>
      </dsp:nvSpPr>
      <dsp:spPr>
        <a:xfrm>
          <a:off x="804024" y="2008368"/>
          <a:ext cx="4842713" cy="336188"/>
        </a:xfrm>
        <a:custGeom>
          <a:avLst/>
          <a:gdLst/>
          <a:ahLst/>
          <a:cxnLst/>
          <a:rect l="0" t="0" r="0" b="0"/>
          <a:pathLst>
            <a:path>
              <a:moveTo>
                <a:pt x="4842713" y="0"/>
              </a:moveTo>
              <a:lnTo>
                <a:pt x="4842713" y="168094"/>
              </a:lnTo>
              <a:lnTo>
                <a:pt x="0" y="168094"/>
              </a:lnTo>
              <a:lnTo>
                <a:pt x="0" y="3361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69F290-B813-46F3-9C94-D6C298969F43}">
      <dsp:nvSpPr>
        <dsp:cNvPr id="0" name=""/>
        <dsp:cNvSpPr/>
      </dsp:nvSpPr>
      <dsp:spPr>
        <a:xfrm>
          <a:off x="4846289" y="1207919"/>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Child Element </a:t>
          </a:r>
          <a:endParaRPr lang="en-IN" sz="2700" kern="1200" dirty="0"/>
        </a:p>
      </dsp:txBody>
      <dsp:txXfrm>
        <a:off x="4846289" y="1207919"/>
        <a:ext cx="1600896" cy="800448"/>
      </dsp:txXfrm>
    </dsp:sp>
    <dsp:sp modelId="{D6D339F7-DEED-45E9-99E2-C3CEC667BF73}">
      <dsp:nvSpPr>
        <dsp:cNvPr id="0" name=""/>
        <dsp:cNvSpPr/>
      </dsp:nvSpPr>
      <dsp:spPr>
        <a:xfrm>
          <a:off x="3575"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order</a:t>
          </a:r>
          <a:endParaRPr lang="en-IN" sz="2700" kern="1200" dirty="0"/>
        </a:p>
      </dsp:txBody>
      <dsp:txXfrm>
        <a:off x="3575" y="2344556"/>
        <a:ext cx="1600896" cy="800448"/>
      </dsp:txXfrm>
    </dsp:sp>
    <dsp:sp modelId="{4383CCE3-9B4D-47C4-BA1A-C98DF167940C}">
      <dsp:nvSpPr>
        <dsp:cNvPr id="0" name=""/>
        <dsp:cNvSpPr/>
      </dsp:nvSpPr>
      <dsp:spPr>
        <a:xfrm>
          <a:off x="1940661"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flex-grow</a:t>
          </a:r>
          <a:endParaRPr lang="en-IN" sz="2700" kern="1200" dirty="0"/>
        </a:p>
      </dsp:txBody>
      <dsp:txXfrm>
        <a:off x="1940661" y="2344556"/>
        <a:ext cx="1600896" cy="800448"/>
      </dsp:txXfrm>
    </dsp:sp>
    <dsp:sp modelId="{2327B70E-8684-4DB3-91C9-C3105263295E}">
      <dsp:nvSpPr>
        <dsp:cNvPr id="0" name=""/>
        <dsp:cNvSpPr/>
      </dsp:nvSpPr>
      <dsp:spPr>
        <a:xfrm>
          <a:off x="3877746"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flex-shrink</a:t>
          </a:r>
          <a:endParaRPr lang="en-IN" sz="2700" kern="1200" dirty="0"/>
        </a:p>
      </dsp:txBody>
      <dsp:txXfrm>
        <a:off x="3877746" y="2344556"/>
        <a:ext cx="1600896" cy="800448"/>
      </dsp:txXfrm>
    </dsp:sp>
    <dsp:sp modelId="{0DEFD876-F1AD-4626-8B60-D6F0247BC59B}">
      <dsp:nvSpPr>
        <dsp:cNvPr id="0" name=""/>
        <dsp:cNvSpPr/>
      </dsp:nvSpPr>
      <dsp:spPr>
        <a:xfrm>
          <a:off x="5814831"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flex-basis</a:t>
          </a:r>
          <a:endParaRPr lang="en-IN" sz="2700" kern="1200" dirty="0"/>
        </a:p>
      </dsp:txBody>
      <dsp:txXfrm>
        <a:off x="5814831" y="2344556"/>
        <a:ext cx="1600896" cy="800448"/>
      </dsp:txXfrm>
    </dsp:sp>
    <dsp:sp modelId="{CB23D554-65AC-45AE-B845-F023A6D7C792}">
      <dsp:nvSpPr>
        <dsp:cNvPr id="0" name=""/>
        <dsp:cNvSpPr/>
      </dsp:nvSpPr>
      <dsp:spPr>
        <a:xfrm>
          <a:off x="7751916"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flex</a:t>
          </a:r>
          <a:endParaRPr lang="en-IN" sz="2700" kern="1200" dirty="0"/>
        </a:p>
      </dsp:txBody>
      <dsp:txXfrm>
        <a:off x="7751916" y="2344556"/>
        <a:ext cx="1600896" cy="800448"/>
      </dsp:txXfrm>
    </dsp:sp>
    <dsp:sp modelId="{B9508E9A-35A6-466E-B9A9-F10B7DE45B19}">
      <dsp:nvSpPr>
        <dsp:cNvPr id="0" name=""/>
        <dsp:cNvSpPr/>
      </dsp:nvSpPr>
      <dsp:spPr>
        <a:xfrm>
          <a:off x="9689002" y="2344556"/>
          <a:ext cx="1600896" cy="80044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align-self</a:t>
          </a:r>
          <a:endParaRPr lang="en-IN" sz="2700" kern="1200" dirty="0"/>
        </a:p>
      </dsp:txBody>
      <dsp:txXfrm>
        <a:off x="9689002" y="2344556"/>
        <a:ext cx="1600896" cy="80044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2">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03322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6031" y="136525"/>
            <a:ext cx="10515600" cy="876693"/>
          </a:xfrm>
        </p:spPr>
        <p:txBody>
          <a:bodyPr>
            <a:normAutofit/>
          </a:bodyPr>
          <a:lstStyle>
            <a:lvl1pPr>
              <a:defRPr sz="2400">
                <a:solidFill>
                  <a:srgbClr val="00B0F0"/>
                </a:solidFill>
                <a:latin typeface="Proxima Nova"/>
              </a:defRPr>
            </a:lvl1pPr>
          </a:lstStyle>
          <a:p>
            <a:r>
              <a:rPr lang="en-US" dirty="0"/>
              <a:t>Click to edit Master title style</a:t>
            </a:r>
            <a:endParaRPr lang="en-IN" dirty="0"/>
          </a:p>
        </p:txBody>
      </p:sp>
      <p:sp>
        <p:nvSpPr>
          <p:cNvPr id="3" name="Content Placeholder 2"/>
          <p:cNvSpPr>
            <a:spLocks noGrp="1"/>
          </p:cNvSpPr>
          <p:nvPr>
            <p:ph idx="1"/>
          </p:nvPr>
        </p:nvSpPr>
        <p:spPr>
          <a:xfrm>
            <a:off x="423420" y="1253331"/>
            <a:ext cx="11294097" cy="4351338"/>
          </a:xfrm>
        </p:spPr>
        <p:txBody>
          <a:bodyPr>
            <a:normAutofit/>
          </a:bodyPr>
          <a:lstStyle>
            <a:lvl1pPr algn="just">
              <a:lnSpc>
                <a:spcPct val="150000"/>
              </a:lnSpc>
              <a:defRPr sz="1800">
                <a:solidFill>
                  <a:schemeClr val="tx1"/>
                </a:solidFill>
                <a:latin typeface="Proxima Nova" panose="020B0604020202020204"/>
              </a:defRPr>
            </a:lvl1pPr>
            <a:lvl2pPr algn="just">
              <a:lnSpc>
                <a:spcPct val="150000"/>
              </a:lnSpc>
              <a:defRPr sz="1800">
                <a:solidFill>
                  <a:schemeClr val="tx1"/>
                </a:solidFill>
                <a:latin typeface="Proxima Nova" panose="020B0604020202020204"/>
              </a:defRPr>
            </a:lvl2pPr>
            <a:lvl3pPr algn="just">
              <a:lnSpc>
                <a:spcPct val="150000"/>
              </a:lnSpc>
              <a:defRPr sz="1800">
                <a:solidFill>
                  <a:schemeClr val="tx1"/>
                </a:solidFill>
                <a:latin typeface="Proxima Nova" panose="020B0604020202020204"/>
              </a:defRPr>
            </a:lvl3pPr>
            <a:lvl4pPr algn="just">
              <a:lnSpc>
                <a:spcPct val="150000"/>
              </a:lnSpc>
              <a:defRPr sz="1800">
                <a:solidFill>
                  <a:schemeClr val="tx1"/>
                </a:solidFill>
                <a:latin typeface="Proxima Nova" panose="020B0604020202020204"/>
              </a:defRPr>
            </a:lvl4pPr>
            <a:lvl5pPr algn="just">
              <a:lnSpc>
                <a:spcPct val="150000"/>
              </a:lnSpc>
              <a:defRPr sz="1800">
                <a:solidFill>
                  <a:schemeClr val="tx1"/>
                </a:solidFill>
                <a:latin typeface="Proxima Nova" panose="020B0604020202020204"/>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5187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3202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050445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1052766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1905186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4203326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1467668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1927567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934183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4115484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8937163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1457113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16-09-2026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2256896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3A372-BE42-451E-B14C-5FF9C6C0F46F}" type="datetimeFigureOut">
              <a:rPr lang="en-IN" smtClean="0"/>
              <a:pPr/>
              <a:t>16-09-2026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8729A-A80B-48B4-A1F8-161E6CCF1013}" type="slidenum">
              <a:rPr lang="en-IN" smtClean="0"/>
              <a:pPr/>
              <a:t>‹#›</a:t>
            </a:fld>
            <a:endParaRPr lang="en-IN"/>
          </a:p>
        </p:txBody>
      </p:sp>
    </p:spTree>
    <p:extLst>
      <p:ext uri="{BB962C8B-B14F-4D97-AF65-F5344CB8AC3E}">
        <p14:creationId xmlns:p14="http://schemas.microsoft.com/office/powerpoint/2010/main" val="1854368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3A372-BE42-451E-B14C-5FF9C6C0F46F}" type="datetimeFigureOut">
              <a:rPr lang="en-IN" smtClean="0"/>
              <a:pPr/>
              <a:t>16-09-2026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8729A-A80B-48B4-A1F8-161E6CCF1013}" type="slidenum">
              <a:rPr lang="en-IN" smtClean="0"/>
              <a:pPr/>
              <a:t>‹#›</a:t>
            </a:fld>
            <a:endParaRPr lang="en-IN"/>
          </a:p>
        </p:txBody>
      </p:sp>
    </p:spTree>
    <p:extLst>
      <p:ext uri="{BB962C8B-B14F-4D97-AF65-F5344CB8AC3E}">
        <p14:creationId xmlns:p14="http://schemas.microsoft.com/office/powerpoint/2010/main" val="3384686545"/>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81511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oogle Shape;165;p22">
            <a:extLst>
              <a:ext uri="{FF2B5EF4-FFF2-40B4-BE49-F238E27FC236}">
                <a16:creationId xmlns:a16="http://schemas.microsoft.com/office/drawing/2014/main" id="{978FB162-16FC-B68F-8E61-72AD79BA458F}"/>
              </a:ext>
            </a:extLst>
          </p:cNvPr>
          <p:cNvPicPr preferRelativeResize="0"/>
          <p:nvPr/>
        </p:nvPicPr>
        <p:blipFill>
          <a:blip r:embed="rId2">
            <a:alphaModFix/>
          </a:blip>
          <a:stretch>
            <a:fillRect/>
          </a:stretch>
        </p:blipFill>
        <p:spPr>
          <a:xfrm>
            <a:off x="4750" y="0"/>
            <a:ext cx="12187250" cy="6853250"/>
          </a:xfrm>
          <a:prstGeom prst="rect">
            <a:avLst/>
          </a:prstGeom>
          <a:noFill/>
          <a:ln>
            <a:noFill/>
          </a:ln>
        </p:spPr>
      </p:pic>
      <p:sp>
        <p:nvSpPr>
          <p:cNvPr id="8" name="TextBox 7">
            <a:extLst>
              <a:ext uri="{FF2B5EF4-FFF2-40B4-BE49-F238E27FC236}">
                <a16:creationId xmlns:a16="http://schemas.microsoft.com/office/drawing/2014/main" id="{60F5DCF5-4ED3-8CE8-9EA7-DAD022AE1E9B}"/>
              </a:ext>
            </a:extLst>
          </p:cNvPr>
          <p:cNvSpPr txBox="1"/>
          <p:nvPr/>
        </p:nvSpPr>
        <p:spPr>
          <a:xfrm>
            <a:off x="514350" y="422671"/>
            <a:ext cx="6181726" cy="5755422"/>
          </a:xfrm>
          <a:prstGeom prst="rect">
            <a:avLst/>
          </a:prstGeom>
          <a:noFill/>
        </p:spPr>
        <p:txBody>
          <a:bodyPr wrap="square">
            <a:spAutoFit/>
          </a:bodyPr>
          <a:lstStyle/>
          <a:p>
            <a:br>
              <a:rPr lang="en-US" sz="2800" b="1" dirty="0">
                <a:solidFill>
                  <a:srgbClr val="666666"/>
                </a:solidFill>
                <a:latin typeface="Proxima Nova"/>
                <a:ea typeface="Proxima Nova"/>
                <a:cs typeface="Proxima Nova"/>
                <a:sym typeface="Proxima Nova"/>
              </a:rPr>
            </a:br>
            <a:r>
              <a:rPr lang="en-US" sz="2800" b="1" dirty="0">
                <a:solidFill>
                  <a:srgbClr val="666666"/>
                </a:solidFill>
                <a:latin typeface="Proxima Nova"/>
                <a:ea typeface="Proxima Nova"/>
                <a:cs typeface="Proxima Nova"/>
                <a:sym typeface="Proxima Nova"/>
              </a:rPr>
              <a:t>01CE1306- WEB TECHNOLOGY</a:t>
            </a:r>
            <a:br>
              <a:rPr lang="en-US" sz="2800" b="1" dirty="0"/>
            </a:br>
            <a:endParaRPr lang="en-US" sz="3600" b="1" dirty="0"/>
          </a:p>
          <a:p>
            <a:r>
              <a:rPr lang="en-US" sz="4800" b="1" dirty="0">
                <a:solidFill>
                  <a:srgbClr val="666666"/>
                </a:solidFill>
                <a:latin typeface="Proxima Nova"/>
                <a:ea typeface="Proxima Nova"/>
                <a:cs typeface="Proxima Nova"/>
                <a:sym typeface="Proxima Nova"/>
              </a:rPr>
              <a:t>Unit -2 CSS</a:t>
            </a:r>
            <a:endParaRPr lang="en-US" sz="4800" b="1" dirty="0">
              <a:solidFill>
                <a:schemeClr val="tx1">
                  <a:lumMod val="65000"/>
                  <a:lumOff val="35000"/>
                </a:schemeClr>
              </a:solidFill>
              <a:latin typeface="Proxima Nova" panose="020B0604020202020204" charset="0"/>
            </a:endParaRPr>
          </a:p>
          <a:p>
            <a:endParaRPr lang="en-US" sz="4000" b="1" dirty="0">
              <a:solidFill>
                <a:schemeClr val="tx1">
                  <a:lumMod val="65000"/>
                  <a:lumOff val="35000"/>
                </a:schemeClr>
              </a:solidFill>
              <a:latin typeface="Proxima Nova" panose="020B0604020202020204" charset="0"/>
            </a:endParaRPr>
          </a:p>
          <a:p>
            <a:endParaRPr lang="en-US" sz="4000" b="1" dirty="0">
              <a:solidFill>
                <a:schemeClr val="tx1">
                  <a:lumMod val="65000"/>
                  <a:lumOff val="35000"/>
                </a:schemeClr>
              </a:solidFill>
              <a:latin typeface="Proxima Nova" panose="020B0604020202020204" charset="0"/>
            </a:endParaRPr>
          </a:p>
          <a:p>
            <a:endParaRPr lang="en-US" sz="4000" b="1" dirty="0">
              <a:solidFill>
                <a:schemeClr val="tx1">
                  <a:lumMod val="65000"/>
                  <a:lumOff val="35000"/>
                </a:schemeClr>
              </a:solidFill>
              <a:latin typeface="Proxima Nova" panose="020B0604020202020204" charset="0"/>
            </a:endParaRPr>
          </a:p>
          <a:p>
            <a:endParaRPr lang="en-US" sz="4000" b="1" dirty="0">
              <a:solidFill>
                <a:schemeClr val="tx1">
                  <a:lumMod val="65000"/>
                  <a:lumOff val="35000"/>
                </a:schemeClr>
              </a:solidFill>
              <a:latin typeface="Proxima Nova" panose="020B0604020202020204" charset="0"/>
            </a:endParaRPr>
          </a:p>
          <a:p>
            <a:endParaRPr lang="en-US" sz="4000" dirty="0">
              <a:solidFill>
                <a:schemeClr val="tx1">
                  <a:lumMod val="65000"/>
                  <a:lumOff val="35000"/>
                </a:schemeClr>
              </a:solidFill>
              <a:latin typeface="Proxima Nova" panose="020B0604020202020204" charset="0"/>
            </a:endParaRPr>
          </a:p>
          <a:p>
            <a:r>
              <a:rPr lang="en-US" sz="2800" dirty="0">
                <a:solidFill>
                  <a:schemeClr val="tx1">
                    <a:lumMod val="65000"/>
                    <a:lumOff val="35000"/>
                  </a:schemeClr>
                </a:solidFill>
                <a:latin typeface="Proxima Nova" panose="020B0604020202020204" charset="0"/>
              </a:rPr>
              <a:t>Prepared By: Prof. </a:t>
            </a:r>
            <a:r>
              <a:rPr lang="en-US" sz="2800">
                <a:solidFill>
                  <a:schemeClr val="tx1">
                    <a:lumMod val="65000"/>
                    <a:lumOff val="35000"/>
                  </a:schemeClr>
                </a:solidFill>
                <a:latin typeface="Proxima Nova" panose="020B0604020202020204" charset="0"/>
              </a:rPr>
              <a:t>Charmy Vora</a:t>
            </a:r>
            <a:endParaRPr lang="en-IN" sz="2800" dirty="0"/>
          </a:p>
        </p:txBody>
      </p:sp>
      <p:pic>
        <p:nvPicPr>
          <p:cNvPr id="11" name="Picture 10">
            <a:extLst>
              <a:ext uri="{FF2B5EF4-FFF2-40B4-BE49-F238E27FC236}">
                <a16:creationId xmlns:a16="http://schemas.microsoft.com/office/drawing/2014/main" id="{DDD16BA1-22E7-74AD-1613-2A3BA95618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81000" y="3300382"/>
            <a:ext cx="4495026" cy="1000125"/>
          </a:xfrm>
          <a:prstGeom prst="rect">
            <a:avLst/>
          </a:prstGeom>
          <a:noFill/>
          <a:ln>
            <a:noFill/>
          </a:ln>
        </p:spPr>
      </p:pic>
    </p:spTree>
    <p:extLst>
      <p:ext uri="{BB962C8B-B14F-4D97-AF65-F5344CB8AC3E}">
        <p14:creationId xmlns:p14="http://schemas.microsoft.com/office/powerpoint/2010/main" val="184247272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Outline</a:t>
            </a:r>
            <a:endParaRPr sz="2400" dirty="0">
              <a:latin typeface="Proxima Nova"/>
            </a:endParaRPr>
          </a:p>
        </p:txBody>
      </p:sp>
      <p:sp>
        <p:nvSpPr>
          <p:cNvPr id="7" name="Google Shape;71;p15"/>
          <p:cNvSpPr txBox="1">
            <a:spLocks noChangeArrowheads="1"/>
          </p:cNvSpPr>
          <p:nvPr/>
        </p:nvSpPr>
        <p:spPr bwMode="auto">
          <a:xfrm>
            <a:off x="478275" y="912813"/>
            <a:ext cx="6913125" cy="594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342900" indent="-342900">
              <a:lnSpc>
                <a:spcPct val="150000"/>
              </a:lnSpc>
              <a:buFont typeface="Arial" panose="020B0604020202020204" pitchFamily="34" charset="0"/>
              <a:buChar char="•"/>
            </a:pPr>
            <a:r>
              <a:rPr lang="en-US" sz="1800" dirty="0">
                <a:latin typeface="Proxima Nova" panose="020B0604020202020204"/>
              </a:rPr>
              <a:t>Introduction, </a:t>
            </a:r>
          </a:p>
          <a:p>
            <a:pPr marL="342900" indent="-342900">
              <a:lnSpc>
                <a:spcPct val="150000"/>
              </a:lnSpc>
              <a:buFont typeface="Arial" panose="020B0604020202020204" pitchFamily="34" charset="0"/>
              <a:buChar char="•"/>
            </a:pPr>
            <a:r>
              <a:rPr lang="en-US" sz="1800" dirty="0">
                <a:latin typeface="Proxima Nova" panose="020B0604020202020204"/>
              </a:rPr>
              <a:t>Selectors (basic, pseudo class, pseudo element), </a:t>
            </a:r>
          </a:p>
          <a:p>
            <a:pPr marL="342900" indent="-342900">
              <a:lnSpc>
                <a:spcPct val="150000"/>
              </a:lnSpc>
              <a:buFont typeface="Arial" panose="020B0604020202020204" pitchFamily="34" charset="0"/>
              <a:buChar char="•"/>
            </a:pPr>
            <a:r>
              <a:rPr lang="en-US" sz="1800" dirty="0">
                <a:latin typeface="Proxima Nova" panose="020B0604020202020204"/>
              </a:rPr>
              <a:t>Box Model, </a:t>
            </a:r>
          </a:p>
          <a:p>
            <a:pPr marL="342900" indent="-342900">
              <a:lnSpc>
                <a:spcPct val="150000"/>
              </a:lnSpc>
              <a:buFont typeface="Arial" panose="020B0604020202020204" pitchFamily="34" charset="0"/>
              <a:buChar char="•"/>
            </a:pPr>
            <a:r>
              <a:rPr lang="en-US" sz="1800" dirty="0">
                <a:latin typeface="Proxima Nova" panose="020B0604020202020204"/>
              </a:rPr>
              <a:t>Backgrounds and Borders, </a:t>
            </a:r>
          </a:p>
          <a:p>
            <a:pPr marL="342900" indent="-342900">
              <a:lnSpc>
                <a:spcPct val="150000"/>
              </a:lnSpc>
              <a:buFont typeface="Arial" panose="020B0604020202020204" pitchFamily="34" charset="0"/>
              <a:buChar char="•"/>
            </a:pPr>
            <a:r>
              <a:rPr lang="en-US" sz="1800" dirty="0">
                <a:latin typeface="Proxima Nova" panose="020B0604020202020204"/>
              </a:rPr>
              <a:t>Text Effects, </a:t>
            </a:r>
          </a:p>
          <a:p>
            <a:pPr marL="342900" indent="-342900">
              <a:lnSpc>
                <a:spcPct val="150000"/>
              </a:lnSpc>
              <a:buFont typeface="Arial" panose="020B0604020202020204" pitchFamily="34" charset="0"/>
              <a:buChar char="•"/>
            </a:pPr>
            <a:r>
              <a:rPr lang="en-US" sz="1800" dirty="0">
                <a:latin typeface="Proxima Nova" panose="020B0604020202020204"/>
              </a:rPr>
              <a:t>2D/3D Transformations, </a:t>
            </a:r>
          </a:p>
          <a:p>
            <a:pPr marL="342900" indent="-342900">
              <a:lnSpc>
                <a:spcPct val="150000"/>
              </a:lnSpc>
              <a:buFont typeface="Arial" panose="020B0604020202020204" pitchFamily="34" charset="0"/>
              <a:buChar char="•"/>
            </a:pPr>
            <a:r>
              <a:rPr lang="en-US" sz="1800" dirty="0">
                <a:latin typeface="Proxima Nova" panose="020B0604020202020204"/>
              </a:rPr>
              <a:t>Transitions, </a:t>
            </a:r>
          </a:p>
          <a:p>
            <a:pPr marL="342900" indent="-342900">
              <a:lnSpc>
                <a:spcPct val="150000"/>
              </a:lnSpc>
              <a:buFont typeface="Arial" panose="020B0604020202020204" pitchFamily="34" charset="0"/>
              <a:buChar char="•"/>
            </a:pPr>
            <a:r>
              <a:rPr lang="en-US" sz="1800" dirty="0">
                <a:latin typeface="Proxima Nova" panose="020B0604020202020204"/>
              </a:rPr>
              <a:t>Images, </a:t>
            </a:r>
          </a:p>
          <a:p>
            <a:pPr marL="342900" indent="-342900">
              <a:lnSpc>
                <a:spcPct val="150000"/>
              </a:lnSpc>
              <a:buFont typeface="Arial" panose="020B0604020202020204" pitchFamily="34" charset="0"/>
              <a:buChar char="•"/>
            </a:pPr>
            <a:r>
              <a:rPr lang="en-US" sz="1800" dirty="0">
                <a:latin typeface="Proxima Nova" panose="020B0604020202020204"/>
              </a:rPr>
              <a:t>Positioning, </a:t>
            </a:r>
          </a:p>
          <a:p>
            <a:pPr marL="342900" indent="-342900">
              <a:lnSpc>
                <a:spcPct val="150000"/>
              </a:lnSpc>
              <a:buFont typeface="Arial" panose="020B0604020202020204" pitchFamily="34" charset="0"/>
              <a:buChar char="•"/>
            </a:pPr>
            <a:r>
              <a:rPr lang="en-US" sz="1800" dirty="0">
                <a:latin typeface="Proxima Nova" panose="020B0604020202020204"/>
              </a:rPr>
              <a:t>Animations, </a:t>
            </a:r>
          </a:p>
          <a:p>
            <a:pPr marL="342900" indent="-342900">
              <a:lnSpc>
                <a:spcPct val="150000"/>
              </a:lnSpc>
              <a:buFont typeface="Arial" panose="020B0604020202020204" pitchFamily="34" charset="0"/>
              <a:buChar char="•"/>
            </a:pPr>
            <a:r>
              <a:rPr lang="en-US" sz="1800" dirty="0">
                <a:latin typeface="Proxima Nova" panose="020B0604020202020204"/>
              </a:rPr>
              <a:t>Flex, </a:t>
            </a:r>
          </a:p>
          <a:p>
            <a:pPr marL="342900" indent="-342900">
              <a:lnSpc>
                <a:spcPct val="150000"/>
              </a:lnSpc>
              <a:buFont typeface="Arial" panose="020B0604020202020204" pitchFamily="34" charset="0"/>
              <a:buChar char="•"/>
            </a:pPr>
            <a:r>
              <a:rPr lang="en-US" sz="1800" dirty="0">
                <a:latin typeface="Proxima Nova" panose="020B0604020202020204"/>
              </a:rPr>
              <a:t>Multiple Column Layout, </a:t>
            </a:r>
          </a:p>
          <a:p>
            <a:pPr marL="342900" indent="-342900">
              <a:lnSpc>
                <a:spcPct val="150000"/>
              </a:lnSpc>
              <a:buFont typeface="Arial" panose="020B0604020202020204" pitchFamily="34" charset="0"/>
              <a:buChar char="•"/>
            </a:pPr>
            <a:r>
              <a:rPr lang="en-US" sz="1800" dirty="0">
                <a:latin typeface="Proxima Nova" panose="020B0604020202020204"/>
              </a:rPr>
              <a:t>Media Queries, </a:t>
            </a:r>
          </a:p>
          <a:p>
            <a:pPr marL="342900" indent="-342900">
              <a:lnSpc>
                <a:spcPct val="150000"/>
              </a:lnSpc>
              <a:buFont typeface="Arial" panose="020B0604020202020204" pitchFamily="34" charset="0"/>
              <a:buChar char="•"/>
            </a:pPr>
            <a:r>
              <a:rPr lang="en-US" sz="1800" dirty="0">
                <a:latin typeface="Proxima Nova" panose="020B0604020202020204"/>
              </a:rPr>
              <a:t>CSS Variables</a:t>
            </a:r>
            <a:endParaRPr kumimoji="0" lang="en-US" altLang="en-US" sz="1800" b="0" i="0" u="none" strike="noStrike" kern="1200" cap="none" spc="0" normalizeH="0" baseline="0" noProof="0" dirty="0">
              <a:ln>
                <a:noFill/>
              </a:ln>
              <a:solidFill>
                <a:srgbClr val="000000"/>
              </a:solidFill>
              <a:effectLst/>
              <a:uLnTx/>
              <a:uFillTx/>
              <a:latin typeface="Proxima Nova" panose="020B0604020202020204"/>
              <a:sym typeface="Arial" panose="020B0604020202020204" pitchFamily="34" charset="0"/>
            </a:endParaRPr>
          </a:p>
        </p:txBody>
      </p:sp>
    </p:spTree>
    <p:extLst>
      <p:ext uri="{BB962C8B-B14F-4D97-AF65-F5344CB8AC3E}">
        <p14:creationId xmlns:p14="http://schemas.microsoft.com/office/powerpoint/2010/main" val="35123456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CO Mapping</a:t>
            </a:r>
            <a:endParaRPr sz="2400" dirty="0">
              <a:latin typeface="Proxima Nova"/>
            </a:endParaRPr>
          </a:p>
        </p:txBody>
      </p:sp>
      <p:sp>
        <p:nvSpPr>
          <p:cNvPr id="3" name="TextBox 2">
            <a:extLst>
              <a:ext uri="{FF2B5EF4-FFF2-40B4-BE49-F238E27FC236}">
                <a16:creationId xmlns:a16="http://schemas.microsoft.com/office/drawing/2014/main" id="{86992C8A-6FA9-530C-3FB3-8CB303CFD81B}"/>
              </a:ext>
            </a:extLst>
          </p:cNvPr>
          <p:cNvSpPr txBox="1"/>
          <p:nvPr/>
        </p:nvSpPr>
        <p:spPr>
          <a:xfrm>
            <a:off x="478275" y="1155646"/>
            <a:ext cx="11628000" cy="866904"/>
          </a:xfrm>
          <a:prstGeom prst="rect">
            <a:avLst/>
          </a:prstGeom>
          <a:noFill/>
        </p:spPr>
        <p:txBody>
          <a:bodyPr wrap="square">
            <a:spAutoFit/>
          </a:bodyPr>
          <a:lstStyle/>
          <a:p>
            <a:pPr marL="342900" marR="113665" lvl="0" indent="-342900">
              <a:lnSpc>
                <a:spcPct val="150000"/>
              </a:lnSpc>
              <a:spcBef>
                <a:spcPts val="80"/>
              </a:spcBef>
              <a:spcAft>
                <a:spcPts val="0"/>
              </a:spcAft>
              <a:buFont typeface="Symbol" panose="05050102010706020507" pitchFamily="18" charset="2"/>
              <a:buChar char=""/>
              <a:tabLst>
                <a:tab pos="596900" algn="l"/>
              </a:tabLst>
            </a:pPr>
            <a:r>
              <a:rPr lang="en-US" dirty="0">
                <a:effectLst/>
                <a:latin typeface="Proxima Nova"/>
                <a:ea typeface="Times New Roman" panose="02020603050405020304" pitchFamily="18" charset="0"/>
              </a:rPr>
              <a:t>Create visually appealing websites using CSS selectors, backgrounds, text effects, animations and other CSS properties. (Create)</a:t>
            </a:r>
            <a:endParaRPr lang="en-IN" dirty="0">
              <a:effectLst/>
              <a:latin typeface="Proxima Nova"/>
              <a:ea typeface="Times New Roman" panose="02020603050405020304" pitchFamily="18" charset="0"/>
            </a:endParaRPr>
          </a:p>
        </p:txBody>
      </p:sp>
    </p:spTree>
    <p:extLst>
      <p:ext uri="{BB962C8B-B14F-4D97-AF65-F5344CB8AC3E}">
        <p14:creationId xmlns:p14="http://schemas.microsoft.com/office/powerpoint/2010/main" val="308788129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Introduction to CSS</a:t>
            </a:r>
            <a:endParaRPr sz="2400" dirty="0">
              <a:latin typeface="Proxima Nova"/>
            </a:endParaRPr>
          </a:p>
        </p:txBody>
      </p:sp>
      <p:sp>
        <p:nvSpPr>
          <p:cNvPr id="3" name="TextBox 2">
            <a:extLst>
              <a:ext uri="{FF2B5EF4-FFF2-40B4-BE49-F238E27FC236}">
                <a16:creationId xmlns:a16="http://schemas.microsoft.com/office/drawing/2014/main" id="{096319D0-11EF-4DD1-9B62-FAC918DD1257}"/>
              </a:ext>
            </a:extLst>
          </p:cNvPr>
          <p:cNvSpPr txBox="1"/>
          <p:nvPr/>
        </p:nvSpPr>
        <p:spPr>
          <a:xfrm>
            <a:off x="390524" y="1075462"/>
            <a:ext cx="11287125" cy="502188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Proxima Nova" panose="020B0604020202020204"/>
              </a:rPr>
              <a:t>What is the CSS?</a:t>
            </a:r>
            <a:endParaRPr lang="en-US" b="1" dirty="0">
              <a:latin typeface="Proxima Nova" panose="020B0604020202020204"/>
            </a:endParaRPr>
          </a:p>
          <a:p>
            <a:pPr marL="285750" indent="-285750" algn="just">
              <a:lnSpc>
                <a:spcPct val="150000"/>
              </a:lnSpc>
              <a:buFont typeface="Arial" panose="020B0604020202020204" pitchFamily="34" charset="0"/>
              <a:buChar char="•"/>
            </a:pPr>
            <a:r>
              <a:rPr lang="en-US" b="1" dirty="0">
                <a:latin typeface="Proxima Nova" panose="020B0604020202020204"/>
              </a:rPr>
              <a:t>C</a:t>
            </a:r>
            <a:r>
              <a:rPr lang="en-US" dirty="0">
                <a:latin typeface="Proxima Nova" panose="020B0604020202020204"/>
              </a:rPr>
              <a:t>ascading </a:t>
            </a:r>
            <a:r>
              <a:rPr lang="en-US" b="1" dirty="0">
                <a:latin typeface="Proxima Nova" panose="020B0604020202020204"/>
              </a:rPr>
              <a:t>S</a:t>
            </a:r>
            <a:r>
              <a:rPr lang="en-US" dirty="0">
                <a:latin typeface="Proxima Nova" panose="020B0604020202020204"/>
              </a:rPr>
              <a:t>tyle </a:t>
            </a:r>
            <a:r>
              <a:rPr lang="en-US" b="1" dirty="0">
                <a:latin typeface="Proxima Nova" panose="020B0604020202020204"/>
              </a:rPr>
              <a:t>S</a:t>
            </a:r>
            <a:r>
              <a:rPr lang="en-US" dirty="0">
                <a:latin typeface="Proxima Nova" panose="020B0604020202020204"/>
              </a:rPr>
              <a:t>heets, fondly referred to as CSS, is a simple design language intended to simplify the process of making web pages presentable.</a:t>
            </a:r>
          </a:p>
          <a:p>
            <a:pPr marL="285750" indent="-285750" algn="just">
              <a:lnSpc>
                <a:spcPct val="150000"/>
              </a:lnSpc>
              <a:buFont typeface="Arial" panose="020B0604020202020204" pitchFamily="34" charset="0"/>
              <a:buChar char="•"/>
            </a:pPr>
            <a:r>
              <a:rPr lang="en-US" b="1" dirty="0">
                <a:latin typeface="Proxima Nova" panose="020B0604020202020204"/>
              </a:rPr>
              <a:t>Cascading Style Sheets</a:t>
            </a:r>
            <a:r>
              <a:rPr lang="en-US" dirty="0">
                <a:latin typeface="Proxima Nova" panose="020B0604020202020204"/>
              </a:rPr>
              <a:t> (</a:t>
            </a:r>
            <a:r>
              <a:rPr lang="en-US" b="1" dirty="0">
                <a:latin typeface="Proxima Nova" panose="020B0604020202020204"/>
              </a:rPr>
              <a:t>CSS</a:t>
            </a:r>
            <a:r>
              <a:rPr lang="en-US" dirty="0">
                <a:latin typeface="Proxima Nova" panose="020B0604020202020204"/>
              </a:rPr>
              <a:t>) is a simple mechanism for adding style (e.g., fonts, colors, spacing) to Web documents.</a:t>
            </a:r>
          </a:p>
          <a:p>
            <a:pPr marL="285750" indent="-285750" algn="just">
              <a:lnSpc>
                <a:spcPct val="150000"/>
              </a:lnSpc>
              <a:buFont typeface="Arial" panose="020B0604020202020204" pitchFamily="34" charset="0"/>
              <a:buChar char="•"/>
            </a:pPr>
            <a:r>
              <a:rPr lang="en-US" b="1" dirty="0">
                <a:latin typeface="Proxima Nova" panose="020B0604020202020204"/>
              </a:rPr>
              <a:t> CSS – Cascading Style Sheet</a:t>
            </a:r>
          </a:p>
          <a:p>
            <a:pPr marL="285750" indent="-285750" algn="just">
              <a:lnSpc>
                <a:spcPct val="150000"/>
              </a:lnSpc>
              <a:buFont typeface="Arial" panose="020B0604020202020204" pitchFamily="34" charset="0"/>
              <a:buChar char="•"/>
            </a:pPr>
            <a:r>
              <a:rPr lang="en-US" dirty="0">
                <a:latin typeface="Proxima Nova" panose="020B0604020202020204"/>
              </a:rPr>
              <a:t>Presentation purpose in web pages</a:t>
            </a:r>
          </a:p>
          <a:p>
            <a:pPr marL="285750" indent="-285750" algn="just">
              <a:lnSpc>
                <a:spcPct val="150000"/>
              </a:lnSpc>
              <a:buFont typeface="Arial" panose="020B0604020202020204" pitchFamily="34" charset="0"/>
              <a:buChar char="•"/>
            </a:pPr>
            <a:r>
              <a:rPr lang="en-US" dirty="0">
                <a:latin typeface="Proxima Nova" panose="020B0604020202020204"/>
              </a:rPr>
              <a:t>Separates web content from web presentation</a:t>
            </a:r>
          </a:p>
          <a:p>
            <a:pPr marL="285750" indent="-285750" algn="just">
              <a:lnSpc>
                <a:spcPct val="150000"/>
              </a:lnSpc>
              <a:buFont typeface="Arial" panose="020B0604020202020204" pitchFamily="34" charset="0"/>
              <a:buChar char="•"/>
            </a:pPr>
            <a:r>
              <a:rPr lang="en-US" dirty="0">
                <a:latin typeface="Proxima Nova" panose="020B0604020202020204"/>
              </a:rPr>
              <a:t>CSS provides flexibility</a:t>
            </a:r>
          </a:p>
          <a:p>
            <a:pPr marL="285750" indent="-285750" algn="just">
              <a:lnSpc>
                <a:spcPct val="150000"/>
              </a:lnSpc>
              <a:buFont typeface="Arial" panose="020B0604020202020204" pitchFamily="34" charset="0"/>
              <a:buChar char="•"/>
            </a:pPr>
            <a:r>
              <a:rPr lang="en-US" dirty="0">
                <a:latin typeface="Proxima Nova" panose="020B0604020202020204"/>
              </a:rPr>
              <a:t>Manages large-scale complex websites</a:t>
            </a:r>
          </a:p>
          <a:p>
            <a:pPr marL="285750" indent="-285750" algn="just">
              <a:lnSpc>
                <a:spcPct val="150000"/>
              </a:lnSpc>
              <a:buFont typeface="Arial" panose="020B0604020202020204" pitchFamily="34" charset="0"/>
              <a:buChar char="•"/>
            </a:pPr>
            <a:r>
              <a:rPr lang="en-US" dirty="0">
                <a:latin typeface="Proxima Nova" panose="020B0604020202020204"/>
              </a:rPr>
              <a:t>Maintains consistency in web document</a:t>
            </a:r>
          </a:p>
          <a:p>
            <a:pPr marL="285750" indent="-285750" algn="just">
              <a:lnSpc>
                <a:spcPct val="150000"/>
              </a:lnSpc>
              <a:buFont typeface="Arial" panose="020B0604020202020204" pitchFamily="34" charset="0"/>
              <a:buChar char="•"/>
            </a:pPr>
            <a:endParaRPr lang="en-US" dirty="0">
              <a:latin typeface="Proxima Nova" panose="020B0604020202020204"/>
            </a:endParaRPr>
          </a:p>
        </p:txBody>
      </p:sp>
    </p:spTree>
    <p:extLst>
      <p:ext uri="{BB962C8B-B14F-4D97-AF65-F5344CB8AC3E}">
        <p14:creationId xmlns:p14="http://schemas.microsoft.com/office/powerpoint/2010/main" val="17705081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Structure VS Presentation</a:t>
            </a:r>
            <a:endParaRPr sz="2400" dirty="0">
              <a:latin typeface="Proxima Nova"/>
            </a:endParaRPr>
          </a:p>
        </p:txBody>
      </p:sp>
      <p:sp>
        <p:nvSpPr>
          <p:cNvPr id="3" name="TextBox 2">
            <a:extLst>
              <a:ext uri="{FF2B5EF4-FFF2-40B4-BE49-F238E27FC236}">
                <a16:creationId xmlns:a16="http://schemas.microsoft.com/office/drawing/2014/main" id="{BEA82048-D32A-D32B-3549-010019F207AC}"/>
              </a:ext>
            </a:extLst>
          </p:cNvPr>
          <p:cNvSpPr txBox="1"/>
          <p:nvPr/>
        </p:nvSpPr>
        <p:spPr>
          <a:xfrm>
            <a:off x="316350" y="1078290"/>
            <a:ext cx="11351775" cy="585288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1" dirty="0">
                <a:latin typeface="Proxima Nova" panose="020B0604020202020204"/>
              </a:rPr>
              <a:t>HTML is the Structure</a:t>
            </a:r>
          </a:p>
          <a:p>
            <a:pPr marL="285750" indent="-285750" algn="just">
              <a:lnSpc>
                <a:spcPct val="150000"/>
              </a:lnSpc>
              <a:buFont typeface="Arial" panose="020B0604020202020204" pitchFamily="34" charset="0"/>
              <a:buChar char="•"/>
            </a:pPr>
            <a:r>
              <a:rPr lang="en-US" dirty="0">
                <a:latin typeface="Proxima Nova" panose="020B0604020202020204"/>
              </a:rPr>
              <a:t>The problem is that HTML, the primary markup language used to code documents on the World Wide Web, is really only useful for expressing the structure of a document.</a:t>
            </a:r>
          </a:p>
          <a:p>
            <a:pPr marL="285750" indent="-285750" algn="just">
              <a:lnSpc>
                <a:spcPct val="150000"/>
              </a:lnSpc>
              <a:buFont typeface="Arial" panose="020B0604020202020204" pitchFamily="34" charset="0"/>
              <a:buChar char="•"/>
            </a:pPr>
            <a:r>
              <a:rPr lang="en-US" dirty="0">
                <a:latin typeface="Proxima Nova" panose="020B0604020202020204"/>
              </a:rPr>
              <a:t>It is possible to exert some control over the presentation, by employing tables and a variety of other tricks, but doing so blurs the structural view of the document. </a:t>
            </a:r>
          </a:p>
          <a:p>
            <a:pPr marL="285750" indent="-285750" algn="just">
              <a:lnSpc>
                <a:spcPct val="150000"/>
              </a:lnSpc>
              <a:buFont typeface="Arial" panose="020B0604020202020204" pitchFamily="34" charset="0"/>
              <a:buChar char="•"/>
            </a:pPr>
            <a:r>
              <a:rPr lang="en-US" dirty="0">
                <a:latin typeface="Proxima Nova" panose="020B0604020202020204"/>
              </a:rPr>
              <a:t>Adding new presentational tags to HTML isn't going to help, either. Presentational tags further blur the underlying structure of the document and could lead rapidly to multiple, incompatible HTML variants.</a:t>
            </a:r>
          </a:p>
          <a:p>
            <a:pPr marL="285750" indent="-285750" algn="just">
              <a:lnSpc>
                <a:spcPct val="150000"/>
              </a:lnSpc>
              <a:buFont typeface="Arial" panose="020B0604020202020204" pitchFamily="34" charset="0"/>
              <a:buChar char="•"/>
            </a:pPr>
            <a:r>
              <a:rPr lang="en-US" b="1" dirty="0">
                <a:latin typeface="Proxima Nova" panose="020B0604020202020204"/>
              </a:rPr>
              <a:t>Style Sheets are the Presentation</a:t>
            </a:r>
          </a:p>
          <a:p>
            <a:pPr marL="285750" indent="-285750" algn="just">
              <a:lnSpc>
                <a:spcPct val="150000"/>
              </a:lnSpc>
              <a:buFont typeface="Arial" panose="020B0604020202020204" pitchFamily="34" charset="0"/>
              <a:buChar char="•"/>
            </a:pPr>
            <a:r>
              <a:rPr lang="en-US" dirty="0">
                <a:latin typeface="Proxima Nova" panose="020B0604020202020204"/>
              </a:rPr>
              <a:t>Style sheets, which should become commonplace on the Web over the next few months, provide a means of associating presentational information with the structural elements of a document in a way that does not corrupt the underlying structure of the document.</a:t>
            </a:r>
          </a:p>
          <a:p>
            <a:pPr marL="285750" indent="-285750" algn="just">
              <a:lnSpc>
                <a:spcPct val="150000"/>
              </a:lnSpc>
              <a:buFont typeface="Arial" panose="020B0604020202020204" pitchFamily="34" charset="0"/>
              <a:buChar char="•"/>
            </a:pPr>
            <a:r>
              <a:rPr lang="en-US" dirty="0">
                <a:latin typeface="Proxima Nova" panose="020B0604020202020204"/>
              </a:rPr>
              <a:t>A style sheet is a set of guidelines for the browser indicating how the various elements of a document should be presented.</a:t>
            </a:r>
          </a:p>
          <a:p>
            <a:pPr marL="285750" indent="-285750" algn="just">
              <a:lnSpc>
                <a:spcPct val="150000"/>
              </a:lnSpc>
              <a:buFont typeface="Arial" panose="020B0604020202020204" pitchFamily="34" charset="0"/>
              <a:buChar char="•"/>
            </a:pPr>
            <a:endParaRPr lang="en-US" dirty="0">
              <a:latin typeface="Proxima Nova" panose="020B0604020202020204"/>
            </a:endParaRPr>
          </a:p>
        </p:txBody>
      </p:sp>
    </p:spTree>
    <p:extLst>
      <p:ext uri="{BB962C8B-B14F-4D97-AF65-F5344CB8AC3E}">
        <p14:creationId xmlns:p14="http://schemas.microsoft.com/office/powerpoint/2010/main" val="38265749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Advantage of CSS</a:t>
            </a:r>
            <a:endParaRPr sz="2400" dirty="0">
              <a:latin typeface="Proxima Nova"/>
            </a:endParaRPr>
          </a:p>
        </p:txBody>
      </p:sp>
      <p:graphicFrame>
        <p:nvGraphicFramePr>
          <p:cNvPr id="4" name="Diagram 3">
            <a:extLst>
              <a:ext uri="{FF2B5EF4-FFF2-40B4-BE49-F238E27FC236}">
                <a16:creationId xmlns:a16="http://schemas.microsoft.com/office/drawing/2014/main" id="{CB38E85E-3DB7-8888-0A4F-CF09D2BB80B8}"/>
              </a:ext>
            </a:extLst>
          </p:cNvPr>
          <p:cNvGraphicFramePr/>
          <p:nvPr>
            <p:extLst>
              <p:ext uri="{D42A27DB-BD31-4B8C-83A1-F6EECF244321}">
                <p14:modId xmlns:p14="http://schemas.microsoft.com/office/powerpoint/2010/main" val="1596281133"/>
              </p:ext>
            </p:extLst>
          </p:nvPr>
        </p:nvGraphicFramePr>
        <p:xfrm>
          <a:off x="2032000" y="111971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87631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Advantage of CSS</a:t>
            </a:r>
            <a:endParaRPr sz="2400" dirty="0">
              <a:latin typeface="Proxima Nova"/>
            </a:endParaRPr>
          </a:p>
        </p:txBody>
      </p:sp>
      <p:sp>
        <p:nvSpPr>
          <p:cNvPr id="3" name="TextBox 2">
            <a:extLst>
              <a:ext uri="{FF2B5EF4-FFF2-40B4-BE49-F238E27FC236}">
                <a16:creationId xmlns:a16="http://schemas.microsoft.com/office/drawing/2014/main" id="{675C2940-CF0A-977F-9A67-8B82702F26DB}"/>
              </a:ext>
            </a:extLst>
          </p:cNvPr>
          <p:cNvSpPr txBox="1"/>
          <p:nvPr/>
        </p:nvSpPr>
        <p:spPr>
          <a:xfrm>
            <a:off x="323850" y="1148566"/>
            <a:ext cx="11391900" cy="543738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1" dirty="0">
                <a:solidFill>
                  <a:schemeClr val="tx1"/>
                </a:solidFill>
                <a:latin typeface="Proxima Nova" panose="020B0604020202020204"/>
              </a:rPr>
              <a:t>CSS saves time</a:t>
            </a:r>
            <a:r>
              <a:rPr lang="en-US" dirty="0">
                <a:solidFill>
                  <a:schemeClr val="tx1"/>
                </a:solidFill>
                <a:latin typeface="Proxima Nova" panose="020B0604020202020204"/>
              </a:rPr>
              <a:t> − You can write CSS once and then reuse same sheet in multiple HTML pages. You can define a style for each HTML element and apply it to as many Web pages as you want.</a:t>
            </a:r>
          </a:p>
          <a:p>
            <a:pPr marL="285750" indent="-285750" algn="just">
              <a:lnSpc>
                <a:spcPct val="150000"/>
              </a:lnSpc>
              <a:buFont typeface="Arial" panose="020B0604020202020204" pitchFamily="34" charset="0"/>
              <a:buChar char="•"/>
            </a:pPr>
            <a:r>
              <a:rPr lang="en-US" b="1" dirty="0">
                <a:solidFill>
                  <a:schemeClr val="tx1"/>
                </a:solidFill>
                <a:latin typeface="Proxima Nova" panose="020B0604020202020204"/>
              </a:rPr>
              <a:t>Pages load faster</a:t>
            </a:r>
            <a:r>
              <a:rPr lang="en-US" dirty="0">
                <a:solidFill>
                  <a:schemeClr val="tx1"/>
                </a:solidFill>
                <a:latin typeface="Proxima Nova" panose="020B0604020202020204"/>
              </a:rPr>
              <a:t> − If you are using CSS, you do not need to write HTML tag attributes every time. Just write one CSS rule of a tag and apply it to all the occurrences of that tag. So less code means faster download times.</a:t>
            </a:r>
            <a:r>
              <a:rPr lang="en-US" b="1" dirty="0">
                <a:solidFill>
                  <a:schemeClr val="tx1"/>
                </a:solidFill>
                <a:latin typeface="Proxima Nova" panose="020B0604020202020204"/>
              </a:rPr>
              <a:t> </a:t>
            </a:r>
          </a:p>
          <a:p>
            <a:pPr marL="285750" indent="-285750" algn="just">
              <a:lnSpc>
                <a:spcPct val="150000"/>
              </a:lnSpc>
              <a:buFont typeface="Arial" panose="020B0604020202020204" pitchFamily="34" charset="0"/>
              <a:buChar char="•"/>
            </a:pPr>
            <a:r>
              <a:rPr lang="en-US" b="1" dirty="0">
                <a:solidFill>
                  <a:schemeClr val="tx1"/>
                </a:solidFill>
                <a:latin typeface="Proxima Nova" panose="020B0604020202020204"/>
              </a:rPr>
              <a:t>Easy maintenance</a:t>
            </a:r>
            <a:r>
              <a:rPr lang="en-US" dirty="0">
                <a:solidFill>
                  <a:schemeClr val="tx1"/>
                </a:solidFill>
                <a:latin typeface="Proxima Nova" panose="020B0604020202020204"/>
              </a:rPr>
              <a:t> − To make a global change, simply change the style, and all elements in all the web pages will be updated automatically.</a:t>
            </a:r>
          </a:p>
          <a:p>
            <a:pPr marL="285750" indent="-285750" algn="just">
              <a:lnSpc>
                <a:spcPct val="150000"/>
              </a:lnSpc>
              <a:buFont typeface="Arial" panose="020B0604020202020204" pitchFamily="34" charset="0"/>
              <a:buChar char="•"/>
            </a:pPr>
            <a:r>
              <a:rPr lang="en-US" b="1" dirty="0">
                <a:solidFill>
                  <a:schemeClr val="tx1"/>
                </a:solidFill>
                <a:latin typeface="Proxima Nova" panose="020B0604020202020204"/>
              </a:rPr>
              <a:t>Superior styles to HTML</a:t>
            </a:r>
            <a:r>
              <a:rPr lang="en-US" dirty="0">
                <a:solidFill>
                  <a:schemeClr val="tx1"/>
                </a:solidFill>
                <a:latin typeface="Proxima Nova" panose="020B0604020202020204"/>
              </a:rPr>
              <a:t> − CSS has a much wider array of attributes than HTML, so you can give a far better look to your HTML page in comparison to HTML attributes.</a:t>
            </a:r>
          </a:p>
          <a:p>
            <a:pPr marL="285750" indent="-285750" algn="just">
              <a:lnSpc>
                <a:spcPct val="150000"/>
              </a:lnSpc>
              <a:buFont typeface="Arial" panose="020B0604020202020204" pitchFamily="34" charset="0"/>
              <a:buChar char="•"/>
            </a:pPr>
            <a:r>
              <a:rPr lang="en-US" b="1" dirty="0">
                <a:solidFill>
                  <a:schemeClr val="tx1"/>
                </a:solidFill>
                <a:latin typeface="Proxima Nova" panose="020B0604020202020204"/>
              </a:rPr>
              <a:t>Multiple Device Compatibility</a:t>
            </a:r>
            <a:r>
              <a:rPr lang="en-US" dirty="0">
                <a:solidFill>
                  <a:schemeClr val="tx1"/>
                </a:solidFill>
                <a:latin typeface="Proxima Nova" panose="020B0604020202020204"/>
              </a:rPr>
              <a:t> − Style sheets allow content to be optimized for more than one type of device. By using the same HTML document, different versions of a website can be presented for handheld devices such as PDAs and cell phones or for printing.</a:t>
            </a:r>
          </a:p>
          <a:p>
            <a:pPr marL="285750" indent="-285750" algn="just">
              <a:lnSpc>
                <a:spcPct val="150000"/>
              </a:lnSpc>
              <a:buFont typeface="Arial" panose="020B0604020202020204" pitchFamily="34" charset="0"/>
              <a:buChar char="•"/>
            </a:pPr>
            <a:endParaRPr lang="en-US" dirty="0">
              <a:solidFill>
                <a:schemeClr val="tx1"/>
              </a:solidFill>
              <a:latin typeface="Proxima Nova" panose="020B0604020202020204"/>
            </a:endParaRPr>
          </a:p>
        </p:txBody>
      </p:sp>
    </p:spTree>
    <p:extLst>
      <p:ext uri="{BB962C8B-B14F-4D97-AF65-F5344CB8AC3E}">
        <p14:creationId xmlns:p14="http://schemas.microsoft.com/office/powerpoint/2010/main" val="336199161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Advantage of CSS</a:t>
            </a:r>
            <a:endParaRPr sz="2400" dirty="0">
              <a:latin typeface="Proxima Nova"/>
            </a:endParaRPr>
          </a:p>
        </p:txBody>
      </p:sp>
      <p:sp>
        <p:nvSpPr>
          <p:cNvPr id="3" name="TextBox 2">
            <a:extLst>
              <a:ext uri="{FF2B5EF4-FFF2-40B4-BE49-F238E27FC236}">
                <a16:creationId xmlns:a16="http://schemas.microsoft.com/office/drawing/2014/main" id="{4D17847B-AD73-AE9B-CFBF-5D00355C0261}"/>
              </a:ext>
            </a:extLst>
          </p:cNvPr>
          <p:cNvSpPr txBox="1"/>
          <p:nvPr/>
        </p:nvSpPr>
        <p:spPr>
          <a:xfrm>
            <a:off x="478275" y="1158503"/>
            <a:ext cx="11266050" cy="211339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1" dirty="0">
                <a:solidFill>
                  <a:schemeClr val="tx1"/>
                </a:solidFill>
                <a:latin typeface="Proxima Nova" panose="020B0604020202020204"/>
              </a:rPr>
              <a:t>Offline Browsing</a:t>
            </a:r>
            <a:r>
              <a:rPr lang="en-US" dirty="0">
                <a:solidFill>
                  <a:schemeClr val="tx1"/>
                </a:solidFill>
                <a:latin typeface="Proxima Nova" panose="020B0604020202020204"/>
              </a:rPr>
              <a:t> − CSS can store web applications locally with the help of an offline cache. Using of this, we can view offline websites. The cache also ensures faster loading and better overall performance of the website.</a:t>
            </a:r>
          </a:p>
          <a:p>
            <a:pPr marL="285750" indent="-285750" algn="just">
              <a:lnSpc>
                <a:spcPct val="150000"/>
              </a:lnSpc>
              <a:buFont typeface="Arial" panose="020B0604020202020204" pitchFamily="34" charset="0"/>
              <a:buChar char="•"/>
            </a:pPr>
            <a:r>
              <a:rPr lang="en-US" b="1" dirty="0">
                <a:solidFill>
                  <a:schemeClr val="tx1"/>
                </a:solidFill>
                <a:latin typeface="Proxima Nova" panose="020B0604020202020204"/>
              </a:rPr>
              <a:t>Platform Independence</a:t>
            </a:r>
            <a:r>
              <a:rPr lang="en-US" dirty="0">
                <a:solidFill>
                  <a:schemeClr val="tx1"/>
                </a:solidFill>
                <a:latin typeface="Proxima Nova" panose="020B0604020202020204"/>
              </a:rPr>
              <a:t> − The Script offer consistent platform independence and can support latest browsers as well.</a:t>
            </a:r>
          </a:p>
        </p:txBody>
      </p:sp>
    </p:spTree>
    <p:extLst>
      <p:ext uri="{BB962C8B-B14F-4D97-AF65-F5344CB8AC3E}">
        <p14:creationId xmlns:p14="http://schemas.microsoft.com/office/powerpoint/2010/main" val="15729806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CSS Syntax</a:t>
            </a:r>
            <a:endParaRPr sz="2400" dirty="0">
              <a:latin typeface="Proxima Nova"/>
            </a:endParaRPr>
          </a:p>
        </p:txBody>
      </p:sp>
      <p:sp>
        <p:nvSpPr>
          <p:cNvPr id="3" name="TextBox 2">
            <a:extLst>
              <a:ext uri="{FF2B5EF4-FFF2-40B4-BE49-F238E27FC236}">
                <a16:creationId xmlns:a16="http://schemas.microsoft.com/office/drawing/2014/main" id="{4D17847B-AD73-AE9B-CFBF-5D00355C0261}"/>
              </a:ext>
            </a:extLst>
          </p:cNvPr>
          <p:cNvSpPr txBox="1"/>
          <p:nvPr/>
        </p:nvSpPr>
        <p:spPr>
          <a:xfrm>
            <a:off x="478275" y="1158503"/>
            <a:ext cx="11266050" cy="5021888"/>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US" dirty="0">
                <a:solidFill>
                  <a:prstClr val="black"/>
                </a:solidFill>
                <a:latin typeface="Proxima Nova" panose="020B0604020202020204"/>
              </a:rPr>
              <a:t>Selector {property : value;}</a:t>
            </a:r>
          </a:p>
          <a:p>
            <a:pPr marL="285750" lvl="0" indent="-285750" algn="just">
              <a:lnSpc>
                <a:spcPct val="150000"/>
              </a:lnSpc>
              <a:buFont typeface="Arial" panose="020B0604020202020204" pitchFamily="34" charset="0"/>
              <a:buChar char="•"/>
            </a:pPr>
            <a:endParaRPr lang="en-US" dirty="0">
              <a:solidFill>
                <a:prstClr val="black"/>
              </a:solidFill>
              <a:latin typeface="Proxima Nova" panose="020B0604020202020204"/>
            </a:endParaRPr>
          </a:p>
          <a:p>
            <a:pPr marL="285750" lvl="0" indent="-285750" algn="just">
              <a:lnSpc>
                <a:spcPct val="150000"/>
              </a:lnSpc>
              <a:buFont typeface="Arial" panose="020B0604020202020204" pitchFamily="34" charset="0"/>
              <a:buChar char="•"/>
            </a:pPr>
            <a:endParaRPr lang="en-US" dirty="0">
              <a:solidFill>
                <a:prstClr val="black"/>
              </a:solidFill>
              <a:latin typeface="Proxima Nova" panose="020B0604020202020204"/>
            </a:endParaRPr>
          </a:p>
          <a:p>
            <a:pPr marL="285750" lvl="0" indent="-285750" algn="just">
              <a:lnSpc>
                <a:spcPct val="150000"/>
              </a:lnSpc>
              <a:buFont typeface="Arial" panose="020B0604020202020204" pitchFamily="34" charset="0"/>
              <a:buChar char="•"/>
            </a:pPr>
            <a:endParaRPr lang="en-US" dirty="0">
              <a:solidFill>
                <a:prstClr val="black"/>
              </a:solidFill>
              <a:latin typeface="Proxima Nova" panose="020B0604020202020204"/>
            </a:endParaRPr>
          </a:p>
          <a:p>
            <a:pPr marL="285750" lvl="0" indent="-285750" algn="just">
              <a:lnSpc>
                <a:spcPct val="150000"/>
              </a:lnSpc>
              <a:buFont typeface="Arial" panose="020B0604020202020204" pitchFamily="34" charset="0"/>
              <a:buChar char="•"/>
            </a:pPr>
            <a:endParaRPr lang="en-US" dirty="0">
              <a:solidFill>
                <a:prstClr val="black"/>
              </a:solidFill>
              <a:latin typeface="Proxima Nova" panose="020B0604020202020204"/>
            </a:endParaRPr>
          </a:p>
          <a:p>
            <a:pPr marL="285750" lvl="0" indent="-285750" algn="just">
              <a:lnSpc>
                <a:spcPct val="150000"/>
              </a:lnSpc>
              <a:buFont typeface="Arial" panose="020B0604020202020204" pitchFamily="34" charset="0"/>
              <a:buChar char="•"/>
            </a:pPr>
            <a:endParaRPr lang="en-US" dirty="0">
              <a:solidFill>
                <a:prstClr val="black"/>
              </a:solidFill>
              <a:latin typeface="Proxima Nova" panose="020B0604020202020204"/>
            </a:endParaRPr>
          </a:p>
          <a:p>
            <a:pPr marL="285750" lvl="0" indent="-285750" algn="just">
              <a:lnSpc>
                <a:spcPct val="150000"/>
              </a:lnSpc>
              <a:buFont typeface="Arial" panose="020B0604020202020204" pitchFamily="34" charset="0"/>
              <a:buChar char="•"/>
            </a:pPr>
            <a:r>
              <a:rPr lang="en-US" dirty="0">
                <a:solidFill>
                  <a:prstClr val="black"/>
                </a:solidFill>
                <a:latin typeface="Proxima Nova" panose="020B0604020202020204"/>
              </a:rPr>
              <a:t>The Selector is normally the HTML element you want to style or The Selector Indicates the element to which the rule is applied.</a:t>
            </a:r>
          </a:p>
          <a:p>
            <a:pPr marL="285750" lvl="0" indent="-285750" algn="just">
              <a:lnSpc>
                <a:spcPct val="150000"/>
              </a:lnSpc>
              <a:buFont typeface="Arial" panose="020B0604020202020204" pitchFamily="34" charset="0"/>
              <a:buChar char="•"/>
            </a:pPr>
            <a:r>
              <a:rPr lang="en-US" dirty="0">
                <a:solidFill>
                  <a:prstClr val="black"/>
                </a:solidFill>
                <a:latin typeface="Proxima Nova" panose="020B0604020202020204"/>
              </a:rPr>
              <a:t>Each Declaration consists of a property and a value</a:t>
            </a:r>
          </a:p>
          <a:p>
            <a:pPr marL="285750" lvl="0" indent="-285750" algn="just">
              <a:lnSpc>
                <a:spcPct val="150000"/>
              </a:lnSpc>
              <a:buFont typeface="Arial" panose="020B0604020202020204" pitchFamily="34" charset="0"/>
              <a:buChar char="•"/>
            </a:pPr>
            <a:r>
              <a:rPr lang="en-US" dirty="0">
                <a:solidFill>
                  <a:prstClr val="black"/>
                </a:solidFill>
                <a:latin typeface="Proxima Nova" panose="020B0604020202020204"/>
              </a:rPr>
              <a:t>The Property is the style attribute you want to change. Each property has a value.</a:t>
            </a:r>
          </a:p>
          <a:p>
            <a:pPr marL="285750" lvl="0" indent="-285750" algn="just">
              <a:lnSpc>
                <a:spcPct val="150000"/>
              </a:lnSpc>
              <a:buFont typeface="Arial" panose="020B0604020202020204" pitchFamily="34" charset="0"/>
              <a:buChar char="•"/>
            </a:pPr>
            <a:r>
              <a:rPr lang="en-US" dirty="0">
                <a:solidFill>
                  <a:prstClr val="black"/>
                </a:solidFill>
                <a:latin typeface="Proxima Nova" panose="020B0604020202020204"/>
              </a:rPr>
              <a:t>Values that have multiple words must be enclosed within quotes.</a:t>
            </a:r>
          </a:p>
          <a:p>
            <a:pPr marL="285750" lvl="0" indent="-285750" algn="just">
              <a:lnSpc>
                <a:spcPct val="150000"/>
              </a:lnSpc>
              <a:buFont typeface="Arial" panose="020B0604020202020204" pitchFamily="34" charset="0"/>
              <a:buChar char="•"/>
            </a:pPr>
            <a:r>
              <a:rPr lang="en-US" dirty="0">
                <a:solidFill>
                  <a:prstClr val="black"/>
                </a:solidFill>
                <a:latin typeface="Proxima Nova" panose="020B0604020202020204"/>
              </a:rPr>
              <a:t>h1{font-family: “sans </a:t>
            </a:r>
            <a:r>
              <a:rPr lang="en-US" dirty="0" err="1">
                <a:solidFill>
                  <a:prstClr val="black"/>
                </a:solidFill>
                <a:latin typeface="Proxima Nova" panose="020B0604020202020204"/>
              </a:rPr>
              <a:t>sarif</a:t>
            </a:r>
            <a:r>
              <a:rPr lang="en-US" dirty="0">
                <a:solidFill>
                  <a:prstClr val="black"/>
                </a:solidFill>
                <a:latin typeface="Proxima Nova" panose="020B0604020202020204"/>
              </a:rPr>
              <a:t>”}</a:t>
            </a:r>
          </a:p>
        </p:txBody>
      </p:sp>
      <p:pic>
        <p:nvPicPr>
          <p:cNvPr id="2" name="Picture 1">
            <a:extLst>
              <a:ext uri="{FF2B5EF4-FFF2-40B4-BE49-F238E27FC236}">
                <a16:creationId xmlns:a16="http://schemas.microsoft.com/office/drawing/2014/main" id="{D11DBAB7-28F7-9E65-80EB-AF2DC0E710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853" y="2032361"/>
            <a:ext cx="5419725" cy="1133475"/>
          </a:xfrm>
          <a:prstGeom prst="rect">
            <a:avLst/>
          </a:prstGeom>
        </p:spPr>
      </p:pic>
    </p:spTree>
    <p:extLst>
      <p:ext uri="{BB962C8B-B14F-4D97-AF65-F5344CB8AC3E}">
        <p14:creationId xmlns:p14="http://schemas.microsoft.com/office/powerpoint/2010/main" val="204267191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Example</a:t>
            </a:r>
            <a:endParaRPr sz="2400" dirty="0">
              <a:solidFill>
                <a:srgbClr val="04A2B9"/>
              </a:solidFill>
              <a:latin typeface="Proxima Nova"/>
            </a:endParaRPr>
          </a:p>
        </p:txBody>
      </p:sp>
      <p:sp>
        <p:nvSpPr>
          <p:cNvPr id="3" name="TextBox 2">
            <a:extLst>
              <a:ext uri="{FF2B5EF4-FFF2-40B4-BE49-F238E27FC236}">
                <a16:creationId xmlns:a16="http://schemas.microsoft.com/office/drawing/2014/main" id="{4D17847B-AD73-AE9B-CFBF-5D00355C0261}"/>
              </a:ext>
            </a:extLst>
          </p:cNvPr>
          <p:cNvSpPr txBox="1"/>
          <p:nvPr/>
        </p:nvSpPr>
        <p:spPr>
          <a:xfrm>
            <a:off x="478275" y="1158503"/>
            <a:ext cx="11266050" cy="4801314"/>
          </a:xfrm>
          <a:prstGeom prst="rect">
            <a:avLst/>
          </a:prstGeom>
          <a:noFill/>
        </p:spPr>
        <p:txBody>
          <a:bodyPr wrap="square">
            <a:spAutoFit/>
          </a:bodyPr>
          <a:lstStyle/>
          <a:p>
            <a:pPr lvl="0" algn="just"/>
            <a:r>
              <a:rPr lang="en-US" dirty="0">
                <a:solidFill>
                  <a:prstClr val="black"/>
                </a:solidFill>
                <a:latin typeface="Proxima Nova" panose="020B0604020202020204"/>
              </a:rPr>
              <a:t>&lt;!DOCTYPE html&gt;</a:t>
            </a:r>
          </a:p>
          <a:p>
            <a:pPr lvl="0" algn="just"/>
            <a:r>
              <a:rPr lang="en-US" dirty="0">
                <a:solidFill>
                  <a:prstClr val="black"/>
                </a:solidFill>
                <a:latin typeface="Proxima Nova" panose="020B0604020202020204"/>
              </a:rPr>
              <a:t>&lt;html&gt;</a:t>
            </a:r>
          </a:p>
          <a:p>
            <a:pPr lvl="0" algn="just"/>
            <a:r>
              <a:rPr lang="en-US" dirty="0">
                <a:solidFill>
                  <a:prstClr val="black"/>
                </a:solidFill>
                <a:latin typeface="Proxima Nova" panose="020B0604020202020204"/>
              </a:rPr>
              <a:t>	&lt;head&gt;</a:t>
            </a:r>
          </a:p>
          <a:p>
            <a:pPr lvl="0" algn="just"/>
            <a:r>
              <a:rPr lang="en-US" dirty="0">
                <a:solidFill>
                  <a:prstClr val="black"/>
                </a:solidFill>
                <a:latin typeface="Proxima Nova" panose="020B0604020202020204"/>
              </a:rPr>
              <a:t>		&lt;style&gt;</a:t>
            </a:r>
          </a:p>
          <a:p>
            <a:pPr lvl="0" algn="just"/>
            <a:r>
              <a:rPr lang="en-US" dirty="0">
                <a:solidFill>
                  <a:prstClr val="black"/>
                </a:solidFill>
                <a:latin typeface="Proxima Nova" panose="020B0604020202020204"/>
              </a:rPr>
              <a:t>			p {</a:t>
            </a:r>
          </a:p>
          <a:p>
            <a:pPr lvl="0" algn="just"/>
            <a:r>
              <a:rPr lang="en-US" dirty="0">
                <a:solidFill>
                  <a:prstClr val="black"/>
                </a:solidFill>
                <a:latin typeface="Proxima Nova" panose="020B0604020202020204"/>
              </a:rPr>
              <a:t> 			 color: red;</a:t>
            </a:r>
          </a:p>
          <a:p>
            <a:pPr lvl="0" algn="just"/>
            <a:r>
              <a:rPr lang="en-US" dirty="0">
                <a:solidFill>
                  <a:prstClr val="black"/>
                </a:solidFill>
                <a:latin typeface="Proxima Nova" panose="020B0604020202020204"/>
              </a:rPr>
              <a:t>			  text-align: center;</a:t>
            </a:r>
          </a:p>
          <a:p>
            <a:pPr lvl="0" algn="just"/>
            <a:r>
              <a:rPr lang="en-US" dirty="0">
                <a:solidFill>
                  <a:prstClr val="black"/>
                </a:solidFill>
                <a:latin typeface="Proxima Nova" panose="020B0604020202020204"/>
              </a:rPr>
              <a:t>			} </a:t>
            </a:r>
          </a:p>
          <a:p>
            <a:pPr lvl="0" algn="just"/>
            <a:r>
              <a:rPr lang="en-US" dirty="0">
                <a:solidFill>
                  <a:prstClr val="black"/>
                </a:solidFill>
                <a:latin typeface="Proxima Nova" panose="020B0604020202020204"/>
              </a:rPr>
              <a:t>		&lt;/style&gt;</a:t>
            </a:r>
          </a:p>
          <a:p>
            <a:pPr lvl="0" algn="just"/>
            <a:r>
              <a:rPr lang="en-US" dirty="0">
                <a:solidFill>
                  <a:prstClr val="black"/>
                </a:solidFill>
                <a:latin typeface="Proxima Nova" panose="020B0604020202020204"/>
              </a:rPr>
              <a:t>	&lt;/head&gt;</a:t>
            </a:r>
          </a:p>
          <a:p>
            <a:pPr lvl="0" algn="just"/>
            <a:r>
              <a:rPr lang="en-US" dirty="0">
                <a:solidFill>
                  <a:prstClr val="black"/>
                </a:solidFill>
                <a:latin typeface="Proxima Nova" panose="020B0604020202020204"/>
              </a:rPr>
              <a:t>	&lt;body&gt;</a:t>
            </a:r>
          </a:p>
          <a:p>
            <a:pPr lvl="0" algn="just"/>
            <a:r>
              <a:rPr lang="en-US" dirty="0">
                <a:solidFill>
                  <a:prstClr val="black"/>
                </a:solidFill>
                <a:latin typeface="Proxima Nova" panose="020B0604020202020204"/>
              </a:rPr>
              <a:t>		&lt;p&gt;Hello World!&lt;/p&gt;</a:t>
            </a:r>
          </a:p>
          <a:p>
            <a:pPr lvl="0" algn="just"/>
            <a:r>
              <a:rPr lang="en-US" dirty="0">
                <a:solidFill>
                  <a:prstClr val="black"/>
                </a:solidFill>
                <a:latin typeface="Proxima Nova" panose="020B0604020202020204"/>
              </a:rPr>
              <a:t>		&lt;p&gt;These paragraphs are styled with CSS.&lt;/p&gt;</a:t>
            </a:r>
          </a:p>
          <a:p>
            <a:pPr lvl="0" algn="just"/>
            <a:r>
              <a:rPr lang="en-US" dirty="0">
                <a:solidFill>
                  <a:prstClr val="black"/>
                </a:solidFill>
                <a:latin typeface="Proxima Nova" panose="020B0604020202020204"/>
              </a:rPr>
              <a:t>	&lt;/body&gt;</a:t>
            </a:r>
          </a:p>
          <a:p>
            <a:pPr lvl="0" algn="just"/>
            <a:r>
              <a:rPr lang="en-US" dirty="0">
                <a:solidFill>
                  <a:prstClr val="black"/>
                </a:solidFill>
                <a:latin typeface="Proxima Nova" panose="020B0604020202020204"/>
              </a:rPr>
              <a:t>&lt;/html&gt;		</a:t>
            </a:r>
          </a:p>
          <a:p>
            <a:pPr lvl="0" algn="just"/>
            <a:r>
              <a:rPr lang="en-US" b="1" dirty="0"/>
              <a:t>Output: </a:t>
            </a:r>
          </a:p>
          <a:p>
            <a:pPr lvl="0" algn="just"/>
            <a:r>
              <a:rPr lang="en-US" dirty="0">
                <a:solidFill>
                  <a:prstClr val="black"/>
                </a:solidFill>
                <a:latin typeface="Proxima Nova" panose="020B0604020202020204"/>
              </a:rPr>
              <a:t>		</a:t>
            </a:r>
          </a:p>
        </p:txBody>
      </p:sp>
      <p:pic>
        <p:nvPicPr>
          <p:cNvPr id="6" name="Picture 5">
            <a:extLst>
              <a:ext uri="{FF2B5EF4-FFF2-40B4-BE49-F238E27FC236}">
                <a16:creationId xmlns:a16="http://schemas.microsoft.com/office/drawing/2014/main" id="{497B9521-CC9B-392F-9AD4-184558544878}"/>
              </a:ext>
            </a:extLst>
          </p:cNvPr>
          <p:cNvPicPr>
            <a:picLocks noChangeAspect="1"/>
          </p:cNvPicPr>
          <p:nvPr/>
        </p:nvPicPr>
        <p:blipFill>
          <a:blip r:embed="rId2"/>
          <a:stretch>
            <a:fillRect/>
          </a:stretch>
        </p:blipFill>
        <p:spPr>
          <a:xfrm>
            <a:off x="589129" y="5699497"/>
            <a:ext cx="4009619" cy="777334"/>
          </a:xfrm>
          <a:prstGeom prst="rect">
            <a:avLst/>
          </a:prstGeom>
          <a:ln w="19050">
            <a:solidFill>
              <a:schemeClr val="tx1"/>
            </a:solidFill>
          </a:ln>
        </p:spPr>
      </p:pic>
    </p:spTree>
    <p:extLst>
      <p:ext uri="{BB962C8B-B14F-4D97-AF65-F5344CB8AC3E}">
        <p14:creationId xmlns:p14="http://schemas.microsoft.com/office/powerpoint/2010/main" val="254565120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CSS Syntax</a:t>
            </a:r>
            <a:endParaRPr sz="2400" dirty="0">
              <a:latin typeface="Proxima Nova"/>
            </a:endParaRPr>
          </a:p>
        </p:txBody>
      </p:sp>
      <p:sp>
        <p:nvSpPr>
          <p:cNvPr id="3" name="TextBox 2">
            <a:extLst>
              <a:ext uri="{FF2B5EF4-FFF2-40B4-BE49-F238E27FC236}">
                <a16:creationId xmlns:a16="http://schemas.microsoft.com/office/drawing/2014/main" id="{4D17847B-AD73-AE9B-CFBF-5D00355C0261}"/>
              </a:ext>
            </a:extLst>
          </p:cNvPr>
          <p:cNvSpPr txBox="1"/>
          <p:nvPr/>
        </p:nvSpPr>
        <p:spPr>
          <a:xfrm>
            <a:off x="478275" y="1158503"/>
            <a:ext cx="11266050" cy="4190891"/>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US" dirty="0">
                <a:solidFill>
                  <a:prstClr val="black"/>
                </a:solidFill>
                <a:latin typeface="Proxima Nova" panose="020B0604020202020204"/>
              </a:rPr>
              <a:t>If there is more than one property to be set, then </a:t>
            </a:r>
            <a:r>
              <a:rPr lang="en-US" dirty="0" err="1">
                <a:solidFill>
                  <a:prstClr val="black"/>
                </a:solidFill>
                <a:latin typeface="Proxima Nova" panose="020B0604020202020204"/>
              </a:rPr>
              <a:t>seperate</a:t>
            </a:r>
            <a:r>
              <a:rPr lang="en-US" dirty="0">
                <a:solidFill>
                  <a:prstClr val="black"/>
                </a:solidFill>
                <a:latin typeface="Proxima Nova" panose="020B0604020202020204"/>
              </a:rPr>
              <a:t> it by semicolon.</a:t>
            </a:r>
          </a:p>
          <a:p>
            <a:pPr lvl="0" algn="just">
              <a:lnSpc>
                <a:spcPct val="150000"/>
              </a:lnSpc>
            </a:pPr>
            <a:r>
              <a:rPr lang="en-US" dirty="0">
                <a:solidFill>
                  <a:prstClr val="black"/>
                </a:solidFill>
                <a:latin typeface="Proxima Nova" panose="020B0604020202020204"/>
              </a:rPr>
              <a:t>h1{</a:t>
            </a:r>
          </a:p>
          <a:p>
            <a:pPr lvl="0" algn="just">
              <a:lnSpc>
                <a:spcPct val="150000"/>
              </a:lnSpc>
            </a:pPr>
            <a:r>
              <a:rPr lang="en-US" dirty="0">
                <a:solidFill>
                  <a:prstClr val="black"/>
                </a:solidFill>
                <a:latin typeface="Proxima Nova" panose="020B0604020202020204"/>
              </a:rPr>
              <a:t>	font-family: “sans </a:t>
            </a:r>
            <a:r>
              <a:rPr lang="en-US" dirty="0" err="1">
                <a:solidFill>
                  <a:prstClr val="black"/>
                </a:solidFill>
                <a:latin typeface="Proxima Nova" panose="020B0604020202020204"/>
              </a:rPr>
              <a:t>sarif</a:t>
            </a:r>
            <a:r>
              <a:rPr lang="en-US" dirty="0">
                <a:solidFill>
                  <a:prstClr val="black"/>
                </a:solidFill>
                <a:latin typeface="Proxima Nova" panose="020B0604020202020204"/>
              </a:rPr>
              <a:t>”;</a:t>
            </a:r>
          </a:p>
          <a:p>
            <a:pPr lvl="0" algn="just">
              <a:lnSpc>
                <a:spcPct val="150000"/>
              </a:lnSpc>
            </a:pPr>
            <a:r>
              <a:rPr lang="en-US" dirty="0">
                <a:solidFill>
                  <a:prstClr val="black"/>
                </a:solidFill>
                <a:latin typeface="Proxima Nova" panose="020B0604020202020204"/>
              </a:rPr>
              <a:t>	color: red</a:t>
            </a:r>
          </a:p>
          <a:p>
            <a:pPr lvl="0" algn="just">
              <a:lnSpc>
                <a:spcPct val="150000"/>
              </a:lnSpc>
            </a:pPr>
            <a:r>
              <a:rPr lang="en-US" dirty="0">
                <a:solidFill>
                  <a:prstClr val="black"/>
                </a:solidFill>
                <a:latin typeface="Proxima Nova" panose="020B0604020202020204"/>
              </a:rPr>
              <a:t>	}</a:t>
            </a:r>
          </a:p>
          <a:p>
            <a:pPr marL="285750" lvl="0" indent="-285750" algn="just">
              <a:lnSpc>
                <a:spcPct val="150000"/>
              </a:lnSpc>
              <a:buFont typeface="Arial" panose="020B0604020202020204" pitchFamily="34" charset="0"/>
              <a:buChar char="•"/>
            </a:pPr>
            <a:endParaRPr lang="en-US" dirty="0">
              <a:solidFill>
                <a:prstClr val="black"/>
              </a:solidFill>
              <a:latin typeface="Proxima Nova" panose="020B0604020202020204"/>
            </a:endParaRPr>
          </a:p>
          <a:p>
            <a:pPr marL="285750" lvl="0" indent="-285750" algn="just">
              <a:lnSpc>
                <a:spcPct val="150000"/>
              </a:lnSpc>
              <a:buFont typeface="Arial" panose="020B0604020202020204" pitchFamily="34" charset="0"/>
              <a:buChar char="•"/>
            </a:pPr>
            <a:r>
              <a:rPr lang="en-US" dirty="0">
                <a:solidFill>
                  <a:prstClr val="black"/>
                </a:solidFill>
                <a:latin typeface="Proxima Nova" panose="020B0604020202020204"/>
              </a:rPr>
              <a:t>To make a whole group of headers red:</a:t>
            </a:r>
          </a:p>
          <a:p>
            <a:pPr lvl="0" algn="just">
              <a:lnSpc>
                <a:spcPct val="150000"/>
              </a:lnSpc>
            </a:pPr>
            <a:r>
              <a:rPr lang="en-US" dirty="0">
                <a:solidFill>
                  <a:prstClr val="black"/>
                </a:solidFill>
                <a:latin typeface="Proxima Nova" panose="020B0604020202020204"/>
              </a:rPr>
              <a:t>h1,h2,h3,h4,h5,h6{</a:t>
            </a:r>
          </a:p>
          <a:p>
            <a:pPr lvl="0" algn="just">
              <a:lnSpc>
                <a:spcPct val="150000"/>
              </a:lnSpc>
            </a:pPr>
            <a:r>
              <a:rPr lang="en-US" dirty="0">
                <a:solidFill>
                  <a:prstClr val="black"/>
                </a:solidFill>
                <a:latin typeface="Proxima Nova" panose="020B0604020202020204"/>
              </a:rPr>
              <a:t>	</a:t>
            </a:r>
            <a:r>
              <a:rPr lang="en-US" dirty="0" err="1">
                <a:solidFill>
                  <a:prstClr val="black"/>
                </a:solidFill>
                <a:latin typeface="Proxima Nova" panose="020B0604020202020204"/>
              </a:rPr>
              <a:t>color:red</a:t>
            </a:r>
            <a:endParaRPr lang="en-US" dirty="0">
              <a:solidFill>
                <a:prstClr val="black"/>
              </a:solidFill>
              <a:latin typeface="Proxima Nova" panose="020B0604020202020204"/>
            </a:endParaRPr>
          </a:p>
          <a:p>
            <a:pPr lvl="0" algn="just">
              <a:lnSpc>
                <a:spcPct val="150000"/>
              </a:lnSpc>
            </a:pPr>
            <a:r>
              <a:rPr lang="en-US" dirty="0">
                <a:solidFill>
                  <a:prstClr val="black"/>
                </a:solidFill>
                <a:latin typeface="Proxima Nova" panose="020B0604020202020204"/>
              </a:rPr>
              <a:t>	}</a:t>
            </a:r>
          </a:p>
        </p:txBody>
      </p:sp>
    </p:spTree>
    <p:extLst>
      <p:ext uri="{BB962C8B-B14F-4D97-AF65-F5344CB8AC3E}">
        <p14:creationId xmlns:p14="http://schemas.microsoft.com/office/powerpoint/2010/main" val="25177011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Types of CSS</a:t>
            </a:r>
            <a:endParaRPr sz="2400" dirty="0">
              <a:latin typeface="Proxima Nova"/>
            </a:endParaRPr>
          </a:p>
        </p:txBody>
      </p:sp>
      <p:sp>
        <p:nvSpPr>
          <p:cNvPr id="3" name="TextBox 2">
            <a:extLst>
              <a:ext uri="{FF2B5EF4-FFF2-40B4-BE49-F238E27FC236}">
                <a16:creationId xmlns:a16="http://schemas.microsoft.com/office/drawing/2014/main" id="{4D17847B-AD73-AE9B-CFBF-5D00355C0261}"/>
              </a:ext>
            </a:extLst>
          </p:cNvPr>
          <p:cNvSpPr txBox="1"/>
          <p:nvPr/>
        </p:nvSpPr>
        <p:spPr>
          <a:xfrm>
            <a:off x="478275" y="1158503"/>
            <a:ext cx="11266050" cy="45140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Proxima Nova" panose="020B0604020202020204"/>
              </a:rPr>
              <a:t>There are three ways of inserting a style sheet:</a:t>
            </a:r>
          </a:p>
        </p:txBody>
      </p:sp>
      <p:graphicFrame>
        <p:nvGraphicFramePr>
          <p:cNvPr id="2" name="Diagram 1">
            <a:extLst>
              <a:ext uri="{FF2B5EF4-FFF2-40B4-BE49-F238E27FC236}">
                <a16:creationId xmlns:a16="http://schemas.microsoft.com/office/drawing/2014/main" id="{31AE9135-C174-5F81-3EE5-E7FE80B94686}"/>
              </a:ext>
            </a:extLst>
          </p:cNvPr>
          <p:cNvGraphicFramePr/>
          <p:nvPr>
            <p:extLst>
              <p:ext uri="{D42A27DB-BD31-4B8C-83A1-F6EECF244321}">
                <p14:modId xmlns:p14="http://schemas.microsoft.com/office/powerpoint/2010/main" val="1086369879"/>
              </p:ext>
            </p:extLst>
          </p:nvPr>
        </p:nvGraphicFramePr>
        <p:xfrm>
          <a:off x="1298575" y="1828800"/>
          <a:ext cx="8128000" cy="43000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324819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Inline CSS</a:t>
            </a:r>
            <a:endParaRPr sz="2400" dirty="0">
              <a:latin typeface="Proxima Nova"/>
            </a:endParaRPr>
          </a:p>
        </p:txBody>
      </p:sp>
      <p:sp>
        <p:nvSpPr>
          <p:cNvPr id="7" name="TextBox 6">
            <a:extLst>
              <a:ext uri="{FF2B5EF4-FFF2-40B4-BE49-F238E27FC236}">
                <a16:creationId xmlns:a16="http://schemas.microsoft.com/office/drawing/2014/main" id="{03F6565B-B90F-A4B2-45A8-A218B91C768F}"/>
              </a:ext>
            </a:extLst>
          </p:cNvPr>
          <p:cNvSpPr txBox="1"/>
          <p:nvPr/>
        </p:nvSpPr>
        <p:spPr>
          <a:xfrm>
            <a:off x="404812" y="1005116"/>
            <a:ext cx="11382375" cy="294439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dirty="0">
                <a:solidFill>
                  <a:schemeClr val="tx1"/>
                </a:solidFill>
                <a:latin typeface="Proxima Nova" panose="020B0604020202020204"/>
              </a:rPr>
              <a:t>An inline style may be used to apply a unique style for a single element.</a:t>
            </a:r>
          </a:p>
          <a:p>
            <a:pPr marL="342900" indent="-342900" algn="just">
              <a:lnSpc>
                <a:spcPct val="150000"/>
              </a:lnSpc>
              <a:buFont typeface="Arial" panose="020B0604020202020204" pitchFamily="34" charset="0"/>
              <a:buChar char="•"/>
            </a:pPr>
            <a:r>
              <a:rPr lang="en-US" dirty="0">
                <a:solidFill>
                  <a:schemeClr val="tx1"/>
                </a:solidFill>
                <a:latin typeface="Proxima Nova" panose="020B0604020202020204"/>
              </a:rPr>
              <a:t>To use inline styles, add the style attribute to the relevant element. The style attribute can contain any CSS property</a:t>
            </a:r>
          </a:p>
          <a:p>
            <a:pPr marL="342900" indent="-342900" algn="just">
              <a:lnSpc>
                <a:spcPct val="150000"/>
              </a:lnSpc>
              <a:buFont typeface="Arial" panose="020B0604020202020204" pitchFamily="34" charset="0"/>
              <a:buChar char="•"/>
            </a:pPr>
            <a:r>
              <a:rPr lang="en-US" b="1" i="1" dirty="0">
                <a:solidFill>
                  <a:schemeClr val="tx1"/>
                </a:solidFill>
                <a:latin typeface="Proxima Nova" panose="020B0604020202020204"/>
              </a:rPr>
              <a:t>Advantages</a:t>
            </a:r>
          </a:p>
          <a:p>
            <a:pPr marL="800100" lvl="1" indent="-342900" algn="just">
              <a:lnSpc>
                <a:spcPct val="150000"/>
              </a:lnSpc>
              <a:buFont typeface="Arial" panose="020B0604020202020204" pitchFamily="34" charset="0"/>
              <a:buChar char="•"/>
            </a:pPr>
            <a:r>
              <a:rPr lang="en-US" dirty="0">
                <a:solidFill>
                  <a:schemeClr val="tx1"/>
                </a:solidFill>
                <a:latin typeface="Proxima Nova" panose="020B0604020202020204"/>
              </a:rPr>
              <a:t>We can apply a uniform style on tags for the whole document</a:t>
            </a:r>
          </a:p>
          <a:p>
            <a:pPr marL="342900" indent="-342900" algn="just">
              <a:lnSpc>
                <a:spcPct val="150000"/>
              </a:lnSpc>
              <a:buFont typeface="Arial" panose="020B0604020202020204" pitchFamily="34" charset="0"/>
              <a:buChar char="•"/>
            </a:pPr>
            <a:r>
              <a:rPr lang="en-US" b="1" i="1" dirty="0">
                <a:solidFill>
                  <a:schemeClr val="tx1"/>
                </a:solidFill>
                <a:latin typeface="Proxima Nova" panose="020B0604020202020204"/>
              </a:rPr>
              <a:t>Disadvantages</a:t>
            </a:r>
          </a:p>
          <a:p>
            <a:pPr marL="800100" lvl="1" indent="-342900" algn="just">
              <a:lnSpc>
                <a:spcPct val="150000"/>
              </a:lnSpc>
              <a:buFont typeface="Arial" panose="020B0604020202020204" pitchFamily="34" charset="0"/>
              <a:buChar char="•"/>
            </a:pPr>
            <a:r>
              <a:rPr lang="en-US" dirty="0">
                <a:solidFill>
                  <a:schemeClr val="tx1"/>
                </a:solidFill>
                <a:latin typeface="Proxima Nova" panose="020B0604020202020204"/>
              </a:rPr>
              <a:t>The actual content is mixed with the presentation.</a:t>
            </a:r>
          </a:p>
        </p:txBody>
      </p:sp>
    </p:spTree>
    <p:extLst>
      <p:ext uri="{BB962C8B-B14F-4D97-AF65-F5344CB8AC3E}">
        <p14:creationId xmlns:p14="http://schemas.microsoft.com/office/powerpoint/2010/main" val="4591073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Example</a:t>
            </a:r>
            <a:endParaRPr lang="en-US" sz="2400" dirty="0">
              <a:latin typeface="Proxima Nova"/>
            </a:endParaRPr>
          </a:p>
        </p:txBody>
      </p:sp>
      <p:sp>
        <p:nvSpPr>
          <p:cNvPr id="3" name="TextBox 2">
            <a:extLst>
              <a:ext uri="{FF2B5EF4-FFF2-40B4-BE49-F238E27FC236}">
                <a16:creationId xmlns:a16="http://schemas.microsoft.com/office/drawing/2014/main" id="{D4EF2CB4-AC77-2A3A-FE02-E6FA62064EE5}"/>
              </a:ext>
            </a:extLst>
          </p:cNvPr>
          <p:cNvSpPr txBox="1"/>
          <p:nvPr/>
        </p:nvSpPr>
        <p:spPr>
          <a:xfrm>
            <a:off x="478275" y="1087815"/>
            <a:ext cx="11227950" cy="3139321"/>
          </a:xfrm>
          <a:prstGeom prst="rect">
            <a:avLst/>
          </a:prstGeom>
          <a:noFill/>
        </p:spPr>
        <p:txBody>
          <a:bodyPr wrap="square">
            <a:spAutoFit/>
          </a:bodyPr>
          <a:lstStyle/>
          <a:p>
            <a:r>
              <a:rPr lang="en-US" dirty="0">
                <a:latin typeface="Proxima Nova" panose="020B0604020202020204"/>
              </a:rPr>
              <a:t>&lt;!DOCTYPE html&gt;</a:t>
            </a:r>
          </a:p>
          <a:p>
            <a:r>
              <a:rPr lang="en-US" dirty="0">
                <a:latin typeface="Proxima Nova" panose="020B0604020202020204"/>
              </a:rPr>
              <a:t>&lt;html&gt;</a:t>
            </a:r>
          </a:p>
          <a:p>
            <a:r>
              <a:rPr lang="en-US" dirty="0">
                <a:latin typeface="Proxima Nova" panose="020B0604020202020204"/>
              </a:rPr>
              <a:t>	&lt;body&gt;</a:t>
            </a:r>
          </a:p>
          <a:p>
            <a:r>
              <a:rPr lang="en-US" dirty="0">
                <a:latin typeface="Proxima Nova" panose="020B0604020202020204"/>
              </a:rPr>
              <a:t>		&lt;h1 style="</a:t>
            </a:r>
            <a:r>
              <a:rPr lang="en-US" dirty="0" err="1">
                <a:latin typeface="Proxima Nova" panose="020B0604020202020204"/>
              </a:rPr>
              <a:t>color:blue;text-align:center</a:t>
            </a:r>
            <a:r>
              <a:rPr lang="en-US" dirty="0">
                <a:latin typeface="Proxima Nova" panose="020B0604020202020204"/>
              </a:rPr>
              <a:t>;"&gt;This is a heading&lt;/h1&gt;</a:t>
            </a:r>
          </a:p>
          <a:p>
            <a:r>
              <a:rPr lang="en-US" dirty="0">
                <a:latin typeface="Proxima Nova" panose="020B0604020202020204"/>
              </a:rPr>
              <a:t>		&lt;p style="</a:t>
            </a:r>
            <a:r>
              <a:rPr lang="en-US" dirty="0" err="1">
                <a:latin typeface="Proxima Nova" panose="020B0604020202020204"/>
              </a:rPr>
              <a:t>color:red</a:t>
            </a:r>
            <a:r>
              <a:rPr lang="en-US" dirty="0">
                <a:latin typeface="Proxima Nova" panose="020B0604020202020204"/>
              </a:rPr>
              <a:t>;"&gt;This is a paragraph.&lt;/p&gt;</a:t>
            </a:r>
          </a:p>
          <a:p>
            <a:r>
              <a:rPr lang="en-US" dirty="0">
                <a:latin typeface="Proxima Nova" panose="020B0604020202020204"/>
              </a:rPr>
              <a:t>	&lt;/body&gt;</a:t>
            </a:r>
          </a:p>
          <a:p>
            <a:r>
              <a:rPr lang="en-US" dirty="0">
                <a:latin typeface="Proxima Nova" panose="020B0604020202020204"/>
              </a:rPr>
              <a:t>&lt;/html&gt;</a:t>
            </a:r>
          </a:p>
          <a:p>
            <a:endParaRPr lang="en-US" dirty="0">
              <a:latin typeface="Proxima Nova" panose="020B0604020202020204"/>
            </a:endParaRPr>
          </a:p>
          <a:p>
            <a:r>
              <a:rPr lang="en-US" dirty="0">
                <a:latin typeface="Proxima Nova" panose="020B0604020202020204"/>
              </a:rPr>
              <a:t>OUTPUT:</a:t>
            </a:r>
          </a:p>
          <a:p>
            <a:endParaRPr lang="en-US" dirty="0">
              <a:latin typeface="Proxima Nova" panose="020B0604020202020204"/>
            </a:endParaRPr>
          </a:p>
          <a:p>
            <a:endParaRPr lang="en-US" dirty="0">
              <a:latin typeface="Proxima Nova" panose="020B0604020202020204"/>
            </a:endParaRPr>
          </a:p>
        </p:txBody>
      </p:sp>
      <p:pic>
        <p:nvPicPr>
          <p:cNvPr id="4" name="Picture 3">
            <a:extLst>
              <a:ext uri="{FF2B5EF4-FFF2-40B4-BE49-F238E27FC236}">
                <a16:creationId xmlns:a16="http://schemas.microsoft.com/office/drawing/2014/main" id="{F6F999A9-EB98-A2B6-426A-11C0AE6A793E}"/>
              </a:ext>
            </a:extLst>
          </p:cNvPr>
          <p:cNvPicPr>
            <a:picLocks noChangeAspect="1"/>
          </p:cNvPicPr>
          <p:nvPr/>
        </p:nvPicPr>
        <p:blipFill>
          <a:blip r:embed="rId2"/>
          <a:stretch>
            <a:fillRect/>
          </a:stretch>
        </p:blipFill>
        <p:spPr>
          <a:xfrm>
            <a:off x="485775" y="3877066"/>
            <a:ext cx="7439025" cy="1971675"/>
          </a:xfrm>
          <a:prstGeom prst="rect">
            <a:avLst/>
          </a:prstGeom>
          <a:ln w="19050">
            <a:solidFill>
              <a:schemeClr val="tx1"/>
            </a:solidFill>
          </a:ln>
        </p:spPr>
      </p:pic>
    </p:spTree>
    <p:extLst>
      <p:ext uri="{BB962C8B-B14F-4D97-AF65-F5344CB8AC3E}">
        <p14:creationId xmlns:p14="http://schemas.microsoft.com/office/powerpoint/2010/main" val="12882468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Internal CSS</a:t>
            </a:r>
            <a:endParaRPr sz="2400" dirty="0">
              <a:latin typeface="Proxima Nova"/>
            </a:endParaRPr>
          </a:p>
        </p:txBody>
      </p:sp>
      <p:sp>
        <p:nvSpPr>
          <p:cNvPr id="3" name="TextBox 2">
            <a:extLst>
              <a:ext uri="{FF2B5EF4-FFF2-40B4-BE49-F238E27FC236}">
                <a16:creationId xmlns:a16="http://schemas.microsoft.com/office/drawing/2014/main" id="{5D7C59DA-1D08-973C-51CD-5385BA27C3BA}"/>
              </a:ext>
            </a:extLst>
          </p:cNvPr>
          <p:cNvSpPr txBox="1"/>
          <p:nvPr/>
        </p:nvSpPr>
        <p:spPr>
          <a:xfrm>
            <a:off x="276224" y="986641"/>
            <a:ext cx="11496675" cy="377539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Proxima Nova" panose="020B0604020202020204"/>
              </a:rPr>
              <a:t>An internal style sheet may be used if one single HTML page has a unique style.</a:t>
            </a:r>
          </a:p>
          <a:p>
            <a:pPr marL="285750" indent="-285750" algn="just">
              <a:lnSpc>
                <a:spcPct val="150000"/>
              </a:lnSpc>
              <a:buFont typeface="Arial" panose="020B0604020202020204" pitchFamily="34" charset="0"/>
              <a:buChar char="•"/>
            </a:pPr>
            <a:r>
              <a:rPr lang="en-US" dirty="0">
                <a:latin typeface="Proxima Nova" panose="020B0604020202020204"/>
              </a:rPr>
              <a:t>The internal style is defined inside the &lt;style&gt; element, inside the head section.</a:t>
            </a:r>
          </a:p>
          <a:p>
            <a:pPr marL="285750" indent="-285750" algn="just">
              <a:lnSpc>
                <a:spcPct val="150000"/>
              </a:lnSpc>
              <a:buFont typeface="Arial" panose="020B0604020202020204" pitchFamily="34" charset="0"/>
              <a:buChar char="•"/>
            </a:pPr>
            <a:r>
              <a:rPr lang="en-US" b="1" i="1" dirty="0">
                <a:latin typeface="Proxima Nova" panose="020B0604020202020204"/>
              </a:rPr>
              <a:t>Advantages</a:t>
            </a:r>
          </a:p>
          <a:p>
            <a:pPr marL="285750" indent="-285750" algn="just">
              <a:lnSpc>
                <a:spcPct val="150000"/>
              </a:lnSpc>
              <a:buFont typeface="Arial" panose="020B0604020202020204" pitchFamily="34" charset="0"/>
              <a:buChar char="•"/>
            </a:pPr>
            <a:r>
              <a:rPr lang="en-US" dirty="0">
                <a:latin typeface="Proxima Nova" panose="020B0604020202020204"/>
              </a:rPr>
              <a:t>Helps to decide the layout of the web page</a:t>
            </a:r>
          </a:p>
          <a:p>
            <a:pPr marL="285750" indent="-285750" algn="just">
              <a:lnSpc>
                <a:spcPct val="150000"/>
              </a:lnSpc>
              <a:buFont typeface="Arial" panose="020B0604020202020204" pitchFamily="34" charset="0"/>
              <a:buChar char="•"/>
            </a:pPr>
            <a:r>
              <a:rPr lang="en-US" dirty="0">
                <a:latin typeface="Proxima Nova" panose="020B0604020202020204"/>
              </a:rPr>
              <a:t>Useful when we want to apply a unique style sheet for the web page</a:t>
            </a:r>
          </a:p>
          <a:p>
            <a:pPr marL="285750" indent="-285750" algn="just">
              <a:lnSpc>
                <a:spcPct val="150000"/>
              </a:lnSpc>
              <a:buFont typeface="Arial" panose="020B0604020202020204" pitchFamily="34" charset="0"/>
              <a:buChar char="•"/>
            </a:pPr>
            <a:r>
              <a:rPr lang="en-US" b="1" i="1" dirty="0">
                <a:latin typeface="Proxima Nova" panose="020B0604020202020204"/>
              </a:rPr>
              <a:t>Disadvantage</a:t>
            </a:r>
          </a:p>
          <a:p>
            <a:pPr marL="285750" indent="-285750" algn="just">
              <a:lnSpc>
                <a:spcPct val="150000"/>
              </a:lnSpc>
              <a:buFont typeface="Arial" panose="020B0604020202020204" pitchFamily="34" charset="0"/>
              <a:buChar char="•"/>
            </a:pPr>
            <a:r>
              <a:rPr lang="en-US" dirty="0">
                <a:latin typeface="Proxima Nova" panose="020B0604020202020204"/>
              </a:rPr>
              <a:t>Applicable to a single page only</a:t>
            </a:r>
          </a:p>
          <a:p>
            <a:pPr marL="285750" indent="-285750" algn="just">
              <a:lnSpc>
                <a:spcPct val="150000"/>
              </a:lnSpc>
              <a:buFont typeface="Arial" panose="020B0604020202020204" pitchFamily="34" charset="0"/>
              <a:buChar char="•"/>
            </a:pPr>
            <a:endParaRPr lang="en-US" dirty="0">
              <a:latin typeface="Proxima Nova" panose="020B0604020202020204"/>
            </a:endParaRPr>
          </a:p>
          <a:p>
            <a:pPr marL="285750" indent="-285750" algn="just">
              <a:lnSpc>
                <a:spcPct val="150000"/>
              </a:lnSpc>
              <a:buFont typeface="Arial" panose="020B0604020202020204" pitchFamily="34" charset="0"/>
              <a:buChar char="•"/>
            </a:pPr>
            <a:endParaRPr lang="en-US" dirty="0">
              <a:latin typeface="Proxima Nova" panose="020B0604020202020204"/>
            </a:endParaRPr>
          </a:p>
        </p:txBody>
      </p:sp>
    </p:spTree>
    <p:extLst>
      <p:ext uri="{BB962C8B-B14F-4D97-AF65-F5344CB8AC3E}">
        <p14:creationId xmlns:p14="http://schemas.microsoft.com/office/powerpoint/2010/main" val="1842676987"/>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Example </a:t>
            </a:r>
            <a:endParaRPr sz="2400" dirty="0">
              <a:latin typeface="Proxima Nova"/>
            </a:endParaRPr>
          </a:p>
        </p:txBody>
      </p:sp>
      <p:sp>
        <p:nvSpPr>
          <p:cNvPr id="3" name="TextBox 2">
            <a:extLst>
              <a:ext uri="{FF2B5EF4-FFF2-40B4-BE49-F238E27FC236}">
                <a16:creationId xmlns:a16="http://schemas.microsoft.com/office/drawing/2014/main" id="{AC8A069F-B620-AE17-9948-3CF0E7C2528B}"/>
              </a:ext>
            </a:extLst>
          </p:cNvPr>
          <p:cNvSpPr txBox="1"/>
          <p:nvPr/>
        </p:nvSpPr>
        <p:spPr>
          <a:xfrm>
            <a:off x="323850" y="1064121"/>
            <a:ext cx="11487150" cy="5909310"/>
          </a:xfrm>
          <a:prstGeom prst="rect">
            <a:avLst/>
          </a:prstGeom>
          <a:noFill/>
        </p:spPr>
        <p:txBody>
          <a:bodyPr wrap="square">
            <a:spAutoFit/>
          </a:bodyPr>
          <a:lstStyle/>
          <a:p>
            <a:r>
              <a:rPr lang="en-IN" dirty="0">
                <a:latin typeface="Proxima Nova" panose="020B0604020202020204"/>
              </a:rPr>
              <a:t>&lt;!DOCTYPE html&gt;</a:t>
            </a:r>
          </a:p>
          <a:p>
            <a:r>
              <a:rPr lang="en-IN" dirty="0">
                <a:latin typeface="Proxima Nova" panose="020B0604020202020204"/>
              </a:rPr>
              <a:t>&lt;html&gt;</a:t>
            </a:r>
            <a:br>
              <a:rPr lang="en-IN" dirty="0">
                <a:latin typeface="Proxima Nova" panose="020B0604020202020204"/>
              </a:rPr>
            </a:br>
            <a:r>
              <a:rPr lang="en-IN" dirty="0">
                <a:latin typeface="Proxima Nova" panose="020B0604020202020204"/>
              </a:rPr>
              <a:t>	&lt;head&gt;</a:t>
            </a:r>
            <a:br>
              <a:rPr lang="en-IN" dirty="0">
                <a:latin typeface="Proxima Nova" panose="020B0604020202020204"/>
              </a:rPr>
            </a:br>
            <a:r>
              <a:rPr lang="en-IN" dirty="0">
                <a:latin typeface="Proxima Nova" panose="020B0604020202020204"/>
              </a:rPr>
              <a:t>		&lt;style&gt;</a:t>
            </a:r>
            <a:br>
              <a:rPr lang="en-IN" dirty="0">
                <a:latin typeface="Proxima Nova" panose="020B0604020202020204"/>
              </a:rPr>
            </a:br>
            <a:r>
              <a:rPr lang="en-IN" dirty="0">
                <a:latin typeface="Proxima Nova" panose="020B0604020202020204"/>
              </a:rPr>
              <a:t>			body {</a:t>
            </a:r>
            <a:br>
              <a:rPr lang="en-IN" dirty="0">
                <a:latin typeface="Proxima Nova" panose="020B0604020202020204"/>
              </a:rPr>
            </a:br>
            <a:r>
              <a:rPr lang="en-IN" dirty="0">
                <a:latin typeface="Proxima Nova" panose="020B0604020202020204"/>
              </a:rPr>
              <a:t>				  background-</a:t>
            </a:r>
            <a:r>
              <a:rPr lang="en-IN" dirty="0" err="1">
                <a:latin typeface="Proxima Nova" panose="020B0604020202020204"/>
              </a:rPr>
              <a:t>color</a:t>
            </a:r>
            <a:r>
              <a:rPr lang="en-IN" dirty="0">
                <a:latin typeface="Proxima Nova" panose="020B0604020202020204"/>
              </a:rPr>
              <a:t>: linen;</a:t>
            </a:r>
            <a:br>
              <a:rPr lang="en-IN" dirty="0">
                <a:latin typeface="Proxima Nova" panose="020B0604020202020204"/>
              </a:rPr>
            </a:br>
            <a:r>
              <a:rPr lang="en-IN" dirty="0">
                <a:latin typeface="Proxima Nova" panose="020B0604020202020204"/>
              </a:rPr>
              <a:t>			}</a:t>
            </a:r>
            <a:br>
              <a:rPr lang="en-IN" dirty="0">
                <a:latin typeface="Proxima Nova" panose="020B0604020202020204"/>
              </a:rPr>
            </a:br>
            <a:br>
              <a:rPr lang="en-IN" dirty="0">
                <a:latin typeface="Proxima Nova" panose="020B0604020202020204"/>
              </a:rPr>
            </a:br>
            <a:r>
              <a:rPr lang="en-IN" dirty="0">
                <a:latin typeface="Proxima Nova" panose="020B0604020202020204"/>
              </a:rPr>
              <a:t>			h1 {																		Output:</a:t>
            </a:r>
            <a:br>
              <a:rPr lang="en-IN" dirty="0">
                <a:latin typeface="Proxima Nova" panose="020B0604020202020204"/>
              </a:rPr>
            </a:br>
            <a:r>
              <a:rPr lang="en-IN" dirty="0">
                <a:latin typeface="Proxima Nova" panose="020B0604020202020204"/>
              </a:rPr>
              <a:t>				  </a:t>
            </a:r>
            <a:r>
              <a:rPr lang="en-IN" dirty="0" err="1">
                <a:latin typeface="Proxima Nova" panose="020B0604020202020204"/>
              </a:rPr>
              <a:t>color</a:t>
            </a:r>
            <a:r>
              <a:rPr lang="en-IN" dirty="0">
                <a:latin typeface="Proxima Nova" panose="020B0604020202020204"/>
              </a:rPr>
              <a:t>: maroon;</a:t>
            </a:r>
            <a:br>
              <a:rPr lang="en-IN" dirty="0">
                <a:latin typeface="Proxima Nova" panose="020B0604020202020204"/>
              </a:rPr>
            </a:br>
            <a:r>
              <a:rPr lang="en-IN" dirty="0">
                <a:latin typeface="Proxima Nova" panose="020B0604020202020204"/>
              </a:rPr>
              <a:t>				  margin-left: 40px;</a:t>
            </a:r>
            <a:br>
              <a:rPr lang="en-IN" dirty="0">
                <a:latin typeface="Proxima Nova" panose="020B0604020202020204"/>
              </a:rPr>
            </a:br>
            <a:r>
              <a:rPr lang="en-IN" dirty="0">
                <a:latin typeface="Proxima Nova" panose="020B0604020202020204"/>
              </a:rPr>
              <a:t>			} </a:t>
            </a:r>
          </a:p>
          <a:p>
            <a:r>
              <a:rPr lang="en-IN" dirty="0">
                <a:latin typeface="Proxima Nova" panose="020B0604020202020204"/>
              </a:rPr>
              <a:t>	&lt;/style&gt;</a:t>
            </a:r>
            <a:br>
              <a:rPr lang="en-IN" dirty="0">
                <a:latin typeface="Proxima Nova" panose="020B0604020202020204"/>
              </a:rPr>
            </a:br>
            <a:r>
              <a:rPr lang="en-IN" dirty="0">
                <a:latin typeface="Proxima Nova" panose="020B0604020202020204"/>
              </a:rPr>
              <a:t>	&lt;/head&gt;</a:t>
            </a:r>
            <a:br>
              <a:rPr lang="en-IN" dirty="0">
                <a:latin typeface="Proxima Nova" panose="020B0604020202020204"/>
              </a:rPr>
            </a:br>
            <a:r>
              <a:rPr lang="en-IN" dirty="0">
                <a:latin typeface="Proxima Nova" panose="020B0604020202020204"/>
              </a:rPr>
              <a:t>	&lt;body&gt;</a:t>
            </a:r>
            <a:br>
              <a:rPr lang="en-IN" dirty="0">
                <a:latin typeface="Proxima Nova" panose="020B0604020202020204"/>
              </a:rPr>
            </a:br>
            <a:r>
              <a:rPr lang="en-IN" dirty="0">
                <a:latin typeface="Proxima Nova" panose="020B0604020202020204"/>
              </a:rPr>
              <a:t>		&lt;h1&gt;This is a heading&lt;/h1&gt;</a:t>
            </a:r>
            <a:br>
              <a:rPr lang="en-IN" dirty="0">
                <a:latin typeface="Proxima Nova" panose="020B0604020202020204"/>
              </a:rPr>
            </a:br>
            <a:r>
              <a:rPr lang="en-IN" dirty="0">
                <a:latin typeface="Proxima Nova" panose="020B0604020202020204"/>
              </a:rPr>
              <a:t>		&lt;p&gt;This is a paragraph.&lt;/p&gt;</a:t>
            </a:r>
            <a:br>
              <a:rPr lang="en-IN" dirty="0">
                <a:latin typeface="Proxima Nova" panose="020B0604020202020204"/>
              </a:rPr>
            </a:br>
            <a:r>
              <a:rPr lang="en-IN" dirty="0">
                <a:latin typeface="Proxima Nova" panose="020B0604020202020204"/>
              </a:rPr>
              <a:t>	&lt;/body&gt;</a:t>
            </a:r>
            <a:br>
              <a:rPr lang="en-IN" dirty="0">
                <a:latin typeface="Proxima Nova" panose="020B0604020202020204"/>
              </a:rPr>
            </a:br>
            <a:r>
              <a:rPr lang="en-IN" dirty="0">
                <a:latin typeface="Proxima Nova" panose="020B0604020202020204"/>
              </a:rPr>
              <a:t>&lt;/html&gt;</a:t>
            </a:r>
          </a:p>
          <a:p>
            <a:endParaRPr lang="en-IN" dirty="0">
              <a:latin typeface="Proxima Nova" panose="020B0604020202020204"/>
            </a:endParaRPr>
          </a:p>
        </p:txBody>
      </p:sp>
      <p:pic>
        <p:nvPicPr>
          <p:cNvPr id="4" name="Picture 3">
            <a:extLst>
              <a:ext uri="{FF2B5EF4-FFF2-40B4-BE49-F238E27FC236}">
                <a16:creationId xmlns:a16="http://schemas.microsoft.com/office/drawing/2014/main" id="{481E04CC-C679-71C2-0D8A-B82FE1F4D027}"/>
              </a:ext>
            </a:extLst>
          </p:cNvPr>
          <p:cNvPicPr>
            <a:picLocks noChangeAspect="1"/>
          </p:cNvPicPr>
          <p:nvPr/>
        </p:nvPicPr>
        <p:blipFill>
          <a:blip r:embed="rId2"/>
          <a:stretch>
            <a:fillRect/>
          </a:stretch>
        </p:blipFill>
        <p:spPr>
          <a:xfrm>
            <a:off x="7248525" y="4018776"/>
            <a:ext cx="4562475" cy="2009775"/>
          </a:xfrm>
          <a:prstGeom prst="rect">
            <a:avLst/>
          </a:prstGeom>
          <a:ln w="19050">
            <a:solidFill>
              <a:schemeClr val="tx1"/>
            </a:solidFill>
          </a:ln>
        </p:spPr>
      </p:pic>
    </p:spTree>
    <p:extLst>
      <p:ext uri="{BB962C8B-B14F-4D97-AF65-F5344CB8AC3E}">
        <p14:creationId xmlns:p14="http://schemas.microsoft.com/office/powerpoint/2010/main" val="25789987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External CSS</a:t>
            </a:r>
            <a:endParaRPr sz="2400" dirty="0">
              <a:latin typeface="Proxima Nova"/>
            </a:endParaRPr>
          </a:p>
        </p:txBody>
      </p:sp>
      <p:sp>
        <p:nvSpPr>
          <p:cNvPr id="3" name="TextBox 2">
            <a:extLst>
              <a:ext uri="{FF2B5EF4-FFF2-40B4-BE49-F238E27FC236}">
                <a16:creationId xmlns:a16="http://schemas.microsoft.com/office/drawing/2014/main" id="{4BB35B64-6E14-89D5-89E9-42577A16230C}"/>
              </a:ext>
            </a:extLst>
          </p:cNvPr>
          <p:cNvSpPr txBox="1"/>
          <p:nvPr/>
        </p:nvSpPr>
        <p:spPr>
          <a:xfrm>
            <a:off x="478275" y="1050489"/>
            <a:ext cx="11304150" cy="502188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Proxima Nova" panose="020B0604020202020204"/>
              </a:rPr>
              <a:t>With an external style sheet, you can change the look of an entire website by changing just one file!</a:t>
            </a:r>
          </a:p>
          <a:p>
            <a:pPr marL="285750" indent="-285750" algn="just">
              <a:lnSpc>
                <a:spcPct val="150000"/>
              </a:lnSpc>
              <a:buFont typeface="Arial" panose="020B0604020202020204" pitchFamily="34" charset="0"/>
              <a:buChar char="•"/>
            </a:pPr>
            <a:r>
              <a:rPr lang="en-US" dirty="0">
                <a:latin typeface="Proxima Nova" panose="020B0604020202020204"/>
              </a:rPr>
              <a:t>Each HTML page must include a reference to the external style sheet file inside the &lt;link&gt; element, inside the head section.</a:t>
            </a:r>
          </a:p>
          <a:p>
            <a:pPr marL="285750" indent="-285750" algn="just">
              <a:lnSpc>
                <a:spcPct val="150000"/>
              </a:lnSpc>
              <a:buFont typeface="Arial" panose="020B0604020202020204" pitchFamily="34" charset="0"/>
              <a:buChar char="•"/>
            </a:pPr>
            <a:r>
              <a:rPr lang="en-US" dirty="0">
                <a:latin typeface="Proxima Nova" panose="020B0604020202020204"/>
              </a:rPr>
              <a:t>An external style sheet can be written in any text editor, and must be saved with a .</a:t>
            </a:r>
            <a:r>
              <a:rPr lang="en-US" dirty="0" err="1">
                <a:latin typeface="Proxima Nova" panose="020B0604020202020204"/>
              </a:rPr>
              <a:t>css</a:t>
            </a:r>
            <a:r>
              <a:rPr lang="en-US" dirty="0">
                <a:latin typeface="Proxima Nova" panose="020B0604020202020204"/>
              </a:rPr>
              <a:t> extension.</a:t>
            </a:r>
          </a:p>
          <a:p>
            <a:pPr marL="285750" indent="-285750" algn="just">
              <a:lnSpc>
                <a:spcPct val="150000"/>
              </a:lnSpc>
              <a:buFont typeface="Arial" panose="020B0604020202020204" pitchFamily="34" charset="0"/>
              <a:buChar char="•"/>
            </a:pPr>
            <a:r>
              <a:rPr lang="en-US" dirty="0">
                <a:latin typeface="Proxima Nova" panose="020B0604020202020204"/>
              </a:rPr>
              <a:t>The external .</a:t>
            </a:r>
            <a:r>
              <a:rPr lang="en-US" dirty="0" err="1">
                <a:latin typeface="Proxima Nova" panose="020B0604020202020204"/>
              </a:rPr>
              <a:t>css</a:t>
            </a:r>
            <a:r>
              <a:rPr lang="en-US" dirty="0">
                <a:latin typeface="Proxima Nova" panose="020B0604020202020204"/>
              </a:rPr>
              <a:t> file should not contain any HTML tags.</a:t>
            </a:r>
          </a:p>
          <a:p>
            <a:pPr marL="342900" indent="-342900" algn="just">
              <a:lnSpc>
                <a:spcPct val="150000"/>
              </a:lnSpc>
              <a:buFont typeface="Arial" panose="020B0604020202020204" pitchFamily="34" charset="0"/>
              <a:buChar char="•"/>
            </a:pPr>
            <a:r>
              <a:rPr lang="en-US" b="1" dirty="0">
                <a:solidFill>
                  <a:schemeClr val="tx1"/>
                </a:solidFill>
                <a:latin typeface="Proxima Nova" panose="020B0604020202020204"/>
              </a:rPr>
              <a:t>Cascading order:</a:t>
            </a:r>
          </a:p>
          <a:p>
            <a:pPr marL="342900" indent="-342900" algn="just">
              <a:lnSpc>
                <a:spcPct val="150000"/>
              </a:lnSpc>
              <a:buFont typeface="Arial" panose="020B0604020202020204" pitchFamily="34" charset="0"/>
              <a:buChar char="•"/>
            </a:pPr>
            <a:r>
              <a:rPr lang="en-US" dirty="0">
                <a:solidFill>
                  <a:schemeClr val="tx1"/>
                </a:solidFill>
                <a:latin typeface="Proxima Nova" panose="020B0604020202020204"/>
              </a:rPr>
              <a:t>All the styles in a page will "cascade" into a new "virtual" style sheet by the following rules, where number one has the highest priority:</a:t>
            </a:r>
          </a:p>
          <a:p>
            <a:pPr marL="800100" lvl="1" indent="-342900" algn="just">
              <a:lnSpc>
                <a:spcPct val="150000"/>
              </a:lnSpc>
              <a:buFont typeface="Arial" panose="020B0604020202020204" pitchFamily="34" charset="0"/>
              <a:buChar char="•"/>
            </a:pPr>
            <a:r>
              <a:rPr lang="en-US" dirty="0">
                <a:solidFill>
                  <a:schemeClr val="tx1"/>
                </a:solidFill>
                <a:latin typeface="Proxima Nova" panose="020B0604020202020204"/>
              </a:rPr>
              <a:t>Inline style (inside an HTML element)</a:t>
            </a:r>
          </a:p>
          <a:p>
            <a:pPr marL="800100" lvl="1" indent="-342900" algn="just">
              <a:lnSpc>
                <a:spcPct val="150000"/>
              </a:lnSpc>
              <a:buFont typeface="Arial" panose="020B0604020202020204" pitchFamily="34" charset="0"/>
              <a:buChar char="•"/>
            </a:pPr>
            <a:r>
              <a:rPr lang="en-US" dirty="0">
                <a:solidFill>
                  <a:schemeClr val="tx1"/>
                </a:solidFill>
                <a:latin typeface="Proxima Nova" panose="020B0604020202020204"/>
              </a:rPr>
              <a:t>External and internal style sheets (in the head section)</a:t>
            </a:r>
          </a:p>
          <a:p>
            <a:pPr marL="800100" lvl="1" indent="-342900" algn="just">
              <a:lnSpc>
                <a:spcPct val="150000"/>
              </a:lnSpc>
              <a:buFont typeface="Arial" panose="020B0604020202020204" pitchFamily="34" charset="0"/>
              <a:buChar char="•"/>
            </a:pPr>
            <a:r>
              <a:rPr lang="en-US" dirty="0">
                <a:solidFill>
                  <a:schemeClr val="tx1"/>
                </a:solidFill>
                <a:latin typeface="Proxima Nova" panose="020B0604020202020204"/>
              </a:rPr>
              <a:t>Browser default</a:t>
            </a:r>
          </a:p>
          <a:p>
            <a:pPr marL="285750" indent="-285750" algn="just">
              <a:lnSpc>
                <a:spcPct val="150000"/>
              </a:lnSpc>
              <a:buFont typeface="Arial" panose="020B0604020202020204" pitchFamily="34" charset="0"/>
              <a:buChar char="•"/>
            </a:pPr>
            <a:endParaRPr lang="en-US" dirty="0">
              <a:latin typeface="Proxima Nova" panose="020B0604020202020204"/>
            </a:endParaRPr>
          </a:p>
        </p:txBody>
      </p:sp>
    </p:spTree>
    <p:extLst>
      <p:ext uri="{BB962C8B-B14F-4D97-AF65-F5344CB8AC3E}">
        <p14:creationId xmlns:p14="http://schemas.microsoft.com/office/powerpoint/2010/main" val="5689486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Example</a:t>
            </a:r>
            <a:endParaRPr sz="2400" dirty="0">
              <a:latin typeface="Proxima Nova"/>
            </a:endParaRPr>
          </a:p>
        </p:txBody>
      </p:sp>
      <p:sp>
        <p:nvSpPr>
          <p:cNvPr id="3" name="TextBox 2">
            <a:extLst>
              <a:ext uri="{FF2B5EF4-FFF2-40B4-BE49-F238E27FC236}">
                <a16:creationId xmlns:a16="http://schemas.microsoft.com/office/drawing/2014/main" id="{7099EE53-B774-4A8F-0A99-9A4A699AC033}"/>
              </a:ext>
            </a:extLst>
          </p:cNvPr>
          <p:cNvSpPr txBox="1"/>
          <p:nvPr/>
        </p:nvSpPr>
        <p:spPr>
          <a:xfrm>
            <a:off x="478275" y="1062841"/>
            <a:ext cx="6096000" cy="3970318"/>
          </a:xfrm>
          <a:prstGeom prst="rect">
            <a:avLst/>
          </a:prstGeom>
          <a:noFill/>
        </p:spPr>
        <p:txBody>
          <a:bodyPr wrap="square">
            <a:spAutoFit/>
          </a:bodyPr>
          <a:lstStyle/>
          <a:p>
            <a:r>
              <a:rPr lang="en-US" dirty="0">
                <a:latin typeface="Proxima Nova" panose="020B0604020202020204"/>
              </a:rPr>
              <a:t>HTML FILE:</a:t>
            </a:r>
          </a:p>
          <a:p>
            <a:r>
              <a:rPr lang="en-US" dirty="0">
                <a:latin typeface="Proxima Nova" panose="020B0604020202020204"/>
              </a:rPr>
              <a:t>&lt;!DOCTYPE html&gt;</a:t>
            </a:r>
          </a:p>
          <a:p>
            <a:r>
              <a:rPr lang="en-US" dirty="0">
                <a:latin typeface="Proxima Nova" panose="020B0604020202020204"/>
              </a:rPr>
              <a:t>&lt;html&gt;</a:t>
            </a:r>
            <a:br>
              <a:rPr lang="en-US" dirty="0">
                <a:latin typeface="Proxima Nova" panose="020B0604020202020204"/>
              </a:rPr>
            </a:br>
            <a:r>
              <a:rPr lang="en-US" dirty="0">
                <a:latin typeface="Proxima Nova" panose="020B0604020202020204"/>
              </a:rPr>
              <a:t>	&lt;head&gt;</a:t>
            </a:r>
            <a:br>
              <a:rPr lang="en-US" dirty="0">
                <a:latin typeface="Proxima Nova" panose="020B0604020202020204"/>
              </a:rPr>
            </a:br>
            <a:r>
              <a:rPr lang="en-US" dirty="0">
                <a:latin typeface="Proxima Nova" panose="020B0604020202020204"/>
              </a:rPr>
              <a:t>		&lt;link </a:t>
            </a:r>
            <a:r>
              <a:rPr lang="en-US" dirty="0" err="1">
                <a:latin typeface="Proxima Nova" panose="020B0604020202020204"/>
              </a:rPr>
              <a:t>rel</a:t>
            </a:r>
            <a:r>
              <a:rPr lang="en-US" dirty="0">
                <a:latin typeface="Proxima Nova" panose="020B0604020202020204"/>
              </a:rPr>
              <a:t>="stylesheet" type="text/</a:t>
            </a:r>
            <a:r>
              <a:rPr lang="en-US" dirty="0" err="1">
                <a:latin typeface="Proxima Nova" panose="020B0604020202020204"/>
              </a:rPr>
              <a:t>css</a:t>
            </a:r>
            <a:r>
              <a:rPr lang="en-US" dirty="0">
                <a:latin typeface="Proxima Nova" panose="020B0604020202020204"/>
              </a:rPr>
              <a:t>" </a:t>
            </a:r>
            <a:r>
              <a:rPr lang="en-US" dirty="0" err="1">
                <a:latin typeface="Proxima Nova" panose="020B0604020202020204"/>
              </a:rPr>
              <a:t>href</a:t>
            </a:r>
            <a:r>
              <a:rPr lang="en-US" dirty="0">
                <a:latin typeface="Proxima Nova" panose="020B0604020202020204"/>
              </a:rPr>
              <a:t>=“Style.css"&gt;</a:t>
            </a:r>
            <a:br>
              <a:rPr lang="en-US" dirty="0">
                <a:latin typeface="Proxima Nova" panose="020B0604020202020204"/>
              </a:rPr>
            </a:br>
            <a:r>
              <a:rPr lang="en-US" dirty="0">
                <a:latin typeface="Proxima Nova" panose="020B0604020202020204"/>
              </a:rPr>
              <a:t>	&lt;/head&gt;</a:t>
            </a:r>
            <a:br>
              <a:rPr lang="en-US" dirty="0">
                <a:latin typeface="Proxima Nova" panose="020B0604020202020204"/>
              </a:rPr>
            </a:br>
            <a:r>
              <a:rPr lang="en-US" dirty="0">
                <a:latin typeface="Proxima Nova" panose="020B0604020202020204"/>
              </a:rPr>
              <a:t>	&lt;body&gt;</a:t>
            </a:r>
            <a:br>
              <a:rPr lang="en-US" dirty="0">
                <a:latin typeface="Proxima Nova" panose="020B0604020202020204"/>
              </a:rPr>
            </a:br>
            <a:br>
              <a:rPr lang="en-US" dirty="0">
                <a:latin typeface="Proxima Nova" panose="020B0604020202020204"/>
              </a:rPr>
            </a:br>
            <a:r>
              <a:rPr lang="en-US" dirty="0">
                <a:latin typeface="Proxima Nova" panose="020B0604020202020204"/>
              </a:rPr>
              <a:t>		&lt;h1&gt;This is a heading&lt;/h1&gt;</a:t>
            </a:r>
            <a:br>
              <a:rPr lang="en-US" dirty="0">
                <a:latin typeface="Proxima Nova" panose="020B0604020202020204"/>
              </a:rPr>
            </a:br>
            <a:r>
              <a:rPr lang="en-US" dirty="0">
                <a:latin typeface="Proxima Nova" panose="020B0604020202020204"/>
              </a:rPr>
              <a:t>		&lt;p&gt;This is a paragraph.&lt;/p&gt;</a:t>
            </a:r>
            <a:br>
              <a:rPr lang="en-US" dirty="0">
                <a:latin typeface="Proxima Nova" panose="020B0604020202020204"/>
              </a:rPr>
            </a:br>
            <a:r>
              <a:rPr lang="en-US" dirty="0">
                <a:latin typeface="Proxima Nova" panose="020B0604020202020204"/>
              </a:rPr>
              <a:t>	&lt;/body&gt;							</a:t>
            </a:r>
            <a:br>
              <a:rPr lang="en-US" dirty="0">
                <a:latin typeface="Proxima Nova" panose="020B0604020202020204"/>
              </a:rPr>
            </a:br>
            <a:r>
              <a:rPr lang="en-US" dirty="0">
                <a:latin typeface="Proxima Nova" panose="020B0604020202020204"/>
              </a:rPr>
              <a:t>&lt;/html&gt;</a:t>
            </a:r>
          </a:p>
        </p:txBody>
      </p:sp>
      <p:sp>
        <p:nvSpPr>
          <p:cNvPr id="6" name="TextBox 5">
            <a:extLst>
              <a:ext uri="{FF2B5EF4-FFF2-40B4-BE49-F238E27FC236}">
                <a16:creationId xmlns:a16="http://schemas.microsoft.com/office/drawing/2014/main" id="{6A7F31B7-52C6-6923-457A-F706E858B6D8}"/>
              </a:ext>
            </a:extLst>
          </p:cNvPr>
          <p:cNvSpPr txBox="1"/>
          <p:nvPr/>
        </p:nvSpPr>
        <p:spPr>
          <a:xfrm>
            <a:off x="8067675" y="1145739"/>
            <a:ext cx="3448050" cy="2585323"/>
          </a:xfrm>
          <a:prstGeom prst="rect">
            <a:avLst/>
          </a:prstGeom>
          <a:noFill/>
        </p:spPr>
        <p:txBody>
          <a:bodyPr wrap="square">
            <a:spAutoFit/>
          </a:bodyPr>
          <a:lstStyle/>
          <a:p>
            <a:r>
              <a:rPr lang="en-US" sz="1800" b="1" dirty="0">
                <a:latin typeface="Proxima Nova" panose="020B0604020202020204"/>
                <a:ea typeface="Cambria" panose="02040503050406030204" pitchFamily="18" charset="0"/>
              </a:rPr>
              <a:t>Style.css:</a:t>
            </a:r>
          </a:p>
          <a:p>
            <a:r>
              <a:rPr lang="en-US" sz="1800" dirty="0">
                <a:solidFill>
                  <a:schemeClr val="accent6">
                    <a:lumMod val="75000"/>
                  </a:schemeClr>
                </a:solidFill>
                <a:latin typeface="Proxima Nova" panose="020B0604020202020204"/>
                <a:ea typeface="Cambria" panose="02040503050406030204" pitchFamily="18" charset="0"/>
              </a:rPr>
              <a:t>body {</a:t>
            </a:r>
            <a:br>
              <a:rPr lang="en-US" sz="1800" dirty="0">
                <a:solidFill>
                  <a:schemeClr val="accent6">
                    <a:lumMod val="75000"/>
                  </a:schemeClr>
                </a:solidFill>
                <a:latin typeface="Proxima Nova" panose="020B0604020202020204"/>
                <a:ea typeface="Cambria" panose="02040503050406030204" pitchFamily="18" charset="0"/>
              </a:rPr>
            </a:br>
            <a:r>
              <a:rPr lang="en-US" sz="1800" dirty="0">
                <a:solidFill>
                  <a:schemeClr val="accent6">
                    <a:lumMod val="75000"/>
                  </a:schemeClr>
                </a:solidFill>
                <a:latin typeface="Proxima Nova" panose="020B0604020202020204"/>
                <a:ea typeface="Cambria" panose="02040503050406030204" pitchFamily="18" charset="0"/>
              </a:rPr>
              <a:t>  background-color: </a:t>
            </a:r>
            <a:r>
              <a:rPr lang="en-US" sz="1800" dirty="0" err="1">
                <a:solidFill>
                  <a:schemeClr val="accent6">
                    <a:lumMod val="75000"/>
                  </a:schemeClr>
                </a:solidFill>
                <a:latin typeface="Proxima Nova" panose="020B0604020202020204"/>
                <a:ea typeface="Cambria" panose="02040503050406030204" pitchFamily="18" charset="0"/>
              </a:rPr>
              <a:t>lightblue</a:t>
            </a:r>
            <a:r>
              <a:rPr lang="en-US" sz="1800" dirty="0">
                <a:solidFill>
                  <a:schemeClr val="accent6">
                    <a:lumMod val="75000"/>
                  </a:schemeClr>
                </a:solidFill>
                <a:latin typeface="Proxima Nova" panose="020B0604020202020204"/>
                <a:ea typeface="Cambria" panose="02040503050406030204" pitchFamily="18" charset="0"/>
              </a:rPr>
              <a:t>;</a:t>
            </a:r>
            <a:br>
              <a:rPr lang="en-US" sz="1800" dirty="0">
                <a:solidFill>
                  <a:schemeClr val="accent6">
                    <a:lumMod val="75000"/>
                  </a:schemeClr>
                </a:solidFill>
                <a:latin typeface="Proxima Nova" panose="020B0604020202020204"/>
                <a:ea typeface="Cambria" panose="02040503050406030204" pitchFamily="18" charset="0"/>
              </a:rPr>
            </a:br>
            <a:r>
              <a:rPr lang="en-US" sz="1800" dirty="0">
                <a:solidFill>
                  <a:schemeClr val="accent6">
                    <a:lumMod val="75000"/>
                  </a:schemeClr>
                </a:solidFill>
                <a:latin typeface="Proxima Nova" panose="020B0604020202020204"/>
                <a:ea typeface="Cambria" panose="02040503050406030204" pitchFamily="18" charset="0"/>
              </a:rPr>
              <a:t>}</a:t>
            </a:r>
            <a:br>
              <a:rPr lang="en-US" sz="1800" dirty="0">
                <a:solidFill>
                  <a:schemeClr val="accent6">
                    <a:lumMod val="75000"/>
                  </a:schemeClr>
                </a:solidFill>
                <a:latin typeface="Proxima Nova" panose="020B0604020202020204"/>
                <a:ea typeface="Cambria" panose="02040503050406030204" pitchFamily="18" charset="0"/>
              </a:rPr>
            </a:br>
            <a:br>
              <a:rPr lang="en-US" sz="1800" dirty="0">
                <a:solidFill>
                  <a:schemeClr val="accent6">
                    <a:lumMod val="75000"/>
                  </a:schemeClr>
                </a:solidFill>
                <a:latin typeface="Proxima Nova" panose="020B0604020202020204"/>
                <a:ea typeface="Cambria" panose="02040503050406030204" pitchFamily="18" charset="0"/>
              </a:rPr>
            </a:br>
            <a:r>
              <a:rPr lang="en-US" sz="1800" dirty="0">
                <a:solidFill>
                  <a:schemeClr val="accent6">
                    <a:lumMod val="75000"/>
                  </a:schemeClr>
                </a:solidFill>
                <a:latin typeface="Proxima Nova" panose="020B0604020202020204"/>
                <a:ea typeface="Cambria" panose="02040503050406030204" pitchFamily="18" charset="0"/>
              </a:rPr>
              <a:t>h1 {</a:t>
            </a:r>
            <a:br>
              <a:rPr lang="en-US" sz="1800" dirty="0">
                <a:solidFill>
                  <a:schemeClr val="accent6">
                    <a:lumMod val="75000"/>
                  </a:schemeClr>
                </a:solidFill>
                <a:latin typeface="Proxima Nova" panose="020B0604020202020204"/>
                <a:ea typeface="Cambria" panose="02040503050406030204" pitchFamily="18" charset="0"/>
              </a:rPr>
            </a:br>
            <a:r>
              <a:rPr lang="en-US" sz="1800" dirty="0">
                <a:solidFill>
                  <a:schemeClr val="accent6">
                    <a:lumMod val="75000"/>
                  </a:schemeClr>
                </a:solidFill>
                <a:latin typeface="Proxima Nova" panose="020B0604020202020204"/>
                <a:ea typeface="Cambria" panose="02040503050406030204" pitchFamily="18" charset="0"/>
              </a:rPr>
              <a:t>  color: navy;</a:t>
            </a:r>
            <a:br>
              <a:rPr lang="en-US" sz="1800" dirty="0">
                <a:solidFill>
                  <a:schemeClr val="accent6">
                    <a:lumMod val="75000"/>
                  </a:schemeClr>
                </a:solidFill>
                <a:latin typeface="Proxima Nova" panose="020B0604020202020204"/>
                <a:ea typeface="Cambria" panose="02040503050406030204" pitchFamily="18" charset="0"/>
              </a:rPr>
            </a:br>
            <a:r>
              <a:rPr lang="en-US" sz="1800" dirty="0">
                <a:solidFill>
                  <a:schemeClr val="accent6">
                    <a:lumMod val="75000"/>
                  </a:schemeClr>
                </a:solidFill>
                <a:latin typeface="Proxima Nova" panose="020B0604020202020204"/>
                <a:ea typeface="Cambria" panose="02040503050406030204" pitchFamily="18" charset="0"/>
              </a:rPr>
              <a:t>  margin-left: 20px;</a:t>
            </a:r>
            <a:br>
              <a:rPr lang="en-US" sz="1800" dirty="0">
                <a:solidFill>
                  <a:schemeClr val="accent6">
                    <a:lumMod val="75000"/>
                  </a:schemeClr>
                </a:solidFill>
                <a:latin typeface="Proxima Nova" panose="020B0604020202020204"/>
                <a:ea typeface="Cambria" panose="02040503050406030204" pitchFamily="18" charset="0"/>
              </a:rPr>
            </a:br>
            <a:r>
              <a:rPr lang="en-US" sz="1800" dirty="0">
                <a:solidFill>
                  <a:schemeClr val="accent6">
                    <a:lumMod val="75000"/>
                  </a:schemeClr>
                </a:solidFill>
                <a:latin typeface="Proxima Nova" panose="020B0604020202020204"/>
                <a:ea typeface="Cambria" panose="02040503050406030204" pitchFamily="18" charset="0"/>
              </a:rPr>
              <a:t>}</a:t>
            </a:r>
            <a:endParaRPr lang="en-IN" sz="1800" dirty="0">
              <a:solidFill>
                <a:schemeClr val="accent6">
                  <a:lumMod val="75000"/>
                </a:schemeClr>
              </a:solidFill>
              <a:latin typeface="Proxima Nova" panose="020B0604020202020204"/>
              <a:ea typeface="Cambria" panose="02040503050406030204" pitchFamily="18" charset="0"/>
            </a:endParaRPr>
          </a:p>
        </p:txBody>
      </p:sp>
      <p:sp>
        <p:nvSpPr>
          <p:cNvPr id="8" name="TextBox 7">
            <a:extLst>
              <a:ext uri="{FF2B5EF4-FFF2-40B4-BE49-F238E27FC236}">
                <a16:creationId xmlns:a16="http://schemas.microsoft.com/office/drawing/2014/main" id="{0A5E8BEC-CFD6-3087-527F-2E7CCF095E7E}"/>
              </a:ext>
            </a:extLst>
          </p:cNvPr>
          <p:cNvSpPr txBox="1"/>
          <p:nvPr/>
        </p:nvSpPr>
        <p:spPr>
          <a:xfrm>
            <a:off x="6574275" y="3892067"/>
            <a:ext cx="7081836" cy="923330"/>
          </a:xfrm>
          <a:prstGeom prst="rect">
            <a:avLst/>
          </a:prstGeom>
          <a:noFill/>
        </p:spPr>
        <p:txBody>
          <a:bodyPr wrap="square">
            <a:spAutoFit/>
          </a:bodyPr>
          <a:lstStyle/>
          <a:p>
            <a:r>
              <a:rPr lang="en-US" sz="1800" dirty="0">
                <a:solidFill>
                  <a:schemeClr val="accent6">
                    <a:lumMod val="75000"/>
                  </a:schemeClr>
                </a:solidFill>
                <a:latin typeface="Cambria" panose="02040503050406030204" pitchFamily="18" charset="0"/>
                <a:ea typeface="Cambria" panose="02040503050406030204" pitchFamily="18" charset="0"/>
              </a:rPr>
              <a:t> </a:t>
            </a:r>
            <a:r>
              <a:rPr lang="en-US" sz="1800" b="1" dirty="0">
                <a:latin typeface="Proxima Nova" panose="020B0604020202020204"/>
                <a:ea typeface="Cambria" panose="02040503050406030204" pitchFamily="18" charset="0"/>
              </a:rPr>
              <a:t>Output</a:t>
            </a:r>
            <a:r>
              <a:rPr lang="en-US" sz="1800" b="1" dirty="0">
                <a:latin typeface="Cambria" panose="02040503050406030204" pitchFamily="18" charset="0"/>
                <a:ea typeface="Cambria" panose="02040503050406030204" pitchFamily="18" charset="0"/>
              </a:rPr>
              <a:t>:</a:t>
            </a:r>
          </a:p>
          <a:p>
            <a:br>
              <a:rPr lang="en-US" sz="1800" dirty="0">
                <a:solidFill>
                  <a:schemeClr val="accent6">
                    <a:lumMod val="75000"/>
                  </a:schemeClr>
                </a:solidFill>
                <a:latin typeface="Cambria" panose="02040503050406030204" pitchFamily="18" charset="0"/>
                <a:ea typeface="Cambria" panose="02040503050406030204" pitchFamily="18" charset="0"/>
              </a:rPr>
            </a:br>
            <a:endParaRPr lang="en-IN" dirty="0"/>
          </a:p>
        </p:txBody>
      </p:sp>
      <p:pic>
        <p:nvPicPr>
          <p:cNvPr id="9" name="Picture 8">
            <a:extLst>
              <a:ext uri="{FF2B5EF4-FFF2-40B4-BE49-F238E27FC236}">
                <a16:creationId xmlns:a16="http://schemas.microsoft.com/office/drawing/2014/main" id="{BA1D2A88-37F7-DE6E-6976-97A51EB9CD76}"/>
              </a:ext>
            </a:extLst>
          </p:cNvPr>
          <p:cNvPicPr>
            <a:picLocks noChangeAspect="1"/>
          </p:cNvPicPr>
          <p:nvPr/>
        </p:nvPicPr>
        <p:blipFill>
          <a:blip r:embed="rId2"/>
          <a:stretch>
            <a:fillRect/>
          </a:stretch>
        </p:blipFill>
        <p:spPr>
          <a:xfrm>
            <a:off x="6393403" y="4235450"/>
            <a:ext cx="4962525" cy="2105025"/>
          </a:xfrm>
          <a:prstGeom prst="rect">
            <a:avLst/>
          </a:prstGeom>
          <a:ln w="19050">
            <a:solidFill>
              <a:schemeClr val="tx1"/>
            </a:solidFill>
          </a:ln>
        </p:spPr>
      </p:pic>
    </p:spTree>
    <p:extLst>
      <p:ext uri="{BB962C8B-B14F-4D97-AF65-F5344CB8AC3E}">
        <p14:creationId xmlns:p14="http://schemas.microsoft.com/office/powerpoint/2010/main" val="345621255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IN" sz="2400" dirty="0">
                <a:solidFill>
                  <a:srgbClr val="04A2B9"/>
                </a:solidFill>
                <a:latin typeface="Proxima Nova"/>
              </a:rPr>
              <a:t>CSS</a:t>
            </a:r>
            <a:r>
              <a:rPr lang="en-IN" sz="2400" dirty="0">
                <a:latin typeface="Proxima Nova"/>
              </a:rPr>
              <a:t> </a:t>
            </a:r>
            <a:r>
              <a:rPr lang="en-IN" sz="2400" dirty="0">
                <a:solidFill>
                  <a:srgbClr val="04A2B9"/>
                </a:solidFill>
                <a:latin typeface="Proxima Nova"/>
              </a:rPr>
              <a:t>Selectors</a:t>
            </a:r>
            <a:endParaRPr sz="2400" dirty="0">
              <a:solidFill>
                <a:srgbClr val="04A2B9"/>
              </a:solidFill>
              <a:latin typeface="Proxima Nova"/>
            </a:endParaRPr>
          </a:p>
        </p:txBody>
      </p:sp>
      <p:sp>
        <p:nvSpPr>
          <p:cNvPr id="3" name="TextBox 2">
            <a:extLst>
              <a:ext uri="{FF2B5EF4-FFF2-40B4-BE49-F238E27FC236}">
                <a16:creationId xmlns:a16="http://schemas.microsoft.com/office/drawing/2014/main" id="{BD4EB2BC-2944-5D23-59A6-88F2A3106B5D}"/>
              </a:ext>
            </a:extLst>
          </p:cNvPr>
          <p:cNvSpPr txBox="1"/>
          <p:nvPr/>
        </p:nvSpPr>
        <p:spPr>
          <a:xfrm>
            <a:off x="333375" y="1168390"/>
            <a:ext cx="11658600" cy="169790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solidFill>
                  <a:schemeClr val="tx1"/>
                </a:solidFill>
                <a:latin typeface="Proxima Nova" panose="020B0604020202020204"/>
              </a:rPr>
              <a:t>CSS selectors are used to "find" (or select) the HTML elements you want to style.</a:t>
            </a:r>
          </a:p>
          <a:p>
            <a:pPr marL="285750" indent="-285750">
              <a:lnSpc>
                <a:spcPct val="150000"/>
              </a:lnSpc>
              <a:buFont typeface="Arial" panose="020B0604020202020204" pitchFamily="34" charset="0"/>
              <a:buChar char="•"/>
            </a:pPr>
            <a:r>
              <a:rPr lang="en-US" dirty="0">
                <a:solidFill>
                  <a:schemeClr val="tx1"/>
                </a:solidFill>
                <a:latin typeface="Proxima Nova" panose="020B0604020202020204"/>
              </a:rPr>
              <a:t>We can divide CSS selectors into these categories.</a:t>
            </a:r>
          </a:p>
          <a:p>
            <a:pPr marL="742950" lvl="1" indent="-285750">
              <a:lnSpc>
                <a:spcPct val="150000"/>
              </a:lnSpc>
              <a:buFont typeface="Arial" panose="020B0604020202020204" pitchFamily="34" charset="0"/>
              <a:buChar char="•"/>
            </a:pPr>
            <a:endParaRPr lang="en-US" dirty="0">
              <a:solidFill>
                <a:schemeClr val="tx1"/>
              </a:solidFill>
              <a:latin typeface="Proxima Nova" panose="020B0604020202020204"/>
            </a:endParaRPr>
          </a:p>
          <a:p>
            <a:pPr marL="285750" indent="-285750">
              <a:lnSpc>
                <a:spcPct val="150000"/>
              </a:lnSpc>
              <a:buFont typeface="Arial" panose="020B0604020202020204" pitchFamily="34" charset="0"/>
              <a:buChar char="•"/>
            </a:pPr>
            <a:endParaRPr lang="en-US" dirty="0">
              <a:latin typeface="Proxima Nova" panose="020B0604020202020204"/>
            </a:endParaRPr>
          </a:p>
        </p:txBody>
      </p:sp>
      <p:graphicFrame>
        <p:nvGraphicFramePr>
          <p:cNvPr id="4" name="Diagram 3">
            <a:extLst>
              <a:ext uri="{FF2B5EF4-FFF2-40B4-BE49-F238E27FC236}">
                <a16:creationId xmlns:a16="http://schemas.microsoft.com/office/drawing/2014/main" id="{258ED3B4-1B8C-96A3-E035-45F9247268C2}"/>
              </a:ext>
            </a:extLst>
          </p:cNvPr>
          <p:cNvGraphicFramePr/>
          <p:nvPr>
            <p:extLst>
              <p:ext uri="{D42A27DB-BD31-4B8C-83A1-F6EECF244321}">
                <p14:modId xmlns:p14="http://schemas.microsoft.com/office/powerpoint/2010/main" val="980992838"/>
              </p:ext>
            </p:extLst>
          </p:nvPr>
        </p:nvGraphicFramePr>
        <p:xfrm>
          <a:off x="736600" y="2190750"/>
          <a:ext cx="8128000" cy="42714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257514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CSS class Selector</a:t>
            </a:r>
            <a:endParaRPr sz="2400" dirty="0">
              <a:latin typeface="Proxima Nova"/>
            </a:endParaRPr>
          </a:p>
        </p:txBody>
      </p:sp>
      <p:sp>
        <p:nvSpPr>
          <p:cNvPr id="3" name="TextBox 2">
            <a:extLst>
              <a:ext uri="{FF2B5EF4-FFF2-40B4-BE49-F238E27FC236}">
                <a16:creationId xmlns:a16="http://schemas.microsoft.com/office/drawing/2014/main" id="{DB42EABD-7653-8DA3-91CF-EFDE1BDD6F31}"/>
              </a:ext>
            </a:extLst>
          </p:cNvPr>
          <p:cNvSpPr txBox="1"/>
          <p:nvPr/>
        </p:nvSpPr>
        <p:spPr>
          <a:xfrm>
            <a:off x="478275" y="1166843"/>
            <a:ext cx="11066025" cy="585288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Proxima Nova" panose="020B0604020202020204"/>
              </a:rPr>
              <a:t>The class selector selects HTML elements with a specific class attribute.</a:t>
            </a:r>
          </a:p>
          <a:p>
            <a:pPr marL="285750" indent="-285750" algn="just">
              <a:lnSpc>
                <a:spcPct val="150000"/>
              </a:lnSpc>
              <a:buFont typeface="Arial" panose="020B0604020202020204" pitchFamily="34" charset="0"/>
              <a:buChar char="•"/>
            </a:pPr>
            <a:r>
              <a:rPr lang="en-US" dirty="0">
                <a:latin typeface="Proxima Nova" panose="020B0604020202020204"/>
              </a:rPr>
              <a:t>To select elements with a specific class, write a period (.) character, followed by the class name.</a:t>
            </a:r>
          </a:p>
          <a:p>
            <a:pPr marL="285750" indent="-285750" algn="just">
              <a:lnSpc>
                <a:spcPct val="150000"/>
              </a:lnSpc>
              <a:buFont typeface="Arial" panose="020B0604020202020204" pitchFamily="34" charset="0"/>
              <a:buChar char="•"/>
            </a:pPr>
            <a:r>
              <a:rPr lang="en-US" dirty="0">
                <a:latin typeface="Proxima Nova" panose="020B0604020202020204"/>
              </a:rPr>
              <a:t>In this example all HTML elements with class="center" will be red and center-aligned.</a:t>
            </a:r>
          </a:p>
          <a:p>
            <a:pPr marL="285750" indent="-285750" algn="just">
              <a:lnSpc>
                <a:spcPct val="150000"/>
              </a:lnSpc>
              <a:buFont typeface="Arial" panose="020B0604020202020204" pitchFamily="34" charset="0"/>
              <a:buChar char="•"/>
            </a:pPr>
            <a:r>
              <a:rPr lang="en-US" dirty="0">
                <a:latin typeface="Proxima Nova" panose="020B0604020202020204"/>
              </a:rPr>
              <a:t>You can also specify that only specific HTML elements should be affected by a class.</a:t>
            </a:r>
          </a:p>
          <a:p>
            <a:pPr marL="285750" indent="-285750" algn="just">
              <a:lnSpc>
                <a:spcPct val="150000"/>
              </a:lnSpc>
              <a:buFont typeface="Arial" panose="020B0604020202020204" pitchFamily="34" charset="0"/>
              <a:buChar char="•"/>
            </a:pPr>
            <a:r>
              <a:rPr lang="en-US" dirty="0">
                <a:latin typeface="Proxima Nova" panose="020B0604020202020204"/>
              </a:rPr>
              <a:t>In this example only &lt;p&gt; elements with class="center" will be center-aligned: </a:t>
            </a:r>
          </a:p>
          <a:p>
            <a:pPr>
              <a:lnSpc>
                <a:spcPct val="150000"/>
              </a:lnSpc>
            </a:pPr>
            <a:endParaRPr lang="en-US" dirty="0">
              <a:latin typeface="Proxima Nova" panose="020B0604020202020204"/>
            </a:endParaRPr>
          </a:p>
          <a:p>
            <a:pPr>
              <a:lnSpc>
                <a:spcPct val="150000"/>
              </a:lnSpc>
            </a:pPr>
            <a:r>
              <a:rPr lang="en-US" dirty="0" err="1">
                <a:latin typeface="Proxima Nova" panose="020B0604020202020204"/>
              </a:rPr>
              <a:t>p.center</a:t>
            </a:r>
            <a:r>
              <a:rPr lang="en-US" dirty="0">
                <a:latin typeface="Proxima Nova" panose="020B0604020202020204"/>
              </a:rPr>
              <a:t> {</a:t>
            </a:r>
            <a:br>
              <a:rPr lang="en-US" dirty="0">
                <a:latin typeface="Proxima Nova" panose="020B0604020202020204"/>
              </a:rPr>
            </a:br>
            <a:r>
              <a:rPr lang="en-US" dirty="0">
                <a:latin typeface="Proxima Nova" panose="020B0604020202020204"/>
              </a:rPr>
              <a:t>  text-align: center;</a:t>
            </a:r>
            <a:br>
              <a:rPr lang="en-US" dirty="0">
                <a:latin typeface="Proxima Nova" panose="020B0604020202020204"/>
              </a:rPr>
            </a:br>
            <a:r>
              <a:rPr lang="en-US" dirty="0">
                <a:latin typeface="Proxima Nova" panose="020B0604020202020204"/>
              </a:rPr>
              <a:t>  color: red;</a:t>
            </a:r>
            <a:br>
              <a:rPr lang="en-US" dirty="0">
                <a:latin typeface="Proxima Nova" panose="020B0604020202020204"/>
              </a:rPr>
            </a:br>
            <a:r>
              <a:rPr lang="en-US" dirty="0">
                <a:latin typeface="Proxima Nova" panose="020B0604020202020204"/>
              </a:rPr>
              <a:t>}</a:t>
            </a:r>
          </a:p>
          <a:p>
            <a:pPr>
              <a:lnSpc>
                <a:spcPct val="150000"/>
              </a:lnSpc>
            </a:pPr>
            <a:r>
              <a:rPr lang="en-US" dirty="0">
                <a:latin typeface="Proxima Nova" panose="020B0604020202020204"/>
              </a:rPr>
              <a:t>HTML elements can also refer to more than one class.</a:t>
            </a:r>
          </a:p>
          <a:p>
            <a:pPr>
              <a:lnSpc>
                <a:spcPct val="150000"/>
              </a:lnSpc>
            </a:pPr>
            <a:r>
              <a:rPr lang="en-US" dirty="0">
                <a:latin typeface="Proxima Nova" panose="020B0604020202020204"/>
              </a:rPr>
              <a:t>In second example the &lt;p&gt; element will be styled according to class="center" and to class="large“.</a:t>
            </a:r>
          </a:p>
          <a:p>
            <a:pPr>
              <a:lnSpc>
                <a:spcPct val="150000"/>
              </a:lnSpc>
            </a:pPr>
            <a:endParaRPr lang="en-US" dirty="0">
              <a:latin typeface="Proxima Nova" panose="020B0604020202020204"/>
            </a:endParaRPr>
          </a:p>
          <a:p>
            <a:pPr>
              <a:lnSpc>
                <a:spcPct val="150000"/>
              </a:lnSpc>
            </a:pPr>
            <a:endParaRPr lang="en-US" dirty="0">
              <a:latin typeface="Proxima Nova" panose="020B0604020202020204"/>
            </a:endParaRPr>
          </a:p>
        </p:txBody>
      </p:sp>
    </p:spTree>
    <p:extLst>
      <p:ext uri="{BB962C8B-B14F-4D97-AF65-F5344CB8AC3E}">
        <p14:creationId xmlns:p14="http://schemas.microsoft.com/office/powerpoint/2010/main" val="9623255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Proxima Nova"/>
              </a:rPr>
              <a:t>Example</a:t>
            </a:r>
            <a:endParaRPr sz="2400" dirty="0">
              <a:latin typeface="Proxima Nova"/>
            </a:endParaRPr>
          </a:p>
        </p:txBody>
      </p:sp>
      <p:sp>
        <p:nvSpPr>
          <p:cNvPr id="3" name="TextBox 2">
            <a:extLst>
              <a:ext uri="{FF2B5EF4-FFF2-40B4-BE49-F238E27FC236}">
                <a16:creationId xmlns:a16="http://schemas.microsoft.com/office/drawing/2014/main" id="{2652CB55-2199-9AF4-2498-AFF273132B3D}"/>
              </a:ext>
            </a:extLst>
          </p:cNvPr>
          <p:cNvSpPr txBox="1"/>
          <p:nvPr/>
        </p:nvSpPr>
        <p:spPr>
          <a:xfrm>
            <a:off x="478275" y="1137609"/>
            <a:ext cx="10763250" cy="4801314"/>
          </a:xfrm>
          <a:prstGeom prst="rect">
            <a:avLst/>
          </a:prstGeom>
          <a:noFill/>
        </p:spPr>
        <p:txBody>
          <a:bodyPr wrap="square">
            <a:spAutoFit/>
          </a:bodyPr>
          <a:lstStyle/>
          <a:p>
            <a:r>
              <a:rPr lang="en-IN" dirty="0">
                <a:latin typeface="Proxima Nova" panose="020B0604020202020204"/>
              </a:rPr>
              <a:t>&lt;!DOCTYPE html&gt;</a:t>
            </a:r>
          </a:p>
          <a:p>
            <a:r>
              <a:rPr lang="en-IN" dirty="0">
                <a:latin typeface="Proxima Nova" panose="020B0604020202020204"/>
              </a:rPr>
              <a:t>&lt;html&gt;												&lt;head&gt;			</a:t>
            </a:r>
          </a:p>
          <a:p>
            <a:r>
              <a:rPr lang="en-IN" dirty="0">
                <a:latin typeface="Proxima Nova" panose="020B0604020202020204"/>
              </a:rPr>
              <a:t>		&lt;style&gt;					</a:t>
            </a:r>
            <a:r>
              <a:rPr lang="en-IN" b="1" dirty="0">
                <a:latin typeface="Proxima Nova" panose="020B0604020202020204"/>
              </a:rPr>
              <a:t>Output</a:t>
            </a:r>
            <a:r>
              <a:rPr lang="en-IN" dirty="0">
                <a:latin typeface="Proxima Nova" panose="020B0604020202020204"/>
              </a:rPr>
              <a:t>:</a:t>
            </a:r>
          </a:p>
          <a:p>
            <a:r>
              <a:rPr lang="en-IN" dirty="0">
                <a:latin typeface="Proxima Nova" panose="020B0604020202020204"/>
              </a:rPr>
              <a:t>			.</a:t>
            </a:r>
            <a:r>
              <a:rPr lang="en-IN" dirty="0" err="1">
                <a:latin typeface="Proxima Nova" panose="020B0604020202020204"/>
              </a:rPr>
              <a:t>center</a:t>
            </a:r>
            <a:r>
              <a:rPr lang="en-IN" dirty="0">
                <a:latin typeface="Proxima Nova" panose="020B0604020202020204"/>
              </a:rPr>
              <a:t> {				</a:t>
            </a:r>
          </a:p>
          <a:p>
            <a:r>
              <a:rPr lang="en-IN" dirty="0">
                <a:latin typeface="Proxima Nova" panose="020B0604020202020204"/>
              </a:rPr>
              <a:t>				  text-align: </a:t>
            </a:r>
            <a:r>
              <a:rPr lang="en-IN" dirty="0" err="1">
                <a:latin typeface="Proxima Nova" panose="020B0604020202020204"/>
              </a:rPr>
              <a:t>center</a:t>
            </a:r>
            <a:r>
              <a:rPr lang="en-IN" dirty="0">
                <a:latin typeface="Proxima Nova" panose="020B0604020202020204"/>
              </a:rPr>
              <a:t>;</a:t>
            </a:r>
          </a:p>
          <a:p>
            <a:r>
              <a:rPr lang="en-IN" dirty="0">
                <a:latin typeface="Proxima Nova" panose="020B0604020202020204"/>
              </a:rPr>
              <a:t>				  </a:t>
            </a:r>
            <a:r>
              <a:rPr lang="en-IN" dirty="0" err="1">
                <a:latin typeface="Proxima Nova" panose="020B0604020202020204"/>
              </a:rPr>
              <a:t>color</a:t>
            </a:r>
            <a:r>
              <a:rPr lang="en-IN" dirty="0">
                <a:latin typeface="Proxima Nova" panose="020B0604020202020204"/>
              </a:rPr>
              <a:t>: red;</a:t>
            </a:r>
          </a:p>
          <a:p>
            <a:r>
              <a:rPr lang="en-IN" dirty="0">
                <a:latin typeface="Proxima Nova" panose="020B0604020202020204"/>
              </a:rPr>
              <a:t>				}</a:t>
            </a:r>
          </a:p>
          <a:p>
            <a:r>
              <a:rPr lang="en-IN" dirty="0">
                <a:latin typeface="Proxima Nova" panose="020B0604020202020204"/>
              </a:rPr>
              <a:t>		&lt;/style&gt;</a:t>
            </a:r>
          </a:p>
          <a:p>
            <a:r>
              <a:rPr lang="en-IN" dirty="0">
                <a:latin typeface="Proxima Nova" panose="020B0604020202020204"/>
              </a:rPr>
              <a:t>	&lt;/head&gt;</a:t>
            </a:r>
          </a:p>
          <a:p>
            <a:r>
              <a:rPr lang="en-IN" dirty="0">
                <a:latin typeface="Proxima Nova" panose="020B0604020202020204"/>
              </a:rPr>
              <a:t>	&lt;body&gt;</a:t>
            </a:r>
          </a:p>
          <a:p>
            <a:endParaRPr lang="en-IN" dirty="0">
              <a:latin typeface="Proxima Nova" panose="020B0604020202020204"/>
            </a:endParaRPr>
          </a:p>
          <a:p>
            <a:r>
              <a:rPr lang="en-IN" dirty="0">
                <a:latin typeface="Proxima Nova" panose="020B0604020202020204"/>
              </a:rPr>
              <a:t>		&lt;h1 class="</a:t>
            </a:r>
            <a:r>
              <a:rPr lang="en-IN" dirty="0" err="1">
                <a:latin typeface="Proxima Nova" panose="020B0604020202020204"/>
              </a:rPr>
              <a:t>center</a:t>
            </a:r>
            <a:r>
              <a:rPr lang="en-IN" dirty="0">
                <a:latin typeface="Proxima Nova" panose="020B0604020202020204"/>
              </a:rPr>
              <a:t>"&gt;Red and </a:t>
            </a:r>
            <a:r>
              <a:rPr lang="en-IN" dirty="0" err="1">
                <a:latin typeface="Proxima Nova" panose="020B0604020202020204"/>
              </a:rPr>
              <a:t>center</a:t>
            </a:r>
            <a:r>
              <a:rPr lang="en-IN" dirty="0">
                <a:latin typeface="Proxima Nova" panose="020B0604020202020204"/>
              </a:rPr>
              <a:t>-aligned heading&lt;/h1&gt;</a:t>
            </a:r>
          </a:p>
          <a:p>
            <a:r>
              <a:rPr lang="en-IN" dirty="0">
                <a:latin typeface="Proxima Nova" panose="020B0604020202020204"/>
              </a:rPr>
              <a:t>		&lt;p class="</a:t>
            </a:r>
            <a:r>
              <a:rPr lang="en-IN" dirty="0" err="1">
                <a:latin typeface="Proxima Nova" panose="020B0604020202020204"/>
              </a:rPr>
              <a:t>center</a:t>
            </a:r>
            <a:r>
              <a:rPr lang="en-IN" dirty="0">
                <a:latin typeface="Proxima Nova" panose="020B0604020202020204"/>
              </a:rPr>
              <a:t>"&gt;Red and </a:t>
            </a:r>
            <a:r>
              <a:rPr lang="en-IN" dirty="0" err="1">
                <a:latin typeface="Proxima Nova" panose="020B0604020202020204"/>
              </a:rPr>
              <a:t>center</a:t>
            </a:r>
            <a:r>
              <a:rPr lang="en-IN" dirty="0">
                <a:latin typeface="Proxima Nova" panose="020B0604020202020204"/>
              </a:rPr>
              <a:t>-aligned paragraph.&lt;/p&gt; </a:t>
            </a:r>
          </a:p>
          <a:p>
            <a:endParaRPr lang="en-IN" dirty="0">
              <a:latin typeface="Proxima Nova" panose="020B0604020202020204"/>
            </a:endParaRPr>
          </a:p>
          <a:p>
            <a:r>
              <a:rPr lang="en-IN" dirty="0">
                <a:latin typeface="Proxima Nova" panose="020B0604020202020204"/>
              </a:rPr>
              <a:t>	&lt;/body&gt;</a:t>
            </a:r>
          </a:p>
          <a:p>
            <a:r>
              <a:rPr lang="en-IN" dirty="0">
                <a:latin typeface="Proxima Nova" panose="020B0604020202020204"/>
              </a:rPr>
              <a:t>&lt;/html&gt;</a:t>
            </a:r>
          </a:p>
        </p:txBody>
      </p:sp>
      <p:pic>
        <p:nvPicPr>
          <p:cNvPr id="4" name="Picture 3">
            <a:extLst>
              <a:ext uri="{FF2B5EF4-FFF2-40B4-BE49-F238E27FC236}">
                <a16:creationId xmlns:a16="http://schemas.microsoft.com/office/drawing/2014/main" id="{CD072B48-3548-8430-2116-13FC61E4FD49}"/>
              </a:ext>
            </a:extLst>
          </p:cNvPr>
          <p:cNvPicPr>
            <a:picLocks noChangeAspect="1"/>
          </p:cNvPicPr>
          <p:nvPr/>
        </p:nvPicPr>
        <p:blipFill>
          <a:blip r:embed="rId2"/>
          <a:stretch>
            <a:fillRect/>
          </a:stretch>
        </p:blipFill>
        <p:spPr>
          <a:xfrm>
            <a:off x="7320519" y="2481378"/>
            <a:ext cx="4014231" cy="1300048"/>
          </a:xfrm>
          <a:prstGeom prst="rect">
            <a:avLst/>
          </a:prstGeom>
          <a:ln w="19050">
            <a:solidFill>
              <a:schemeClr val="tx1"/>
            </a:solidFill>
          </a:ln>
        </p:spPr>
      </p:pic>
    </p:spTree>
    <p:extLst>
      <p:ext uri="{BB962C8B-B14F-4D97-AF65-F5344CB8AC3E}">
        <p14:creationId xmlns:p14="http://schemas.microsoft.com/office/powerpoint/2010/main" val="339568379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Example</a:t>
            </a:r>
            <a:endParaRPr sz="2400" dirty="0">
              <a:latin typeface="Proxima Nova"/>
            </a:endParaRPr>
          </a:p>
        </p:txBody>
      </p:sp>
      <p:sp>
        <p:nvSpPr>
          <p:cNvPr id="3" name="TextBox 2">
            <a:extLst>
              <a:ext uri="{FF2B5EF4-FFF2-40B4-BE49-F238E27FC236}">
                <a16:creationId xmlns:a16="http://schemas.microsoft.com/office/drawing/2014/main" id="{97E99DCB-2539-8D5D-4DF1-580B236BA132}"/>
              </a:ext>
            </a:extLst>
          </p:cNvPr>
          <p:cNvSpPr txBox="1"/>
          <p:nvPr/>
        </p:nvSpPr>
        <p:spPr>
          <a:xfrm>
            <a:off x="478275" y="1130796"/>
            <a:ext cx="11894700" cy="5909310"/>
          </a:xfrm>
          <a:prstGeom prst="rect">
            <a:avLst/>
          </a:prstGeom>
          <a:noFill/>
        </p:spPr>
        <p:txBody>
          <a:bodyPr wrap="square">
            <a:spAutoFit/>
          </a:bodyPr>
          <a:lstStyle/>
          <a:p>
            <a:r>
              <a:rPr lang="en-IN" dirty="0">
                <a:latin typeface="Proxima Nova" panose="020B0604020202020204"/>
              </a:rPr>
              <a:t>&lt;!DOCTYPE html&gt;</a:t>
            </a:r>
          </a:p>
          <a:p>
            <a:r>
              <a:rPr lang="en-IN" dirty="0">
                <a:latin typeface="Proxima Nova" panose="020B0604020202020204"/>
              </a:rPr>
              <a:t>&lt;html&gt;</a:t>
            </a:r>
          </a:p>
          <a:p>
            <a:r>
              <a:rPr lang="en-IN" dirty="0">
                <a:latin typeface="Proxima Nova" panose="020B0604020202020204"/>
              </a:rPr>
              <a:t>&lt;head&gt;												     	&lt;style&gt;</a:t>
            </a:r>
          </a:p>
          <a:p>
            <a:r>
              <a:rPr lang="en-IN" dirty="0">
                <a:latin typeface="Proxima Nova" panose="020B0604020202020204"/>
              </a:rPr>
              <a:t>		</a:t>
            </a:r>
            <a:r>
              <a:rPr lang="en-IN" dirty="0" err="1">
                <a:latin typeface="Proxima Nova" panose="020B0604020202020204"/>
              </a:rPr>
              <a:t>p.center</a:t>
            </a:r>
            <a:r>
              <a:rPr lang="en-IN" dirty="0">
                <a:latin typeface="Proxima Nova" panose="020B0604020202020204"/>
              </a:rPr>
              <a:t> {</a:t>
            </a:r>
          </a:p>
          <a:p>
            <a:r>
              <a:rPr lang="en-IN" dirty="0">
                <a:latin typeface="Proxima Nova" panose="020B0604020202020204"/>
              </a:rPr>
              <a:t>			  text-align: </a:t>
            </a:r>
            <a:r>
              <a:rPr lang="en-IN" dirty="0" err="1">
                <a:latin typeface="Proxima Nova" panose="020B0604020202020204"/>
              </a:rPr>
              <a:t>center</a:t>
            </a:r>
            <a:r>
              <a:rPr lang="en-IN" dirty="0">
                <a:latin typeface="Proxima Nova" panose="020B0604020202020204"/>
              </a:rPr>
              <a:t>;</a:t>
            </a:r>
          </a:p>
          <a:p>
            <a:r>
              <a:rPr lang="en-IN" dirty="0">
                <a:latin typeface="Proxima Nova" panose="020B0604020202020204"/>
              </a:rPr>
              <a:t>			  </a:t>
            </a:r>
            <a:r>
              <a:rPr lang="en-IN" dirty="0" err="1">
                <a:latin typeface="Proxima Nova" panose="020B0604020202020204"/>
              </a:rPr>
              <a:t>color</a:t>
            </a:r>
            <a:r>
              <a:rPr lang="en-IN" dirty="0">
                <a:latin typeface="Proxima Nova" panose="020B0604020202020204"/>
              </a:rPr>
              <a:t>: red;</a:t>
            </a:r>
          </a:p>
          <a:p>
            <a:r>
              <a:rPr lang="en-IN" dirty="0">
                <a:latin typeface="Proxima Nova" panose="020B0604020202020204"/>
              </a:rPr>
              <a:t>			}</a:t>
            </a:r>
          </a:p>
          <a:p>
            <a:r>
              <a:rPr lang="en-IN" dirty="0">
                <a:latin typeface="Proxima Nova" panose="020B0604020202020204"/>
              </a:rPr>
              <a:t>		</a:t>
            </a:r>
            <a:r>
              <a:rPr lang="en-IN" dirty="0" err="1">
                <a:latin typeface="Proxima Nova" panose="020B0604020202020204"/>
              </a:rPr>
              <a:t>p.large</a:t>
            </a:r>
            <a:r>
              <a:rPr lang="en-IN" dirty="0">
                <a:latin typeface="Proxima Nova" panose="020B0604020202020204"/>
              </a:rPr>
              <a:t> {</a:t>
            </a:r>
          </a:p>
          <a:p>
            <a:r>
              <a:rPr lang="en-IN" dirty="0">
                <a:latin typeface="Proxima Nova" panose="020B0604020202020204"/>
              </a:rPr>
              <a:t>			  font-size: 300%;</a:t>
            </a:r>
          </a:p>
          <a:p>
            <a:r>
              <a:rPr lang="en-IN" dirty="0">
                <a:latin typeface="Proxima Nova" panose="020B0604020202020204"/>
              </a:rPr>
              <a:t>			}</a:t>
            </a:r>
          </a:p>
          <a:p>
            <a:r>
              <a:rPr lang="en-IN" dirty="0">
                <a:latin typeface="Proxima Nova" panose="020B0604020202020204"/>
              </a:rPr>
              <a:t>	&lt;/style&gt;</a:t>
            </a:r>
          </a:p>
          <a:p>
            <a:r>
              <a:rPr lang="en-IN" dirty="0">
                <a:latin typeface="Proxima Nova" panose="020B0604020202020204"/>
              </a:rPr>
              <a:t>&lt;/head&gt;</a:t>
            </a:r>
          </a:p>
          <a:p>
            <a:r>
              <a:rPr lang="en-IN" dirty="0">
                <a:latin typeface="Proxima Nova" panose="020B0604020202020204"/>
              </a:rPr>
              <a:t>&lt;body&gt;</a:t>
            </a:r>
          </a:p>
          <a:p>
            <a:r>
              <a:rPr lang="en-IN" dirty="0">
                <a:latin typeface="Proxima Nova" panose="020B0604020202020204"/>
              </a:rPr>
              <a:t>		&lt;h1 class="</a:t>
            </a:r>
            <a:r>
              <a:rPr lang="en-IN" dirty="0" err="1">
                <a:latin typeface="Proxima Nova" panose="020B0604020202020204"/>
              </a:rPr>
              <a:t>center</a:t>
            </a:r>
            <a:r>
              <a:rPr lang="en-IN" dirty="0">
                <a:latin typeface="Proxima Nova" panose="020B0604020202020204"/>
              </a:rPr>
              <a:t>"&gt;This heading will not be affected&lt;/h1&gt;</a:t>
            </a:r>
          </a:p>
          <a:p>
            <a:r>
              <a:rPr lang="en-IN" dirty="0">
                <a:latin typeface="Proxima Nova" panose="020B0604020202020204"/>
              </a:rPr>
              <a:t>		&lt;p class="</a:t>
            </a:r>
            <a:r>
              <a:rPr lang="en-IN" dirty="0" err="1">
                <a:latin typeface="Proxima Nova" panose="020B0604020202020204"/>
              </a:rPr>
              <a:t>center</a:t>
            </a:r>
            <a:r>
              <a:rPr lang="en-IN" dirty="0">
                <a:latin typeface="Proxima Nova" panose="020B0604020202020204"/>
              </a:rPr>
              <a:t>"&gt;This paragraph will be red and </a:t>
            </a:r>
            <a:r>
              <a:rPr lang="en-IN" dirty="0" err="1">
                <a:latin typeface="Proxima Nova" panose="020B0604020202020204"/>
              </a:rPr>
              <a:t>center</a:t>
            </a:r>
            <a:r>
              <a:rPr lang="en-IN" dirty="0">
                <a:latin typeface="Proxima Nova" panose="020B0604020202020204"/>
              </a:rPr>
              <a:t>-aligned.&lt;/p&gt;</a:t>
            </a:r>
          </a:p>
          <a:p>
            <a:r>
              <a:rPr lang="en-IN" dirty="0">
                <a:latin typeface="Proxima Nova" panose="020B0604020202020204"/>
              </a:rPr>
              <a:t>		&lt;p class="</a:t>
            </a:r>
            <a:r>
              <a:rPr lang="en-IN" dirty="0" err="1">
                <a:latin typeface="Proxima Nova" panose="020B0604020202020204"/>
              </a:rPr>
              <a:t>center</a:t>
            </a:r>
            <a:r>
              <a:rPr lang="en-IN" dirty="0">
                <a:latin typeface="Proxima Nova" panose="020B0604020202020204"/>
              </a:rPr>
              <a:t> large"&gt;This paragraph will be red, </a:t>
            </a:r>
            <a:r>
              <a:rPr lang="en-IN" dirty="0" err="1">
                <a:latin typeface="Proxima Nova" panose="020B0604020202020204"/>
              </a:rPr>
              <a:t>center</a:t>
            </a:r>
            <a:r>
              <a:rPr lang="en-IN" dirty="0">
                <a:latin typeface="Proxima Nova" panose="020B0604020202020204"/>
              </a:rPr>
              <a:t>-aligned, and in a large font-size.</a:t>
            </a:r>
          </a:p>
          <a:p>
            <a:r>
              <a:rPr lang="en-IN" dirty="0">
                <a:latin typeface="Proxima Nova" panose="020B0604020202020204"/>
              </a:rPr>
              <a:t>		&lt;/p&gt;</a:t>
            </a:r>
          </a:p>
          <a:p>
            <a:r>
              <a:rPr lang="en-IN" dirty="0">
                <a:latin typeface="Proxima Nova" panose="020B0604020202020204"/>
              </a:rPr>
              <a:t>	&lt;/body&gt;</a:t>
            </a:r>
          </a:p>
          <a:p>
            <a:r>
              <a:rPr lang="en-IN" dirty="0">
                <a:latin typeface="Proxima Nova" panose="020B0604020202020204"/>
              </a:rPr>
              <a:t>&lt;/html&gt;</a:t>
            </a:r>
          </a:p>
          <a:p>
            <a:endParaRPr lang="en-IN" dirty="0">
              <a:latin typeface="Proxima Nova" panose="020B0604020202020204"/>
            </a:endParaRPr>
          </a:p>
        </p:txBody>
      </p:sp>
      <p:pic>
        <p:nvPicPr>
          <p:cNvPr id="4" name="Picture 3">
            <a:extLst>
              <a:ext uri="{FF2B5EF4-FFF2-40B4-BE49-F238E27FC236}">
                <a16:creationId xmlns:a16="http://schemas.microsoft.com/office/drawing/2014/main" id="{B5030521-D3CB-8565-9FFD-9A69057D104C}"/>
              </a:ext>
            </a:extLst>
          </p:cNvPr>
          <p:cNvPicPr>
            <a:picLocks noChangeAspect="1"/>
          </p:cNvPicPr>
          <p:nvPr/>
        </p:nvPicPr>
        <p:blipFill>
          <a:blip r:embed="rId2"/>
          <a:stretch>
            <a:fillRect/>
          </a:stretch>
        </p:blipFill>
        <p:spPr>
          <a:xfrm>
            <a:off x="6367260" y="1414449"/>
            <a:ext cx="5346465" cy="2355614"/>
          </a:xfrm>
          <a:prstGeom prst="rect">
            <a:avLst/>
          </a:prstGeom>
          <a:ln w="19050">
            <a:solidFill>
              <a:schemeClr val="tx1"/>
            </a:solidFill>
          </a:ln>
        </p:spPr>
      </p:pic>
    </p:spTree>
    <p:extLst>
      <p:ext uri="{BB962C8B-B14F-4D97-AF65-F5344CB8AC3E}">
        <p14:creationId xmlns:p14="http://schemas.microsoft.com/office/powerpoint/2010/main" val="13654356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CSS id Selector</a:t>
            </a:r>
            <a:endParaRPr sz="2400" dirty="0">
              <a:latin typeface="Proxima Nova"/>
            </a:endParaRPr>
          </a:p>
        </p:txBody>
      </p:sp>
      <p:sp>
        <p:nvSpPr>
          <p:cNvPr id="3" name="TextBox 2">
            <a:extLst>
              <a:ext uri="{FF2B5EF4-FFF2-40B4-BE49-F238E27FC236}">
                <a16:creationId xmlns:a16="http://schemas.microsoft.com/office/drawing/2014/main" id="{19EDF30B-A9DE-27D4-7251-0DE8CC4E729E}"/>
              </a:ext>
            </a:extLst>
          </p:cNvPr>
          <p:cNvSpPr txBox="1"/>
          <p:nvPr/>
        </p:nvSpPr>
        <p:spPr>
          <a:xfrm>
            <a:off x="478275" y="1059240"/>
            <a:ext cx="11437500" cy="294439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Proxima Nova" panose="020B0604020202020204"/>
              </a:rPr>
              <a:t>The id selector uses the id attribute of an HTML element to select a specific element.</a:t>
            </a:r>
          </a:p>
          <a:p>
            <a:pPr marL="285750" indent="-285750" algn="just">
              <a:lnSpc>
                <a:spcPct val="150000"/>
              </a:lnSpc>
              <a:buFont typeface="Arial" panose="020B0604020202020204" pitchFamily="34" charset="0"/>
              <a:buChar char="•"/>
            </a:pPr>
            <a:r>
              <a:rPr lang="en-US" dirty="0">
                <a:latin typeface="Proxima Nova" panose="020B0604020202020204"/>
              </a:rPr>
              <a:t>The id of an element is unique within a page, so the id selector is used to select one unique element!</a:t>
            </a:r>
          </a:p>
          <a:p>
            <a:pPr marL="285750" indent="-285750" algn="just">
              <a:lnSpc>
                <a:spcPct val="150000"/>
              </a:lnSpc>
              <a:buFont typeface="Arial" panose="020B0604020202020204" pitchFamily="34" charset="0"/>
              <a:buChar char="•"/>
            </a:pPr>
            <a:r>
              <a:rPr lang="en-US" dirty="0">
                <a:latin typeface="Proxima Nova" panose="020B0604020202020204"/>
              </a:rPr>
              <a:t>To select an element with a specific id, write a hash (#) character, followed by the id of the element.</a:t>
            </a:r>
          </a:p>
          <a:p>
            <a:pPr marL="285750" indent="-285750" algn="just">
              <a:lnSpc>
                <a:spcPct val="150000"/>
              </a:lnSpc>
              <a:buFont typeface="Arial" panose="020B0604020202020204" pitchFamily="34" charset="0"/>
              <a:buChar char="•"/>
            </a:pPr>
            <a:r>
              <a:rPr lang="en-US" b="1" dirty="0">
                <a:latin typeface="Proxima Nova" panose="020B0604020202020204"/>
              </a:rPr>
              <a:t>Note: An id name cannot start with a number!</a:t>
            </a:r>
          </a:p>
          <a:p>
            <a:pPr marL="285750" indent="-285750" algn="just">
              <a:lnSpc>
                <a:spcPct val="150000"/>
              </a:lnSpc>
              <a:buFont typeface="Arial" panose="020B0604020202020204" pitchFamily="34" charset="0"/>
              <a:buChar char="•"/>
            </a:pPr>
            <a:r>
              <a:rPr lang="en-US" dirty="0">
                <a:latin typeface="Proxima Nova" panose="020B0604020202020204"/>
              </a:rPr>
              <a:t>The difference between class and id, although similar, is that class may apply to several parts of a page whereas id applies only to one and it should be unique.</a:t>
            </a:r>
          </a:p>
          <a:p>
            <a:pPr marL="285750" indent="-285750" algn="just">
              <a:lnSpc>
                <a:spcPct val="150000"/>
              </a:lnSpc>
              <a:buFont typeface="Arial" panose="020B0604020202020204" pitchFamily="34" charset="0"/>
              <a:buChar char="•"/>
            </a:pPr>
            <a:endParaRPr lang="en-US" dirty="0">
              <a:latin typeface="Proxima Nova" panose="020B0604020202020204"/>
            </a:endParaRPr>
          </a:p>
        </p:txBody>
      </p:sp>
      <p:sp>
        <p:nvSpPr>
          <p:cNvPr id="7" name="Content Placeholder 6">
            <a:extLst>
              <a:ext uri="{FF2B5EF4-FFF2-40B4-BE49-F238E27FC236}">
                <a16:creationId xmlns:a16="http://schemas.microsoft.com/office/drawing/2014/main" id="{CB21E601-E77D-2625-6D72-C5F82916041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6751090"/>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Example</a:t>
            </a:r>
            <a:endParaRPr sz="2400" dirty="0">
              <a:latin typeface="Proxima Nova"/>
            </a:endParaRPr>
          </a:p>
        </p:txBody>
      </p:sp>
      <p:sp>
        <p:nvSpPr>
          <p:cNvPr id="3" name="TextBox 2">
            <a:extLst>
              <a:ext uri="{FF2B5EF4-FFF2-40B4-BE49-F238E27FC236}">
                <a16:creationId xmlns:a16="http://schemas.microsoft.com/office/drawing/2014/main" id="{3E057CA5-ACC5-970C-4A4C-1C9C7C192468}"/>
              </a:ext>
            </a:extLst>
          </p:cNvPr>
          <p:cNvSpPr txBox="1"/>
          <p:nvPr/>
        </p:nvSpPr>
        <p:spPr>
          <a:xfrm>
            <a:off x="609599" y="1127086"/>
            <a:ext cx="9134475" cy="4247317"/>
          </a:xfrm>
          <a:prstGeom prst="rect">
            <a:avLst/>
          </a:prstGeom>
          <a:noFill/>
        </p:spPr>
        <p:txBody>
          <a:bodyPr wrap="square">
            <a:spAutoFit/>
          </a:bodyPr>
          <a:lstStyle/>
          <a:p>
            <a:pPr algn="just"/>
            <a:r>
              <a:rPr lang="en-US" dirty="0">
                <a:latin typeface="Proxima Nova" panose="020B0604020202020204"/>
              </a:rPr>
              <a:t>&lt;!DOCTYPE html&gt;</a:t>
            </a:r>
          </a:p>
          <a:p>
            <a:pPr algn="just"/>
            <a:r>
              <a:rPr lang="en-US" dirty="0">
                <a:latin typeface="Proxima Nova" panose="020B0604020202020204"/>
              </a:rPr>
              <a:t>&lt;html&gt;</a:t>
            </a:r>
          </a:p>
          <a:p>
            <a:pPr algn="just"/>
            <a:r>
              <a:rPr lang="en-US" dirty="0">
                <a:latin typeface="Proxima Nova" panose="020B0604020202020204"/>
              </a:rPr>
              <a:t>	&lt;head&gt;										&lt;style&gt;</a:t>
            </a:r>
          </a:p>
          <a:p>
            <a:pPr algn="just"/>
            <a:r>
              <a:rPr lang="en-US" dirty="0">
                <a:latin typeface="Proxima Nova" panose="020B0604020202020204"/>
              </a:rPr>
              <a:t>			#para1 {</a:t>
            </a:r>
          </a:p>
          <a:p>
            <a:pPr algn="just"/>
            <a:r>
              <a:rPr lang="en-US" dirty="0">
                <a:latin typeface="Proxima Nova" panose="020B0604020202020204"/>
              </a:rPr>
              <a:t>				  text-align: center;</a:t>
            </a:r>
          </a:p>
          <a:p>
            <a:pPr algn="just"/>
            <a:r>
              <a:rPr lang="en-US" dirty="0">
                <a:latin typeface="Proxima Nova" panose="020B0604020202020204"/>
              </a:rPr>
              <a:t>				  color: red;</a:t>
            </a:r>
          </a:p>
          <a:p>
            <a:pPr algn="just"/>
            <a:r>
              <a:rPr lang="en-US" dirty="0">
                <a:latin typeface="Proxima Nova" panose="020B0604020202020204"/>
              </a:rPr>
              <a:t>				}</a:t>
            </a:r>
          </a:p>
          <a:p>
            <a:pPr algn="just"/>
            <a:r>
              <a:rPr lang="en-US" dirty="0">
                <a:latin typeface="Proxima Nova" panose="020B0604020202020204"/>
              </a:rPr>
              <a:t>		&lt;/style&gt;</a:t>
            </a:r>
          </a:p>
          <a:p>
            <a:pPr algn="just"/>
            <a:r>
              <a:rPr lang="en-US" dirty="0">
                <a:latin typeface="Proxima Nova" panose="020B0604020202020204"/>
              </a:rPr>
              <a:t>	&lt;/head&gt;</a:t>
            </a:r>
          </a:p>
          <a:p>
            <a:pPr algn="just"/>
            <a:r>
              <a:rPr lang="en-US" dirty="0">
                <a:latin typeface="Proxima Nova" panose="020B0604020202020204"/>
              </a:rPr>
              <a:t>	&lt;body&gt;</a:t>
            </a:r>
          </a:p>
          <a:p>
            <a:pPr algn="just"/>
            <a:r>
              <a:rPr lang="en-US" dirty="0">
                <a:latin typeface="Proxima Nova" panose="020B0604020202020204"/>
              </a:rPr>
              <a:t>		&lt;p id="para1"&gt;Hello World!&lt;/p&gt;</a:t>
            </a:r>
          </a:p>
          <a:p>
            <a:pPr algn="just"/>
            <a:r>
              <a:rPr lang="en-US" dirty="0">
                <a:latin typeface="Proxima Nova" panose="020B0604020202020204"/>
              </a:rPr>
              <a:t>		&lt;p&gt;This paragraph is not affected by the style.&lt;/p&gt;</a:t>
            </a:r>
          </a:p>
          <a:p>
            <a:pPr algn="just"/>
            <a:r>
              <a:rPr lang="en-US" dirty="0">
                <a:latin typeface="Proxima Nova" panose="020B0604020202020204"/>
              </a:rPr>
              <a:t>	&lt;/body&gt;</a:t>
            </a:r>
          </a:p>
          <a:p>
            <a:pPr algn="just"/>
            <a:r>
              <a:rPr lang="en-US" dirty="0">
                <a:latin typeface="Proxima Nova" panose="020B0604020202020204"/>
              </a:rPr>
              <a:t>&lt;/html&gt;</a:t>
            </a:r>
          </a:p>
        </p:txBody>
      </p:sp>
      <p:pic>
        <p:nvPicPr>
          <p:cNvPr id="4" name="Picture 3">
            <a:extLst>
              <a:ext uri="{FF2B5EF4-FFF2-40B4-BE49-F238E27FC236}">
                <a16:creationId xmlns:a16="http://schemas.microsoft.com/office/drawing/2014/main" id="{75431AE7-A3D8-D840-40BF-C8632BB7E8E6}"/>
              </a:ext>
            </a:extLst>
          </p:cNvPr>
          <p:cNvPicPr>
            <a:picLocks noChangeAspect="1"/>
          </p:cNvPicPr>
          <p:nvPr/>
        </p:nvPicPr>
        <p:blipFill>
          <a:blip r:embed="rId2"/>
          <a:stretch>
            <a:fillRect/>
          </a:stretch>
        </p:blipFill>
        <p:spPr>
          <a:xfrm>
            <a:off x="2061293" y="5566111"/>
            <a:ext cx="6373963" cy="1095375"/>
          </a:xfrm>
          <a:prstGeom prst="rect">
            <a:avLst/>
          </a:prstGeom>
          <a:ln w="19050">
            <a:solidFill>
              <a:schemeClr val="tx1"/>
            </a:solidFill>
          </a:ln>
        </p:spPr>
      </p:pic>
      <p:sp>
        <p:nvSpPr>
          <p:cNvPr id="7" name="TextBox 6">
            <a:extLst>
              <a:ext uri="{FF2B5EF4-FFF2-40B4-BE49-F238E27FC236}">
                <a16:creationId xmlns:a16="http://schemas.microsoft.com/office/drawing/2014/main" id="{0248274B-F102-F12B-A43C-F9EE9B5CAA0F}"/>
              </a:ext>
            </a:extLst>
          </p:cNvPr>
          <p:cNvSpPr txBox="1"/>
          <p:nvPr/>
        </p:nvSpPr>
        <p:spPr>
          <a:xfrm>
            <a:off x="609599" y="5381445"/>
            <a:ext cx="6096000" cy="369332"/>
          </a:xfrm>
          <a:prstGeom prst="rect">
            <a:avLst/>
          </a:prstGeom>
          <a:noFill/>
        </p:spPr>
        <p:txBody>
          <a:bodyPr wrap="square">
            <a:spAutoFit/>
          </a:bodyPr>
          <a:lstStyle/>
          <a:p>
            <a:r>
              <a:rPr lang="en-US" sz="1800" b="1" dirty="0">
                <a:latin typeface="Proxima Nova" panose="020B0604020202020204"/>
              </a:rPr>
              <a:t>Output:</a:t>
            </a:r>
          </a:p>
        </p:txBody>
      </p:sp>
    </p:spTree>
    <p:extLst>
      <p:ext uri="{BB962C8B-B14F-4D97-AF65-F5344CB8AC3E}">
        <p14:creationId xmlns:p14="http://schemas.microsoft.com/office/powerpoint/2010/main" val="19426691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IN" sz="2400" dirty="0">
                <a:latin typeface="Proxima Nova"/>
              </a:rPr>
              <a:t>CSS Universal Selector</a:t>
            </a:r>
            <a:endParaRPr sz="2400" dirty="0">
              <a:latin typeface="Proxima Nova"/>
            </a:endParaRPr>
          </a:p>
        </p:txBody>
      </p:sp>
      <p:sp>
        <p:nvSpPr>
          <p:cNvPr id="6" name="TextBox 5">
            <a:extLst>
              <a:ext uri="{FF2B5EF4-FFF2-40B4-BE49-F238E27FC236}">
                <a16:creationId xmlns:a16="http://schemas.microsoft.com/office/drawing/2014/main" id="{F8A5CAD8-FDCD-8709-E6A8-06E496B215A4}"/>
              </a:ext>
            </a:extLst>
          </p:cNvPr>
          <p:cNvSpPr txBox="1"/>
          <p:nvPr/>
        </p:nvSpPr>
        <p:spPr>
          <a:xfrm>
            <a:off x="657225" y="1225689"/>
            <a:ext cx="11163300" cy="5078313"/>
          </a:xfrm>
          <a:prstGeom prst="rect">
            <a:avLst/>
          </a:prstGeom>
          <a:noFill/>
        </p:spPr>
        <p:txBody>
          <a:bodyPr wrap="square">
            <a:spAutoFit/>
          </a:bodyPr>
          <a:lstStyle/>
          <a:p>
            <a:r>
              <a:rPr lang="en-US" dirty="0">
                <a:latin typeface="Proxima Nova" panose="020B0604020202020204"/>
              </a:rPr>
              <a:t>The universal selector (*) selects all HTML elements on the page.</a:t>
            </a:r>
          </a:p>
          <a:p>
            <a:r>
              <a:rPr lang="en-US" dirty="0">
                <a:latin typeface="Proxima Nova" panose="020B0604020202020204"/>
              </a:rPr>
              <a:t>&lt;!DOCTYPE html&gt;</a:t>
            </a:r>
          </a:p>
          <a:p>
            <a:r>
              <a:rPr lang="en-US" dirty="0">
                <a:latin typeface="Proxima Nova" panose="020B0604020202020204"/>
              </a:rPr>
              <a:t>&lt;html&gt;</a:t>
            </a:r>
          </a:p>
          <a:p>
            <a:r>
              <a:rPr lang="en-US" dirty="0">
                <a:latin typeface="Proxima Nova" panose="020B0604020202020204"/>
              </a:rPr>
              <a:t>	&lt;head&gt;</a:t>
            </a:r>
          </a:p>
          <a:p>
            <a:r>
              <a:rPr lang="en-US" dirty="0">
                <a:latin typeface="Proxima Nova" panose="020B0604020202020204"/>
              </a:rPr>
              <a:t>		&lt;style&gt;</a:t>
            </a:r>
          </a:p>
          <a:p>
            <a:r>
              <a:rPr lang="en-US" dirty="0">
                <a:latin typeface="Proxima Nova" panose="020B0604020202020204"/>
              </a:rPr>
              <a:t>			* {</a:t>
            </a:r>
          </a:p>
          <a:p>
            <a:r>
              <a:rPr lang="en-US" dirty="0">
                <a:latin typeface="Proxima Nova" panose="020B0604020202020204"/>
              </a:rPr>
              <a:t>				  text-align: right;</a:t>
            </a:r>
          </a:p>
          <a:p>
            <a:r>
              <a:rPr lang="en-US" dirty="0">
                <a:latin typeface="Proxima Nova" panose="020B0604020202020204"/>
              </a:rPr>
              <a:t>				  color: blue;</a:t>
            </a:r>
          </a:p>
          <a:p>
            <a:r>
              <a:rPr lang="en-US" dirty="0">
                <a:latin typeface="Proxima Nova" panose="020B0604020202020204"/>
              </a:rPr>
              <a:t>			}</a:t>
            </a:r>
          </a:p>
          <a:p>
            <a:r>
              <a:rPr lang="en-US" dirty="0">
                <a:latin typeface="Proxima Nova" panose="020B0604020202020204"/>
              </a:rPr>
              <a:t>	&lt;/style&gt;</a:t>
            </a:r>
          </a:p>
          <a:p>
            <a:r>
              <a:rPr lang="en-US" dirty="0">
                <a:latin typeface="Proxima Nova" panose="020B0604020202020204"/>
              </a:rPr>
              <a:t>&lt;/head&gt;</a:t>
            </a:r>
          </a:p>
          <a:p>
            <a:r>
              <a:rPr lang="en-US" dirty="0">
                <a:latin typeface="Proxima Nova" panose="020B0604020202020204"/>
              </a:rPr>
              <a:t>&lt;body&gt;</a:t>
            </a:r>
          </a:p>
          <a:p>
            <a:r>
              <a:rPr lang="en-US" dirty="0">
                <a:latin typeface="Proxima Nova" panose="020B0604020202020204"/>
              </a:rPr>
              <a:t>	&lt;h1&gt;Hello world!&lt;/h1&gt;</a:t>
            </a:r>
          </a:p>
          <a:p>
            <a:r>
              <a:rPr lang="en-US" dirty="0">
                <a:latin typeface="Proxima Nova" panose="020B0604020202020204"/>
              </a:rPr>
              <a:t>	&lt;p&gt;Every element on the page will be affected by the style.&lt;/p&gt;	</a:t>
            </a:r>
          </a:p>
          <a:p>
            <a:r>
              <a:rPr lang="en-US" dirty="0">
                <a:latin typeface="Proxima Nova" panose="020B0604020202020204"/>
              </a:rPr>
              <a:t>	&lt;p&gt;And me!&lt;/p&gt;                              </a:t>
            </a:r>
          </a:p>
          <a:p>
            <a:r>
              <a:rPr lang="en-US" dirty="0">
                <a:latin typeface="Proxima Nova" panose="020B0604020202020204"/>
              </a:rPr>
              <a:t>&lt;/body&gt;</a:t>
            </a:r>
          </a:p>
          <a:p>
            <a:r>
              <a:rPr lang="en-US" dirty="0">
                <a:latin typeface="Proxima Nova" panose="020B0604020202020204"/>
              </a:rPr>
              <a:t>&lt;/html&gt;</a:t>
            </a:r>
          </a:p>
          <a:p>
            <a:endParaRPr lang="en-US" dirty="0">
              <a:latin typeface="Proxima Nova" panose="020B0604020202020204"/>
            </a:endParaRPr>
          </a:p>
        </p:txBody>
      </p:sp>
      <p:pic>
        <p:nvPicPr>
          <p:cNvPr id="7" name="Picture 6">
            <a:extLst>
              <a:ext uri="{FF2B5EF4-FFF2-40B4-BE49-F238E27FC236}">
                <a16:creationId xmlns:a16="http://schemas.microsoft.com/office/drawing/2014/main" id="{B28F90BA-6792-3FE5-AFB7-27BA52749BA8}"/>
              </a:ext>
            </a:extLst>
          </p:cNvPr>
          <p:cNvPicPr>
            <a:picLocks noChangeAspect="1"/>
          </p:cNvPicPr>
          <p:nvPr/>
        </p:nvPicPr>
        <p:blipFill>
          <a:blip r:embed="rId2"/>
          <a:stretch>
            <a:fillRect/>
          </a:stretch>
        </p:blipFill>
        <p:spPr>
          <a:xfrm>
            <a:off x="6861040" y="2628900"/>
            <a:ext cx="4959485" cy="1905000"/>
          </a:xfrm>
          <a:prstGeom prst="rect">
            <a:avLst/>
          </a:prstGeom>
          <a:ln w="19050">
            <a:solidFill>
              <a:schemeClr val="tx1"/>
            </a:solidFill>
          </a:ln>
        </p:spPr>
      </p:pic>
      <p:sp>
        <p:nvSpPr>
          <p:cNvPr id="9" name="TextBox 8">
            <a:extLst>
              <a:ext uri="{FF2B5EF4-FFF2-40B4-BE49-F238E27FC236}">
                <a16:creationId xmlns:a16="http://schemas.microsoft.com/office/drawing/2014/main" id="{E7C47961-0B11-8534-7BD7-9F2E5119D78D}"/>
              </a:ext>
            </a:extLst>
          </p:cNvPr>
          <p:cNvSpPr txBox="1"/>
          <p:nvPr/>
        </p:nvSpPr>
        <p:spPr>
          <a:xfrm>
            <a:off x="6705600" y="2259568"/>
            <a:ext cx="6096000" cy="369332"/>
          </a:xfrm>
          <a:prstGeom prst="rect">
            <a:avLst/>
          </a:prstGeom>
          <a:noFill/>
        </p:spPr>
        <p:txBody>
          <a:bodyPr wrap="square">
            <a:spAutoFit/>
          </a:bodyPr>
          <a:lstStyle/>
          <a:p>
            <a:r>
              <a:rPr lang="en-US" b="1" dirty="0">
                <a:latin typeface="Proxima Nova" panose="020B0604020202020204"/>
              </a:rPr>
              <a:t>Output:</a:t>
            </a:r>
          </a:p>
        </p:txBody>
      </p:sp>
    </p:spTree>
    <p:extLst>
      <p:ext uri="{BB962C8B-B14F-4D97-AF65-F5344CB8AC3E}">
        <p14:creationId xmlns:p14="http://schemas.microsoft.com/office/powerpoint/2010/main" val="403662947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Basic Selectors</a:t>
            </a:r>
            <a:endParaRPr sz="2400" dirty="0">
              <a:latin typeface="Proxima Nova"/>
            </a:endParaRPr>
          </a:p>
        </p:txBody>
      </p:sp>
      <p:pic>
        <p:nvPicPr>
          <p:cNvPr id="2" name="Content Placeholder 3">
            <a:extLst>
              <a:ext uri="{FF2B5EF4-FFF2-40B4-BE49-F238E27FC236}">
                <a16:creationId xmlns:a16="http://schemas.microsoft.com/office/drawing/2014/main" id="{328E558A-11DA-D304-8160-40E730836A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6750" y="1277879"/>
            <a:ext cx="10858500" cy="3513196"/>
          </a:xfrm>
        </p:spPr>
      </p:pic>
    </p:spTree>
    <p:extLst>
      <p:ext uri="{BB962C8B-B14F-4D97-AF65-F5344CB8AC3E}">
        <p14:creationId xmlns:p14="http://schemas.microsoft.com/office/powerpoint/2010/main" val="23815500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IN" sz="2400" dirty="0">
                <a:latin typeface="Proxima Nova"/>
              </a:rPr>
              <a:t>CSS Pseudo-classes</a:t>
            </a:r>
            <a:endParaRPr sz="2400" dirty="0">
              <a:latin typeface="Proxima Nova"/>
            </a:endParaRPr>
          </a:p>
        </p:txBody>
      </p:sp>
      <p:sp>
        <p:nvSpPr>
          <p:cNvPr id="3" name="TextBox 2">
            <a:extLst>
              <a:ext uri="{FF2B5EF4-FFF2-40B4-BE49-F238E27FC236}">
                <a16:creationId xmlns:a16="http://schemas.microsoft.com/office/drawing/2014/main" id="{E39D0B47-D8C8-8F03-5698-67798C486028}"/>
              </a:ext>
            </a:extLst>
          </p:cNvPr>
          <p:cNvSpPr txBox="1"/>
          <p:nvPr/>
        </p:nvSpPr>
        <p:spPr>
          <a:xfrm>
            <a:off x="478275" y="976343"/>
            <a:ext cx="11513700" cy="543738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Proxima Nova" panose="020B0604020202020204"/>
              </a:rPr>
              <a:t>A pseudo-class is used to define a special state of an element.</a:t>
            </a:r>
          </a:p>
          <a:p>
            <a:pPr marL="285750" indent="-285750">
              <a:lnSpc>
                <a:spcPct val="150000"/>
              </a:lnSpc>
              <a:buFont typeface="Arial" panose="020B0604020202020204" pitchFamily="34" charset="0"/>
              <a:buChar char="•"/>
            </a:pPr>
            <a:r>
              <a:rPr lang="en-US" dirty="0">
                <a:latin typeface="Proxima Nova" panose="020B0604020202020204"/>
              </a:rPr>
              <a:t>For example, it can be used to:</a:t>
            </a:r>
          </a:p>
          <a:p>
            <a:pPr marL="285750" indent="-285750">
              <a:lnSpc>
                <a:spcPct val="150000"/>
              </a:lnSpc>
              <a:buFont typeface="Arial" panose="020B0604020202020204" pitchFamily="34" charset="0"/>
              <a:buChar char="•"/>
            </a:pPr>
            <a:r>
              <a:rPr lang="en-US" dirty="0">
                <a:latin typeface="Proxima Nova" panose="020B0604020202020204"/>
              </a:rPr>
              <a:t>    Style an element when a user’s mouse hovers over it</a:t>
            </a:r>
          </a:p>
          <a:p>
            <a:pPr marL="285750" indent="-285750">
              <a:lnSpc>
                <a:spcPct val="150000"/>
              </a:lnSpc>
              <a:buFont typeface="Arial" panose="020B0604020202020204" pitchFamily="34" charset="0"/>
              <a:buChar char="•"/>
            </a:pPr>
            <a:r>
              <a:rPr lang="en-US" dirty="0">
                <a:latin typeface="Proxima Nova" panose="020B0604020202020204"/>
              </a:rPr>
              <a:t>    Style visited and unvisited links differently</a:t>
            </a:r>
          </a:p>
          <a:p>
            <a:pPr marL="285750" indent="-285750">
              <a:lnSpc>
                <a:spcPct val="150000"/>
              </a:lnSpc>
              <a:buFont typeface="Arial" panose="020B0604020202020204" pitchFamily="34" charset="0"/>
              <a:buChar char="•"/>
            </a:pPr>
            <a:r>
              <a:rPr lang="en-US" dirty="0">
                <a:latin typeface="Proxima Nova" panose="020B0604020202020204"/>
              </a:rPr>
              <a:t>    Style an element when it gets focused.</a:t>
            </a:r>
          </a:p>
          <a:p>
            <a:pPr marL="285750" indent="-285750">
              <a:lnSpc>
                <a:spcPct val="150000"/>
              </a:lnSpc>
              <a:buFont typeface="Arial" panose="020B0604020202020204" pitchFamily="34" charset="0"/>
              <a:buChar char="•"/>
            </a:pPr>
            <a:r>
              <a:rPr lang="en-US" dirty="0">
                <a:latin typeface="Proxima Nova" panose="020B0604020202020204"/>
              </a:rPr>
              <a:t> </a:t>
            </a:r>
            <a:r>
              <a:rPr lang="en-US" b="1" dirty="0">
                <a:latin typeface="Proxima Nova" panose="020B0604020202020204"/>
              </a:rPr>
              <a:t>Syntax of pseudo-classes:</a:t>
            </a:r>
          </a:p>
          <a:p>
            <a:pPr marL="285750" indent="-285750">
              <a:lnSpc>
                <a:spcPct val="150000"/>
              </a:lnSpc>
              <a:buFont typeface="Arial" panose="020B0604020202020204" pitchFamily="34" charset="0"/>
              <a:buChar char="•"/>
            </a:pPr>
            <a:r>
              <a:rPr lang="en-US" dirty="0" err="1">
                <a:latin typeface="Proxima Nova" panose="020B0604020202020204"/>
              </a:rPr>
              <a:t>selector:pseudo-class</a:t>
            </a:r>
            <a:r>
              <a:rPr lang="en-US" dirty="0">
                <a:latin typeface="Proxima Nova" panose="020B0604020202020204"/>
              </a:rPr>
              <a:t> {</a:t>
            </a:r>
          </a:p>
          <a:p>
            <a:pPr marL="285750" indent="-285750">
              <a:lnSpc>
                <a:spcPct val="150000"/>
              </a:lnSpc>
              <a:buFont typeface="Arial" panose="020B0604020202020204" pitchFamily="34" charset="0"/>
              <a:buChar char="•"/>
            </a:pPr>
            <a:r>
              <a:rPr lang="en-US" dirty="0" err="1">
                <a:latin typeface="Proxima Nova" panose="020B0604020202020204"/>
              </a:rPr>
              <a:t>property:value</a:t>
            </a:r>
            <a:r>
              <a:rPr lang="en-US" dirty="0">
                <a:latin typeface="Proxima Nova" panose="020B0604020202020204"/>
              </a:rPr>
              <a:t>;</a:t>
            </a:r>
          </a:p>
          <a:p>
            <a:pPr marL="285750" indent="-285750">
              <a:lnSpc>
                <a:spcPct val="150000"/>
              </a:lnSpc>
              <a:buFont typeface="Arial" panose="020B0604020202020204" pitchFamily="34" charset="0"/>
              <a:buChar char="•"/>
            </a:pPr>
            <a:r>
              <a:rPr lang="en-US" dirty="0">
                <a:latin typeface="Proxima Nova" panose="020B0604020202020204"/>
              </a:rPr>
              <a:t>}</a:t>
            </a:r>
          </a:p>
          <a:p>
            <a:pPr marL="285750" indent="-285750">
              <a:lnSpc>
                <a:spcPct val="150000"/>
              </a:lnSpc>
              <a:buFont typeface="Arial" panose="020B0604020202020204" pitchFamily="34" charset="0"/>
              <a:buChar char="•"/>
            </a:pPr>
            <a:r>
              <a:rPr lang="en-US" b="1" dirty="0">
                <a:latin typeface="Proxima Nova" panose="020B0604020202020204"/>
              </a:rPr>
              <a:t>Note: a:hover MUST come after a:link and a:visited in the CSS definition in order to be effective! </a:t>
            </a:r>
          </a:p>
          <a:p>
            <a:pPr marL="285750" indent="-285750">
              <a:lnSpc>
                <a:spcPct val="150000"/>
              </a:lnSpc>
              <a:buFont typeface="Arial" panose="020B0604020202020204" pitchFamily="34" charset="0"/>
              <a:buChar char="•"/>
            </a:pPr>
            <a:r>
              <a:rPr lang="en-US" b="1" dirty="0">
                <a:latin typeface="Proxima Nova" panose="020B0604020202020204"/>
              </a:rPr>
              <a:t>a:active MUST come after a:hover in the CSS definition in order to be effective! </a:t>
            </a:r>
          </a:p>
          <a:p>
            <a:pPr marL="285750" indent="-285750">
              <a:lnSpc>
                <a:spcPct val="150000"/>
              </a:lnSpc>
              <a:buFont typeface="Arial" panose="020B0604020202020204" pitchFamily="34" charset="0"/>
              <a:buChar char="•"/>
            </a:pPr>
            <a:r>
              <a:rPr lang="en-US" b="1" dirty="0">
                <a:latin typeface="Proxima Nova" panose="020B0604020202020204"/>
              </a:rPr>
              <a:t>Pseudo-class names are not case-sensitive.</a:t>
            </a:r>
          </a:p>
          <a:p>
            <a:pPr marL="285750" indent="-285750">
              <a:lnSpc>
                <a:spcPct val="150000"/>
              </a:lnSpc>
              <a:buFont typeface="Arial" panose="020B0604020202020204" pitchFamily="34" charset="0"/>
              <a:buChar char="•"/>
            </a:pPr>
            <a:endParaRPr lang="en-US" dirty="0">
              <a:latin typeface="Proxima Nova" panose="020B0604020202020204"/>
            </a:endParaRPr>
          </a:p>
        </p:txBody>
      </p:sp>
    </p:spTree>
    <p:extLst>
      <p:ext uri="{BB962C8B-B14F-4D97-AF65-F5344CB8AC3E}">
        <p14:creationId xmlns:p14="http://schemas.microsoft.com/office/powerpoint/2010/main" val="27272228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Proxima Nova"/>
              </a:rPr>
              <a:t>Example</a:t>
            </a:r>
            <a:endParaRPr sz="2400" dirty="0">
              <a:latin typeface="Proxima Nova"/>
            </a:endParaRPr>
          </a:p>
        </p:txBody>
      </p:sp>
      <p:sp>
        <p:nvSpPr>
          <p:cNvPr id="3" name="TextBox 2">
            <a:extLst>
              <a:ext uri="{FF2B5EF4-FFF2-40B4-BE49-F238E27FC236}">
                <a16:creationId xmlns:a16="http://schemas.microsoft.com/office/drawing/2014/main" id="{1EF71E67-935B-9C60-5887-4DD6B3D67C51}"/>
              </a:ext>
            </a:extLst>
          </p:cNvPr>
          <p:cNvSpPr txBox="1"/>
          <p:nvPr/>
        </p:nvSpPr>
        <p:spPr>
          <a:xfrm>
            <a:off x="478275" y="1166575"/>
            <a:ext cx="6096000" cy="5909310"/>
          </a:xfrm>
          <a:prstGeom prst="rect">
            <a:avLst/>
          </a:prstGeom>
          <a:noFill/>
        </p:spPr>
        <p:txBody>
          <a:bodyPr wrap="square">
            <a:spAutoFit/>
          </a:bodyPr>
          <a:lstStyle/>
          <a:p>
            <a:r>
              <a:rPr lang="en-IN" dirty="0">
                <a:latin typeface="Proxima Nova" panose="020B0604020202020204"/>
              </a:rPr>
              <a:t>&lt;!DOCTYPE html&gt;</a:t>
            </a:r>
          </a:p>
          <a:p>
            <a:r>
              <a:rPr lang="en-IN" dirty="0">
                <a:latin typeface="Proxima Nova" panose="020B0604020202020204"/>
              </a:rPr>
              <a:t>&lt;html&gt;</a:t>
            </a:r>
          </a:p>
          <a:p>
            <a:r>
              <a:rPr lang="en-IN" dirty="0">
                <a:latin typeface="Proxima Nova" panose="020B0604020202020204"/>
              </a:rPr>
              <a:t>	&lt;head&gt;							&lt;style&gt;</a:t>
            </a:r>
          </a:p>
          <a:p>
            <a:r>
              <a:rPr lang="en-IN" dirty="0">
                <a:latin typeface="Proxima Nova" panose="020B0604020202020204"/>
              </a:rPr>
              <a:t>			/* unvisited link */</a:t>
            </a:r>
          </a:p>
          <a:p>
            <a:r>
              <a:rPr lang="en-IN" dirty="0">
                <a:latin typeface="Proxima Nova" panose="020B0604020202020204"/>
              </a:rPr>
              <a:t>			a:link {</a:t>
            </a:r>
          </a:p>
          <a:p>
            <a:r>
              <a:rPr lang="en-IN" dirty="0">
                <a:latin typeface="Proxima Nova" panose="020B0604020202020204"/>
              </a:rPr>
              <a:t>			  </a:t>
            </a:r>
            <a:r>
              <a:rPr lang="en-IN" dirty="0" err="1">
                <a:latin typeface="Proxima Nova" panose="020B0604020202020204"/>
              </a:rPr>
              <a:t>color</a:t>
            </a:r>
            <a:r>
              <a:rPr lang="en-IN" dirty="0">
                <a:latin typeface="Proxima Nova" panose="020B0604020202020204"/>
              </a:rPr>
              <a:t>: red;</a:t>
            </a:r>
          </a:p>
          <a:p>
            <a:r>
              <a:rPr lang="en-IN" dirty="0">
                <a:latin typeface="Proxima Nova" panose="020B0604020202020204"/>
              </a:rPr>
              <a:t>			}</a:t>
            </a:r>
          </a:p>
          <a:p>
            <a:endParaRPr lang="en-IN" dirty="0">
              <a:latin typeface="Proxima Nova" panose="020B0604020202020204"/>
            </a:endParaRPr>
          </a:p>
          <a:p>
            <a:r>
              <a:rPr lang="en-IN" dirty="0">
                <a:latin typeface="Proxima Nova" panose="020B0604020202020204"/>
              </a:rPr>
              <a:t>			/* visited link */</a:t>
            </a:r>
          </a:p>
          <a:p>
            <a:r>
              <a:rPr lang="en-IN" dirty="0">
                <a:latin typeface="Proxima Nova" panose="020B0604020202020204"/>
              </a:rPr>
              <a:t>			a:visited {</a:t>
            </a:r>
          </a:p>
          <a:p>
            <a:r>
              <a:rPr lang="en-IN" dirty="0">
                <a:latin typeface="Proxima Nova" panose="020B0604020202020204"/>
              </a:rPr>
              <a:t> 			 </a:t>
            </a:r>
            <a:r>
              <a:rPr lang="en-IN" dirty="0" err="1">
                <a:latin typeface="Proxima Nova" panose="020B0604020202020204"/>
              </a:rPr>
              <a:t>color</a:t>
            </a:r>
            <a:r>
              <a:rPr lang="en-IN" dirty="0">
                <a:latin typeface="Proxima Nova" panose="020B0604020202020204"/>
              </a:rPr>
              <a:t>: green;</a:t>
            </a:r>
          </a:p>
          <a:p>
            <a:r>
              <a:rPr lang="en-IN" dirty="0">
                <a:latin typeface="Proxima Nova" panose="020B0604020202020204"/>
              </a:rPr>
              <a:t>			}</a:t>
            </a:r>
          </a:p>
          <a:p>
            <a:endParaRPr lang="en-IN" dirty="0">
              <a:latin typeface="Proxima Nova" panose="020B0604020202020204"/>
            </a:endParaRPr>
          </a:p>
          <a:p>
            <a:r>
              <a:rPr lang="en-IN" dirty="0">
                <a:latin typeface="Proxima Nova" panose="020B0604020202020204"/>
              </a:rPr>
              <a:t>			/* mouse hover link */</a:t>
            </a:r>
          </a:p>
          <a:p>
            <a:pPr lvl="6"/>
            <a:r>
              <a:rPr lang="en-IN" dirty="0">
                <a:latin typeface="Proxima Nova" panose="020B0604020202020204"/>
              </a:rPr>
              <a:t>a:hover {</a:t>
            </a:r>
          </a:p>
          <a:p>
            <a:pPr lvl="6"/>
            <a:r>
              <a:rPr lang="en-IN" dirty="0" err="1">
                <a:latin typeface="Proxima Nova" panose="020B0604020202020204"/>
              </a:rPr>
              <a:t>color</a:t>
            </a:r>
            <a:r>
              <a:rPr lang="en-IN" dirty="0">
                <a:latin typeface="Proxima Nova" panose="020B0604020202020204"/>
              </a:rPr>
              <a:t>: </a:t>
            </a:r>
            <a:r>
              <a:rPr lang="en-IN" dirty="0" err="1">
                <a:latin typeface="Proxima Nova" panose="020B0604020202020204"/>
              </a:rPr>
              <a:t>hotpink</a:t>
            </a:r>
            <a:r>
              <a:rPr lang="en-IN" dirty="0">
                <a:latin typeface="Proxima Nova" panose="020B0604020202020204"/>
              </a:rPr>
              <a:t>;</a:t>
            </a:r>
          </a:p>
          <a:p>
            <a:pPr lvl="6"/>
            <a:r>
              <a:rPr lang="en-IN" dirty="0">
                <a:latin typeface="Proxima Nova" panose="020B0604020202020204"/>
              </a:rPr>
              <a:t>}</a:t>
            </a:r>
          </a:p>
          <a:p>
            <a:endParaRPr lang="en-IN" dirty="0">
              <a:latin typeface="Proxima Nova" panose="020B0604020202020204"/>
            </a:endParaRPr>
          </a:p>
          <a:p>
            <a:endParaRPr lang="en-IN" dirty="0">
              <a:latin typeface="Proxima Nova" panose="020B0604020202020204"/>
            </a:endParaRPr>
          </a:p>
          <a:p>
            <a:r>
              <a:rPr lang="en-IN" dirty="0">
                <a:latin typeface="Proxima Nova" panose="020B0604020202020204"/>
              </a:rPr>
              <a:t>	</a:t>
            </a:r>
          </a:p>
        </p:txBody>
      </p:sp>
      <p:sp>
        <p:nvSpPr>
          <p:cNvPr id="6" name="TextBox 5">
            <a:extLst>
              <a:ext uri="{FF2B5EF4-FFF2-40B4-BE49-F238E27FC236}">
                <a16:creationId xmlns:a16="http://schemas.microsoft.com/office/drawing/2014/main" id="{43852F03-27DC-181A-B5EF-98AFB2536A4E}"/>
              </a:ext>
            </a:extLst>
          </p:cNvPr>
          <p:cNvSpPr txBox="1"/>
          <p:nvPr/>
        </p:nvSpPr>
        <p:spPr>
          <a:xfrm>
            <a:off x="5924550" y="1166575"/>
            <a:ext cx="6096000" cy="3416320"/>
          </a:xfrm>
          <a:prstGeom prst="rect">
            <a:avLst/>
          </a:prstGeom>
          <a:noFill/>
        </p:spPr>
        <p:txBody>
          <a:bodyPr wrap="square">
            <a:spAutoFit/>
          </a:bodyPr>
          <a:lstStyle/>
          <a:p>
            <a:pPr lvl="5"/>
            <a:r>
              <a:rPr lang="en-IN" dirty="0">
                <a:latin typeface="Proxima Nova" panose="020B0604020202020204"/>
              </a:rPr>
              <a:t>/* selected link */</a:t>
            </a:r>
          </a:p>
          <a:p>
            <a:pPr lvl="5"/>
            <a:r>
              <a:rPr lang="en-IN" dirty="0">
                <a:latin typeface="Proxima Nova" panose="020B0604020202020204"/>
              </a:rPr>
              <a:t>a:active {</a:t>
            </a:r>
          </a:p>
          <a:p>
            <a:pPr lvl="5"/>
            <a:r>
              <a:rPr lang="en-IN" dirty="0">
                <a:latin typeface="Proxima Nova" panose="020B0604020202020204"/>
              </a:rPr>
              <a:t>  </a:t>
            </a:r>
            <a:r>
              <a:rPr lang="en-IN" dirty="0" err="1">
                <a:latin typeface="Proxima Nova" panose="020B0604020202020204"/>
              </a:rPr>
              <a:t>color</a:t>
            </a:r>
            <a:r>
              <a:rPr lang="en-IN" dirty="0">
                <a:latin typeface="Proxima Nova" panose="020B0604020202020204"/>
              </a:rPr>
              <a:t>: blue;</a:t>
            </a:r>
          </a:p>
          <a:p>
            <a:pPr lvl="5"/>
            <a:r>
              <a:rPr lang="en-IN" dirty="0">
                <a:latin typeface="Proxima Nova" panose="020B0604020202020204"/>
              </a:rPr>
              <a:t>}</a:t>
            </a:r>
          </a:p>
          <a:p>
            <a:endParaRPr lang="en-IN" dirty="0">
              <a:latin typeface="Proxima Nova" panose="020B0604020202020204"/>
            </a:endParaRPr>
          </a:p>
          <a:p>
            <a:r>
              <a:rPr lang="en-IN" dirty="0">
                <a:latin typeface="Proxima Nova" panose="020B0604020202020204"/>
              </a:rPr>
              <a:t>		&lt;/style&gt;</a:t>
            </a:r>
          </a:p>
          <a:p>
            <a:r>
              <a:rPr lang="en-IN" dirty="0">
                <a:latin typeface="Proxima Nova" panose="020B0604020202020204"/>
              </a:rPr>
              <a:t>	&lt;/head&gt;</a:t>
            </a:r>
          </a:p>
          <a:p>
            <a:r>
              <a:rPr lang="en-US" dirty="0">
                <a:latin typeface="Proxima Nova" panose="020B0604020202020204"/>
              </a:rPr>
              <a:t>	&lt;body&gt;</a:t>
            </a:r>
          </a:p>
          <a:p>
            <a:r>
              <a:rPr lang="en-US" dirty="0">
                <a:latin typeface="Proxima Nova" panose="020B0604020202020204"/>
              </a:rPr>
              <a:t>		&lt;a </a:t>
            </a:r>
            <a:r>
              <a:rPr lang="en-US" dirty="0" err="1">
                <a:latin typeface="Proxima Nova" panose="020B0604020202020204"/>
              </a:rPr>
              <a:t>href</a:t>
            </a:r>
            <a:r>
              <a:rPr lang="en-US" dirty="0">
                <a:latin typeface="Proxima Nova" panose="020B0604020202020204"/>
              </a:rPr>
              <a:t>=“#”&gt;This is a link&lt;/a&gt;	</a:t>
            </a:r>
          </a:p>
          <a:p>
            <a:r>
              <a:rPr lang="en-US" dirty="0">
                <a:latin typeface="Proxima Nova" panose="020B0604020202020204"/>
              </a:rPr>
              <a:t>	&lt;/body&gt;</a:t>
            </a:r>
          </a:p>
          <a:p>
            <a:r>
              <a:rPr lang="en-US" dirty="0">
                <a:latin typeface="Proxima Nova" panose="020B0604020202020204"/>
              </a:rPr>
              <a:t>&lt;/html&gt;</a:t>
            </a:r>
          </a:p>
          <a:p>
            <a:endParaRPr lang="en-IN" dirty="0">
              <a:latin typeface="Proxima Nova" panose="020B0604020202020204"/>
            </a:endParaRPr>
          </a:p>
        </p:txBody>
      </p:sp>
      <p:pic>
        <p:nvPicPr>
          <p:cNvPr id="7" name="Picture 6">
            <a:extLst>
              <a:ext uri="{FF2B5EF4-FFF2-40B4-BE49-F238E27FC236}">
                <a16:creationId xmlns:a16="http://schemas.microsoft.com/office/drawing/2014/main" id="{99256827-A2BE-A924-6A63-0B7F466C100B}"/>
              </a:ext>
            </a:extLst>
          </p:cNvPr>
          <p:cNvPicPr>
            <a:picLocks noChangeAspect="1"/>
          </p:cNvPicPr>
          <p:nvPr/>
        </p:nvPicPr>
        <p:blipFill>
          <a:blip r:embed="rId2"/>
          <a:stretch>
            <a:fillRect/>
          </a:stretch>
        </p:blipFill>
        <p:spPr>
          <a:xfrm>
            <a:off x="6665271" y="4829265"/>
            <a:ext cx="2009775" cy="666750"/>
          </a:xfrm>
          <a:prstGeom prst="rect">
            <a:avLst/>
          </a:prstGeom>
          <a:ln w="19050">
            <a:solidFill>
              <a:schemeClr val="tx1"/>
            </a:solidFill>
          </a:ln>
        </p:spPr>
      </p:pic>
      <p:sp>
        <p:nvSpPr>
          <p:cNvPr id="9" name="TextBox 8">
            <a:extLst>
              <a:ext uri="{FF2B5EF4-FFF2-40B4-BE49-F238E27FC236}">
                <a16:creationId xmlns:a16="http://schemas.microsoft.com/office/drawing/2014/main" id="{58324572-0508-DD0E-A2A3-8EA408C1DED6}"/>
              </a:ext>
            </a:extLst>
          </p:cNvPr>
          <p:cNvSpPr txBox="1"/>
          <p:nvPr/>
        </p:nvSpPr>
        <p:spPr>
          <a:xfrm>
            <a:off x="6574275" y="4398229"/>
            <a:ext cx="6096000" cy="369332"/>
          </a:xfrm>
          <a:prstGeom prst="rect">
            <a:avLst/>
          </a:prstGeom>
          <a:noFill/>
        </p:spPr>
        <p:txBody>
          <a:bodyPr wrap="square">
            <a:spAutoFit/>
          </a:bodyPr>
          <a:lstStyle/>
          <a:p>
            <a:r>
              <a:rPr lang="en-US" b="1" dirty="0"/>
              <a:t>Output</a:t>
            </a:r>
            <a:endParaRPr lang="en-IN" dirty="0"/>
          </a:p>
        </p:txBody>
      </p:sp>
      <p:sp>
        <p:nvSpPr>
          <p:cNvPr id="11" name="TextBox 10">
            <a:extLst>
              <a:ext uri="{FF2B5EF4-FFF2-40B4-BE49-F238E27FC236}">
                <a16:creationId xmlns:a16="http://schemas.microsoft.com/office/drawing/2014/main" id="{3F648522-5B8B-C496-71F9-8838D23A8648}"/>
              </a:ext>
            </a:extLst>
          </p:cNvPr>
          <p:cNvSpPr txBox="1"/>
          <p:nvPr/>
        </p:nvSpPr>
        <p:spPr>
          <a:xfrm>
            <a:off x="776288" y="6384487"/>
            <a:ext cx="9529762" cy="276999"/>
          </a:xfrm>
          <a:prstGeom prst="rect">
            <a:avLst/>
          </a:prstGeom>
          <a:noFill/>
        </p:spPr>
        <p:txBody>
          <a:bodyPr wrap="square">
            <a:spAutoFit/>
          </a:bodyPr>
          <a:lstStyle/>
          <a:p>
            <a:r>
              <a:rPr lang="en-US" sz="1200" i="1" dirty="0"/>
              <a:t>Read More on this link: https://www.w3schools.com/css/css_pseudo_classes.asp</a:t>
            </a:r>
          </a:p>
        </p:txBody>
      </p:sp>
    </p:spTree>
    <p:extLst>
      <p:ext uri="{BB962C8B-B14F-4D97-AF65-F5344CB8AC3E}">
        <p14:creationId xmlns:p14="http://schemas.microsoft.com/office/powerpoint/2010/main" val="33023518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CSS Pseudo-elements</a:t>
            </a:r>
            <a:endParaRPr sz="2400" dirty="0">
              <a:latin typeface="Proxima Nova"/>
            </a:endParaRPr>
          </a:p>
        </p:txBody>
      </p:sp>
      <p:sp>
        <p:nvSpPr>
          <p:cNvPr id="3" name="TextBox 2">
            <a:extLst>
              <a:ext uri="{FF2B5EF4-FFF2-40B4-BE49-F238E27FC236}">
                <a16:creationId xmlns:a16="http://schemas.microsoft.com/office/drawing/2014/main" id="{A101E2BA-B76A-F3F7-34EC-1FD35D47DDF7}"/>
              </a:ext>
            </a:extLst>
          </p:cNvPr>
          <p:cNvSpPr txBox="1"/>
          <p:nvPr/>
        </p:nvSpPr>
        <p:spPr>
          <a:xfrm>
            <a:off x="478274" y="1155264"/>
            <a:ext cx="10723125" cy="543738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Proxima Nova" panose="020B0604020202020204"/>
              </a:rPr>
              <a:t>A CSS pseudo-element is used to style specified parts of an element.</a:t>
            </a:r>
          </a:p>
          <a:p>
            <a:pPr marL="285750" indent="-285750" algn="just">
              <a:lnSpc>
                <a:spcPct val="150000"/>
              </a:lnSpc>
              <a:buFont typeface="Arial" panose="020B0604020202020204" pitchFamily="34" charset="0"/>
              <a:buChar char="•"/>
            </a:pPr>
            <a:r>
              <a:rPr lang="en-US" dirty="0">
                <a:latin typeface="Proxima Nova" panose="020B0604020202020204"/>
              </a:rPr>
              <a:t>For example, it can be used to:</a:t>
            </a:r>
          </a:p>
          <a:p>
            <a:pPr marL="285750" indent="-285750" algn="just">
              <a:lnSpc>
                <a:spcPct val="150000"/>
              </a:lnSpc>
              <a:buFont typeface="Arial" panose="020B0604020202020204" pitchFamily="34" charset="0"/>
              <a:buChar char="•"/>
            </a:pPr>
            <a:r>
              <a:rPr lang="en-US" dirty="0">
                <a:latin typeface="Proxima Nova" panose="020B0604020202020204"/>
              </a:rPr>
              <a:t>Style the first letter, or line, of an element</a:t>
            </a:r>
          </a:p>
          <a:p>
            <a:pPr marL="285750" indent="-285750" algn="just">
              <a:lnSpc>
                <a:spcPct val="150000"/>
              </a:lnSpc>
              <a:buFont typeface="Arial" panose="020B0604020202020204" pitchFamily="34" charset="0"/>
              <a:buChar char="•"/>
            </a:pPr>
            <a:r>
              <a:rPr lang="en-US" dirty="0">
                <a:latin typeface="Proxima Nova" panose="020B0604020202020204"/>
              </a:rPr>
              <a:t> Insert content before, or after, the content of an element.</a:t>
            </a:r>
          </a:p>
          <a:p>
            <a:pPr marL="285750" indent="-285750" algn="just">
              <a:lnSpc>
                <a:spcPct val="150000"/>
              </a:lnSpc>
              <a:buFont typeface="Arial" panose="020B0604020202020204" pitchFamily="34" charset="0"/>
              <a:buChar char="•"/>
            </a:pPr>
            <a:r>
              <a:rPr lang="en-US" b="1" dirty="0">
                <a:latin typeface="Proxima Nova" panose="020B0604020202020204"/>
              </a:rPr>
              <a:t>Syntax:</a:t>
            </a:r>
          </a:p>
          <a:p>
            <a:pPr algn="just">
              <a:lnSpc>
                <a:spcPct val="150000"/>
              </a:lnSpc>
            </a:pPr>
            <a:r>
              <a:rPr lang="en-US" b="1" dirty="0">
                <a:latin typeface="Proxima Nova" panose="020B0604020202020204"/>
              </a:rPr>
              <a:t>selector::pseudo-element {</a:t>
            </a:r>
          </a:p>
          <a:p>
            <a:pPr algn="just">
              <a:lnSpc>
                <a:spcPct val="150000"/>
              </a:lnSpc>
            </a:pPr>
            <a:r>
              <a:rPr lang="en-US" b="1" dirty="0">
                <a:latin typeface="Proxima Nova" panose="020B0604020202020204"/>
              </a:rPr>
              <a:t>  property: value;</a:t>
            </a:r>
          </a:p>
          <a:p>
            <a:pPr algn="just">
              <a:lnSpc>
                <a:spcPct val="150000"/>
              </a:lnSpc>
            </a:pPr>
            <a:r>
              <a:rPr lang="en-US" b="1" dirty="0">
                <a:latin typeface="Proxima Nova" panose="020B0604020202020204"/>
              </a:rPr>
              <a:t>}</a:t>
            </a:r>
          </a:p>
          <a:p>
            <a:pPr algn="just">
              <a:lnSpc>
                <a:spcPct val="150000"/>
              </a:lnSpc>
            </a:pPr>
            <a:r>
              <a:rPr lang="en-US" b="1" dirty="0">
                <a:latin typeface="Proxima Nova" panose="020B0604020202020204"/>
              </a:rPr>
              <a:t>The ::first-line Pseudo-element</a:t>
            </a:r>
          </a:p>
          <a:p>
            <a:pPr marL="285750" indent="-285750" algn="just">
              <a:lnSpc>
                <a:spcPct val="150000"/>
              </a:lnSpc>
              <a:buFont typeface="Arial" panose="020B0604020202020204" pitchFamily="34" charset="0"/>
              <a:buChar char="•"/>
            </a:pPr>
            <a:r>
              <a:rPr lang="en-US" dirty="0">
                <a:latin typeface="Proxima Nova" panose="020B0604020202020204"/>
              </a:rPr>
              <a:t>The first-line pseudo-element is used to add a special style to the first line of a text.</a:t>
            </a:r>
          </a:p>
          <a:p>
            <a:pPr marL="285750" indent="-285750" algn="just">
              <a:lnSpc>
                <a:spcPct val="150000"/>
              </a:lnSpc>
              <a:buFont typeface="Arial" panose="020B0604020202020204" pitchFamily="34" charset="0"/>
              <a:buChar char="•"/>
            </a:pPr>
            <a:r>
              <a:rPr lang="en-US" dirty="0">
                <a:latin typeface="Proxima Nova" panose="020B0604020202020204"/>
              </a:rPr>
              <a:t>The following example formats the first line of the text in all &lt;p&gt; elements.</a:t>
            </a:r>
          </a:p>
          <a:p>
            <a:pPr algn="just">
              <a:lnSpc>
                <a:spcPct val="150000"/>
              </a:lnSpc>
            </a:pPr>
            <a:endParaRPr lang="en-US" b="1" dirty="0">
              <a:latin typeface="Proxima Nova" panose="020B0604020202020204"/>
            </a:endParaRPr>
          </a:p>
          <a:p>
            <a:pPr algn="just">
              <a:lnSpc>
                <a:spcPct val="150000"/>
              </a:lnSpc>
            </a:pPr>
            <a:endParaRPr lang="en-US" b="1" dirty="0">
              <a:latin typeface="Proxima Nova" panose="020B0604020202020204"/>
            </a:endParaRPr>
          </a:p>
        </p:txBody>
      </p:sp>
    </p:spTree>
    <p:extLst>
      <p:ext uri="{BB962C8B-B14F-4D97-AF65-F5344CB8AC3E}">
        <p14:creationId xmlns:p14="http://schemas.microsoft.com/office/powerpoint/2010/main" val="13423920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latin typeface="Proxima Nova"/>
              </a:rPr>
              <a:t>Example</a:t>
            </a:r>
            <a:endParaRPr sz="2400" dirty="0">
              <a:latin typeface="Proxima Nova"/>
            </a:endParaRPr>
          </a:p>
        </p:txBody>
      </p:sp>
      <p:sp>
        <p:nvSpPr>
          <p:cNvPr id="3" name="TextBox 2">
            <a:extLst>
              <a:ext uri="{FF2B5EF4-FFF2-40B4-BE49-F238E27FC236}">
                <a16:creationId xmlns:a16="http://schemas.microsoft.com/office/drawing/2014/main" id="{0386BCCC-80C6-73CB-11B1-BF8F7D1C9005}"/>
              </a:ext>
            </a:extLst>
          </p:cNvPr>
          <p:cNvSpPr txBox="1"/>
          <p:nvPr/>
        </p:nvSpPr>
        <p:spPr>
          <a:xfrm>
            <a:off x="478274" y="1141869"/>
            <a:ext cx="11504175" cy="4801314"/>
          </a:xfrm>
          <a:prstGeom prst="rect">
            <a:avLst/>
          </a:prstGeom>
          <a:noFill/>
        </p:spPr>
        <p:txBody>
          <a:bodyPr wrap="square">
            <a:spAutoFit/>
          </a:bodyPr>
          <a:lstStyle/>
          <a:p>
            <a:r>
              <a:rPr lang="en-US" dirty="0">
                <a:latin typeface="Proxima Nova" panose="020B0604020202020204"/>
              </a:rPr>
              <a:t>&lt;!DOCTYPE html&gt;</a:t>
            </a:r>
          </a:p>
          <a:p>
            <a:r>
              <a:rPr lang="en-US" dirty="0">
                <a:latin typeface="Proxima Nova" panose="020B0604020202020204"/>
              </a:rPr>
              <a:t>&lt;html&gt;</a:t>
            </a:r>
          </a:p>
          <a:p>
            <a:r>
              <a:rPr lang="en-US" dirty="0">
                <a:latin typeface="Proxima Nova" panose="020B0604020202020204"/>
              </a:rPr>
              <a:t>	&lt;head&gt;</a:t>
            </a:r>
          </a:p>
          <a:p>
            <a:r>
              <a:rPr lang="en-US" dirty="0">
                <a:latin typeface="Proxima Nova" panose="020B0604020202020204"/>
              </a:rPr>
              <a:t>		&lt;style&gt;</a:t>
            </a:r>
          </a:p>
          <a:p>
            <a:r>
              <a:rPr lang="en-US" dirty="0">
                <a:latin typeface="Proxima Nova" panose="020B0604020202020204"/>
              </a:rPr>
              <a:t>			p::first-line{</a:t>
            </a:r>
          </a:p>
          <a:p>
            <a:r>
              <a:rPr lang="en-US" dirty="0">
                <a:latin typeface="Proxima Nova" panose="020B0604020202020204"/>
              </a:rPr>
              <a:t> 			 color: red;</a:t>
            </a:r>
          </a:p>
          <a:p>
            <a:r>
              <a:rPr lang="en-US" dirty="0">
                <a:latin typeface="Proxima Nova" panose="020B0604020202020204"/>
              </a:rPr>
              <a:t>			  text-align: center;</a:t>
            </a:r>
          </a:p>
          <a:p>
            <a:r>
              <a:rPr lang="en-US" dirty="0">
                <a:latin typeface="Proxima Nova" panose="020B0604020202020204"/>
              </a:rPr>
              <a:t>			} </a:t>
            </a:r>
          </a:p>
          <a:p>
            <a:r>
              <a:rPr lang="en-US" dirty="0">
                <a:latin typeface="Proxima Nova" panose="020B0604020202020204"/>
              </a:rPr>
              <a:t>		&lt;/style&gt;</a:t>
            </a:r>
          </a:p>
          <a:p>
            <a:r>
              <a:rPr lang="en-US" dirty="0">
                <a:latin typeface="Proxima Nova" panose="020B0604020202020204"/>
              </a:rPr>
              <a:t>	&lt;/head&gt;</a:t>
            </a:r>
          </a:p>
          <a:p>
            <a:r>
              <a:rPr lang="en-US" dirty="0">
                <a:latin typeface="Proxima Nova" panose="020B0604020202020204"/>
              </a:rPr>
              <a:t>	&lt;body&gt;</a:t>
            </a:r>
          </a:p>
          <a:p>
            <a:r>
              <a:rPr lang="en-US" dirty="0">
                <a:latin typeface="Proxima Nova" panose="020B0604020202020204"/>
              </a:rPr>
              <a:t>		&lt;p&gt;Hello World!&lt;/p&gt;</a:t>
            </a:r>
          </a:p>
          <a:p>
            <a:r>
              <a:rPr lang="en-US" dirty="0">
                <a:latin typeface="Proxima Nova" panose="020B0604020202020204"/>
              </a:rPr>
              <a:t>		&lt;p&gt;You can use the ::first-line pseudo-element to add a special effect to the first line of a text. Some 		more text. And even more, and more, and more, and more, and more, and more, and more, and 			more, and more, and more, and more, and more.&lt;/p&gt;</a:t>
            </a:r>
          </a:p>
          <a:p>
            <a:r>
              <a:rPr lang="en-US" dirty="0">
                <a:latin typeface="Proxima Nova" panose="020B0604020202020204"/>
              </a:rPr>
              <a:t>	&lt;/body&gt;</a:t>
            </a:r>
          </a:p>
          <a:p>
            <a:r>
              <a:rPr lang="en-US" dirty="0">
                <a:latin typeface="Proxima Nova" panose="020B0604020202020204"/>
              </a:rPr>
              <a:t>&lt;/html&gt;		</a:t>
            </a:r>
          </a:p>
        </p:txBody>
      </p:sp>
      <p:pic>
        <p:nvPicPr>
          <p:cNvPr id="4" name="Picture 3">
            <a:extLst>
              <a:ext uri="{FF2B5EF4-FFF2-40B4-BE49-F238E27FC236}">
                <a16:creationId xmlns:a16="http://schemas.microsoft.com/office/drawing/2014/main" id="{3ABFC1A5-ADB4-8539-4CB6-7DE1931BCBE2}"/>
              </a:ext>
            </a:extLst>
          </p:cNvPr>
          <p:cNvPicPr>
            <a:picLocks noChangeAspect="1"/>
          </p:cNvPicPr>
          <p:nvPr/>
        </p:nvPicPr>
        <p:blipFill>
          <a:blip r:embed="rId2"/>
          <a:stretch>
            <a:fillRect/>
          </a:stretch>
        </p:blipFill>
        <p:spPr>
          <a:xfrm>
            <a:off x="5462338" y="1971270"/>
            <a:ext cx="6251388" cy="1695450"/>
          </a:xfrm>
          <a:prstGeom prst="rect">
            <a:avLst/>
          </a:prstGeom>
          <a:ln w="19050">
            <a:solidFill>
              <a:schemeClr val="tx1"/>
            </a:solidFill>
          </a:ln>
        </p:spPr>
      </p:pic>
      <p:sp>
        <p:nvSpPr>
          <p:cNvPr id="7" name="TextBox 6">
            <a:extLst>
              <a:ext uri="{FF2B5EF4-FFF2-40B4-BE49-F238E27FC236}">
                <a16:creationId xmlns:a16="http://schemas.microsoft.com/office/drawing/2014/main" id="{C6ECB1B6-BF81-FF2E-C34E-7C5DF82D8864}"/>
              </a:ext>
            </a:extLst>
          </p:cNvPr>
          <p:cNvSpPr txBox="1"/>
          <p:nvPr/>
        </p:nvSpPr>
        <p:spPr>
          <a:xfrm>
            <a:off x="5405188" y="1601938"/>
            <a:ext cx="6096000" cy="369332"/>
          </a:xfrm>
          <a:prstGeom prst="rect">
            <a:avLst/>
          </a:prstGeom>
          <a:noFill/>
        </p:spPr>
        <p:txBody>
          <a:bodyPr wrap="square">
            <a:spAutoFit/>
          </a:bodyPr>
          <a:lstStyle/>
          <a:p>
            <a:r>
              <a:rPr lang="en-US" b="1" dirty="0">
                <a:latin typeface="Proxima Nova" panose="020B0604020202020204"/>
              </a:rPr>
              <a:t>Output</a:t>
            </a:r>
            <a:endParaRPr lang="en-IN" b="1" dirty="0">
              <a:latin typeface="Proxima Nova" panose="020B0604020202020204"/>
            </a:endParaRPr>
          </a:p>
        </p:txBody>
      </p:sp>
    </p:spTree>
    <p:extLst>
      <p:ext uri="{BB962C8B-B14F-4D97-AF65-F5344CB8AC3E}">
        <p14:creationId xmlns:p14="http://schemas.microsoft.com/office/powerpoint/2010/main" val="335291133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IN" sz="2400" dirty="0">
                <a:latin typeface="Proxima Nova"/>
              </a:rPr>
              <a:t>The ::first-line Pseudo-element</a:t>
            </a:r>
            <a:endParaRPr sz="2400" dirty="0">
              <a:latin typeface="Proxima Nova"/>
            </a:endParaRPr>
          </a:p>
        </p:txBody>
      </p:sp>
      <p:sp>
        <p:nvSpPr>
          <p:cNvPr id="3" name="TextBox 2">
            <a:extLst>
              <a:ext uri="{FF2B5EF4-FFF2-40B4-BE49-F238E27FC236}">
                <a16:creationId xmlns:a16="http://schemas.microsoft.com/office/drawing/2014/main" id="{20CFDA8E-D0DA-2301-2D1C-1214E1CFCEA3}"/>
              </a:ext>
            </a:extLst>
          </p:cNvPr>
          <p:cNvSpPr txBox="1"/>
          <p:nvPr/>
        </p:nvSpPr>
        <p:spPr>
          <a:xfrm>
            <a:off x="478274" y="1166842"/>
            <a:ext cx="10913625" cy="502188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Proxima Nova" panose="020B0604020202020204"/>
              </a:rPr>
              <a:t>The ::first-line pseudo-element can only be applied to block-level elements.</a:t>
            </a:r>
          </a:p>
          <a:p>
            <a:pPr marL="285750" indent="-285750" algn="just">
              <a:lnSpc>
                <a:spcPct val="150000"/>
              </a:lnSpc>
              <a:buFont typeface="Arial" panose="020B0604020202020204" pitchFamily="34" charset="0"/>
              <a:buChar char="•"/>
            </a:pPr>
            <a:r>
              <a:rPr lang="en-US" dirty="0">
                <a:latin typeface="Proxima Nova" panose="020B0604020202020204"/>
              </a:rPr>
              <a:t>The following properties apply to the ::first-line pseudo-element:</a:t>
            </a:r>
          </a:p>
          <a:p>
            <a:pPr marL="285750" indent="-285750" algn="just">
              <a:lnSpc>
                <a:spcPct val="150000"/>
              </a:lnSpc>
              <a:buFont typeface="Arial" panose="020B0604020202020204" pitchFamily="34" charset="0"/>
              <a:buChar char="•"/>
            </a:pPr>
            <a:r>
              <a:rPr lang="en-US" dirty="0">
                <a:latin typeface="Proxima Nova" panose="020B0604020202020204"/>
              </a:rPr>
              <a:t>    font properties</a:t>
            </a:r>
          </a:p>
          <a:p>
            <a:pPr marL="285750" indent="-285750" algn="just">
              <a:lnSpc>
                <a:spcPct val="150000"/>
              </a:lnSpc>
              <a:buFont typeface="Arial" panose="020B0604020202020204" pitchFamily="34" charset="0"/>
              <a:buChar char="•"/>
            </a:pPr>
            <a:r>
              <a:rPr lang="en-US" dirty="0">
                <a:latin typeface="Proxima Nova" panose="020B0604020202020204"/>
              </a:rPr>
              <a:t>    color properties</a:t>
            </a:r>
          </a:p>
          <a:p>
            <a:pPr marL="285750" indent="-285750" algn="just">
              <a:lnSpc>
                <a:spcPct val="150000"/>
              </a:lnSpc>
              <a:buFont typeface="Arial" panose="020B0604020202020204" pitchFamily="34" charset="0"/>
              <a:buChar char="•"/>
            </a:pPr>
            <a:r>
              <a:rPr lang="en-US" dirty="0">
                <a:latin typeface="Proxima Nova" panose="020B0604020202020204"/>
              </a:rPr>
              <a:t>    background properties</a:t>
            </a:r>
          </a:p>
          <a:p>
            <a:pPr marL="285750" indent="-285750" algn="just">
              <a:lnSpc>
                <a:spcPct val="150000"/>
              </a:lnSpc>
              <a:buFont typeface="Arial" panose="020B0604020202020204" pitchFamily="34" charset="0"/>
              <a:buChar char="•"/>
            </a:pPr>
            <a:r>
              <a:rPr lang="en-US" dirty="0">
                <a:latin typeface="Proxima Nova" panose="020B0604020202020204"/>
              </a:rPr>
              <a:t>    word-spacing</a:t>
            </a:r>
          </a:p>
          <a:p>
            <a:pPr marL="285750" indent="-285750" algn="just">
              <a:lnSpc>
                <a:spcPct val="150000"/>
              </a:lnSpc>
              <a:buFont typeface="Arial" panose="020B0604020202020204" pitchFamily="34" charset="0"/>
              <a:buChar char="•"/>
            </a:pPr>
            <a:r>
              <a:rPr lang="en-US" dirty="0">
                <a:latin typeface="Proxima Nova" panose="020B0604020202020204"/>
              </a:rPr>
              <a:t>    letter-spacing</a:t>
            </a:r>
          </a:p>
          <a:p>
            <a:pPr marL="285750" indent="-285750" algn="just">
              <a:lnSpc>
                <a:spcPct val="150000"/>
              </a:lnSpc>
              <a:buFont typeface="Arial" panose="020B0604020202020204" pitchFamily="34" charset="0"/>
              <a:buChar char="•"/>
            </a:pPr>
            <a:r>
              <a:rPr lang="en-US" dirty="0">
                <a:latin typeface="Proxima Nova" panose="020B0604020202020204"/>
              </a:rPr>
              <a:t>    text-decoration</a:t>
            </a:r>
          </a:p>
          <a:p>
            <a:pPr marL="285750" indent="-285750" algn="just">
              <a:lnSpc>
                <a:spcPct val="150000"/>
              </a:lnSpc>
              <a:buFont typeface="Arial" panose="020B0604020202020204" pitchFamily="34" charset="0"/>
              <a:buChar char="•"/>
            </a:pPr>
            <a:r>
              <a:rPr lang="en-US" dirty="0">
                <a:latin typeface="Proxima Nova" panose="020B0604020202020204"/>
              </a:rPr>
              <a:t>    vertical-align</a:t>
            </a:r>
          </a:p>
          <a:p>
            <a:pPr marL="285750" indent="-285750" algn="just">
              <a:lnSpc>
                <a:spcPct val="150000"/>
              </a:lnSpc>
              <a:buFont typeface="Arial" panose="020B0604020202020204" pitchFamily="34" charset="0"/>
              <a:buChar char="•"/>
            </a:pPr>
            <a:r>
              <a:rPr lang="en-US" dirty="0">
                <a:latin typeface="Proxima Nova" panose="020B0604020202020204"/>
              </a:rPr>
              <a:t>    text-transform</a:t>
            </a:r>
          </a:p>
          <a:p>
            <a:pPr marL="285750" indent="-285750" algn="just">
              <a:lnSpc>
                <a:spcPct val="150000"/>
              </a:lnSpc>
              <a:buFont typeface="Arial" panose="020B0604020202020204" pitchFamily="34" charset="0"/>
              <a:buChar char="•"/>
            </a:pPr>
            <a:r>
              <a:rPr lang="en-US" dirty="0">
                <a:latin typeface="Proxima Nova" panose="020B0604020202020204"/>
              </a:rPr>
              <a:t>    line-height</a:t>
            </a:r>
          </a:p>
          <a:p>
            <a:pPr marL="285750" indent="-285750" algn="just">
              <a:lnSpc>
                <a:spcPct val="150000"/>
              </a:lnSpc>
              <a:buFont typeface="Arial" panose="020B0604020202020204" pitchFamily="34" charset="0"/>
              <a:buChar char="•"/>
            </a:pPr>
            <a:r>
              <a:rPr lang="en-US" dirty="0">
                <a:latin typeface="Proxima Nova" panose="020B0604020202020204"/>
              </a:rPr>
              <a:t>    clear</a:t>
            </a:r>
          </a:p>
        </p:txBody>
      </p:sp>
    </p:spTree>
    <p:extLst>
      <p:ext uri="{BB962C8B-B14F-4D97-AF65-F5344CB8AC3E}">
        <p14:creationId xmlns:p14="http://schemas.microsoft.com/office/powerpoint/2010/main" val="269195136"/>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96514"/>
            <a:ext cx="4770000" cy="382156"/>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04A2B9"/>
                </a:solidFill>
                <a:latin typeface="Proxima Nova"/>
              </a:rPr>
              <a:t>The ::first-line Pseudo-element</a:t>
            </a:r>
            <a:endParaRPr sz="2400" dirty="0">
              <a:latin typeface="Proxima Nova"/>
            </a:endParaRPr>
          </a:p>
        </p:txBody>
      </p:sp>
      <p:pic>
        <p:nvPicPr>
          <p:cNvPr id="2" name="Picture 1">
            <a:extLst>
              <a:ext uri="{FF2B5EF4-FFF2-40B4-BE49-F238E27FC236}">
                <a16:creationId xmlns:a16="http://schemas.microsoft.com/office/drawing/2014/main" id="{0468B3CD-4010-6631-F63F-CA353611F664}"/>
              </a:ext>
            </a:extLst>
          </p:cNvPr>
          <p:cNvPicPr>
            <a:picLocks noChangeAspect="1"/>
          </p:cNvPicPr>
          <p:nvPr/>
        </p:nvPicPr>
        <p:blipFill>
          <a:blip r:embed="rId2"/>
          <a:stretch>
            <a:fillRect/>
          </a:stretch>
        </p:blipFill>
        <p:spPr>
          <a:xfrm>
            <a:off x="478275" y="1585912"/>
            <a:ext cx="11287125" cy="3686175"/>
          </a:xfrm>
          <a:prstGeom prst="rect">
            <a:avLst/>
          </a:prstGeom>
        </p:spPr>
      </p:pic>
      <p:sp>
        <p:nvSpPr>
          <p:cNvPr id="3" name="Rectangle 2">
            <a:extLst>
              <a:ext uri="{FF2B5EF4-FFF2-40B4-BE49-F238E27FC236}">
                <a16:creationId xmlns:a16="http://schemas.microsoft.com/office/drawing/2014/main" id="{43741724-6D51-2674-43CC-5CF68F59B1CE}"/>
              </a:ext>
            </a:extLst>
          </p:cNvPr>
          <p:cNvSpPr/>
          <p:nvPr/>
        </p:nvSpPr>
        <p:spPr>
          <a:xfrm>
            <a:off x="327113" y="5890257"/>
            <a:ext cx="6804940" cy="307777"/>
          </a:xfrm>
          <a:prstGeom prst="rect">
            <a:avLst/>
          </a:prstGeom>
        </p:spPr>
        <p:txBody>
          <a:bodyPr wrap="none">
            <a:spAutoFit/>
          </a:bodyPr>
          <a:lstStyle/>
          <a:p>
            <a:r>
              <a:rPr lang="en-US" sz="1400" i="1" dirty="0">
                <a:latin typeface="Proxima Nova" panose="020B0604020202020204"/>
              </a:rPr>
              <a:t>Read More on this link : https://www.w3schools.com/css/css_pseudo_elements.asp</a:t>
            </a:r>
          </a:p>
        </p:txBody>
      </p:sp>
    </p:spTree>
    <p:extLst>
      <p:ext uri="{BB962C8B-B14F-4D97-AF65-F5344CB8AC3E}">
        <p14:creationId xmlns:p14="http://schemas.microsoft.com/office/powerpoint/2010/main" val="315860001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81025" y="18255"/>
            <a:ext cx="10515600" cy="1325563"/>
          </a:xfrm>
        </p:spPr>
        <p:txBody>
          <a:bodyPr/>
          <a:lstStyle/>
          <a:p>
            <a:r>
              <a:rPr lang="en-US" b="1" dirty="0"/>
              <a:t>CSS [attribute] Selector</a:t>
            </a:r>
            <a:br>
              <a:rPr lang="en-US" b="1" dirty="0"/>
            </a:br>
            <a:endParaRPr lang="en-US" dirty="0"/>
          </a:p>
        </p:txBody>
      </p:sp>
      <p:sp>
        <p:nvSpPr>
          <p:cNvPr id="4" name="Content Placeholder 3"/>
          <p:cNvSpPr>
            <a:spLocks noGrp="1"/>
          </p:cNvSpPr>
          <p:nvPr>
            <p:ph idx="1"/>
          </p:nvPr>
        </p:nvSpPr>
        <p:spPr>
          <a:xfrm>
            <a:off x="328511" y="1157652"/>
            <a:ext cx="11682513" cy="6348048"/>
          </a:xfrm>
        </p:spPr>
        <p:txBody>
          <a:bodyPr>
            <a:noAutofit/>
          </a:bodyPr>
          <a:lstStyle/>
          <a:p>
            <a:r>
              <a:rPr lang="en-US" dirty="0"/>
              <a:t>The [attribute] selector is used to select elements with a specified attribute.</a:t>
            </a:r>
          </a:p>
          <a:p>
            <a:r>
              <a:rPr lang="en-US" dirty="0"/>
              <a:t>The following example selects all &lt;a&gt; elements with a target attribute:</a:t>
            </a:r>
          </a:p>
          <a:p>
            <a:pPr marL="0" indent="0">
              <a:buNone/>
            </a:pPr>
            <a:r>
              <a:rPr lang="en-US" dirty="0"/>
              <a:t>&lt;!DOCTYPE html&gt;</a:t>
            </a:r>
          </a:p>
          <a:p>
            <a:pPr marL="0" indent="0">
              <a:buNone/>
            </a:pPr>
            <a:r>
              <a:rPr lang="en-US" dirty="0"/>
              <a:t>&lt;html&gt;</a:t>
            </a:r>
          </a:p>
          <a:p>
            <a:pPr marL="0" indent="0">
              <a:buNone/>
            </a:pPr>
            <a:r>
              <a:rPr lang="en-US" dirty="0"/>
              <a:t>	&lt;head&gt;</a:t>
            </a:r>
          </a:p>
          <a:p>
            <a:pPr marL="0" indent="0">
              <a:buNone/>
            </a:pPr>
            <a:r>
              <a:rPr lang="en-US" dirty="0"/>
              <a:t>    		  &lt;style&gt;</a:t>
            </a:r>
          </a:p>
          <a:p>
            <a:pPr marL="0" indent="0">
              <a:buNone/>
            </a:pPr>
            <a:r>
              <a:rPr lang="en-US" dirty="0"/>
              <a:t>        			a[target] {</a:t>
            </a:r>
          </a:p>
          <a:p>
            <a:pPr marL="0" indent="0">
              <a:buNone/>
            </a:pPr>
            <a:r>
              <a:rPr lang="en-US" dirty="0"/>
              <a:t>       			   background-color: yellow;</a:t>
            </a:r>
          </a:p>
          <a:p>
            <a:pPr marL="0" indent="0">
              <a:buNone/>
            </a:pPr>
            <a:r>
              <a:rPr lang="en-US" dirty="0"/>
              <a:t>   			    }</a:t>
            </a:r>
          </a:p>
          <a:p>
            <a:pPr marL="0" indent="0">
              <a:buNone/>
            </a:pPr>
            <a:r>
              <a:rPr lang="en-US" dirty="0"/>
              <a:t>		      &lt;/style&gt;</a:t>
            </a:r>
          </a:p>
          <a:p>
            <a:pPr marL="0" indent="0">
              <a:buNone/>
            </a:pPr>
            <a:r>
              <a:rPr lang="en-US" dirty="0"/>
              <a:t>	&lt;/head&gt;</a:t>
            </a:r>
          </a:p>
          <a:p>
            <a:pPr marL="0" indent="0">
              <a:buNone/>
            </a:pPr>
            <a:r>
              <a:rPr lang="en-US" dirty="0"/>
              <a:t>	&lt;body&gt;</a:t>
            </a:r>
          </a:p>
          <a:p>
            <a:pPr marL="900113" lvl="2" indent="0">
              <a:buNone/>
            </a:pPr>
            <a:r>
              <a:rPr lang="en-US" dirty="0"/>
              <a:t>      &lt;a </a:t>
            </a:r>
            <a:r>
              <a:rPr lang="en-US" dirty="0" err="1"/>
              <a:t>href</a:t>
            </a:r>
            <a:r>
              <a:rPr lang="en-US" dirty="0"/>
              <a:t>="https://www.w3schools.com"&gt;w3schools.com&lt;/a&gt;</a:t>
            </a:r>
          </a:p>
          <a:p>
            <a:pPr marL="900113" lvl="2" indent="0">
              <a:buNone/>
            </a:pPr>
            <a:r>
              <a:rPr lang="en-US" dirty="0"/>
              <a:t>      &lt;a </a:t>
            </a:r>
            <a:r>
              <a:rPr lang="en-US" dirty="0" err="1"/>
              <a:t>href</a:t>
            </a:r>
            <a:r>
              <a:rPr lang="en-US" dirty="0"/>
              <a:t>="http://www.disney.com" target="_blank"&gt;disney.com&lt;/a&gt;</a:t>
            </a:r>
          </a:p>
          <a:p>
            <a:pPr marL="900113" lvl="2" indent="0">
              <a:buNone/>
            </a:pPr>
            <a:r>
              <a:rPr lang="en-US" dirty="0"/>
              <a:t>      &lt;a </a:t>
            </a:r>
            <a:r>
              <a:rPr lang="en-US" dirty="0" err="1"/>
              <a:t>href</a:t>
            </a:r>
            <a:r>
              <a:rPr lang="en-US" dirty="0"/>
              <a:t>="http://www.wikipedia.org" target="_top"&gt;wikipedia.org&lt;/a&gt;</a:t>
            </a:r>
          </a:p>
          <a:p>
            <a:pPr marL="0" indent="0">
              <a:buNone/>
            </a:pPr>
            <a:r>
              <a:rPr lang="en-US" dirty="0"/>
              <a:t>	&lt;/body&gt; &lt;/html&gt;			</a:t>
            </a:r>
            <a:endParaRPr lang="en-US" b="1" dirty="0"/>
          </a:p>
        </p:txBody>
      </p:sp>
      <p:sp>
        <p:nvSpPr>
          <p:cNvPr id="2" name="Slide Number Placeholder 1"/>
          <p:cNvSpPr>
            <a:spLocks noGrp="1"/>
          </p:cNvSpPr>
          <p:nvPr>
            <p:ph type="sldNum" sz="quarter" idx="12"/>
          </p:nvPr>
        </p:nvSpPr>
        <p:spPr/>
        <p:txBody>
          <a:bodyPr/>
          <a:lstStyle/>
          <a:p>
            <a:fld id="{9C11CE39-2868-44A2-A0C6-827D458F7A8B}" type="slidenum">
              <a:rPr lang="en-IN" smtClean="0"/>
              <a:pPr/>
              <a:t>34</a:t>
            </a:fld>
            <a:endParaRPr lang="en-IN"/>
          </a:p>
        </p:txBody>
      </p:sp>
      <p:pic>
        <p:nvPicPr>
          <p:cNvPr id="5" name="Picture 4"/>
          <p:cNvPicPr>
            <a:picLocks noChangeAspect="1"/>
          </p:cNvPicPr>
          <p:nvPr/>
        </p:nvPicPr>
        <p:blipFill>
          <a:blip r:embed="rId2"/>
          <a:stretch>
            <a:fillRect/>
          </a:stretch>
        </p:blipFill>
        <p:spPr>
          <a:xfrm>
            <a:off x="6776937" y="3333321"/>
            <a:ext cx="4476750" cy="847725"/>
          </a:xfrm>
          <a:prstGeom prst="rect">
            <a:avLst/>
          </a:prstGeom>
          <a:ln w="19050">
            <a:solidFill>
              <a:schemeClr val="tx1"/>
            </a:solidFill>
          </a:ln>
        </p:spPr>
      </p:pic>
      <p:sp>
        <p:nvSpPr>
          <p:cNvPr id="7" name="TextBox 6">
            <a:extLst>
              <a:ext uri="{FF2B5EF4-FFF2-40B4-BE49-F238E27FC236}">
                <a16:creationId xmlns:a16="http://schemas.microsoft.com/office/drawing/2014/main" id="{8335C20C-3017-52C3-EF57-43B77D277DB5}"/>
              </a:ext>
            </a:extLst>
          </p:cNvPr>
          <p:cNvSpPr txBox="1"/>
          <p:nvPr/>
        </p:nvSpPr>
        <p:spPr>
          <a:xfrm>
            <a:off x="6648450" y="2963989"/>
            <a:ext cx="6096000" cy="369332"/>
          </a:xfrm>
          <a:prstGeom prst="rect">
            <a:avLst/>
          </a:prstGeom>
          <a:noFill/>
        </p:spPr>
        <p:txBody>
          <a:bodyPr wrap="square">
            <a:spAutoFit/>
          </a:bodyPr>
          <a:lstStyle/>
          <a:p>
            <a:r>
              <a:rPr lang="en-US" b="1" dirty="0"/>
              <a:t>Output:</a:t>
            </a:r>
            <a:endParaRPr lang="en-IN" dirty="0"/>
          </a:p>
        </p:txBody>
      </p:sp>
    </p:spTree>
    <p:extLst>
      <p:ext uri="{BB962C8B-B14F-4D97-AF65-F5344CB8AC3E}">
        <p14:creationId xmlns:p14="http://schemas.microsoft.com/office/powerpoint/2010/main" val="43367832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375" y="0"/>
            <a:ext cx="10515600" cy="1325563"/>
          </a:xfrm>
        </p:spPr>
        <p:txBody>
          <a:bodyPr/>
          <a:lstStyle/>
          <a:p>
            <a:r>
              <a:rPr lang="en-US" dirty="0"/>
              <a:t>CSS </a:t>
            </a:r>
            <a:r>
              <a:rPr lang="en-US" sz="2400" dirty="0"/>
              <a:t>[attribute="value"] </a:t>
            </a:r>
            <a:r>
              <a:rPr lang="en-US" dirty="0"/>
              <a:t>Selector</a:t>
            </a:r>
            <a:br>
              <a:rPr lang="en-US" dirty="0"/>
            </a:br>
            <a:endParaRPr lang="en-US" dirty="0"/>
          </a:p>
        </p:txBody>
      </p:sp>
      <p:sp>
        <p:nvSpPr>
          <p:cNvPr id="3" name="Content Placeholder 2"/>
          <p:cNvSpPr>
            <a:spLocks noGrp="1"/>
          </p:cNvSpPr>
          <p:nvPr>
            <p:ph idx="1"/>
          </p:nvPr>
        </p:nvSpPr>
        <p:spPr>
          <a:xfrm>
            <a:off x="428625" y="1103312"/>
            <a:ext cx="10515600" cy="5754687"/>
          </a:xfrm>
        </p:spPr>
        <p:txBody>
          <a:bodyPr>
            <a:noAutofit/>
          </a:bodyPr>
          <a:lstStyle/>
          <a:p>
            <a:r>
              <a:rPr lang="en-US" dirty="0"/>
              <a:t>The [attribute="value"] selector is used to select elements with a specified attribute and value.</a:t>
            </a:r>
          </a:p>
          <a:p>
            <a:r>
              <a:rPr lang="en-US" dirty="0"/>
              <a:t>The following example selects all &lt;a&gt; elements with a target="_blank" attribute:</a:t>
            </a:r>
          </a:p>
          <a:p>
            <a:pPr marL="0" indent="0">
              <a:buNone/>
            </a:pPr>
            <a:r>
              <a:rPr lang="en-US" dirty="0"/>
              <a:t>&lt;!DOCTYPE html&gt;</a:t>
            </a:r>
          </a:p>
          <a:p>
            <a:pPr marL="0" indent="0">
              <a:lnSpc>
                <a:spcPct val="100000"/>
              </a:lnSpc>
              <a:buNone/>
            </a:pPr>
            <a:r>
              <a:rPr lang="en-US" sz="1200" dirty="0"/>
              <a:t>&lt;html&gt;</a:t>
            </a:r>
          </a:p>
          <a:p>
            <a:pPr marL="0" indent="0">
              <a:lnSpc>
                <a:spcPct val="100000"/>
              </a:lnSpc>
              <a:buNone/>
            </a:pPr>
            <a:r>
              <a:rPr lang="en-US" sz="1200" dirty="0"/>
              <a:t>	&lt;head&gt;</a:t>
            </a:r>
          </a:p>
          <a:p>
            <a:pPr marL="0" indent="0">
              <a:lnSpc>
                <a:spcPct val="100000"/>
              </a:lnSpc>
              <a:buNone/>
            </a:pPr>
            <a:r>
              <a:rPr lang="en-US" sz="1200" dirty="0"/>
              <a:t>    		  &lt;style&gt;</a:t>
            </a:r>
          </a:p>
          <a:p>
            <a:pPr marL="0" indent="0">
              <a:lnSpc>
                <a:spcPct val="100000"/>
              </a:lnSpc>
              <a:buNone/>
            </a:pPr>
            <a:r>
              <a:rPr lang="en-US" sz="1200" dirty="0"/>
              <a:t>        			a[target=“_blank”] {</a:t>
            </a:r>
          </a:p>
          <a:p>
            <a:pPr marL="0" indent="0">
              <a:lnSpc>
                <a:spcPct val="100000"/>
              </a:lnSpc>
              <a:buNone/>
            </a:pPr>
            <a:r>
              <a:rPr lang="en-US" sz="1200" dirty="0"/>
              <a:t>       			   background-color: yellow;</a:t>
            </a:r>
          </a:p>
          <a:p>
            <a:pPr marL="0" indent="0">
              <a:lnSpc>
                <a:spcPct val="100000"/>
              </a:lnSpc>
              <a:buNone/>
            </a:pPr>
            <a:r>
              <a:rPr lang="en-US" sz="1200" dirty="0"/>
              <a:t>   			    }</a:t>
            </a:r>
          </a:p>
          <a:p>
            <a:pPr marL="0" indent="0">
              <a:lnSpc>
                <a:spcPct val="100000"/>
              </a:lnSpc>
              <a:buNone/>
            </a:pPr>
            <a:r>
              <a:rPr lang="en-US" sz="1200" dirty="0"/>
              <a:t>		      &lt;/style&gt;</a:t>
            </a:r>
          </a:p>
          <a:p>
            <a:pPr marL="0" indent="0">
              <a:lnSpc>
                <a:spcPct val="100000"/>
              </a:lnSpc>
              <a:buNone/>
            </a:pPr>
            <a:r>
              <a:rPr lang="en-US" sz="1200" dirty="0"/>
              <a:t>	&lt;/head&gt;</a:t>
            </a:r>
          </a:p>
          <a:p>
            <a:pPr marL="0" indent="0">
              <a:lnSpc>
                <a:spcPct val="100000"/>
              </a:lnSpc>
              <a:buNone/>
            </a:pPr>
            <a:r>
              <a:rPr lang="en-US" sz="1200" dirty="0"/>
              <a:t>	&lt;body&gt;</a:t>
            </a:r>
          </a:p>
          <a:p>
            <a:pPr marL="900113" lvl="2" indent="0">
              <a:lnSpc>
                <a:spcPct val="100000"/>
              </a:lnSpc>
              <a:buNone/>
            </a:pPr>
            <a:r>
              <a:rPr lang="en-US" sz="1200" dirty="0"/>
              <a:t>      &lt;a </a:t>
            </a:r>
            <a:r>
              <a:rPr lang="en-US" sz="1200" dirty="0" err="1"/>
              <a:t>href</a:t>
            </a:r>
            <a:r>
              <a:rPr lang="en-US" sz="1200" dirty="0"/>
              <a:t>="https://www.w3schools.com"&gt;w3schools.com&lt;/a&gt;</a:t>
            </a:r>
          </a:p>
          <a:p>
            <a:pPr marL="900113" lvl="2" indent="0">
              <a:lnSpc>
                <a:spcPct val="100000"/>
              </a:lnSpc>
              <a:buNone/>
            </a:pPr>
            <a:r>
              <a:rPr lang="en-US" sz="1200" dirty="0"/>
              <a:t>      &lt;a </a:t>
            </a:r>
            <a:r>
              <a:rPr lang="en-US" sz="1200" dirty="0" err="1"/>
              <a:t>href</a:t>
            </a:r>
            <a:r>
              <a:rPr lang="en-US" sz="1200" dirty="0"/>
              <a:t>="http://www.disney.com" target="_blank"&gt;disney.com&lt;/a&gt;</a:t>
            </a:r>
          </a:p>
          <a:p>
            <a:pPr marL="900113" lvl="2" indent="0">
              <a:lnSpc>
                <a:spcPct val="100000"/>
              </a:lnSpc>
              <a:buNone/>
            </a:pPr>
            <a:r>
              <a:rPr lang="en-US" sz="1200" dirty="0"/>
              <a:t>      &lt;a </a:t>
            </a:r>
            <a:r>
              <a:rPr lang="en-US" sz="1200" dirty="0" err="1"/>
              <a:t>href</a:t>
            </a:r>
            <a:r>
              <a:rPr lang="en-US" sz="1200" dirty="0"/>
              <a:t>="http://www.wikipedia.org" target="_top"&gt;wikipedia.org&lt;/a&gt;</a:t>
            </a:r>
          </a:p>
          <a:p>
            <a:pPr marL="0" indent="0">
              <a:lnSpc>
                <a:spcPct val="100000"/>
              </a:lnSpc>
              <a:buNone/>
            </a:pPr>
            <a:r>
              <a:rPr lang="en-US" sz="1200" dirty="0"/>
              <a:t>	&lt;/body&gt; &lt;/html&gt;</a:t>
            </a:r>
            <a:r>
              <a:rPr lang="en-US" dirty="0"/>
              <a:t>			</a:t>
            </a:r>
            <a:endParaRPr lang="en-US" b="1"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35</a:t>
            </a:fld>
            <a:endParaRPr lang="en-IN" dirty="0"/>
          </a:p>
        </p:txBody>
      </p:sp>
      <p:pic>
        <p:nvPicPr>
          <p:cNvPr id="5" name="Picture 4"/>
          <p:cNvPicPr>
            <a:picLocks noChangeAspect="1"/>
          </p:cNvPicPr>
          <p:nvPr/>
        </p:nvPicPr>
        <p:blipFill>
          <a:blip r:embed="rId2"/>
          <a:stretch>
            <a:fillRect/>
          </a:stretch>
        </p:blipFill>
        <p:spPr>
          <a:xfrm>
            <a:off x="6981825" y="3278982"/>
            <a:ext cx="4371975" cy="781050"/>
          </a:xfrm>
          <a:prstGeom prst="rect">
            <a:avLst/>
          </a:prstGeom>
          <a:ln w="28575">
            <a:solidFill>
              <a:schemeClr val="tx1"/>
            </a:solidFill>
          </a:ln>
        </p:spPr>
      </p:pic>
      <p:sp>
        <p:nvSpPr>
          <p:cNvPr id="7" name="TextBox 6">
            <a:extLst>
              <a:ext uri="{FF2B5EF4-FFF2-40B4-BE49-F238E27FC236}">
                <a16:creationId xmlns:a16="http://schemas.microsoft.com/office/drawing/2014/main" id="{ECC53DF1-FA38-D131-53A1-CEE9C34A596A}"/>
              </a:ext>
            </a:extLst>
          </p:cNvPr>
          <p:cNvSpPr txBox="1"/>
          <p:nvPr/>
        </p:nvSpPr>
        <p:spPr>
          <a:xfrm>
            <a:off x="6981825" y="2836109"/>
            <a:ext cx="6096000" cy="369332"/>
          </a:xfrm>
          <a:prstGeom prst="rect">
            <a:avLst/>
          </a:prstGeom>
          <a:noFill/>
        </p:spPr>
        <p:txBody>
          <a:bodyPr wrap="square">
            <a:spAutoFit/>
          </a:bodyPr>
          <a:lstStyle/>
          <a:p>
            <a:r>
              <a:rPr lang="en-US" b="1" dirty="0"/>
              <a:t>Output</a:t>
            </a:r>
            <a:endParaRPr lang="en-IN" dirty="0"/>
          </a:p>
        </p:txBody>
      </p:sp>
    </p:spTree>
    <p:extLst>
      <p:ext uri="{BB962C8B-B14F-4D97-AF65-F5344CB8AC3E}">
        <p14:creationId xmlns:p14="http://schemas.microsoft.com/office/powerpoint/2010/main" val="350666904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36</a:t>
            </a:fld>
            <a:endParaRPr lang="en-IN" dirty="0"/>
          </a:p>
        </p:txBody>
      </p:sp>
      <p:pic>
        <p:nvPicPr>
          <p:cNvPr id="5" name="Picture 4"/>
          <p:cNvPicPr>
            <a:picLocks noChangeAspect="1"/>
          </p:cNvPicPr>
          <p:nvPr/>
        </p:nvPicPr>
        <p:blipFill>
          <a:blip r:embed="rId2"/>
          <a:stretch>
            <a:fillRect/>
          </a:stretch>
        </p:blipFill>
        <p:spPr>
          <a:xfrm>
            <a:off x="428626" y="1197014"/>
            <a:ext cx="10782300" cy="5153025"/>
          </a:xfrm>
          <a:prstGeom prst="rect">
            <a:avLst/>
          </a:prstGeom>
        </p:spPr>
      </p:pic>
      <p:sp>
        <p:nvSpPr>
          <p:cNvPr id="6" name="Rectangle 5"/>
          <p:cNvSpPr/>
          <p:nvPr/>
        </p:nvSpPr>
        <p:spPr>
          <a:xfrm>
            <a:off x="138546" y="6352143"/>
            <a:ext cx="6922664" cy="307777"/>
          </a:xfrm>
          <a:prstGeom prst="rect">
            <a:avLst/>
          </a:prstGeom>
        </p:spPr>
        <p:txBody>
          <a:bodyPr wrap="none">
            <a:spAutoFit/>
          </a:bodyPr>
          <a:lstStyle/>
          <a:p>
            <a:r>
              <a:rPr lang="en-US" sz="1400" i="1" dirty="0">
                <a:latin typeface="Proxima Nova" panose="020B0604020202020204"/>
              </a:rPr>
              <a:t>Click here for more info: https://www.w3schools.com/css/css_attribute_selectors.asp</a:t>
            </a:r>
          </a:p>
        </p:txBody>
      </p:sp>
    </p:spTree>
    <p:extLst>
      <p:ext uri="{BB962C8B-B14F-4D97-AF65-F5344CB8AC3E}">
        <p14:creationId xmlns:p14="http://schemas.microsoft.com/office/powerpoint/2010/main" val="2975780259"/>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75" y="45176"/>
            <a:ext cx="10515600" cy="662782"/>
          </a:xfrm>
        </p:spPr>
        <p:txBody>
          <a:bodyPr/>
          <a:lstStyle/>
          <a:p>
            <a:r>
              <a:rPr lang="en-IN" dirty="0"/>
              <a:t>Background property	</a:t>
            </a:r>
            <a:endParaRPr lang="en-US" dirty="0"/>
          </a:p>
        </p:txBody>
      </p:sp>
      <p:pic>
        <p:nvPicPr>
          <p:cNvPr id="5" name="Content Placeholder 4"/>
          <p:cNvPicPr>
            <a:picLocks noGrp="1" noChangeAspect="1"/>
          </p:cNvPicPr>
          <p:nvPr>
            <p:ph idx="1"/>
          </p:nvPr>
        </p:nvPicPr>
        <p:blipFill>
          <a:blip r:embed="rId2"/>
          <a:stretch>
            <a:fillRect/>
          </a:stretch>
        </p:blipFill>
        <p:spPr>
          <a:xfrm>
            <a:off x="1141175" y="1145365"/>
            <a:ext cx="9098200" cy="5576110"/>
          </a:xfrm>
          <a:prstGeom prst="rect">
            <a:avLst/>
          </a:prstGeom>
        </p:spPr>
      </p:pic>
      <p:sp>
        <p:nvSpPr>
          <p:cNvPr id="4" name="Slide Number Placeholder 3"/>
          <p:cNvSpPr>
            <a:spLocks noGrp="1"/>
          </p:cNvSpPr>
          <p:nvPr>
            <p:ph type="sldNum" sz="quarter" idx="12"/>
          </p:nvPr>
        </p:nvSpPr>
        <p:spPr/>
        <p:txBody>
          <a:bodyPr/>
          <a:lstStyle/>
          <a:p>
            <a:fld id="{9C11CE39-2868-44A2-A0C6-827D458F7A8B}" type="slidenum">
              <a:rPr lang="en-IN" smtClean="0"/>
              <a:pPr/>
              <a:t>37</a:t>
            </a:fld>
            <a:endParaRPr lang="en-IN" dirty="0"/>
          </a:p>
        </p:txBody>
      </p:sp>
    </p:spTree>
    <p:extLst>
      <p:ext uri="{BB962C8B-B14F-4D97-AF65-F5344CB8AC3E}">
        <p14:creationId xmlns:p14="http://schemas.microsoft.com/office/powerpoint/2010/main" val="11102626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125" y="18255"/>
            <a:ext cx="10515600" cy="743745"/>
          </a:xfrm>
        </p:spPr>
        <p:txBody>
          <a:bodyPr/>
          <a:lstStyle/>
          <a:p>
            <a:r>
              <a:rPr lang="en-IN" dirty="0"/>
              <a:t>Background Image </a:t>
            </a:r>
            <a:endParaRPr lang="en-US" dirty="0"/>
          </a:p>
        </p:txBody>
      </p:sp>
      <p:sp>
        <p:nvSpPr>
          <p:cNvPr id="3" name="Content Placeholder 2"/>
          <p:cNvSpPr>
            <a:spLocks noGrp="1"/>
          </p:cNvSpPr>
          <p:nvPr>
            <p:ph idx="1"/>
          </p:nvPr>
        </p:nvSpPr>
        <p:spPr>
          <a:xfrm>
            <a:off x="504825" y="1253331"/>
            <a:ext cx="11410950" cy="4351338"/>
          </a:xfrm>
        </p:spPr>
        <p:txBody>
          <a:bodyPr>
            <a:normAutofit/>
          </a:bodyPr>
          <a:lstStyle/>
          <a:p>
            <a:pPr lvl="0" eaLnBrk="0" fontAlgn="base" hangingPunct="0">
              <a:lnSpc>
                <a:spcPct val="150000"/>
              </a:lnSpc>
              <a:spcBef>
                <a:spcPct val="0"/>
              </a:spcBef>
              <a:spcAft>
                <a:spcPct val="0"/>
              </a:spcAft>
            </a:pPr>
            <a:r>
              <a:rPr lang="en-US" dirty="0">
                <a:solidFill>
                  <a:schemeClr val="tx1"/>
                </a:solidFill>
              </a:rPr>
              <a:t>The background-image property sets one or more background images for an element or else we can use the repetitive image in the background.</a:t>
            </a:r>
          </a:p>
          <a:p>
            <a:pPr lvl="0" eaLnBrk="0" fontAlgn="base" hangingPunct="0">
              <a:lnSpc>
                <a:spcPct val="150000"/>
              </a:lnSpc>
              <a:spcBef>
                <a:spcPct val="0"/>
              </a:spcBef>
              <a:spcAft>
                <a:spcPct val="0"/>
              </a:spcAft>
            </a:pPr>
            <a:r>
              <a:rPr lang="en-US" dirty="0">
                <a:solidFill>
                  <a:schemeClr val="tx1"/>
                </a:solidFill>
              </a:rPr>
              <a:t>By default, a background-image is placed at the top-left corner of an element and repeated both vertically and horizontally.</a:t>
            </a:r>
          </a:p>
          <a:p>
            <a:pPr eaLnBrk="0" fontAlgn="base" hangingPunct="0">
              <a:lnSpc>
                <a:spcPct val="150000"/>
              </a:lnSpc>
              <a:spcBef>
                <a:spcPct val="0"/>
              </a:spcBef>
              <a:spcAft>
                <a:spcPct val="0"/>
              </a:spcAft>
            </a:pPr>
            <a:r>
              <a:rPr lang="en-IN" b="1" dirty="0">
                <a:solidFill>
                  <a:schemeClr val="tx1"/>
                </a:solidFill>
              </a:rPr>
              <a:t>CSS Syntax</a:t>
            </a:r>
          </a:p>
          <a:p>
            <a:pPr eaLnBrk="0" fontAlgn="base" hangingPunct="0">
              <a:lnSpc>
                <a:spcPct val="150000"/>
              </a:lnSpc>
              <a:spcBef>
                <a:spcPct val="0"/>
              </a:spcBef>
              <a:spcAft>
                <a:spcPct val="0"/>
              </a:spcAft>
            </a:pPr>
            <a:r>
              <a:rPr lang="en-US" b="1" dirty="0">
                <a:solidFill>
                  <a:schemeClr val="tx1"/>
                </a:solidFill>
              </a:rPr>
              <a:t>background-image: </a:t>
            </a:r>
            <a:r>
              <a:rPr lang="en-US" b="1" i="1" dirty="0" err="1">
                <a:solidFill>
                  <a:schemeClr val="tx1"/>
                </a:solidFill>
              </a:rPr>
              <a:t>url</a:t>
            </a:r>
            <a:r>
              <a:rPr lang="en-US" b="1" dirty="0" err="1">
                <a:solidFill>
                  <a:schemeClr val="tx1"/>
                </a:solidFill>
              </a:rPr>
              <a:t>|none|initial|inherit</a:t>
            </a:r>
            <a:r>
              <a:rPr lang="en-US" b="1" dirty="0">
                <a:solidFill>
                  <a:schemeClr val="tx1"/>
                </a:solidFill>
              </a:rPr>
              <a:t>;</a:t>
            </a:r>
            <a:endParaRPr lang="en-IN" b="1" dirty="0">
              <a:solidFill>
                <a:schemeClr val="tx1"/>
              </a:solidFill>
            </a:endParaRPr>
          </a:p>
          <a:p>
            <a:pPr lvl="0" eaLnBrk="0" fontAlgn="base" hangingPunct="0">
              <a:lnSpc>
                <a:spcPct val="150000"/>
              </a:lnSpc>
              <a:spcBef>
                <a:spcPct val="0"/>
              </a:spcBef>
              <a:spcAft>
                <a:spcPct val="0"/>
              </a:spcAft>
            </a:pPr>
            <a:r>
              <a:rPr lang="en-US" b="1" dirty="0" err="1">
                <a:solidFill>
                  <a:schemeClr val="tx1"/>
                </a:solidFill>
              </a:rPr>
              <a:t>url</a:t>
            </a:r>
            <a:r>
              <a:rPr lang="en-US" b="1" dirty="0">
                <a:solidFill>
                  <a:schemeClr val="tx1"/>
                </a:solidFill>
              </a:rPr>
              <a:t>(‘path’)</a:t>
            </a:r>
            <a:r>
              <a:rPr lang="en-US" dirty="0">
                <a:solidFill>
                  <a:schemeClr val="tx1"/>
                </a:solidFill>
              </a:rPr>
              <a:t>: The URL to the image. To specify more than one image, separate the URLs with a comma</a:t>
            </a:r>
          </a:p>
          <a:p>
            <a:pPr lvl="0" eaLnBrk="0" fontAlgn="base" hangingPunct="0">
              <a:lnSpc>
                <a:spcPct val="150000"/>
              </a:lnSpc>
              <a:spcBef>
                <a:spcPct val="0"/>
              </a:spcBef>
              <a:spcAft>
                <a:spcPct val="0"/>
              </a:spcAft>
            </a:pPr>
            <a:r>
              <a:rPr lang="en-US" b="1" dirty="0">
                <a:solidFill>
                  <a:schemeClr val="tx1"/>
                </a:solidFill>
              </a:rPr>
              <a:t>none</a:t>
            </a:r>
            <a:r>
              <a:rPr lang="en-US" dirty="0">
                <a:solidFill>
                  <a:schemeClr val="tx1"/>
                </a:solidFill>
              </a:rPr>
              <a:t>: No background image will be displayed. This is the default.</a:t>
            </a:r>
          </a:p>
          <a:p>
            <a:pPr lvl="0" eaLnBrk="0" fontAlgn="base" hangingPunct="0">
              <a:lnSpc>
                <a:spcPct val="150000"/>
              </a:lnSpc>
              <a:spcBef>
                <a:spcPct val="0"/>
              </a:spcBef>
              <a:spcAft>
                <a:spcPct val="0"/>
              </a:spcAft>
            </a:pPr>
            <a:r>
              <a:rPr lang="en-US" b="1" dirty="0">
                <a:solidFill>
                  <a:schemeClr val="tx1"/>
                </a:solidFill>
              </a:rPr>
              <a:t>initial</a:t>
            </a:r>
            <a:r>
              <a:rPr lang="en-US" dirty="0">
                <a:solidFill>
                  <a:schemeClr val="tx1"/>
                </a:solidFill>
              </a:rPr>
              <a:t>: Sets this property to its default value. </a:t>
            </a:r>
          </a:p>
          <a:p>
            <a:pPr lvl="0" eaLnBrk="0" fontAlgn="base" hangingPunct="0">
              <a:lnSpc>
                <a:spcPct val="150000"/>
              </a:lnSpc>
              <a:spcBef>
                <a:spcPct val="0"/>
              </a:spcBef>
              <a:spcAft>
                <a:spcPct val="0"/>
              </a:spcAft>
            </a:pPr>
            <a:r>
              <a:rPr lang="en-US" b="1" dirty="0">
                <a:solidFill>
                  <a:schemeClr val="tx1"/>
                </a:solidFill>
              </a:rPr>
              <a:t>inherit</a:t>
            </a:r>
            <a:r>
              <a:rPr lang="en-US" dirty="0">
                <a:solidFill>
                  <a:schemeClr val="tx1"/>
                </a:solidFill>
              </a:rPr>
              <a:t>: Inherits this property from its parent element</a:t>
            </a:r>
            <a:r>
              <a:rPr lang="en-US" dirty="0"/>
              <a:t>.</a:t>
            </a:r>
            <a:endParaRPr lang="en-US" dirty="0">
              <a:solidFill>
                <a:schemeClr val="tx1"/>
              </a:solidFill>
            </a:endParaRPr>
          </a:p>
          <a:p>
            <a:pPr>
              <a:lnSpc>
                <a:spcPct val="150000"/>
              </a:lnSpc>
            </a:pPr>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38</a:t>
            </a:fld>
            <a:endParaRPr lang="en-IN" dirty="0"/>
          </a:p>
        </p:txBody>
      </p:sp>
    </p:spTree>
    <p:extLst>
      <p:ext uri="{BB962C8B-B14F-4D97-AF65-F5344CB8AC3E}">
        <p14:creationId xmlns:p14="http://schemas.microsoft.com/office/powerpoint/2010/main" val="127364873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70627"/>
            <a:ext cx="10515600" cy="648523"/>
          </a:xfrm>
        </p:spPr>
        <p:txBody>
          <a:bodyPr>
            <a:normAutofit/>
          </a:bodyPr>
          <a:lstStyle/>
          <a:p>
            <a:r>
              <a:rPr lang="en-US" dirty="0"/>
              <a:t>Background-image</a:t>
            </a:r>
          </a:p>
        </p:txBody>
      </p:sp>
      <p:sp>
        <p:nvSpPr>
          <p:cNvPr id="3" name="Content Placeholder 2"/>
          <p:cNvSpPr>
            <a:spLocks noGrp="1"/>
          </p:cNvSpPr>
          <p:nvPr>
            <p:ph idx="1"/>
          </p:nvPr>
        </p:nvSpPr>
        <p:spPr>
          <a:xfrm>
            <a:off x="431158" y="1123836"/>
            <a:ext cx="10515600" cy="4351338"/>
          </a:xfrm>
        </p:spPr>
        <p:txBody>
          <a:bodyPr>
            <a:noAutofit/>
          </a:bodyPr>
          <a:lstStyle/>
          <a:p>
            <a:pPr marL="0" indent="0">
              <a:lnSpc>
                <a:spcPct val="100000"/>
              </a:lnSpc>
              <a:buNone/>
            </a:pPr>
            <a:r>
              <a:rPr lang="en-US" dirty="0"/>
              <a:t>&lt;!DOCTYPE html&gt;</a:t>
            </a:r>
          </a:p>
          <a:p>
            <a:pPr marL="0" indent="0">
              <a:lnSpc>
                <a:spcPct val="100000"/>
              </a:lnSpc>
              <a:buNone/>
            </a:pPr>
            <a:r>
              <a:rPr lang="en-US" dirty="0"/>
              <a:t>&lt;html&gt;</a:t>
            </a:r>
          </a:p>
          <a:p>
            <a:pPr marL="0" indent="0">
              <a:lnSpc>
                <a:spcPct val="100000"/>
              </a:lnSpc>
              <a:buNone/>
            </a:pPr>
            <a:r>
              <a:rPr lang="en-US" dirty="0"/>
              <a:t>	&lt;head&gt;</a:t>
            </a:r>
          </a:p>
          <a:p>
            <a:pPr marL="0" indent="0">
              <a:lnSpc>
                <a:spcPct val="100000"/>
              </a:lnSpc>
              <a:buNone/>
            </a:pPr>
            <a:r>
              <a:rPr lang="en-US" dirty="0"/>
              <a:t>  		&lt;style&gt;</a:t>
            </a:r>
          </a:p>
          <a:p>
            <a:pPr marL="0" indent="0">
              <a:lnSpc>
                <a:spcPct val="100000"/>
              </a:lnSpc>
              <a:buNone/>
            </a:pPr>
            <a:r>
              <a:rPr lang="en-US" dirty="0"/>
              <a:t>    			  body {</a:t>
            </a:r>
          </a:p>
          <a:p>
            <a:pPr marL="0" indent="0">
              <a:lnSpc>
                <a:spcPct val="100000"/>
              </a:lnSpc>
              <a:buNone/>
            </a:pPr>
            <a:r>
              <a:rPr lang="en-US" dirty="0"/>
              <a:t>       				 background-image: </a:t>
            </a:r>
            <a:r>
              <a:rPr lang="en-US" dirty="0" err="1"/>
              <a:t>url</a:t>
            </a:r>
            <a:r>
              <a:rPr lang="en-US" dirty="0"/>
              <a:t>("paper.gif");</a:t>
            </a:r>
          </a:p>
          <a:p>
            <a:pPr marL="0" indent="0">
              <a:lnSpc>
                <a:spcPct val="100000"/>
              </a:lnSpc>
              <a:buNone/>
            </a:pPr>
            <a:r>
              <a:rPr lang="en-US" dirty="0"/>
              <a:t>       			 }</a:t>
            </a:r>
          </a:p>
          <a:p>
            <a:pPr marL="0" indent="0">
              <a:lnSpc>
                <a:spcPct val="100000"/>
              </a:lnSpc>
              <a:buNone/>
            </a:pPr>
            <a:r>
              <a:rPr lang="en-US" dirty="0"/>
              <a:t>    		&lt;/style&gt;</a:t>
            </a:r>
          </a:p>
          <a:p>
            <a:pPr marL="0" indent="0">
              <a:lnSpc>
                <a:spcPct val="100000"/>
              </a:lnSpc>
              <a:buNone/>
            </a:pPr>
            <a:r>
              <a:rPr lang="en-US" dirty="0"/>
              <a:t>	&lt;/head&gt;</a:t>
            </a:r>
          </a:p>
          <a:p>
            <a:pPr marL="0" indent="0">
              <a:lnSpc>
                <a:spcPct val="100000"/>
              </a:lnSpc>
              <a:buNone/>
            </a:pPr>
            <a:r>
              <a:rPr lang="en-US" dirty="0"/>
              <a:t>	&lt;body&gt;</a:t>
            </a:r>
          </a:p>
          <a:p>
            <a:pPr marL="0" indent="0">
              <a:lnSpc>
                <a:spcPct val="100000"/>
              </a:lnSpc>
              <a:buNone/>
            </a:pPr>
            <a:r>
              <a:rPr lang="en-US" dirty="0"/>
              <a:t>		&lt;h1&gt;Hello World!&lt;/h1&gt;</a:t>
            </a:r>
          </a:p>
          <a:p>
            <a:pPr marL="0" indent="0">
              <a:lnSpc>
                <a:spcPct val="100000"/>
              </a:lnSpc>
              <a:buNone/>
            </a:pPr>
            <a:r>
              <a:rPr lang="en-US" dirty="0"/>
              <a:t>		&lt;p&gt;This page has an image as the background!&lt;/p&gt;</a:t>
            </a:r>
          </a:p>
          <a:p>
            <a:pPr marL="0" indent="0">
              <a:lnSpc>
                <a:spcPct val="100000"/>
              </a:lnSpc>
              <a:buNone/>
            </a:pPr>
            <a:r>
              <a:rPr lang="en-US" dirty="0"/>
              <a:t>	&lt;/body&gt;</a:t>
            </a:r>
          </a:p>
          <a:p>
            <a:pPr marL="0" indent="0">
              <a:lnSpc>
                <a:spcPct val="100000"/>
              </a:lnSpc>
              <a:buNone/>
            </a:pPr>
            <a:r>
              <a:rPr lang="en-US" dirty="0"/>
              <a:t>&lt;/html&gt;</a:t>
            </a:r>
          </a:p>
        </p:txBody>
      </p:sp>
      <p:sp>
        <p:nvSpPr>
          <p:cNvPr id="4" name="Slide Number Placeholder 3"/>
          <p:cNvSpPr>
            <a:spLocks noGrp="1"/>
          </p:cNvSpPr>
          <p:nvPr>
            <p:ph type="sldNum" sz="quarter" idx="12"/>
          </p:nvPr>
        </p:nvSpPr>
        <p:spPr/>
        <p:txBody>
          <a:bodyPr/>
          <a:lstStyle/>
          <a:p>
            <a:fld id="{9C11CE39-2868-44A2-A0C6-827D458F7A8B}" type="slidenum">
              <a:rPr lang="en-IN" smtClean="0"/>
              <a:pPr/>
              <a:t>39</a:t>
            </a:fld>
            <a:endParaRPr lang="en-IN" dirty="0"/>
          </a:p>
        </p:txBody>
      </p:sp>
      <p:pic>
        <p:nvPicPr>
          <p:cNvPr id="5" name="Picture 4"/>
          <p:cNvPicPr>
            <a:picLocks noChangeAspect="1"/>
          </p:cNvPicPr>
          <p:nvPr/>
        </p:nvPicPr>
        <p:blipFill>
          <a:blip r:embed="rId2"/>
          <a:stretch>
            <a:fillRect/>
          </a:stretch>
        </p:blipFill>
        <p:spPr>
          <a:xfrm>
            <a:off x="7237379" y="1393086"/>
            <a:ext cx="4523463" cy="1340589"/>
          </a:xfrm>
          <a:prstGeom prst="rect">
            <a:avLst/>
          </a:prstGeom>
          <a:ln w="19050">
            <a:solidFill>
              <a:schemeClr val="tx1"/>
            </a:solidFill>
          </a:ln>
        </p:spPr>
      </p:pic>
    </p:spTree>
    <p:extLst>
      <p:ext uri="{BB962C8B-B14F-4D97-AF65-F5344CB8AC3E}">
        <p14:creationId xmlns:p14="http://schemas.microsoft.com/office/powerpoint/2010/main" val="21520533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40</a:t>
            </a:fld>
            <a:endParaRPr lang="en-IN" dirty="0"/>
          </a:p>
        </p:txBody>
      </p:sp>
      <p:sp>
        <p:nvSpPr>
          <p:cNvPr id="3" name="Content Placeholder 2"/>
          <p:cNvSpPr>
            <a:spLocks noGrp="1"/>
          </p:cNvSpPr>
          <p:nvPr>
            <p:ph idx="4294967295"/>
          </p:nvPr>
        </p:nvSpPr>
        <p:spPr>
          <a:xfrm>
            <a:off x="613147" y="1417637"/>
            <a:ext cx="10507291" cy="5121275"/>
          </a:xfrm>
        </p:spPr>
        <p:txBody>
          <a:bodyPr>
            <a:normAutofit/>
          </a:bodyPr>
          <a:lstStyle/>
          <a:p>
            <a:pPr marL="0" indent="0">
              <a:buNone/>
            </a:pPr>
            <a:r>
              <a:rPr lang="en-US" sz="1800" dirty="0">
                <a:latin typeface="Proxima Nova" panose="020B0604020202020204"/>
              </a:rPr>
              <a:t>&lt;!DOCTYPE html&gt;</a:t>
            </a:r>
          </a:p>
          <a:p>
            <a:pPr marL="0" indent="0">
              <a:buNone/>
            </a:pPr>
            <a:r>
              <a:rPr lang="en-US" sz="1800" dirty="0">
                <a:latin typeface="Proxima Nova" panose="020B0604020202020204"/>
              </a:rPr>
              <a:t>&lt;html&gt;</a:t>
            </a:r>
          </a:p>
          <a:p>
            <a:pPr marL="0" indent="0">
              <a:buNone/>
            </a:pPr>
            <a:r>
              <a:rPr lang="en-US" sz="1800" dirty="0">
                <a:latin typeface="Proxima Nova" panose="020B0604020202020204"/>
              </a:rPr>
              <a:t>	&lt;head&gt;</a:t>
            </a:r>
          </a:p>
          <a:p>
            <a:pPr marL="0" indent="0">
              <a:buNone/>
            </a:pPr>
            <a:r>
              <a:rPr lang="en-US" sz="1800" dirty="0">
                <a:latin typeface="Proxima Nova" panose="020B0604020202020204"/>
              </a:rPr>
              <a:t>		&lt;style&gt;</a:t>
            </a:r>
          </a:p>
          <a:p>
            <a:pPr marL="0" indent="0">
              <a:buNone/>
            </a:pPr>
            <a:r>
              <a:rPr lang="en-US" sz="1800" dirty="0">
                <a:latin typeface="Proxima Nova" panose="020B0604020202020204"/>
              </a:rPr>
              <a:t>			body  {</a:t>
            </a:r>
          </a:p>
          <a:p>
            <a:pPr marL="0" indent="0">
              <a:buNone/>
            </a:pPr>
            <a:r>
              <a:rPr lang="en-US" sz="1800" dirty="0">
                <a:latin typeface="Proxima Nova" panose="020B0604020202020204"/>
              </a:rPr>
              <a:t>				background-image: </a:t>
            </a:r>
            <a:r>
              <a:rPr lang="en-US" sz="1800" dirty="0" err="1">
                <a:latin typeface="Proxima Nova" panose="020B0604020202020204"/>
              </a:rPr>
              <a:t>url</a:t>
            </a:r>
            <a:r>
              <a:rPr lang="en-US" sz="1800" dirty="0">
                <a:latin typeface="Proxima Nova" panose="020B0604020202020204"/>
              </a:rPr>
              <a:t>(“img_tree.gif"), </a:t>
            </a:r>
            <a:r>
              <a:rPr lang="en-IN" sz="1800" dirty="0" err="1">
                <a:latin typeface="Proxima Nova" panose="020B0604020202020204"/>
              </a:rPr>
              <a:t>url</a:t>
            </a:r>
            <a:r>
              <a:rPr lang="en-IN" sz="1800" dirty="0">
                <a:latin typeface="Proxima Nova" panose="020B0604020202020204"/>
              </a:rPr>
              <a:t>("paper.gif");</a:t>
            </a:r>
            <a:endParaRPr lang="en-US" sz="1800" dirty="0">
              <a:latin typeface="Proxima Nova" panose="020B0604020202020204"/>
            </a:endParaRPr>
          </a:p>
          <a:p>
            <a:pPr marL="0" indent="0">
              <a:buNone/>
            </a:pPr>
            <a:r>
              <a:rPr lang="en-US" sz="1800" dirty="0">
                <a:latin typeface="Proxima Nova" panose="020B0604020202020204"/>
              </a:rPr>
              <a:t>				}</a:t>
            </a:r>
          </a:p>
          <a:p>
            <a:pPr marL="0" indent="0">
              <a:buNone/>
            </a:pPr>
            <a:r>
              <a:rPr lang="en-US" sz="1800" dirty="0">
                <a:latin typeface="Proxima Nova" panose="020B0604020202020204"/>
              </a:rPr>
              <a:t>		&lt;/style&gt;</a:t>
            </a:r>
          </a:p>
          <a:p>
            <a:pPr marL="0" indent="0">
              <a:buNone/>
            </a:pPr>
            <a:r>
              <a:rPr lang="en-US" sz="1800" dirty="0">
                <a:latin typeface="Proxima Nova" panose="020B0604020202020204"/>
              </a:rPr>
              <a:t>	&lt;/head&gt;</a:t>
            </a:r>
          </a:p>
          <a:p>
            <a:pPr marL="0" indent="0">
              <a:buNone/>
            </a:pPr>
            <a:r>
              <a:rPr lang="en-US" sz="1800" dirty="0">
                <a:latin typeface="Proxima Nova" panose="020B0604020202020204"/>
              </a:rPr>
              <a:t>&lt;/html&gt;</a:t>
            </a:r>
          </a:p>
        </p:txBody>
      </p:sp>
      <p:pic>
        <p:nvPicPr>
          <p:cNvPr id="5" name="Picture 4"/>
          <p:cNvPicPr>
            <a:picLocks noChangeAspect="1"/>
          </p:cNvPicPr>
          <p:nvPr/>
        </p:nvPicPr>
        <p:blipFill>
          <a:blip r:embed="rId2"/>
          <a:stretch>
            <a:fillRect/>
          </a:stretch>
        </p:blipFill>
        <p:spPr>
          <a:xfrm>
            <a:off x="6325208" y="3878161"/>
            <a:ext cx="5172886" cy="2295626"/>
          </a:xfrm>
          <a:prstGeom prst="rect">
            <a:avLst/>
          </a:prstGeom>
          <a:ln w="19050">
            <a:solidFill>
              <a:schemeClr val="tx1"/>
            </a:solidFill>
          </a:ln>
        </p:spPr>
      </p:pic>
      <p:sp>
        <p:nvSpPr>
          <p:cNvPr id="7" name="TextBox 6">
            <a:extLst>
              <a:ext uri="{FF2B5EF4-FFF2-40B4-BE49-F238E27FC236}">
                <a16:creationId xmlns:a16="http://schemas.microsoft.com/office/drawing/2014/main" id="{C27EFD0E-1A9B-3D38-EAFE-5575446247E1}"/>
              </a:ext>
            </a:extLst>
          </p:cNvPr>
          <p:cNvSpPr txBox="1"/>
          <p:nvPr/>
        </p:nvSpPr>
        <p:spPr>
          <a:xfrm>
            <a:off x="229208" y="223838"/>
            <a:ext cx="6096000" cy="461665"/>
          </a:xfrm>
          <a:prstGeom prst="rect">
            <a:avLst/>
          </a:prstGeom>
          <a:noFill/>
        </p:spPr>
        <p:txBody>
          <a:bodyPr wrap="square">
            <a:spAutoFit/>
          </a:bodyPr>
          <a:lstStyle/>
          <a:p>
            <a:r>
              <a:rPr lang="en-IN" sz="2400" dirty="0">
                <a:solidFill>
                  <a:srgbClr val="00B0F0"/>
                </a:solidFill>
                <a:latin typeface="Proxima Nova" panose="020B0604020202020204"/>
              </a:rPr>
              <a:t>Set 2 Background Image</a:t>
            </a:r>
          </a:p>
        </p:txBody>
      </p:sp>
    </p:spTree>
    <p:extLst>
      <p:ext uri="{BB962C8B-B14F-4D97-AF65-F5344CB8AC3E}">
        <p14:creationId xmlns:p14="http://schemas.microsoft.com/office/powerpoint/2010/main" val="149623490"/>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136525"/>
            <a:ext cx="10515600" cy="847725"/>
          </a:xfrm>
        </p:spPr>
        <p:txBody>
          <a:bodyPr/>
          <a:lstStyle/>
          <a:p>
            <a:r>
              <a:rPr lang="en-US" dirty="0"/>
              <a:t>CSS Background Image Repeat</a:t>
            </a:r>
            <a:br>
              <a:rPr lang="en-US" dirty="0"/>
            </a:br>
            <a:endParaRPr lang="en-US" dirty="0"/>
          </a:p>
        </p:txBody>
      </p:sp>
      <p:sp>
        <p:nvSpPr>
          <p:cNvPr id="3" name="Content Placeholder 2"/>
          <p:cNvSpPr>
            <a:spLocks noGrp="1"/>
          </p:cNvSpPr>
          <p:nvPr>
            <p:ph idx="1"/>
          </p:nvPr>
        </p:nvSpPr>
        <p:spPr>
          <a:xfrm>
            <a:off x="640734" y="1368156"/>
            <a:ext cx="11170266" cy="6429644"/>
          </a:xfrm>
        </p:spPr>
        <p:txBody>
          <a:bodyPr>
            <a:normAutofit/>
          </a:bodyPr>
          <a:lstStyle/>
          <a:p>
            <a:pPr>
              <a:lnSpc>
                <a:spcPct val="150000"/>
              </a:lnSpc>
            </a:pPr>
            <a:r>
              <a:rPr lang="en-US" dirty="0"/>
              <a:t>By default, the background-image property repeats an image both horizontally and vertically.</a:t>
            </a:r>
          </a:p>
          <a:p>
            <a:pPr>
              <a:lnSpc>
                <a:spcPct val="150000"/>
              </a:lnSpc>
            </a:pPr>
            <a:r>
              <a:rPr lang="en-US" dirty="0"/>
              <a:t>Some images should be repeated only horizontally or vertically, or they will look strange.</a:t>
            </a:r>
          </a:p>
          <a:p>
            <a:pPr eaLnBrk="0" fontAlgn="base" hangingPunct="0">
              <a:lnSpc>
                <a:spcPct val="150000"/>
              </a:lnSpc>
              <a:spcBef>
                <a:spcPct val="0"/>
              </a:spcBef>
              <a:spcAft>
                <a:spcPct val="0"/>
              </a:spcAft>
            </a:pPr>
            <a:r>
              <a:rPr lang="en-IN" b="1" dirty="0"/>
              <a:t>CSS Syntax:</a:t>
            </a:r>
          </a:p>
          <a:p>
            <a:pPr eaLnBrk="0" fontAlgn="base" hangingPunct="0">
              <a:lnSpc>
                <a:spcPct val="150000"/>
              </a:lnSpc>
              <a:spcBef>
                <a:spcPct val="0"/>
              </a:spcBef>
              <a:spcAft>
                <a:spcPct val="0"/>
              </a:spcAft>
            </a:pPr>
            <a:r>
              <a:rPr lang="en-US" b="1" dirty="0"/>
              <a:t>background-repeat: </a:t>
            </a:r>
            <a:r>
              <a:rPr lang="en-US" b="1" dirty="0" err="1"/>
              <a:t>repeat|no-repeat|repeat-x|repeat-y</a:t>
            </a:r>
            <a:r>
              <a:rPr lang="en-US" b="1" dirty="0"/>
              <a:t>;</a:t>
            </a:r>
            <a:endParaRPr lang="en-IN" b="1" dirty="0"/>
          </a:p>
          <a:p>
            <a:pPr>
              <a:lnSpc>
                <a:spcPct val="150000"/>
              </a:lnSpc>
            </a:pPr>
            <a:r>
              <a:rPr lang="en-US" dirty="0"/>
              <a:t>repeat: repeat images horizontally and vertically.</a:t>
            </a:r>
          </a:p>
          <a:p>
            <a:pPr>
              <a:lnSpc>
                <a:spcPct val="150000"/>
              </a:lnSpc>
            </a:pPr>
            <a:r>
              <a:rPr lang="en-US" dirty="0"/>
              <a:t>repeat-x: repeat the image horizontally.</a:t>
            </a:r>
          </a:p>
          <a:p>
            <a:pPr>
              <a:lnSpc>
                <a:spcPct val="150000"/>
              </a:lnSpc>
            </a:pPr>
            <a:r>
              <a:rPr lang="en-US" dirty="0"/>
              <a:t>repeat-y: repeat images vertically.</a:t>
            </a:r>
          </a:p>
          <a:p>
            <a:pPr>
              <a:lnSpc>
                <a:spcPct val="150000"/>
              </a:lnSpc>
            </a:pPr>
            <a:r>
              <a:rPr lang="en-US" dirty="0"/>
              <a:t>no-repeat: the image will not be repeated.</a:t>
            </a:r>
          </a:p>
          <a:p>
            <a:pPr marL="0" indent="0">
              <a:lnSpc>
                <a:spcPct val="150000"/>
              </a:lnSpc>
              <a:buNone/>
            </a:pPr>
            <a:endParaRPr lang="en-US" sz="2000"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41</a:t>
            </a:fld>
            <a:endParaRPr lang="en-IN" dirty="0"/>
          </a:p>
        </p:txBody>
      </p:sp>
    </p:spTree>
    <p:extLst>
      <p:ext uri="{BB962C8B-B14F-4D97-AF65-F5344CB8AC3E}">
        <p14:creationId xmlns:p14="http://schemas.microsoft.com/office/powerpoint/2010/main" val="142864107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C11CE39-2868-44A2-A0C6-827D458F7A8B}" type="slidenum">
              <a:rPr lang="en-IN" smtClean="0"/>
              <a:pPr/>
              <a:t>42</a:t>
            </a:fld>
            <a:endParaRPr lang="en-IN"/>
          </a:p>
        </p:txBody>
      </p:sp>
      <p:sp>
        <p:nvSpPr>
          <p:cNvPr id="3" name="Rectangle 2"/>
          <p:cNvSpPr/>
          <p:nvPr/>
        </p:nvSpPr>
        <p:spPr>
          <a:xfrm>
            <a:off x="417072" y="1315070"/>
            <a:ext cx="9327003" cy="3970318"/>
          </a:xfrm>
          <a:prstGeom prst="rect">
            <a:avLst/>
          </a:prstGeom>
        </p:spPr>
        <p:txBody>
          <a:bodyPr wrap="square">
            <a:spAutoFit/>
          </a:bodyPr>
          <a:lstStyle/>
          <a:p>
            <a:r>
              <a:rPr lang="en-US" dirty="0">
                <a:latin typeface="Proxima Nova" panose="020B0604020202020204"/>
              </a:rPr>
              <a:t>&lt;!DOCTYPE html&gt;</a:t>
            </a:r>
          </a:p>
          <a:p>
            <a:r>
              <a:rPr lang="en-US" dirty="0">
                <a:latin typeface="Proxima Nova" panose="020B0604020202020204"/>
              </a:rPr>
              <a:t>&lt;html&gt;</a:t>
            </a:r>
          </a:p>
          <a:p>
            <a:r>
              <a:rPr lang="en-US" dirty="0">
                <a:latin typeface="Proxima Nova" panose="020B0604020202020204"/>
              </a:rPr>
              <a:t>	&lt;head&gt;</a:t>
            </a:r>
          </a:p>
          <a:p>
            <a:r>
              <a:rPr lang="en-US" dirty="0">
                <a:latin typeface="Proxima Nova" panose="020B0604020202020204"/>
              </a:rPr>
              <a:t>		&lt;style&gt;</a:t>
            </a:r>
          </a:p>
          <a:p>
            <a:r>
              <a:rPr lang="en-US" dirty="0">
                <a:latin typeface="Proxima Nova" panose="020B0604020202020204"/>
              </a:rPr>
              <a:t>			body {</a:t>
            </a:r>
          </a:p>
          <a:p>
            <a:r>
              <a:rPr lang="en-US" dirty="0">
                <a:latin typeface="Proxima Nova" panose="020B0604020202020204"/>
              </a:rPr>
              <a:t>				  background-image: </a:t>
            </a:r>
            <a:r>
              <a:rPr lang="en-US" dirty="0" err="1">
                <a:latin typeface="Proxima Nova" panose="020B0604020202020204"/>
              </a:rPr>
              <a:t>url</a:t>
            </a:r>
            <a:r>
              <a:rPr lang="en-US" dirty="0">
                <a:latin typeface="Proxima Nova" panose="020B0604020202020204"/>
              </a:rPr>
              <a:t>("gradient_bg.png");</a:t>
            </a:r>
          </a:p>
          <a:p>
            <a:r>
              <a:rPr lang="en-US" dirty="0">
                <a:latin typeface="Proxima Nova" panose="020B0604020202020204"/>
              </a:rPr>
              <a:t>			}</a:t>
            </a:r>
          </a:p>
          <a:p>
            <a:r>
              <a:rPr lang="en-US" dirty="0">
                <a:latin typeface="Proxima Nova" panose="020B0604020202020204"/>
              </a:rPr>
              <a:t>		&lt;/style&gt;</a:t>
            </a:r>
          </a:p>
          <a:p>
            <a:r>
              <a:rPr lang="en-US" dirty="0">
                <a:latin typeface="Proxima Nova" panose="020B0604020202020204"/>
              </a:rPr>
              <a:t>	&lt;/head&gt;</a:t>
            </a:r>
          </a:p>
          <a:p>
            <a:r>
              <a:rPr lang="en-US" dirty="0">
                <a:latin typeface="Proxima Nova" panose="020B0604020202020204"/>
              </a:rPr>
              <a:t>	&lt;body&gt;</a:t>
            </a:r>
          </a:p>
          <a:p>
            <a:r>
              <a:rPr lang="en-US" dirty="0">
                <a:latin typeface="Proxima Nova" panose="020B0604020202020204"/>
              </a:rPr>
              <a:t>		&lt;h1&gt;Hello World!&lt;/h1&gt;</a:t>
            </a:r>
          </a:p>
          <a:p>
            <a:r>
              <a:rPr lang="en-US" dirty="0">
                <a:latin typeface="Proxima Nova" panose="020B0604020202020204"/>
              </a:rPr>
              <a:t>		&lt;p&gt;Strange background image...&lt;/p&gt;</a:t>
            </a:r>
          </a:p>
          <a:p>
            <a:r>
              <a:rPr lang="en-US" dirty="0">
                <a:latin typeface="Proxima Nova" panose="020B0604020202020204"/>
              </a:rPr>
              <a:t>	&lt;/body&gt;</a:t>
            </a:r>
          </a:p>
          <a:p>
            <a:r>
              <a:rPr lang="en-US" dirty="0">
                <a:latin typeface="Proxima Nova" panose="020B0604020202020204"/>
              </a:rPr>
              <a:t>&lt;/html&gt;</a:t>
            </a:r>
          </a:p>
        </p:txBody>
      </p:sp>
      <p:pic>
        <p:nvPicPr>
          <p:cNvPr id="4" name="Picture 3"/>
          <p:cNvPicPr>
            <a:picLocks noChangeAspect="1"/>
          </p:cNvPicPr>
          <p:nvPr/>
        </p:nvPicPr>
        <p:blipFill>
          <a:blip r:embed="rId4"/>
          <a:stretch>
            <a:fillRect/>
          </a:stretch>
        </p:blipFill>
        <p:spPr>
          <a:xfrm>
            <a:off x="6965714" y="3996345"/>
            <a:ext cx="4809214" cy="1709130"/>
          </a:xfrm>
          <a:prstGeom prst="rect">
            <a:avLst/>
          </a:prstGeom>
          <a:ln w="19050">
            <a:solidFill>
              <a:schemeClr val="tx1"/>
            </a:solidFill>
          </a:ln>
        </p:spPr>
      </p:pic>
      <p:sp>
        <p:nvSpPr>
          <p:cNvPr id="5" name="Title 1">
            <a:extLst>
              <a:ext uri="{FF2B5EF4-FFF2-40B4-BE49-F238E27FC236}">
                <a16:creationId xmlns:a16="http://schemas.microsoft.com/office/drawing/2014/main" id="{9992349D-01FB-0479-6420-4D0795AF9D3F}"/>
              </a:ext>
            </a:extLst>
          </p:cNvPr>
          <p:cNvSpPr txBox="1">
            <a:spLocks/>
          </p:cNvSpPr>
          <p:nvPr/>
        </p:nvSpPr>
        <p:spPr>
          <a:xfrm>
            <a:off x="209550" y="136525"/>
            <a:ext cx="10515600" cy="8477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a:rPr>
              <a:t>CSS</a:t>
            </a:r>
            <a:r>
              <a:rPr lang="en-US" dirty="0"/>
              <a:t> </a:t>
            </a:r>
            <a:r>
              <a:rPr lang="en-US" sz="2400" dirty="0">
                <a:solidFill>
                  <a:srgbClr val="00B0F0"/>
                </a:solidFill>
                <a:latin typeface="Proxima Nova"/>
              </a:rPr>
              <a:t>Background Image</a:t>
            </a:r>
            <a:br>
              <a:rPr lang="en-US" sz="2400" dirty="0">
                <a:solidFill>
                  <a:srgbClr val="00B0F0"/>
                </a:solidFill>
                <a:latin typeface="Proxima Nova"/>
              </a:rPr>
            </a:br>
            <a:endParaRPr lang="en-US" sz="2400" dirty="0">
              <a:solidFill>
                <a:srgbClr val="00B0F0"/>
              </a:solidFill>
              <a:latin typeface="Proxima Nova"/>
            </a:endParaRPr>
          </a:p>
        </p:txBody>
      </p:sp>
    </p:spTree>
    <p:extLst>
      <p:ext uri="{BB962C8B-B14F-4D97-AF65-F5344CB8AC3E}">
        <p14:creationId xmlns:p14="http://schemas.microsoft.com/office/powerpoint/2010/main" val="1828065977"/>
      </p:ext>
    </p:extLst>
  </p:cSld>
  <p:clrMapOvr>
    <a:overrideClrMapping bg1="lt1" tx1="dk1" bg2="lt2" tx2="dk2" accent1="accent1" accent2="accent2" accent3="accent3" accent4="accent4" accent5="accent5" accent6="accent6" hlink="hlink" folHlink="folHlink"/>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C11CE39-2868-44A2-A0C6-827D458F7A8B}" type="slidenum">
              <a:rPr lang="en-IN" smtClean="0"/>
              <a:pPr/>
              <a:t>43</a:t>
            </a:fld>
            <a:endParaRPr lang="en-IN"/>
          </a:p>
        </p:txBody>
      </p:sp>
      <p:pic>
        <p:nvPicPr>
          <p:cNvPr id="3" name="Picture 2"/>
          <p:cNvPicPr>
            <a:picLocks noChangeAspect="1"/>
          </p:cNvPicPr>
          <p:nvPr/>
        </p:nvPicPr>
        <p:blipFill>
          <a:blip r:embed="rId2"/>
          <a:stretch>
            <a:fillRect/>
          </a:stretch>
        </p:blipFill>
        <p:spPr>
          <a:xfrm>
            <a:off x="8401666" y="1305341"/>
            <a:ext cx="3161068" cy="4857750"/>
          </a:xfrm>
          <a:prstGeom prst="rect">
            <a:avLst/>
          </a:prstGeom>
          <a:ln w="19050">
            <a:solidFill>
              <a:schemeClr val="tx1"/>
            </a:solidFill>
          </a:ln>
        </p:spPr>
      </p:pic>
      <p:sp>
        <p:nvSpPr>
          <p:cNvPr id="4" name="Rectangle 3"/>
          <p:cNvSpPr/>
          <p:nvPr/>
        </p:nvSpPr>
        <p:spPr>
          <a:xfrm>
            <a:off x="344319" y="1305341"/>
            <a:ext cx="8866356" cy="4247317"/>
          </a:xfrm>
          <a:prstGeom prst="rect">
            <a:avLst/>
          </a:prstGeom>
        </p:spPr>
        <p:txBody>
          <a:bodyPr wrap="square">
            <a:spAutoFit/>
          </a:bodyPr>
          <a:lstStyle/>
          <a:p>
            <a:r>
              <a:rPr lang="en-US" dirty="0">
                <a:latin typeface="Proxima Nova" panose="020B0604020202020204"/>
              </a:rPr>
              <a:t>&lt;!DOCTYPE html&gt;</a:t>
            </a:r>
          </a:p>
          <a:p>
            <a:r>
              <a:rPr lang="en-US" dirty="0">
                <a:latin typeface="Proxima Nova" panose="020B0604020202020204"/>
              </a:rPr>
              <a:t>&lt;html&gt;</a:t>
            </a:r>
          </a:p>
          <a:p>
            <a:r>
              <a:rPr lang="en-US" dirty="0">
                <a:latin typeface="Proxima Nova" panose="020B0604020202020204"/>
              </a:rPr>
              <a:t>	&lt;head&gt;</a:t>
            </a:r>
          </a:p>
          <a:p>
            <a:r>
              <a:rPr lang="en-US" dirty="0">
                <a:latin typeface="Proxima Nova" panose="020B0604020202020204"/>
              </a:rPr>
              <a:t>		&lt;style&gt;</a:t>
            </a:r>
          </a:p>
          <a:p>
            <a:r>
              <a:rPr lang="en-US" dirty="0">
                <a:latin typeface="Proxima Nova" panose="020B0604020202020204"/>
              </a:rPr>
              <a:t>			body {</a:t>
            </a:r>
          </a:p>
          <a:p>
            <a:r>
              <a:rPr lang="en-US" dirty="0">
                <a:latin typeface="Proxima Nova" panose="020B0604020202020204"/>
              </a:rPr>
              <a:t>				  background-image: </a:t>
            </a:r>
            <a:r>
              <a:rPr lang="en-US" dirty="0" err="1">
                <a:latin typeface="Proxima Nova" panose="020B0604020202020204"/>
              </a:rPr>
              <a:t>url</a:t>
            </a:r>
            <a:r>
              <a:rPr lang="en-US" dirty="0">
                <a:latin typeface="Proxima Nova" panose="020B0604020202020204"/>
              </a:rPr>
              <a:t>("img_tree.png");</a:t>
            </a:r>
          </a:p>
          <a:p>
            <a:r>
              <a:rPr lang="en-US" dirty="0">
                <a:latin typeface="Proxima Nova" panose="020B0604020202020204"/>
              </a:rPr>
              <a:t>				 background-repeat: no-repeat;	</a:t>
            </a:r>
          </a:p>
          <a:p>
            <a:r>
              <a:rPr lang="en-US" dirty="0">
                <a:latin typeface="Proxima Nova" panose="020B0604020202020204"/>
              </a:rPr>
              <a:t>		}</a:t>
            </a:r>
          </a:p>
          <a:p>
            <a:r>
              <a:rPr lang="en-US" dirty="0">
                <a:latin typeface="Proxima Nova" panose="020B0604020202020204"/>
              </a:rPr>
              <a:t>		&lt;/style&gt;</a:t>
            </a:r>
          </a:p>
          <a:p>
            <a:r>
              <a:rPr lang="en-US" dirty="0">
                <a:latin typeface="Proxima Nova" panose="020B0604020202020204"/>
              </a:rPr>
              <a:t>	&lt;/head&gt;</a:t>
            </a:r>
          </a:p>
          <a:p>
            <a:r>
              <a:rPr lang="en-US" dirty="0">
                <a:latin typeface="Proxima Nova" panose="020B0604020202020204"/>
              </a:rPr>
              <a:t>	&lt;body&gt;</a:t>
            </a:r>
          </a:p>
          <a:p>
            <a:r>
              <a:rPr lang="en-US" dirty="0">
                <a:latin typeface="Proxima Nova" panose="020B0604020202020204"/>
              </a:rPr>
              <a:t>		&lt;h1&gt;Hello World!&lt;/h1&gt;</a:t>
            </a:r>
          </a:p>
          <a:p>
            <a:r>
              <a:rPr lang="en-US" dirty="0">
                <a:latin typeface="Proxima Nova" panose="020B0604020202020204"/>
              </a:rPr>
              <a:t>		&lt;p&gt;Strange background image...&lt;/p&gt;</a:t>
            </a:r>
          </a:p>
          <a:p>
            <a:r>
              <a:rPr lang="en-US" dirty="0">
                <a:latin typeface="Proxima Nova" panose="020B0604020202020204"/>
              </a:rPr>
              <a:t>	&lt;/body&gt;</a:t>
            </a:r>
          </a:p>
          <a:p>
            <a:r>
              <a:rPr lang="en-US" dirty="0">
                <a:latin typeface="Proxima Nova" panose="020B0604020202020204"/>
              </a:rPr>
              <a:t>&lt;/html&gt;</a:t>
            </a:r>
          </a:p>
        </p:txBody>
      </p:sp>
      <p:sp>
        <p:nvSpPr>
          <p:cNvPr id="5" name="Title 1">
            <a:extLst>
              <a:ext uri="{FF2B5EF4-FFF2-40B4-BE49-F238E27FC236}">
                <a16:creationId xmlns:a16="http://schemas.microsoft.com/office/drawing/2014/main" id="{2F82DD74-C907-158B-997D-3638D4F5C0C7}"/>
              </a:ext>
            </a:extLst>
          </p:cNvPr>
          <p:cNvSpPr txBox="1">
            <a:spLocks/>
          </p:cNvSpPr>
          <p:nvPr/>
        </p:nvSpPr>
        <p:spPr>
          <a:xfrm>
            <a:off x="209550" y="136525"/>
            <a:ext cx="10515600" cy="8477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a:rPr>
              <a:t>CSS</a:t>
            </a:r>
            <a:r>
              <a:rPr lang="en-US" dirty="0"/>
              <a:t> </a:t>
            </a:r>
            <a:r>
              <a:rPr lang="en-US" sz="2400" dirty="0">
                <a:solidFill>
                  <a:srgbClr val="00B0F0"/>
                </a:solidFill>
                <a:latin typeface="Proxima Nova"/>
              </a:rPr>
              <a:t>Background Image Repeat</a:t>
            </a:r>
            <a:br>
              <a:rPr lang="en-US" sz="2400" dirty="0">
                <a:solidFill>
                  <a:srgbClr val="00B0F0"/>
                </a:solidFill>
                <a:latin typeface="Proxima Nova"/>
              </a:rPr>
            </a:br>
            <a:endParaRPr lang="en-US" sz="2400" dirty="0">
              <a:solidFill>
                <a:srgbClr val="00B0F0"/>
              </a:solidFill>
              <a:latin typeface="Proxima Nova"/>
            </a:endParaRPr>
          </a:p>
        </p:txBody>
      </p:sp>
    </p:spTree>
    <p:extLst>
      <p:ext uri="{BB962C8B-B14F-4D97-AF65-F5344CB8AC3E}">
        <p14:creationId xmlns:p14="http://schemas.microsoft.com/office/powerpoint/2010/main" val="81836363"/>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225" y="136525"/>
            <a:ext cx="10515600" cy="758825"/>
          </a:xfrm>
        </p:spPr>
        <p:txBody>
          <a:bodyPr/>
          <a:lstStyle/>
          <a:p>
            <a:r>
              <a:rPr lang="en-US" dirty="0"/>
              <a:t>Background Position</a:t>
            </a:r>
          </a:p>
        </p:txBody>
      </p:sp>
      <p:sp>
        <p:nvSpPr>
          <p:cNvPr id="3" name="Content Placeholder 2"/>
          <p:cNvSpPr>
            <a:spLocks noGrp="1"/>
          </p:cNvSpPr>
          <p:nvPr>
            <p:ph idx="1"/>
          </p:nvPr>
        </p:nvSpPr>
        <p:spPr>
          <a:xfrm>
            <a:off x="171450" y="1081881"/>
            <a:ext cx="10515600" cy="5639594"/>
          </a:xfrm>
        </p:spPr>
        <p:txBody>
          <a:bodyPr>
            <a:noAutofit/>
          </a:bodyPr>
          <a:lstStyle/>
          <a:p>
            <a:r>
              <a:rPr lang="en-US" dirty="0"/>
              <a:t>The background-position property sets the starting position of a background image.</a:t>
            </a:r>
          </a:p>
          <a:p>
            <a:pPr eaLnBrk="0" fontAlgn="base" hangingPunct="0">
              <a:spcBef>
                <a:spcPct val="0"/>
              </a:spcBef>
              <a:spcAft>
                <a:spcPct val="0"/>
              </a:spcAft>
            </a:pPr>
            <a:r>
              <a:rPr lang="en-IN" b="1" dirty="0"/>
              <a:t>CSS Syntax:</a:t>
            </a:r>
          </a:p>
          <a:p>
            <a:pPr eaLnBrk="0" fontAlgn="base" hangingPunct="0">
              <a:spcBef>
                <a:spcPct val="0"/>
              </a:spcBef>
              <a:spcAft>
                <a:spcPct val="0"/>
              </a:spcAft>
            </a:pPr>
            <a:r>
              <a:rPr lang="en-US" b="1" dirty="0"/>
              <a:t>background-position: left top| left </a:t>
            </a:r>
            <a:r>
              <a:rPr lang="en-US" b="1" dirty="0" err="1"/>
              <a:t>center|left</a:t>
            </a:r>
            <a:r>
              <a:rPr lang="en-US" b="1" dirty="0"/>
              <a:t> </a:t>
            </a:r>
            <a:r>
              <a:rPr lang="en-US" b="1" dirty="0" err="1"/>
              <a:t>bottom|right</a:t>
            </a:r>
            <a:r>
              <a:rPr lang="en-US" b="1" dirty="0"/>
              <a:t> </a:t>
            </a:r>
            <a:r>
              <a:rPr lang="en-US" b="1" dirty="0" err="1"/>
              <a:t>top|right</a:t>
            </a:r>
            <a:r>
              <a:rPr lang="en-US" b="1" dirty="0"/>
              <a:t> </a:t>
            </a:r>
            <a:r>
              <a:rPr lang="en-US" b="1" dirty="0" err="1"/>
              <a:t>center|right</a:t>
            </a:r>
            <a:r>
              <a:rPr lang="en-US" b="1" dirty="0"/>
              <a:t> </a:t>
            </a:r>
            <a:r>
              <a:rPr lang="en-US" b="1" dirty="0" err="1"/>
              <a:t>bottom|center</a:t>
            </a:r>
            <a:r>
              <a:rPr lang="en-US" b="1" dirty="0"/>
              <a:t> </a:t>
            </a:r>
            <a:r>
              <a:rPr lang="en-US" b="1" dirty="0" err="1"/>
              <a:t>top|center</a:t>
            </a:r>
            <a:r>
              <a:rPr lang="en-US" b="1" dirty="0"/>
              <a:t> </a:t>
            </a:r>
            <a:r>
              <a:rPr lang="en-US" b="1" dirty="0" err="1"/>
              <a:t>center|center</a:t>
            </a:r>
            <a:r>
              <a:rPr lang="en-US" b="1" dirty="0"/>
              <a:t> </a:t>
            </a:r>
            <a:r>
              <a:rPr lang="en-US" b="1" dirty="0" err="1"/>
              <a:t>bottom|x-pos|y-pos|x</a:t>
            </a:r>
            <a:r>
              <a:rPr lang="en-US" b="1" dirty="0"/>
              <a:t>-%|y-%;</a:t>
            </a:r>
          </a:p>
          <a:p>
            <a:pPr eaLnBrk="0" fontAlgn="base" hangingPunct="0">
              <a:spcBef>
                <a:spcPct val="0"/>
              </a:spcBef>
              <a:spcAft>
                <a:spcPct val="0"/>
              </a:spcAft>
            </a:pPr>
            <a:endParaRPr lang="en-US" dirty="0"/>
          </a:p>
          <a:p>
            <a:pPr marL="0" indent="0">
              <a:lnSpc>
                <a:spcPct val="100000"/>
              </a:lnSpc>
              <a:buNone/>
            </a:pPr>
            <a:r>
              <a:rPr lang="en-US" sz="1200" dirty="0"/>
              <a:t>&lt;!DOCTYPE html&gt;</a:t>
            </a:r>
          </a:p>
          <a:p>
            <a:pPr marL="0" indent="0">
              <a:lnSpc>
                <a:spcPct val="100000"/>
              </a:lnSpc>
              <a:buNone/>
            </a:pPr>
            <a:r>
              <a:rPr lang="en-US" sz="1200" dirty="0"/>
              <a:t>&lt;html&gt;</a:t>
            </a:r>
          </a:p>
          <a:p>
            <a:pPr marL="0" indent="0">
              <a:lnSpc>
                <a:spcPct val="100000"/>
              </a:lnSpc>
              <a:buNone/>
            </a:pPr>
            <a:r>
              <a:rPr lang="en-US" sz="1200" dirty="0"/>
              <a:t>	&lt;head&gt;</a:t>
            </a:r>
          </a:p>
          <a:p>
            <a:pPr marL="0" indent="0">
              <a:lnSpc>
                <a:spcPct val="100000"/>
              </a:lnSpc>
              <a:buNone/>
            </a:pPr>
            <a:r>
              <a:rPr lang="en-US" sz="1200" dirty="0"/>
              <a:t>		&lt;style&gt;</a:t>
            </a:r>
          </a:p>
          <a:p>
            <a:pPr marL="0" indent="0">
              <a:lnSpc>
                <a:spcPct val="100000"/>
              </a:lnSpc>
              <a:buNone/>
            </a:pPr>
            <a:r>
              <a:rPr lang="en-US" sz="1200" dirty="0"/>
              <a:t>			body { </a:t>
            </a:r>
          </a:p>
          <a:p>
            <a:pPr marL="0" indent="0">
              <a:lnSpc>
                <a:spcPct val="100000"/>
              </a:lnSpc>
              <a:buNone/>
            </a:pPr>
            <a:r>
              <a:rPr lang="en-US" sz="1200" dirty="0"/>
              <a:t> 				 background-image: </a:t>
            </a:r>
            <a:r>
              <a:rPr lang="en-US" sz="1200" dirty="0" err="1"/>
              <a:t>url</a:t>
            </a:r>
            <a:r>
              <a:rPr lang="en-US" sz="1200" dirty="0"/>
              <a:t>('w3css.gif');</a:t>
            </a:r>
          </a:p>
          <a:p>
            <a:pPr marL="0" indent="0">
              <a:lnSpc>
                <a:spcPct val="100000"/>
              </a:lnSpc>
              <a:buNone/>
            </a:pPr>
            <a:r>
              <a:rPr lang="en-US" sz="1200" dirty="0"/>
              <a:t>  				background-repeat: no-repeat;</a:t>
            </a:r>
          </a:p>
          <a:p>
            <a:pPr marL="0" indent="0">
              <a:lnSpc>
                <a:spcPct val="100000"/>
              </a:lnSpc>
              <a:buNone/>
            </a:pPr>
            <a:r>
              <a:rPr lang="en-US" sz="1200" dirty="0"/>
              <a:t>    				background-position: top right; </a:t>
            </a:r>
          </a:p>
          <a:p>
            <a:pPr marL="0" indent="0">
              <a:lnSpc>
                <a:spcPct val="100000"/>
              </a:lnSpc>
              <a:buNone/>
            </a:pPr>
            <a:r>
              <a:rPr lang="en-US" sz="1200" dirty="0"/>
              <a:t>			}</a:t>
            </a:r>
          </a:p>
          <a:p>
            <a:pPr marL="0" indent="0">
              <a:lnSpc>
                <a:spcPct val="100000"/>
              </a:lnSpc>
              <a:buNone/>
            </a:pPr>
            <a:r>
              <a:rPr lang="en-US" sz="1200" dirty="0"/>
              <a:t>		&lt;/style&gt;</a:t>
            </a:r>
          </a:p>
          <a:p>
            <a:pPr marL="0" indent="0">
              <a:lnSpc>
                <a:spcPct val="100000"/>
              </a:lnSpc>
              <a:buNone/>
            </a:pPr>
            <a:r>
              <a:rPr lang="en-US" sz="1200" dirty="0"/>
              <a:t>&lt;/head&gt;</a:t>
            </a:r>
          </a:p>
          <a:p>
            <a:pPr marL="0" indent="0">
              <a:lnSpc>
                <a:spcPct val="100000"/>
              </a:lnSpc>
              <a:buNone/>
            </a:pPr>
            <a:endParaRPr lang="en-US" sz="1200" dirty="0"/>
          </a:p>
          <a:p>
            <a:pPr marL="0" indent="0">
              <a:buNone/>
            </a:pPr>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44</a:t>
            </a:fld>
            <a:endParaRPr lang="en-IN" dirty="0"/>
          </a:p>
        </p:txBody>
      </p:sp>
    </p:spTree>
    <p:extLst>
      <p:ext uri="{BB962C8B-B14F-4D97-AF65-F5344CB8AC3E}">
        <p14:creationId xmlns:p14="http://schemas.microsoft.com/office/powerpoint/2010/main" val="6100995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80565"/>
            <a:ext cx="10515600" cy="842169"/>
          </a:xfrm>
        </p:spPr>
        <p:txBody>
          <a:bodyPr/>
          <a:lstStyle/>
          <a:p>
            <a:r>
              <a:rPr lang="en-US" dirty="0"/>
              <a:t>Background Position</a:t>
            </a:r>
          </a:p>
        </p:txBody>
      </p:sp>
      <p:sp>
        <p:nvSpPr>
          <p:cNvPr id="3" name="Content Placeholder 2"/>
          <p:cNvSpPr>
            <a:spLocks noGrp="1"/>
          </p:cNvSpPr>
          <p:nvPr>
            <p:ph idx="1"/>
          </p:nvPr>
        </p:nvSpPr>
        <p:spPr>
          <a:xfrm>
            <a:off x="438150" y="1253331"/>
            <a:ext cx="10515600" cy="4351338"/>
          </a:xfrm>
        </p:spPr>
        <p:txBody>
          <a:bodyPr>
            <a:normAutofit lnSpcReduction="10000"/>
          </a:bodyPr>
          <a:lstStyle/>
          <a:p>
            <a:pPr marL="914400" lvl="2" indent="0">
              <a:buNone/>
            </a:pPr>
            <a:r>
              <a:rPr lang="en-US" dirty="0"/>
              <a:t>&lt;/style&gt;</a:t>
            </a:r>
          </a:p>
          <a:p>
            <a:pPr marL="914400" lvl="2" indent="0">
              <a:buNone/>
            </a:pPr>
            <a:r>
              <a:rPr lang="en-US" dirty="0"/>
              <a:t>&lt;/head&gt;</a:t>
            </a:r>
          </a:p>
          <a:p>
            <a:pPr marL="914400" lvl="2" indent="0">
              <a:buNone/>
            </a:pPr>
            <a:r>
              <a:rPr lang="en-US" dirty="0"/>
              <a:t>&lt;body&gt;</a:t>
            </a:r>
          </a:p>
          <a:p>
            <a:pPr marL="914400" lvl="2" indent="0">
              <a:buNone/>
            </a:pPr>
            <a:r>
              <a:rPr lang="en-US" dirty="0"/>
              <a:t>	&lt;h1&gt;The background-position Property&lt;/h1&gt;</a:t>
            </a:r>
          </a:p>
          <a:p>
            <a:pPr marL="914400" lvl="2" indent="0">
              <a:buNone/>
            </a:pPr>
            <a:r>
              <a:rPr lang="en-US" dirty="0"/>
              <a:t>	&lt;p&gt;Here, the background image will be positioned in the center of the element (in 	this case, the body element).</a:t>
            </a:r>
          </a:p>
          <a:p>
            <a:pPr marL="914400" lvl="2" indent="0">
              <a:buNone/>
            </a:pPr>
            <a:r>
              <a:rPr lang="en-US" dirty="0"/>
              <a:t>	&lt;/p&gt;</a:t>
            </a:r>
          </a:p>
          <a:p>
            <a:pPr marL="0" indent="0">
              <a:buNone/>
            </a:pPr>
            <a:r>
              <a:rPr lang="en-US" dirty="0"/>
              <a:t>	&lt;/body&gt;</a:t>
            </a:r>
          </a:p>
          <a:p>
            <a:pPr marL="0" indent="0">
              <a:buNone/>
            </a:pPr>
            <a:r>
              <a:rPr lang="en-US" dirty="0"/>
              <a:t>&lt;/html&gt;</a:t>
            </a:r>
          </a:p>
          <a:p>
            <a:pPr marL="0" indent="0">
              <a:buNone/>
            </a:pPr>
            <a:endParaRPr lang="en-US" sz="2000"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45</a:t>
            </a:fld>
            <a:endParaRPr lang="en-IN" dirty="0"/>
          </a:p>
        </p:txBody>
      </p:sp>
      <p:pic>
        <p:nvPicPr>
          <p:cNvPr id="5" name="Picture 4"/>
          <p:cNvPicPr>
            <a:picLocks noChangeAspect="1"/>
          </p:cNvPicPr>
          <p:nvPr/>
        </p:nvPicPr>
        <p:blipFill>
          <a:blip r:embed="rId2"/>
          <a:stretch>
            <a:fillRect/>
          </a:stretch>
        </p:blipFill>
        <p:spPr>
          <a:xfrm>
            <a:off x="1238250" y="4451350"/>
            <a:ext cx="7756188" cy="1733550"/>
          </a:xfrm>
          <a:prstGeom prst="rect">
            <a:avLst/>
          </a:prstGeom>
          <a:ln w="19050">
            <a:solidFill>
              <a:schemeClr val="tx1"/>
            </a:solidFill>
          </a:ln>
        </p:spPr>
      </p:pic>
    </p:spTree>
    <p:extLst>
      <p:ext uri="{BB962C8B-B14F-4D97-AF65-F5344CB8AC3E}">
        <p14:creationId xmlns:p14="http://schemas.microsoft.com/office/powerpoint/2010/main" val="18402490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5902" y="341751"/>
            <a:ext cx="11052648" cy="791229"/>
          </a:xfrm>
        </p:spPr>
        <p:txBody>
          <a:bodyPr/>
          <a:lstStyle/>
          <a:p>
            <a:r>
              <a:rPr lang="en-US" dirty="0"/>
              <a:t>CSS Background Attachment</a:t>
            </a:r>
            <a:br>
              <a:rPr lang="en-US" dirty="0"/>
            </a:br>
            <a:endParaRPr lang="en-US" dirty="0"/>
          </a:p>
        </p:txBody>
      </p:sp>
      <p:sp>
        <p:nvSpPr>
          <p:cNvPr id="4" name="Content Placeholder 3"/>
          <p:cNvSpPr>
            <a:spLocks noGrp="1"/>
          </p:cNvSpPr>
          <p:nvPr>
            <p:ph idx="1"/>
          </p:nvPr>
        </p:nvSpPr>
        <p:spPr>
          <a:xfrm>
            <a:off x="285749" y="1132980"/>
            <a:ext cx="11249025" cy="4351338"/>
          </a:xfrm>
        </p:spPr>
        <p:txBody>
          <a:bodyPr/>
          <a:lstStyle/>
          <a:p>
            <a:pPr algn="just">
              <a:lnSpc>
                <a:spcPct val="150000"/>
              </a:lnSpc>
            </a:pPr>
            <a:r>
              <a:rPr lang="en-US" dirty="0"/>
              <a:t>The background-attachment property specifies whether the background image should scroll or be fixed (will not scroll with the rest of the page).</a:t>
            </a:r>
          </a:p>
          <a:p>
            <a:pPr algn="just" eaLnBrk="0" fontAlgn="base" hangingPunct="0">
              <a:lnSpc>
                <a:spcPct val="150000"/>
              </a:lnSpc>
              <a:spcBef>
                <a:spcPct val="0"/>
              </a:spcBef>
              <a:spcAft>
                <a:spcPct val="0"/>
              </a:spcAft>
            </a:pPr>
            <a:r>
              <a:rPr lang="en-IN" b="1" dirty="0">
                <a:solidFill>
                  <a:schemeClr val="tx1"/>
                </a:solidFill>
              </a:rPr>
              <a:t>CSS Syntax:</a:t>
            </a:r>
          </a:p>
          <a:p>
            <a:pPr algn="just" eaLnBrk="0" fontAlgn="base" hangingPunct="0">
              <a:lnSpc>
                <a:spcPct val="150000"/>
              </a:lnSpc>
              <a:spcBef>
                <a:spcPct val="0"/>
              </a:spcBef>
              <a:spcAft>
                <a:spcPct val="0"/>
              </a:spcAft>
            </a:pPr>
            <a:r>
              <a:rPr lang="en-US" b="1" dirty="0">
                <a:solidFill>
                  <a:schemeClr val="tx1"/>
                </a:solidFill>
              </a:rPr>
              <a:t>background-attachment: scroll | fixed;</a:t>
            </a:r>
            <a:endParaRPr lang="en-US" dirty="0"/>
          </a:p>
        </p:txBody>
      </p:sp>
      <p:sp>
        <p:nvSpPr>
          <p:cNvPr id="2" name="Slide Number Placeholder 1"/>
          <p:cNvSpPr>
            <a:spLocks noGrp="1"/>
          </p:cNvSpPr>
          <p:nvPr>
            <p:ph type="sldNum" sz="quarter" idx="12"/>
          </p:nvPr>
        </p:nvSpPr>
        <p:spPr/>
        <p:txBody>
          <a:bodyPr/>
          <a:lstStyle/>
          <a:p>
            <a:fld id="{9C11CE39-2868-44A2-A0C6-827D458F7A8B}" type="slidenum">
              <a:rPr lang="en-IN" smtClean="0"/>
              <a:pPr/>
              <a:t>46</a:t>
            </a:fld>
            <a:endParaRPr lang="en-IN"/>
          </a:p>
        </p:txBody>
      </p:sp>
      <p:pic>
        <p:nvPicPr>
          <p:cNvPr id="6" name="Picture 5"/>
          <p:cNvPicPr>
            <a:picLocks noChangeAspect="1"/>
          </p:cNvPicPr>
          <p:nvPr/>
        </p:nvPicPr>
        <p:blipFill>
          <a:blip r:embed="rId2"/>
          <a:stretch>
            <a:fillRect/>
          </a:stretch>
        </p:blipFill>
        <p:spPr>
          <a:xfrm>
            <a:off x="981277" y="3065124"/>
            <a:ext cx="4616889" cy="3473788"/>
          </a:xfrm>
          <a:prstGeom prst="rect">
            <a:avLst/>
          </a:prstGeom>
          <a:ln w="19050">
            <a:solidFill>
              <a:schemeClr val="tx1"/>
            </a:solidFill>
          </a:ln>
        </p:spPr>
      </p:pic>
      <p:pic>
        <p:nvPicPr>
          <p:cNvPr id="7" name="Picture 6"/>
          <p:cNvPicPr>
            <a:picLocks noChangeAspect="1"/>
          </p:cNvPicPr>
          <p:nvPr/>
        </p:nvPicPr>
        <p:blipFill>
          <a:blip r:embed="rId3"/>
          <a:stretch>
            <a:fillRect/>
          </a:stretch>
        </p:blipFill>
        <p:spPr>
          <a:xfrm>
            <a:off x="6163181" y="3586094"/>
            <a:ext cx="3968885" cy="2770256"/>
          </a:xfrm>
          <a:prstGeom prst="rect">
            <a:avLst/>
          </a:prstGeom>
          <a:ln w="19050">
            <a:solidFill>
              <a:schemeClr val="tx1"/>
            </a:solidFill>
          </a:ln>
        </p:spPr>
      </p:pic>
    </p:spTree>
    <p:extLst>
      <p:ext uri="{BB962C8B-B14F-4D97-AF65-F5344CB8AC3E}">
        <p14:creationId xmlns:p14="http://schemas.microsoft.com/office/powerpoint/2010/main" val="26628147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47</a:t>
            </a:fld>
            <a:endParaRPr lang="en-IN" dirty="0"/>
          </a:p>
        </p:txBody>
      </p:sp>
      <p:sp>
        <p:nvSpPr>
          <p:cNvPr id="5" name="Rectangle 4"/>
          <p:cNvSpPr/>
          <p:nvPr/>
        </p:nvSpPr>
        <p:spPr>
          <a:xfrm>
            <a:off x="272729" y="1028700"/>
            <a:ext cx="11646541" cy="5909310"/>
          </a:xfrm>
          <a:prstGeom prst="rect">
            <a:avLst/>
          </a:prstGeom>
        </p:spPr>
        <p:txBody>
          <a:bodyPr wrap="square">
            <a:spAutoFit/>
          </a:bodyPr>
          <a:lstStyle/>
          <a:p>
            <a:r>
              <a:rPr lang="en-US" dirty="0">
                <a:latin typeface="Proxima Nova"/>
                <a:ea typeface="Cambria" panose="02040503050406030204" pitchFamily="18" charset="0"/>
              </a:rPr>
              <a:t>&lt;!DOCTYPE html&gt;</a:t>
            </a:r>
          </a:p>
          <a:p>
            <a:r>
              <a:rPr lang="en-US" dirty="0">
                <a:latin typeface="Proxima Nova"/>
                <a:ea typeface="Cambria" panose="02040503050406030204" pitchFamily="18" charset="0"/>
              </a:rPr>
              <a:t>&lt;html&gt;</a:t>
            </a:r>
          </a:p>
          <a:p>
            <a:r>
              <a:rPr lang="en-US" dirty="0">
                <a:latin typeface="Proxima Nova"/>
                <a:ea typeface="Cambria" panose="02040503050406030204" pitchFamily="18" charset="0"/>
              </a:rPr>
              <a:t>	&lt;head&gt;</a:t>
            </a:r>
          </a:p>
          <a:p>
            <a:r>
              <a:rPr lang="en-US" dirty="0">
                <a:latin typeface="Proxima Nova"/>
                <a:ea typeface="Cambria" panose="02040503050406030204" pitchFamily="18" charset="0"/>
              </a:rPr>
              <a:t>		&lt;style&gt;</a:t>
            </a:r>
          </a:p>
          <a:p>
            <a:r>
              <a:rPr lang="en-US" dirty="0">
                <a:latin typeface="Proxima Nova"/>
                <a:ea typeface="Cambria" panose="02040503050406030204" pitchFamily="18" charset="0"/>
              </a:rPr>
              <a:t>			body {</a:t>
            </a:r>
          </a:p>
          <a:p>
            <a:r>
              <a:rPr lang="en-US" dirty="0">
                <a:latin typeface="Proxima Nova"/>
                <a:ea typeface="Cambria" panose="02040503050406030204" pitchFamily="18" charset="0"/>
              </a:rPr>
              <a:t>				  background-image: </a:t>
            </a:r>
            <a:r>
              <a:rPr lang="en-US" dirty="0" err="1">
                <a:latin typeface="Proxima Nova"/>
                <a:ea typeface="Cambria" panose="02040503050406030204" pitchFamily="18" charset="0"/>
              </a:rPr>
              <a:t>url</a:t>
            </a:r>
            <a:r>
              <a:rPr lang="en-US" dirty="0">
                <a:latin typeface="Proxima Nova"/>
                <a:ea typeface="Cambria" panose="02040503050406030204" pitchFamily="18" charset="0"/>
              </a:rPr>
              <a:t>("img_tree.png");</a:t>
            </a:r>
          </a:p>
          <a:p>
            <a:r>
              <a:rPr lang="en-US" dirty="0">
                <a:latin typeface="Proxima Nova"/>
                <a:ea typeface="Cambria" panose="02040503050406030204" pitchFamily="18" charset="0"/>
              </a:rPr>
              <a:t>				  background-repeat: no-repeat;</a:t>
            </a:r>
          </a:p>
          <a:p>
            <a:r>
              <a:rPr lang="en-US" dirty="0">
                <a:latin typeface="Proxima Nova"/>
                <a:ea typeface="Cambria" panose="02040503050406030204" pitchFamily="18" charset="0"/>
              </a:rPr>
              <a:t>				  background-position: right top;</a:t>
            </a:r>
          </a:p>
          <a:p>
            <a:r>
              <a:rPr lang="en-US" dirty="0">
                <a:latin typeface="Proxima Nova"/>
                <a:ea typeface="Cambria" panose="02040503050406030204" pitchFamily="18" charset="0"/>
              </a:rPr>
              <a:t> 				 margin-right: 200px;</a:t>
            </a:r>
          </a:p>
          <a:p>
            <a:r>
              <a:rPr lang="en-US" dirty="0">
                <a:latin typeface="Proxima Nova"/>
                <a:ea typeface="Cambria" panose="02040503050406030204" pitchFamily="18" charset="0"/>
              </a:rPr>
              <a:t>				  background-attachment: fixed;</a:t>
            </a:r>
          </a:p>
          <a:p>
            <a:r>
              <a:rPr lang="en-US" dirty="0">
                <a:latin typeface="Proxima Nova"/>
                <a:ea typeface="Cambria" panose="02040503050406030204" pitchFamily="18" charset="0"/>
              </a:rPr>
              <a:t>			}</a:t>
            </a:r>
          </a:p>
          <a:p>
            <a:r>
              <a:rPr lang="en-US" dirty="0">
                <a:latin typeface="Proxima Nova"/>
                <a:ea typeface="Cambria" panose="02040503050406030204" pitchFamily="18" charset="0"/>
              </a:rPr>
              <a:t>		&lt;/style&gt;</a:t>
            </a:r>
          </a:p>
          <a:p>
            <a:r>
              <a:rPr lang="en-US" dirty="0">
                <a:latin typeface="Proxima Nova"/>
                <a:ea typeface="Cambria" panose="02040503050406030204" pitchFamily="18" charset="0"/>
              </a:rPr>
              <a:t>	&lt;/head&gt;</a:t>
            </a:r>
          </a:p>
          <a:p>
            <a:r>
              <a:rPr lang="en-US" dirty="0">
                <a:latin typeface="Proxima Nova"/>
                <a:ea typeface="Cambria" panose="02040503050406030204" pitchFamily="18" charset="0"/>
              </a:rPr>
              <a:t>	&lt;body&gt;</a:t>
            </a:r>
          </a:p>
          <a:p>
            <a:pPr lvl="2"/>
            <a:r>
              <a:rPr lang="en-US" dirty="0">
                <a:latin typeface="Proxima Nova"/>
                <a:ea typeface="Cambria" panose="02040503050406030204" pitchFamily="18" charset="0"/>
              </a:rPr>
              <a:t>&lt;h1&gt;The background-attachment Property&lt;/h1&gt;</a:t>
            </a:r>
          </a:p>
          <a:p>
            <a:pPr lvl="2"/>
            <a:r>
              <a:rPr lang="en-US" dirty="0">
                <a:latin typeface="Proxima Nova"/>
                <a:ea typeface="Cambria" panose="02040503050406030204" pitchFamily="18" charset="0"/>
              </a:rPr>
              <a:t>&lt;p&gt;The background-attachment property specifies whether the background image should scroll or be fixed (will not scroll with the rest of the page).&lt;/p&gt;</a:t>
            </a:r>
          </a:p>
          <a:p>
            <a:pPr lvl="2"/>
            <a:r>
              <a:rPr lang="en-US" dirty="0">
                <a:latin typeface="Proxima Nova"/>
                <a:ea typeface="Cambria" panose="02040503050406030204" pitchFamily="18" charset="0"/>
              </a:rPr>
              <a:t>&lt;p&gt;The background-image is fixed. Try to scroll down the page.&lt;/p&gt;</a:t>
            </a:r>
          </a:p>
          <a:p>
            <a:pPr lvl="2"/>
            <a:r>
              <a:rPr lang="en-US" dirty="0">
                <a:latin typeface="Proxima Nova"/>
                <a:ea typeface="Cambria" panose="02040503050406030204" pitchFamily="18" charset="0"/>
              </a:rPr>
              <a:t>&lt;p&gt;The background-image is fixed. Try to scroll down the page.&lt;/p&gt;</a:t>
            </a:r>
          </a:p>
          <a:p>
            <a:r>
              <a:rPr lang="en-US" dirty="0">
                <a:latin typeface="Proxima Nova"/>
                <a:ea typeface="Cambria" panose="02040503050406030204" pitchFamily="18" charset="0"/>
              </a:rPr>
              <a:t>	&lt;/body&gt;</a:t>
            </a:r>
          </a:p>
          <a:p>
            <a:r>
              <a:rPr lang="en-US" dirty="0">
                <a:latin typeface="Proxima Nova"/>
                <a:ea typeface="Cambria" panose="02040503050406030204" pitchFamily="18" charset="0"/>
              </a:rPr>
              <a:t>&lt;/html&gt;</a:t>
            </a:r>
          </a:p>
        </p:txBody>
      </p:sp>
      <p:sp>
        <p:nvSpPr>
          <p:cNvPr id="2" name="Title 2">
            <a:extLst>
              <a:ext uri="{FF2B5EF4-FFF2-40B4-BE49-F238E27FC236}">
                <a16:creationId xmlns:a16="http://schemas.microsoft.com/office/drawing/2014/main" id="{5CCE00B9-05A5-1CB8-B768-7DEDAC01077A}"/>
              </a:ext>
            </a:extLst>
          </p:cNvPr>
          <p:cNvSpPr txBox="1">
            <a:spLocks/>
          </p:cNvSpPr>
          <p:nvPr/>
        </p:nvSpPr>
        <p:spPr>
          <a:xfrm>
            <a:off x="205902" y="237471"/>
            <a:ext cx="11052648" cy="79122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CSS Background Attachment Example</a:t>
            </a:r>
            <a:br>
              <a:rPr lang="en-US" sz="2400" dirty="0">
                <a:solidFill>
                  <a:srgbClr val="00B0F0"/>
                </a:solidFill>
                <a:latin typeface="Proxima Nova" panose="020B0604020202020204"/>
              </a:rPr>
            </a:br>
            <a:endParaRPr lang="en-US" sz="2400" dirty="0">
              <a:solidFill>
                <a:srgbClr val="00B0F0"/>
              </a:solidFill>
              <a:latin typeface="Proxima Nova" panose="020B0604020202020204"/>
            </a:endParaRPr>
          </a:p>
        </p:txBody>
      </p:sp>
    </p:spTree>
    <p:extLst>
      <p:ext uri="{BB962C8B-B14F-4D97-AF65-F5344CB8AC3E}">
        <p14:creationId xmlns:p14="http://schemas.microsoft.com/office/powerpoint/2010/main" val="23797193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275" y="136525"/>
            <a:ext cx="10515600" cy="558800"/>
          </a:xfrm>
        </p:spPr>
        <p:txBody>
          <a:bodyPr/>
          <a:lstStyle/>
          <a:p>
            <a:r>
              <a:rPr lang="en-US" dirty="0"/>
              <a:t>Background-color</a:t>
            </a:r>
          </a:p>
        </p:txBody>
      </p:sp>
      <p:sp>
        <p:nvSpPr>
          <p:cNvPr id="3" name="Content Placeholder 2"/>
          <p:cNvSpPr>
            <a:spLocks noGrp="1"/>
          </p:cNvSpPr>
          <p:nvPr>
            <p:ph idx="1"/>
          </p:nvPr>
        </p:nvSpPr>
        <p:spPr>
          <a:xfrm>
            <a:off x="428624" y="1063625"/>
            <a:ext cx="11591925" cy="4351338"/>
          </a:xfrm>
        </p:spPr>
        <p:txBody>
          <a:bodyPr>
            <a:noAutofit/>
          </a:bodyPr>
          <a:lstStyle/>
          <a:p>
            <a:pPr eaLnBrk="0" fontAlgn="base" hangingPunct="0">
              <a:lnSpc>
                <a:spcPct val="150000"/>
              </a:lnSpc>
              <a:spcBef>
                <a:spcPct val="0"/>
              </a:spcBef>
              <a:spcAft>
                <a:spcPct val="0"/>
              </a:spcAft>
            </a:pPr>
            <a:r>
              <a:rPr lang="en-US" dirty="0">
                <a:solidFill>
                  <a:schemeClr val="tx1"/>
                </a:solidFill>
              </a:rPr>
              <a:t>The background-color property sets the background color of an element.</a:t>
            </a:r>
          </a:p>
          <a:p>
            <a:pPr eaLnBrk="0" fontAlgn="base" hangingPunct="0">
              <a:lnSpc>
                <a:spcPct val="150000"/>
              </a:lnSpc>
              <a:spcBef>
                <a:spcPct val="0"/>
              </a:spcBef>
              <a:spcAft>
                <a:spcPct val="0"/>
              </a:spcAft>
            </a:pPr>
            <a:r>
              <a:rPr lang="en-US" dirty="0">
                <a:solidFill>
                  <a:schemeClr val="tx1"/>
                </a:solidFill>
              </a:rPr>
              <a:t>The background of an element is the total size of the element, including padding and border (but not the margin).</a:t>
            </a:r>
          </a:p>
          <a:p>
            <a:pPr>
              <a:lnSpc>
                <a:spcPct val="150000"/>
              </a:lnSpc>
            </a:pPr>
            <a:r>
              <a:rPr lang="en-US" dirty="0">
                <a:solidFill>
                  <a:schemeClr val="tx1"/>
                </a:solidFill>
              </a:rPr>
              <a:t>With CSS, a color is most often specified by:</a:t>
            </a:r>
          </a:p>
          <a:p>
            <a:pPr>
              <a:lnSpc>
                <a:spcPct val="150000"/>
              </a:lnSpc>
            </a:pPr>
            <a:r>
              <a:rPr lang="en-US" dirty="0">
                <a:solidFill>
                  <a:schemeClr val="tx1"/>
                </a:solidFill>
              </a:rPr>
              <a:t>    a valid color name - like "red"</a:t>
            </a:r>
          </a:p>
          <a:p>
            <a:pPr>
              <a:lnSpc>
                <a:spcPct val="150000"/>
              </a:lnSpc>
            </a:pPr>
            <a:r>
              <a:rPr lang="en-US" dirty="0">
                <a:solidFill>
                  <a:schemeClr val="tx1"/>
                </a:solidFill>
              </a:rPr>
              <a:t>    a HEX value - like "#ff0000"</a:t>
            </a:r>
          </a:p>
          <a:p>
            <a:pPr>
              <a:lnSpc>
                <a:spcPct val="150000"/>
              </a:lnSpc>
            </a:pPr>
            <a:r>
              <a:rPr lang="en-US" dirty="0">
                <a:solidFill>
                  <a:schemeClr val="tx1"/>
                </a:solidFill>
              </a:rPr>
              <a:t>    an RGB value - like "</a:t>
            </a:r>
            <a:r>
              <a:rPr lang="en-US" dirty="0" err="1">
                <a:solidFill>
                  <a:schemeClr val="tx1"/>
                </a:solidFill>
              </a:rPr>
              <a:t>rgb</a:t>
            </a:r>
            <a:r>
              <a:rPr lang="en-US" dirty="0">
                <a:solidFill>
                  <a:schemeClr val="tx1"/>
                </a:solidFill>
              </a:rPr>
              <a:t>(255,0,0)“</a:t>
            </a:r>
          </a:p>
          <a:p>
            <a:pPr>
              <a:lnSpc>
                <a:spcPct val="150000"/>
              </a:lnSpc>
            </a:pPr>
            <a:endParaRPr lang="en-US" dirty="0">
              <a:solidFill>
                <a:schemeClr val="tx1"/>
              </a:solidFill>
            </a:endParaRPr>
          </a:p>
        </p:txBody>
      </p:sp>
      <p:sp>
        <p:nvSpPr>
          <p:cNvPr id="4" name="Slide Number Placeholder 3"/>
          <p:cNvSpPr>
            <a:spLocks noGrp="1"/>
          </p:cNvSpPr>
          <p:nvPr>
            <p:ph type="sldNum" sz="quarter" idx="12"/>
          </p:nvPr>
        </p:nvSpPr>
        <p:spPr/>
        <p:txBody>
          <a:bodyPr/>
          <a:lstStyle/>
          <a:p>
            <a:fld id="{9C11CE39-2868-44A2-A0C6-827D458F7A8B}" type="slidenum">
              <a:rPr lang="en-IN" smtClean="0"/>
              <a:pPr/>
              <a:t>48</a:t>
            </a:fld>
            <a:endParaRPr lang="en-IN" dirty="0"/>
          </a:p>
        </p:txBody>
      </p:sp>
    </p:spTree>
    <p:extLst>
      <p:ext uri="{BB962C8B-B14F-4D97-AF65-F5344CB8AC3E}">
        <p14:creationId xmlns:p14="http://schemas.microsoft.com/office/powerpoint/2010/main" val="35712935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49</a:t>
            </a:fld>
            <a:endParaRPr lang="en-IN" dirty="0"/>
          </a:p>
        </p:txBody>
      </p:sp>
      <p:pic>
        <p:nvPicPr>
          <p:cNvPr id="6" name="Picture 5"/>
          <p:cNvPicPr>
            <a:picLocks noChangeAspect="1"/>
          </p:cNvPicPr>
          <p:nvPr/>
        </p:nvPicPr>
        <p:blipFill>
          <a:blip r:embed="rId2"/>
          <a:stretch>
            <a:fillRect/>
          </a:stretch>
        </p:blipFill>
        <p:spPr>
          <a:xfrm>
            <a:off x="657731" y="5089530"/>
            <a:ext cx="6600825" cy="952500"/>
          </a:xfrm>
          <a:prstGeom prst="rect">
            <a:avLst/>
          </a:prstGeom>
          <a:ln w="19050">
            <a:solidFill>
              <a:schemeClr val="tx1"/>
            </a:solidFill>
          </a:ln>
        </p:spPr>
      </p:pic>
      <p:sp>
        <p:nvSpPr>
          <p:cNvPr id="3" name="TextBox 2">
            <a:extLst>
              <a:ext uri="{FF2B5EF4-FFF2-40B4-BE49-F238E27FC236}">
                <a16:creationId xmlns:a16="http://schemas.microsoft.com/office/drawing/2014/main" id="{E289596A-6A23-94D1-6ABF-16C077F3D48B}"/>
              </a:ext>
            </a:extLst>
          </p:cNvPr>
          <p:cNvSpPr txBox="1"/>
          <p:nvPr/>
        </p:nvSpPr>
        <p:spPr>
          <a:xfrm>
            <a:off x="458822" y="1081891"/>
            <a:ext cx="8570067" cy="3693319"/>
          </a:xfrm>
          <a:prstGeom prst="rect">
            <a:avLst/>
          </a:prstGeom>
          <a:noFill/>
        </p:spPr>
        <p:txBody>
          <a:bodyPr wrap="square">
            <a:spAutoFit/>
          </a:bodyPr>
          <a:lstStyle/>
          <a:p>
            <a:r>
              <a:rPr lang="en-US" dirty="0">
                <a:latin typeface="Proxima Nova"/>
                <a:ea typeface="Cambria" panose="02040503050406030204" pitchFamily="18" charset="0"/>
              </a:rPr>
              <a:t>&lt;!DOCTYPE html&gt;</a:t>
            </a:r>
          </a:p>
          <a:p>
            <a:r>
              <a:rPr lang="en-US" dirty="0">
                <a:latin typeface="Proxima Nova"/>
                <a:ea typeface="Cambria" panose="02040503050406030204" pitchFamily="18" charset="0"/>
              </a:rPr>
              <a:t>&lt;html&gt;</a:t>
            </a:r>
          </a:p>
          <a:p>
            <a:r>
              <a:rPr lang="en-US" dirty="0">
                <a:latin typeface="Proxima Nova"/>
                <a:ea typeface="Cambria" panose="02040503050406030204" pitchFamily="18" charset="0"/>
              </a:rPr>
              <a:t>	&lt;head&gt;</a:t>
            </a:r>
          </a:p>
          <a:p>
            <a:r>
              <a:rPr lang="en-US" dirty="0">
                <a:latin typeface="Proxima Nova"/>
                <a:ea typeface="Cambria" panose="02040503050406030204" pitchFamily="18" charset="0"/>
              </a:rPr>
              <a:t>		&lt;style&gt;</a:t>
            </a:r>
          </a:p>
          <a:p>
            <a:r>
              <a:rPr lang="en-US" dirty="0">
                <a:latin typeface="Proxima Nova"/>
                <a:ea typeface="Cambria" panose="02040503050406030204" pitchFamily="18" charset="0"/>
              </a:rPr>
              <a:t>			h1 {</a:t>
            </a:r>
          </a:p>
          <a:p>
            <a:r>
              <a:rPr lang="en-US" dirty="0">
                <a:latin typeface="Proxima Nova"/>
                <a:ea typeface="Cambria" panose="02040503050406030204" pitchFamily="18" charset="0"/>
              </a:rPr>
              <a:t>				  background-color: green;</a:t>
            </a:r>
          </a:p>
          <a:p>
            <a:r>
              <a:rPr lang="en-US" dirty="0">
                <a:latin typeface="Proxima Nova"/>
                <a:ea typeface="Cambria" panose="02040503050406030204" pitchFamily="18" charset="0"/>
              </a:rPr>
              <a:t>			}</a:t>
            </a:r>
          </a:p>
          <a:p>
            <a:r>
              <a:rPr lang="en-US" dirty="0">
                <a:latin typeface="Proxima Nova"/>
                <a:ea typeface="Cambria" panose="02040503050406030204" pitchFamily="18" charset="0"/>
              </a:rPr>
              <a:t>		&lt;/style&gt;</a:t>
            </a:r>
          </a:p>
          <a:p>
            <a:r>
              <a:rPr lang="en-US" dirty="0">
                <a:latin typeface="Proxima Nova"/>
                <a:ea typeface="Cambria" panose="02040503050406030204" pitchFamily="18" charset="0"/>
              </a:rPr>
              <a:t>	&lt;/head&gt;</a:t>
            </a:r>
          </a:p>
          <a:p>
            <a:r>
              <a:rPr lang="en-US" dirty="0">
                <a:latin typeface="Proxima Nova"/>
                <a:ea typeface="Cambria" panose="02040503050406030204" pitchFamily="18" charset="0"/>
              </a:rPr>
              <a:t>	&lt;body&gt;</a:t>
            </a:r>
          </a:p>
          <a:p>
            <a:r>
              <a:rPr lang="en-US" dirty="0">
                <a:latin typeface="Proxima Nova"/>
                <a:ea typeface="Cambria" panose="02040503050406030204" pitchFamily="18" charset="0"/>
              </a:rPr>
              <a:t>		&lt;h1&gt;CSS background-color example!&lt;/h1&gt;</a:t>
            </a:r>
          </a:p>
          <a:p>
            <a:r>
              <a:rPr lang="en-US" dirty="0">
                <a:latin typeface="Proxima Nova"/>
                <a:ea typeface="Cambria" panose="02040503050406030204" pitchFamily="18" charset="0"/>
              </a:rPr>
              <a:t>	&lt;/body&gt;</a:t>
            </a:r>
          </a:p>
          <a:p>
            <a:r>
              <a:rPr lang="en-US" dirty="0">
                <a:latin typeface="Proxima Nova"/>
                <a:ea typeface="Cambria" panose="02040503050406030204" pitchFamily="18" charset="0"/>
              </a:rPr>
              <a:t>&lt;/html&gt;</a:t>
            </a:r>
          </a:p>
        </p:txBody>
      </p:sp>
      <p:sp>
        <p:nvSpPr>
          <p:cNvPr id="11" name="Title 1">
            <a:extLst>
              <a:ext uri="{FF2B5EF4-FFF2-40B4-BE49-F238E27FC236}">
                <a16:creationId xmlns:a16="http://schemas.microsoft.com/office/drawing/2014/main" id="{07E88EA5-32B7-6B1B-814F-8F6D5A3BAB07}"/>
              </a:ext>
            </a:extLst>
          </p:cNvPr>
          <p:cNvSpPr txBox="1">
            <a:spLocks/>
          </p:cNvSpPr>
          <p:nvPr/>
        </p:nvSpPr>
        <p:spPr>
          <a:xfrm>
            <a:off x="152400" y="151606"/>
            <a:ext cx="10515600" cy="8104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endParaRPr lang="en-IN" sz="2400" dirty="0">
              <a:solidFill>
                <a:srgbClr val="00B0F0"/>
              </a:solidFill>
              <a:latin typeface="Proxima Nova" panose="020B0604020202020204"/>
            </a:endParaRPr>
          </a:p>
        </p:txBody>
      </p:sp>
    </p:spTree>
    <p:extLst>
      <p:ext uri="{BB962C8B-B14F-4D97-AF65-F5344CB8AC3E}">
        <p14:creationId xmlns:p14="http://schemas.microsoft.com/office/powerpoint/2010/main" val="20695420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AA979-1FE3-5583-8984-B635A28B2284}"/>
              </a:ext>
            </a:extLst>
          </p:cNvPr>
          <p:cNvSpPr>
            <a:spLocks noGrp="1"/>
          </p:cNvSpPr>
          <p:nvPr>
            <p:ph type="title"/>
          </p:nvPr>
        </p:nvSpPr>
        <p:spPr>
          <a:xfrm>
            <a:off x="152400" y="151606"/>
            <a:ext cx="10515600" cy="810420"/>
          </a:xfrm>
        </p:spPr>
        <p:txBody>
          <a:bodyPr/>
          <a:lstStyle/>
          <a:p>
            <a:r>
              <a:rPr lang="en-US" dirty="0"/>
              <a:t>RGB</a:t>
            </a:r>
            <a:endParaRPr lang="en-IN" dirty="0"/>
          </a:p>
        </p:txBody>
      </p:sp>
      <p:sp>
        <p:nvSpPr>
          <p:cNvPr id="3" name="Content Placeholder 2">
            <a:extLst>
              <a:ext uri="{FF2B5EF4-FFF2-40B4-BE49-F238E27FC236}">
                <a16:creationId xmlns:a16="http://schemas.microsoft.com/office/drawing/2014/main" id="{D86E4CC1-6ABB-19F5-CB60-645C41E99350}"/>
              </a:ext>
            </a:extLst>
          </p:cNvPr>
          <p:cNvSpPr>
            <a:spLocks noGrp="1"/>
          </p:cNvSpPr>
          <p:nvPr>
            <p:ph idx="1"/>
          </p:nvPr>
        </p:nvSpPr>
        <p:spPr>
          <a:xfrm>
            <a:off x="504825" y="1253331"/>
            <a:ext cx="10515600" cy="4351338"/>
          </a:xfrm>
        </p:spPr>
        <p:txBody>
          <a:bodyPr>
            <a:normAutofit/>
          </a:bodyPr>
          <a:lstStyle/>
          <a:p>
            <a:pPr>
              <a:lnSpc>
                <a:spcPct val="150000"/>
              </a:lnSpc>
            </a:pPr>
            <a:r>
              <a:rPr lang="en-IN" b="1" dirty="0"/>
              <a:t>RGB values:</a:t>
            </a:r>
          </a:p>
          <a:p>
            <a:pPr>
              <a:lnSpc>
                <a:spcPct val="150000"/>
              </a:lnSpc>
            </a:pPr>
            <a:r>
              <a:rPr lang="en-US" dirty="0"/>
              <a:t>In HTML, a color can be specified as an RGB value, using this formula:</a:t>
            </a:r>
          </a:p>
          <a:p>
            <a:pPr>
              <a:lnSpc>
                <a:spcPct val="150000"/>
              </a:lnSpc>
            </a:pPr>
            <a:r>
              <a:rPr lang="en-US" b="1" dirty="0" err="1"/>
              <a:t>rgb</a:t>
            </a:r>
            <a:r>
              <a:rPr lang="en-US" b="1" dirty="0"/>
              <a:t>(</a:t>
            </a:r>
            <a:r>
              <a:rPr lang="en-US" b="1" i="1" dirty="0"/>
              <a:t>red,</a:t>
            </a:r>
            <a:r>
              <a:rPr lang="en-US" b="1" dirty="0"/>
              <a:t> </a:t>
            </a:r>
            <a:r>
              <a:rPr lang="en-US" b="1" i="1" dirty="0"/>
              <a:t>green</a:t>
            </a:r>
            <a:r>
              <a:rPr lang="en-US" b="1" dirty="0"/>
              <a:t>, </a:t>
            </a:r>
            <a:r>
              <a:rPr lang="en-US" b="1" i="1" dirty="0"/>
              <a:t>blue</a:t>
            </a:r>
            <a:r>
              <a:rPr lang="en-US" b="1" dirty="0"/>
              <a:t>)</a:t>
            </a:r>
            <a:endParaRPr lang="en-US" dirty="0"/>
          </a:p>
          <a:p>
            <a:pPr>
              <a:lnSpc>
                <a:spcPct val="150000"/>
              </a:lnSpc>
            </a:pPr>
            <a:r>
              <a:rPr lang="en-US" dirty="0"/>
              <a:t>Each parameter (red, green, and blue) defines the intensity of the color between 0 and 255.</a:t>
            </a:r>
          </a:p>
          <a:p>
            <a:pPr>
              <a:lnSpc>
                <a:spcPct val="150000"/>
              </a:lnSpc>
            </a:pPr>
            <a:r>
              <a:rPr lang="en-US" dirty="0"/>
              <a:t>For example, </a:t>
            </a:r>
            <a:r>
              <a:rPr lang="en-US" dirty="0" err="1"/>
              <a:t>rgb</a:t>
            </a:r>
            <a:r>
              <a:rPr lang="en-US" dirty="0"/>
              <a:t>(255, 0, 0) is displayed as red, because red is set to its highest value (255) and the others are set to 0.</a:t>
            </a:r>
          </a:p>
          <a:p>
            <a:pPr>
              <a:lnSpc>
                <a:spcPct val="150000"/>
              </a:lnSpc>
            </a:pPr>
            <a:r>
              <a:rPr lang="en-US" dirty="0"/>
              <a:t>To display black, use </a:t>
            </a:r>
            <a:r>
              <a:rPr lang="en-US" dirty="0" err="1"/>
              <a:t>rgb</a:t>
            </a:r>
            <a:r>
              <a:rPr lang="en-US" dirty="0"/>
              <a:t>(0, 0, 0).</a:t>
            </a:r>
          </a:p>
          <a:p>
            <a:pPr>
              <a:lnSpc>
                <a:spcPct val="150000"/>
              </a:lnSpc>
            </a:pPr>
            <a:r>
              <a:rPr lang="en-US" dirty="0"/>
              <a:t>To display white, use </a:t>
            </a:r>
            <a:r>
              <a:rPr lang="en-US" dirty="0" err="1"/>
              <a:t>rgb</a:t>
            </a:r>
            <a:r>
              <a:rPr lang="en-US" dirty="0"/>
              <a:t>(255, 255, 255). </a:t>
            </a:r>
          </a:p>
          <a:p>
            <a:pPr>
              <a:lnSpc>
                <a:spcPct val="150000"/>
              </a:lnSpc>
            </a:pPr>
            <a:endParaRPr lang="en-US" dirty="0">
              <a:solidFill>
                <a:schemeClr val="tx1"/>
              </a:solidFill>
            </a:endParaRPr>
          </a:p>
        </p:txBody>
      </p:sp>
    </p:spTree>
    <p:extLst>
      <p:ext uri="{BB962C8B-B14F-4D97-AF65-F5344CB8AC3E}">
        <p14:creationId xmlns:p14="http://schemas.microsoft.com/office/powerpoint/2010/main" val="2013840476"/>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D36030-7C7F-EECD-D03C-ACDEBF280F54}"/>
              </a:ext>
            </a:extLst>
          </p:cNvPr>
          <p:cNvSpPr txBox="1"/>
          <p:nvPr/>
        </p:nvSpPr>
        <p:spPr>
          <a:xfrm>
            <a:off x="600074" y="1200567"/>
            <a:ext cx="10715625" cy="3693319"/>
          </a:xfrm>
          <a:prstGeom prst="rect">
            <a:avLst/>
          </a:prstGeom>
          <a:noFill/>
        </p:spPr>
        <p:txBody>
          <a:bodyPr wrap="square">
            <a:spAutoFit/>
          </a:bodyPr>
          <a:lstStyle/>
          <a:p>
            <a:r>
              <a:rPr lang="en-US" dirty="0">
                <a:latin typeface="Proxima Nova"/>
                <a:ea typeface="Cambria" panose="02040503050406030204" pitchFamily="18" charset="0"/>
              </a:rPr>
              <a:t>&lt;!DOCTYPE html&gt;</a:t>
            </a:r>
          </a:p>
          <a:p>
            <a:r>
              <a:rPr lang="en-US" dirty="0">
                <a:latin typeface="Proxima Nova"/>
                <a:ea typeface="Cambria" panose="02040503050406030204" pitchFamily="18" charset="0"/>
              </a:rPr>
              <a:t>&lt;html&gt;</a:t>
            </a:r>
          </a:p>
          <a:p>
            <a:r>
              <a:rPr lang="en-US" dirty="0">
                <a:latin typeface="Proxima Nova"/>
                <a:ea typeface="Cambria" panose="02040503050406030204" pitchFamily="18" charset="0"/>
              </a:rPr>
              <a:t>	&lt;head&gt;</a:t>
            </a:r>
          </a:p>
          <a:p>
            <a:r>
              <a:rPr lang="en-US" dirty="0">
                <a:latin typeface="Proxima Nova"/>
                <a:ea typeface="Cambria" panose="02040503050406030204" pitchFamily="18" charset="0"/>
              </a:rPr>
              <a:t>		&lt;style&gt;</a:t>
            </a:r>
          </a:p>
          <a:p>
            <a:r>
              <a:rPr lang="en-US" dirty="0">
                <a:latin typeface="Proxima Nova"/>
                <a:ea typeface="Cambria" panose="02040503050406030204" pitchFamily="18" charset="0"/>
              </a:rPr>
              <a:t>			h1 {</a:t>
            </a:r>
          </a:p>
          <a:p>
            <a:r>
              <a:rPr lang="en-US" dirty="0">
                <a:latin typeface="Proxima Nova"/>
                <a:ea typeface="Cambria" panose="02040503050406030204" pitchFamily="18" charset="0"/>
              </a:rPr>
              <a:t>				  background-color: </a:t>
            </a:r>
            <a:r>
              <a:rPr lang="en-US" dirty="0" err="1">
                <a:latin typeface="Proxima Nova"/>
                <a:ea typeface="Cambria" panose="02040503050406030204" pitchFamily="18" charset="0"/>
              </a:rPr>
              <a:t>rgb</a:t>
            </a:r>
            <a:r>
              <a:rPr lang="en-US" dirty="0">
                <a:latin typeface="Proxima Nova"/>
                <a:ea typeface="Cambria" panose="02040503050406030204" pitchFamily="18" charset="0"/>
              </a:rPr>
              <a:t>(200,130,29);</a:t>
            </a:r>
          </a:p>
          <a:p>
            <a:r>
              <a:rPr lang="en-US" dirty="0">
                <a:latin typeface="Proxima Nova"/>
                <a:ea typeface="Cambria" panose="02040503050406030204" pitchFamily="18" charset="0"/>
              </a:rPr>
              <a:t>			}</a:t>
            </a:r>
          </a:p>
          <a:p>
            <a:r>
              <a:rPr lang="en-US" dirty="0">
                <a:latin typeface="Proxima Nova"/>
                <a:ea typeface="Cambria" panose="02040503050406030204" pitchFamily="18" charset="0"/>
              </a:rPr>
              <a:t>		&lt;/style&gt;</a:t>
            </a:r>
          </a:p>
          <a:p>
            <a:r>
              <a:rPr lang="en-US" dirty="0">
                <a:latin typeface="Proxima Nova"/>
                <a:ea typeface="Cambria" panose="02040503050406030204" pitchFamily="18" charset="0"/>
              </a:rPr>
              <a:t>	&lt;/head&gt;</a:t>
            </a:r>
          </a:p>
          <a:p>
            <a:r>
              <a:rPr lang="en-US" dirty="0">
                <a:latin typeface="Proxima Nova"/>
                <a:ea typeface="Cambria" panose="02040503050406030204" pitchFamily="18" charset="0"/>
              </a:rPr>
              <a:t>	&lt;body&gt;</a:t>
            </a:r>
          </a:p>
          <a:p>
            <a:r>
              <a:rPr lang="en-US" dirty="0">
                <a:latin typeface="Proxima Nova"/>
                <a:ea typeface="Cambria" panose="02040503050406030204" pitchFamily="18" charset="0"/>
              </a:rPr>
              <a:t>		&lt;h1&gt;CSS background-color example!&lt;/h1&gt;</a:t>
            </a:r>
          </a:p>
          <a:p>
            <a:r>
              <a:rPr lang="en-US" dirty="0">
                <a:latin typeface="Proxima Nova"/>
                <a:ea typeface="Cambria" panose="02040503050406030204" pitchFamily="18" charset="0"/>
              </a:rPr>
              <a:t>	&lt;/body&gt;</a:t>
            </a:r>
          </a:p>
          <a:p>
            <a:r>
              <a:rPr lang="en-US" dirty="0">
                <a:latin typeface="Proxima Nova"/>
                <a:ea typeface="Cambria" panose="02040503050406030204" pitchFamily="18" charset="0"/>
              </a:rPr>
              <a:t>&lt;/html&gt;</a:t>
            </a:r>
          </a:p>
        </p:txBody>
      </p:sp>
      <p:pic>
        <p:nvPicPr>
          <p:cNvPr id="8" name="Picture 7"/>
          <p:cNvPicPr>
            <a:picLocks noChangeAspect="1"/>
          </p:cNvPicPr>
          <p:nvPr/>
        </p:nvPicPr>
        <p:blipFill>
          <a:blip r:embed="rId2"/>
          <a:stretch>
            <a:fillRect/>
          </a:stretch>
        </p:blipFill>
        <p:spPr>
          <a:xfrm>
            <a:off x="600074" y="5238333"/>
            <a:ext cx="6581775" cy="838200"/>
          </a:xfrm>
          <a:prstGeom prst="rect">
            <a:avLst/>
          </a:prstGeom>
          <a:ln w="19050">
            <a:solidFill>
              <a:schemeClr val="tx1"/>
            </a:solidFill>
          </a:ln>
        </p:spPr>
      </p:pic>
      <p:sp>
        <p:nvSpPr>
          <p:cNvPr id="4" name="Title 1">
            <a:extLst>
              <a:ext uri="{FF2B5EF4-FFF2-40B4-BE49-F238E27FC236}">
                <a16:creationId xmlns:a16="http://schemas.microsoft.com/office/drawing/2014/main" id="{88801E3A-6E8E-FA68-33AC-937E3190EEB9}"/>
              </a:ext>
            </a:extLst>
          </p:cNvPr>
          <p:cNvSpPr txBox="1">
            <a:spLocks/>
          </p:cNvSpPr>
          <p:nvPr/>
        </p:nvSpPr>
        <p:spPr>
          <a:xfrm>
            <a:off x="152400" y="151606"/>
            <a:ext cx="10515600" cy="8104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endParaRPr lang="en-IN" sz="2400" dirty="0">
              <a:solidFill>
                <a:srgbClr val="00B0F0"/>
              </a:solidFill>
              <a:latin typeface="Proxima Nova" panose="020B0604020202020204"/>
            </a:endParaRPr>
          </a:p>
        </p:txBody>
      </p:sp>
    </p:spTree>
    <p:extLst>
      <p:ext uri="{BB962C8B-B14F-4D97-AF65-F5344CB8AC3E}">
        <p14:creationId xmlns:p14="http://schemas.microsoft.com/office/powerpoint/2010/main" val="24369534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3872C-CE91-1056-9652-54B2F1C3E910}"/>
              </a:ext>
            </a:extLst>
          </p:cNvPr>
          <p:cNvSpPr>
            <a:spLocks noGrp="1"/>
          </p:cNvSpPr>
          <p:nvPr>
            <p:ph type="title"/>
          </p:nvPr>
        </p:nvSpPr>
        <p:spPr/>
        <p:txBody>
          <a:bodyPr/>
          <a:lstStyle/>
          <a:p>
            <a:r>
              <a:rPr lang="en-US" dirty="0"/>
              <a:t>Hex</a:t>
            </a:r>
            <a:endParaRPr lang="en-IN" dirty="0"/>
          </a:p>
        </p:txBody>
      </p:sp>
      <p:sp>
        <p:nvSpPr>
          <p:cNvPr id="3" name="Content Placeholder 2">
            <a:extLst>
              <a:ext uri="{FF2B5EF4-FFF2-40B4-BE49-F238E27FC236}">
                <a16:creationId xmlns:a16="http://schemas.microsoft.com/office/drawing/2014/main" id="{0010623A-3C91-3D71-A723-C4E06AA95377}"/>
              </a:ext>
            </a:extLst>
          </p:cNvPr>
          <p:cNvSpPr>
            <a:spLocks noGrp="1"/>
          </p:cNvSpPr>
          <p:nvPr>
            <p:ph idx="1"/>
          </p:nvPr>
        </p:nvSpPr>
        <p:spPr>
          <a:xfrm>
            <a:off x="216031" y="1013218"/>
            <a:ext cx="11616180" cy="5604669"/>
          </a:xfrm>
        </p:spPr>
        <p:txBody>
          <a:bodyPr>
            <a:noAutofit/>
          </a:bodyPr>
          <a:lstStyle/>
          <a:p>
            <a:r>
              <a:rPr lang="en-US" b="1" dirty="0"/>
              <a:t>HEX Value</a:t>
            </a:r>
          </a:p>
          <a:p>
            <a:r>
              <a:rPr lang="en-US" dirty="0"/>
              <a:t>In HTML, a color can be specified using a hexadecimal value in the form</a:t>
            </a:r>
          </a:p>
          <a:p>
            <a:r>
              <a:rPr lang="en-US" b="1" dirty="0"/>
              <a:t>#rrggbb</a:t>
            </a:r>
          </a:p>
          <a:p>
            <a:r>
              <a:rPr lang="en-US" dirty="0"/>
              <a:t>Where </a:t>
            </a:r>
            <a:r>
              <a:rPr lang="en-US" dirty="0" err="1"/>
              <a:t>rr</a:t>
            </a:r>
            <a:r>
              <a:rPr lang="en-US" dirty="0"/>
              <a:t> (red), gg (green) and bb (blue) are hexadecimal values between 00 and ff (same as decimal 0-255).</a:t>
            </a:r>
          </a:p>
          <a:p>
            <a:r>
              <a:rPr lang="en-US" dirty="0"/>
              <a:t>#ff0000 is displayed as red, because red is set to its highest value (ff) and the others are set to the lowest value (00).</a:t>
            </a:r>
          </a:p>
          <a:p>
            <a:pPr marL="0" indent="0">
              <a:lnSpc>
                <a:spcPct val="100000"/>
              </a:lnSpc>
              <a:buNone/>
            </a:pPr>
            <a:r>
              <a:rPr lang="en-US" dirty="0"/>
              <a:t>	&lt;style&gt;</a:t>
            </a:r>
          </a:p>
          <a:p>
            <a:pPr marL="0" indent="0">
              <a:lnSpc>
                <a:spcPct val="100000"/>
              </a:lnSpc>
              <a:buNone/>
            </a:pPr>
            <a:r>
              <a:rPr lang="en-US" dirty="0"/>
              <a:t>			h1 {</a:t>
            </a:r>
          </a:p>
          <a:p>
            <a:pPr marL="0" indent="0">
              <a:lnSpc>
                <a:spcPct val="100000"/>
              </a:lnSpc>
              <a:buNone/>
            </a:pPr>
            <a:r>
              <a:rPr lang="en-US" dirty="0"/>
              <a:t>				  background-color: #29fd13;</a:t>
            </a:r>
          </a:p>
          <a:p>
            <a:pPr marL="0" indent="0">
              <a:lnSpc>
                <a:spcPct val="100000"/>
              </a:lnSpc>
              <a:buNone/>
            </a:pPr>
            <a:r>
              <a:rPr lang="en-US" dirty="0"/>
              <a:t>			}</a:t>
            </a:r>
          </a:p>
          <a:p>
            <a:pPr marL="0" indent="0">
              <a:lnSpc>
                <a:spcPct val="100000"/>
              </a:lnSpc>
              <a:buNone/>
            </a:pPr>
            <a:r>
              <a:rPr lang="en-US" dirty="0"/>
              <a:t>	&lt;/style&gt;</a:t>
            </a:r>
          </a:p>
          <a:p>
            <a:endParaRPr lang="en-US" dirty="0"/>
          </a:p>
          <a:p>
            <a:endParaRPr lang="en-US" dirty="0"/>
          </a:p>
          <a:p>
            <a:endParaRPr lang="en-IN" dirty="0"/>
          </a:p>
        </p:txBody>
      </p:sp>
      <p:pic>
        <p:nvPicPr>
          <p:cNvPr id="4" name="Picture 3">
            <a:extLst>
              <a:ext uri="{FF2B5EF4-FFF2-40B4-BE49-F238E27FC236}">
                <a16:creationId xmlns:a16="http://schemas.microsoft.com/office/drawing/2014/main" id="{DFD92FCE-65A2-495B-55DF-EF13D0DABF2A}"/>
              </a:ext>
            </a:extLst>
          </p:cNvPr>
          <p:cNvPicPr>
            <a:picLocks noChangeAspect="1"/>
          </p:cNvPicPr>
          <p:nvPr/>
        </p:nvPicPr>
        <p:blipFill>
          <a:blip r:embed="rId2"/>
          <a:stretch>
            <a:fillRect/>
          </a:stretch>
        </p:blipFill>
        <p:spPr>
          <a:xfrm>
            <a:off x="3856206" y="5674912"/>
            <a:ext cx="6496050" cy="942975"/>
          </a:xfrm>
          <a:prstGeom prst="rect">
            <a:avLst/>
          </a:prstGeom>
          <a:ln w="19050">
            <a:solidFill>
              <a:schemeClr val="tx1"/>
            </a:solidFill>
          </a:ln>
        </p:spPr>
      </p:pic>
    </p:spTree>
    <p:extLst>
      <p:ext uri="{BB962C8B-B14F-4D97-AF65-F5344CB8AC3E}">
        <p14:creationId xmlns:p14="http://schemas.microsoft.com/office/powerpoint/2010/main" val="32357753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BC77E-96E4-682F-D0D3-79C8307F73A8}"/>
              </a:ext>
            </a:extLst>
          </p:cNvPr>
          <p:cNvSpPr>
            <a:spLocks noGrp="1"/>
          </p:cNvSpPr>
          <p:nvPr>
            <p:ph type="title"/>
          </p:nvPr>
        </p:nvSpPr>
        <p:spPr/>
        <p:txBody>
          <a:bodyPr/>
          <a:lstStyle/>
          <a:p>
            <a:r>
              <a:rPr lang="en-US" dirty="0"/>
              <a:t>HSL</a:t>
            </a:r>
            <a:endParaRPr lang="en-IN" dirty="0"/>
          </a:p>
        </p:txBody>
      </p:sp>
      <p:sp>
        <p:nvSpPr>
          <p:cNvPr id="3" name="Content Placeholder 2">
            <a:extLst>
              <a:ext uri="{FF2B5EF4-FFF2-40B4-BE49-F238E27FC236}">
                <a16:creationId xmlns:a16="http://schemas.microsoft.com/office/drawing/2014/main" id="{E0A56C36-B855-7EC6-E521-8C0BB4F714EF}"/>
              </a:ext>
            </a:extLst>
          </p:cNvPr>
          <p:cNvSpPr>
            <a:spLocks noGrp="1"/>
          </p:cNvSpPr>
          <p:nvPr>
            <p:ph idx="1"/>
          </p:nvPr>
        </p:nvSpPr>
        <p:spPr>
          <a:xfrm>
            <a:off x="448951" y="1119981"/>
            <a:ext cx="11294097" cy="4351338"/>
          </a:xfrm>
        </p:spPr>
        <p:txBody>
          <a:bodyPr>
            <a:noAutofit/>
          </a:bodyPr>
          <a:lstStyle/>
          <a:p>
            <a:r>
              <a:rPr lang="en-IN" b="1" dirty="0"/>
              <a:t>HSL Value</a:t>
            </a:r>
          </a:p>
          <a:p>
            <a:r>
              <a:rPr lang="en-US" dirty="0"/>
              <a:t>In HTML, a color can be specified using hue, saturation, and lightness (HSL) in the form:</a:t>
            </a:r>
          </a:p>
          <a:p>
            <a:r>
              <a:rPr lang="en-US" b="1" dirty="0" err="1"/>
              <a:t>hsl</a:t>
            </a:r>
            <a:r>
              <a:rPr lang="en-US" b="1" dirty="0"/>
              <a:t>(</a:t>
            </a:r>
            <a:r>
              <a:rPr lang="en-US" b="1" i="1" dirty="0"/>
              <a:t>hue</a:t>
            </a:r>
            <a:r>
              <a:rPr lang="en-US" b="1" dirty="0"/>
              <a:t>, </a:t>
            </a:r>
            <a:r>
              <a:rPr lang="en-US" b="1" i="1" dirty="0"/>
              <a:t>saturation</a:t>
            </a:r>
            <a:r>
              <a:rPr lang="en-US" b="1" dirty="0"/>
              <a:t>, </a:t>
            </a:r>
            <a:r>
              <a:rPr lang="en-US" b="1" i="1" dirty="0"/>
              <a:t>lightness</a:t>
            </a:r>
            <a:r>
              <a:rPr lang="en-US" b="1" dirty="0"/>
              <a:t>)</a:t>
            </a:r>
          </a:p>
          <a:p>
            <a:r>
              <a:rPr lang="en-US" dirty="0"/>
              <a:t>Hue is a degree on the color wheel from 0 to 360. 0 is red, 120 is green, and 240 is blue.</a:t>
            </a:r>
          </a:p>
          <a:p>
            <a:r>
              <a:rPr lang="en-US" dirty="0"/>
              <a:t>Saturation can be described as the intensity of a color </a:t>
            </a:r>
            <a:r>
              <a:rPr lang="en-US" dirty="0" err="1"/>
              <a:t>andSaturation</a:t>
            </a:r>
            <a:r>
              <a:rPr lang="en-US" dirty="0"/>
              <a:t>  is a percentage value, 0% means a shade of gray, and 100% is the full color.</a:t>
            </a:r>
          </a:p>
          <a:p>
            <a:r>
              <a:rPr lang="en-US" dirty="0"/>
              <a:t>Lightness is also a percentage, 0% is black, 50% is neither light or dark, 100% is white</a:t>
            </a:r>
          </a:p>
          <a:p>
            <a:pPr marL="0" indent="0">
              <a:lnSpc>
                <a:spcPct val="100000"/>
              </a:lnSpc>
              <a:buNone/>
            </a:pPr>
            <a:r>
              <a:rPr lang="en-US" dirty="0"/>
              <a:t>&lt;style&gt;</a:t>
            </a:r>
          </a:p>
          <a:p>
            <a:pPr marL="0" indent="0">
              <a:lnSpc>
                <a:spcPct val="100000"/>
              </a:lnSpc>
              <a:buNone/>
            </a:pPr>
            <a:r>
              <a:rPr lang="en-US" dirty="0"/>
              <a:t>	h1 {</a:t>
            </a:r>
          </a:p>
          <a:p>
            <a:pPr marL="0" indent="0">
              <a:lnSpc>
                <a:spcPct val="100000"/>
              </a:lnSpc>
              <a:buNone/>
            </a:pPr>
            <a:r>
              <a:rPr lang="en-US" dirty="0"/>
              <a:t>	  background-color: </a:t>
            </a:r>
            <a:r>
              <a:rPr lang="en-US" dirty="0" err="1"/>
              <a:t>hsl</a:t>
            </a:r>
            <a:r>
              <a:rPr lang="en-US" dirty="0"/>
              <a:t>(17, 80%, 90%);</a:t>
            </a:r>
          </a:p>
          <a:p>
            <a:pPr marL="0" indent="0">
              <a:lnSpc>
                <a:spcPct val="100000"/>
              </a:lnSpc>
              <a:buNone/>
            </a:pPr>
            <a:r>
              <a:rPr lang="en-US" dirty="0"/>
              <a:t>	}</a:t>
            </a:r>
          </a:p>
          <a:p>
            <a:pPr marL="0" indent="0">
              <a:lnSpc>
                <a:spcPct val="100000"/>
              </a:lnSpc>
              <a:buNone/>
            </a:pPr>
            <a:r>
              <a:rPr lang="en-US" dirty="0"/>
              <a:t>&lt;/style&gt;</a:t>
            </a:r>
          </a:p>
          <a:p>
            <a:endParaRPr lang="en-US" dirty="0"/>
          </a:p>
          <a:p>
            <a:endParaRPr lang="en-IN" dirty="0"/>
          </a:p>
        </p:txBody>
      </p:sp>
      <p:pic>
        <p:nvPicPr>
          <p:cNvPr id="4" name="Picture 3">
            <a:extLst>
              <a:ext uri="{FF2B5EF4-FFF2-40B4-BE49-F238E27FC236}">
                <a16:creationId xmlns:a16="http://schemas.microsoft.com/office/drawing/2014/main" id="{9DAB9514-BBE1-DD3A-56DA-C2294E09D2F9}"/>
              </a:ext>
            </a:extLst>
          </p:cNvPr>
          <p:cNvPicPr>
            <a:picLocks noChangeAspect="1"/>
          </p:cNvPicPr>
          <p:nvPr/>
        </p:nvPicPr>
        <p:blipFill>
          <a:blip r:embed="rId2"/>
          <a:stretch>
            <a:fillRect/>
          </a:stretch>
        </p:blipFill>
        <p:spPr>
          <a:xfrm>
            <a:off x="5905500" y="5149457"/>
            <a:ext cx="5562600" cy="857250"/>
          </a:xfrm>
          <a:prstGeom prst="rect">
            <a:avLst/>
          </a:prstGeom>
          <a:ln w="19050">
            <a:solidFill>
              <a:schemeClr val="tx1"/>
            </a:solidFill>
          </a:ln>
        </p:spPr>
      </p:pic>
    </p:spTree>
    <p:extLst>
      <p:ext uri="{BB962C8B-B14F-4D97-AF65-F5344CB8AC3E}">
        <p14:creationId xmlns:p14="http://schemas.microsoft.com/office/powerpoint/2010/main" val="90208187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6F212-0AE1-C7BE-823A-6427C0925F16}"/>
              </a:ext>
            </a:extLst>
          </p:cNvPr>
          <p:cNvSpPr>
            <a:spLocks noGrp="1"/>
          </p:cNvSpPr>
          <p:nvPr>
            <p:ph type="title"/>
          </p:nvPr>
        </p:nvSpPr>
        <p:spPr/>
        <p:txBody>
          <a:bodyPr/>
          <a:lstStyle/>
          <a:p>
            <a:r>
              <a:rPr lang="en-US" dirty="0"/>
              <a:t>Opacity / Transparency</a:t>
            </a:r>
            <a:br>
              <a:rPr lang="en-US" dirty="0"/>
            </a:br>
            <a:endParaRPr lang="en-IN" dirty="0"/>
          </a:p>
        </p:txBody>
      </p:sp>
      <p:sp>
        <p:nvSpPr>
          <p:cNvPr id="3" name="Content Placeholder 2">
            <a:extLst>
              <a:ext uri="{FF2B5EF4-FFF2-40B4-BE49-F238E27FC236}">
                <a16:creationId xmlns:a16="http://schemas.microsoft.com/office/drawing/2014/main" id="{8627EC9F-E0E2-297A-8216-C98D00E9DA2A}"/>
              </a:ext>
            </a:extLst>
          </p:cNvPr>
          <p:cNvSpPr>
            <a:spLocks noGrp="1"/>
          </p:cNvSpPr>
          <p:nvPr>
            <p:ph idx="1"/>
          </p:nvPr>
        </p:nvSpPr>
        <p:spPr/>
        <p:txBody>
          <a:bodyPr/>
          <a:lstStyle/>
          <a:p>
            <a:r>
              <a:rPr lang="en-US" dirty="0"/>
              <a:t>The opacity property specifies the opacity/transparency of an element. It can take a value from 0.0 - 1.0. The lower value, the more transparent</a:t>
            </a:r>
          </a:p>
          <a:p>
            <a:endParaRPr lang="en-IN" dirty="0"/>
          </a:p>
        </p:txBody>
      </p:sp>
      <p:pic>
        <p:nvPicPr>
          <p:cNvPr id="4" name="Picture 3">
            <a:extLst>
              <a:ext uri="{FF2B5EF4-FFF2-40B4-BE49-F238E27FC236}">
                <a16:creationId xmlns:a16="http://schemas.microsoft.com/office/drawing/2014/main" id="{E1FFFC09-9404-2FDC-4000-CF2C8607FA6F}"/>
              </a:ext>
            </a:extLst>
          </p:cNvPr>
          <p:cNvPicPr>
            <a:picLocks noChangeAspect="1"/>
          </p:cNvPicPr>
          <p:nvPr/>
        </p:nvPicPr>
        <p:blipFill>
          <a:blip r:embed="rId2"/>
          <a:stretch>
            <a:fillRect/>
          </a:stretch>
        </p:blipFill>
        <p:spPr>
          <a:xfrm>
            <a:off x="857858" y="2463243"/>
            <a:ext cx="7333642" cy="3065226"/>
          </a:xfrm>
          <a:prstGeom prst="rect">
            <a:avLst/>
          </a:prstGeom>
          <a:ln w="19050">
            <a:solidFill>
              <a:schemeClr val="tx1"/>
            </a:solidFill>
          </a:ln>
        </p:spPr>
      </p:pic>
    </p:spTree>
    <p:extLst>
      <p:ext uri="{BB962C8B-B14F-4D97-AF65-F5344CB8AC3E}">
        <p14:creationId xmlns:p14="http://schemas.microsoft.com/office/powerpoint/2010/main" val="1666482691"/>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5C6E1-7432-A70A-F971-147C8FE71B8F}"/>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6156B000-E1B7-CB1E-E7C6-15AC16A24C9C}"/>
              </a:ext>
            </a:extLst>
          </p:cNvPr>
          <p:cNvSpPr>
            <a:spLocks noGrp="1"/>
          </p:cNvSpPr>
          <p:nvPr>
            <p:ph idx="1"/>
          </p:nvPr>
        </p:nvSpPr>
        <p:spPr/>
        <p:txBody>
          <a:bodyPr>
            <a:noAutofit/>
          </a:bodyPr>
          <a:lstStyle/>
          <a:p>
            <a:pPr marL="0" indent="0">
              <a:lnSpc>
                <a:spcPct val="100000"/>
              </a:lnSpc>
              <a:buNone/>
            </a:pPr>
            <a:r>
              <a:rPr lang="en-US" dirty="0">
                <a:ea typeface="Cambria" panose="02040503050406030204" pitchFamily="18" charset="0"/>
              </a:rPr>
              <a:t>&lt;!DOCTYPE html&gt;</a:t>
            </a:r>
          </a:p>
          <a:p>
            <a:pPr marL="0" indent="0">
              <a:lnSpc>
                <a:spcPct val="100000"/>
              </a:lnSpc>
              <a:spcBef>
                <a:spcPts val="0"/>
              </a:spcBef>
              <a:buNone/>
            </a:pPr>
            <a:r>
              <a:rPr lang="en-US" dirty="0">
                <a:ea typeface="Cambria" panose="02040503050406030204" pitchFamily="18" charset="0"/>
              </a:rPr>
              <a:t>&lt;html&gt;</a:t>
            </a:r>
          </a:p>
          <a:p>
            <a:pPr marL="0" indent="0">
              <a:lnSpc>
                <a:spcPct val="100000"/>
              </a:lnSpc>
              <a:spcBef>
                <a:spcPts val="0"/>
              </a:spcBef>
              <a:buNone/>
            </a:pPr>
            <a:r>
              <a:rPr lang="en-US" dirty="0">
                <a:ea typeface="Cambria" panose="02040503050406030204" pitchFamily="18" charset="0"/>
              </a:rPr>
              <a:t>	&lt;head&gt;</a:t>
            </a:r>
          </a:p>
          <a:p>
            <a:pPr marL="0" indent="0">
              <a:lnSpc>
                <a:spcPct val="100000"/>
              </a:lnSpc>
              <a:spcBef>
                <a:spcPts val="0"/>
              </a:spcBef>
              <a:buNone/>
            </a:pPr>
            <a:r>
              <a:rPr lang="en-US" dirty="0">
                <a:ea typeface="Cambria" panose="02040503050406030204" pitchFamily="18" charset="0"/>
              </a:rPr>
              <a:t>		&lt;style&gt;</a:t>
            </a:r>
          </a:p>
          <a:p>
            <a:pPr marL="0" indent="0">
              <a:lnSpc>
                <a:spcPct val="100000"/>
              </a:lnSpc>
              <a:spcBef>
                <a:spcPts val="0"/>
              </a:spcBef>
              <a:buNone/>
            </a:pPr>
            <a:r>
              <a:rPr lang="en-US" dirty="0">
                <a:ea typeface="Cambria" panose="02040503050406030204" pitchFamily="18" charset="0"/>
              </a:rPr>
              <a:t>			div {</a:t>
            </a:r>
          </a:p>
          <a:p>
            <a:pPr marL="0" indent="0">
              <a:lnSpc>
                <a:spcPct val="100000"/>
              </a:lnSpc>
              <a:spcBef>
                <a:spcPts val="0"/>
              </a:spcBef>
              <a:buNone/>
            </a:pPr>
            <a:r>
              <a:rPr lang="en-US" dirty="0">
                <a:ea typeface="Cambria" panose="02040503050406030204" pitchFamily="18" charset="0"/>
              </a:rPr>
              <a:t> 				 background-color: green;</a:t>
            </a:r>
          </a:p>
          <a:p>
            <a:pPr marL="0" indent="0">
              <a:lnSpc>
                <a:spcPct val="100000"/>
              </a:lnSpc>
              <a:spcBef>
                <a:spcPts val="0"/>
              </a:spcBef>
              <a:buNone/>
            </a:pPr>
            <a:r>
              <a:rPr lang="en-US" dirty="0">
                <a:ea typeface="Cambria" panose="02040503050406030204" pitchFamily="18" charset="0"/>
              </a:rPr>
              <a:t>			}</a:t>
            </a:r>
          </a:p>
          <a:p>
            <a:pPr marL="0" indent="0">
              <a:lnSpc>
                <a:spcPct val="100000"/>
              </a:lnSpc>
              <a:spcBef>
                <a:spcPts val="0"/>
              </a:spcBef>
              <a:buNone/>
            </a:pPr>
            <a:r>
              <a:rPr lang="en-US" dirty="0">
                <a:ea typeface="Cambria" panose="02040503050406030204" pitchFamily="18" charset="0"/>
              </a:rPr>
              <a:t>			</a:t>
            </a:r>
            <a:r>
              <a:rPr lang="en-US" dirty="0" err="1">
                <a:ea typeface="Cambria" panose="02040503050406030204" pitchFamily="18" charset="0"/>
              </a:rPr>
              <a:t>div.first</a:t>
            </a:r>
            <a:r>
              <a:rPr lang="en-US" dirty="0">
                <a:ea typeface="Cambria" panose="02040503050406030204" pitchFamily="18" charset="0"/>
              </a:rPr>
              <a:t> {</a:t>
            </a:r>
          </a:p>
          <a:p>
            <a:pPr marL="0" indent="0">
              <a:lnSpc>
                <a:spcPct val="100000"/>
              </a:lnSpc>
              <a:spcBef>
                <a:spcPts val="0"/>
              </a:spcBef>
              <a:buNone/>
            </a:pPr>
            <a:r>
              <a:rPr lang="en-US" dirty="0">
                <a:ea typeface="Cambria" panose="02040503050406030204" pitchFamily="18" charset="0"/>
              </a:rPr>
              <a:t> 				 opacity: 0.1;</a:t>
            </a:r>
          </a:p>
          <a:p>
            <a:pPr marL="0" indent="0">
              <a:lnSpc>
                <a:spcPct val="100000"/>
              </a:lnSpc>
              <a:spcBef>
                <a:spcPts val="0"/>
              </a:spcBef>
              <a:buNone/>
            </a:pPr>
            <a:r>
              <a:rPr lang="en-US" dirty="0">
                <a:ea typeface="Cambria" panose="02040503050406030204" pitchFamily="18" charset="0"/>
              </a:rPr>
              <a:t>			}</a:t>
            </a:r>
          </a:p>
          <a:p>
            <a:pPr marL="0" indent="0">
              <a:lnSpc>
                <a:spcPct val="100000"/>
              </a:lnSpc>
              <a:spcBef>
                <a:spcPts val="0"/>
              </a:spcBef>
              <a:buNone/>
            </a:pPr>
            <a:r>
              <a:rPr lang="en-US" dirty="0">
                <a:ea typeface="Cambria" panose="02040503050406030204" pitchFamily="18" charset="0"/>
              </a:rPr>
              <a:t>			</a:t>
            </a:r>
            <a:r>
              <a:rPr lang="en-US" dirty="0" err="1">
                <a:ea typeface="Cambria" panose="02040503050406030204" pitchFamily="18" charset="0"/>
              </a:rPr>
              <a:t>div.second</a:t>
            </a:r>
            <a:r>
              <a:rPr lang="en-US" dirty="0">
                <a:ea typeface="Cambria" panose="02040503050406030204" pitchFamily="18" charset="0"/>
              </a:rPr>
              <a:t> {</a:t>
            </a:r>
          </a:p>
          <a:p>
            <a:pPr marL="0" indent="0">
              <a:lnSpc>
                <a:spcPct val="100000"/>
              </a:lnSpc>
              <a:spcBef>
                <a:spcPts val="0"/>
              </a:spcBef>
              <a:buNone/>
            </a:pPr>
            <a:r>
              <a:rPr lang="en-US" dirty="0">
                <a:ea typeface="Cambria" panose="02040503050406030204" pitchFamily="18" charset="0"/>
              </a:rPr>
              <a:t>  				opacity: 0.3;</a:t>
            </a:r>
          </a:p>
          <a:p>
            <a:pPr marL="0" indent="0">
              <a:lnSpc>
                <a:spcPct val="100000"/>
              </a:lnSpc>
              <a:spcBef>
                <a:spcPts val="0"/>
              </a:spcBef>
              <a:buNone/>
            </a:pPr>
            <a:r>
              <a:rPr lang="en-US" dirty="0">
                <a:ea typeface="Cambria" panose="02040503050406030204" pitchFamily="18" charset="0"/>
              </a:rPr>
              <a:t>			}</a:t>
            </a:r>
          </a:p>
          <a:p>
            <a:pPr marL="0" indent="0">
              <a:lnSpc>
                <a:spcPct val="100000"/>
              </a:lnSpc>
              <a:spcBef>
                <a:spcPts val="0"/>
              </a:spcBef>
              <a:buNone/>
            </a:pPr>
            <a:r>
              <a:rPr lang="en-US" dirty="0">
                <a:ea typeface="Cambria" panose="02040503050406030204" pitchFamily="18" charset="0"/>
              </a:rPr>
              <a:t>			</a:t>
            </a:r>
            <a:r>
              <a:rPr lang="en-US" dirty="0" err="1">
                <a:ea typeface="Cambria" panose="02040503050406030204" pitchFamily="18" charset="0"/>
              </a:rPr>
              <a:t>div.third</a:t>
            </a:r>
            <a:r>
              <a:rPr lang="en-US" dirty="0">
                <a:ea typeface="Cambria" panose="02040503050406030204" pitchFamily="18" charset="0"/>
              </a:rPr>
              <a:t> {</a:t>
            </a:r>
          </a:p>
          <a:p>
            <a:pPr marL="0" indent="0">
              <a:lnSpc>
                <a:spcPct val="100000"/>
              </a:lnSpc>
              <a:spcBef>
                <a:spcPts val="0"/>
              </a:spcBef>
              <a:buNone/>
            </a:pPr>
            <a:r>
              <a:rPr lang="en-US" dirty="0">
                <a:ea typeface="Cambria" panose="02040503050406030204" pitchFamily="18" charset="0"/>
              </a:rPr>
              <a:t> 				 opacity: 0.6;</a:t>
            </a:r>
          </a:p>
          <a:p>
            <a:pPr marL="0" indent="0">
              <a:lnSpc>
                <a:spcPct val="100000"/>
              </a:lnSpc>
              <a:spcBef>
                <a:spcPts val="0"/>
              </a:spcBef>
              <a:buNone/>
            </a:pPr>
            <a:r>
              <a:rPr lang="en-US" dirty="0">
                <a:ea typeface="Cambria" panose="02040503050406030204" pitchFamily="18" charset="0"/>
              </a:rPr>
              <a:t>			}</a:t>
            </a:r>
          </a:p>
          <a:p>
            <a:pPr marL="0" indent="0">
              <a:lnSpc>
                <a:spcPct val="100000"/>
              </a:lnSpc>
              <a:spcBef>
                <a:spcPts val="0"/>
              </a:spcBef>
              <a:buNone/>
            </a:pPr>
            <a:r>
              <a:rPr lang="en-US" dirty="0">
                <a:ea typeface="Cambria" panose="02040503050406030204" pitchFamily="18" charset="0"/>
              </a:rPr>
              <a:t>		&lt;/style&gt;</a:t>
            </a:r>
          </a:p>
          <a:p>
            <a:pPr marL="0" indent="0">
              <a:lnSpc>
                <a:spcPct val="100000"/>
              </a:lnSpc>
              <a:spcBef>
                <a:spcPts val="0"/>
              </a:spcBef>
              <a:buNone/>
            </a:pPr>
            <a:r>
              <a:rPr lang="en-US" dirty="0">
                <a:ea typeface="Cambria" panose="02040503050406030204" pitchFamily="18" charset="0"/>
              </a:rPr>
              <a:t>	&lt;/head&gt;</a:t>
            </a:r>
          </a:p>
          <a:p>
            <a:pPr marL="0" indent="0">
              <a:lnSpc>
                <a:spcPct val="100000"/>
              </a:lnSpc>
              <a:buNone/>
            </a:pPr>
            <a:endParaRPr lang="en-IN" dirty="0"/>
          </a:p>
        </p:txBody>
      </p:sp>
      <p:sp>
        <p:nvSpPr>
          <p:cNvPr id="5" name="TextBox 4">
            <a:extLst>
              <a:ext uri="{FF2B5EF4-FFF2-40B4-BE49-F238E27FC236}">
                <a16:creationId xmlns:a16="http://schemas.microsoft.com/office/drawing/2014/main" id="{E83734D2-11A4-7040-5103-92C0620A9ED3}"/>
              </a:ext>
            </a:extLst>
          </p:cNvPr>
          <p:cNvSpPr txBox="1"/>
          <p:nvPr/>
        </p:nvSpPr>
        <p:spPr>
          <a:xfrm>
            <a:off x="6524624" y="1212275"/>
            <a:ext cx="6600825" cy="5078313"/>
          </a:xfrm>
          <a:prstGeom prst="rect">
            <a:avLst/>
          </a:prstGeom>
          <a:noFill/>
        </p:spPr>
        <p:txBody>
          <a:bodyPr wrap="square">
            <a:spAutoFit/>
          </a:bodyPr>
          <a:lstStyle/>
          <a:p>
            <a:r>
              <a:rPr lang="en-US" dirty="0">
                <a:latin typeface="Proxima Nova" panose="020B0604020202020204"/>
                <a:ea typeface="Cambria" panose="02040503050406030204" pitchFamily="18" charset="0"/>
              </a:rPr>
              <a:t>&lt;body&gt;</a:t>
            </a:r>
          </a:p>
          <a:p>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&lt;h1&gt;Transparent Boxes&lt;/h1&gt;</a:t>
            </a:r>
          </a:p>
          <a:p>
            <a:pPr lvl="2"/>
            <a:r>
              <a:rPr lang="en-US" dirty="0">
                <a:latin typeface="Proxima Nova" panose="020B0604020202020204"/>
                <a:ea typeface="Cambria" panose="02040503050406030204" pitchFamily="18" charset="0"/>
              </a:rPr>
              <a:t>&lt;div class="first"&gt;</a:t>
            </a:r>
          </a:p>
          <a:p>
            <a:pPr lvl="2"/>
            <a:r>
              <a:rPr lang="en-US" dirty="0">
                <a:latin typeface="Proxima Nova" panose="020B0604020202020204"/>
                <a:ea typeface="Cambria" panose="02040503050406030204" pitchFamily="18" charset="0"/>
              </a:rPr>
              <a:t>  &lt;h1&gt;opacity 0.1&lt;/h1&gt;</a:t>
            </a:r>
          </a:p>
          <a:p>
            <a:pPr lvl="2"/>
            <a:r>
              <a:rPr lang="en-US" dirty="0">
                <a:latin typeface="Proxima Nova" panose="020B0604020202020204"/>
                <a:ea typeface="Cambria" panose="02040503050406030204" pitchFamily="18" charset="0"/>
              </a:rPr>
              <a:t>&lt;/div&gt;</a:t>
            </a:r>
          </a:p>
          <a:p>
            <a:pPr lvl="2"/>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&lt;div class="second"&gt;</a:t>
            </a:r>
          </a:p>
          <a:p>
            <a:pPr lvl="2"/>
            <a:r>
              <a:rPr lang="en-US" dirty="0">
                <a:latin typeface="Proxima Nova" panose="020B0604020202020204"/>
                <a:ea typeface="Cambria" panose="02040503050406030204" pitchFamily="18" charset="0"/>
              </a:rPr>
              <a:t>  &lt;h1&gt;opacity 0.3&lt;/h1&gt;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&lt;div class="third"&gt;</a:t>
            </a:r>
          </a:p>
          <a:p>
            <a:pPr lvl="2"/>
            <a:r>
              <a:rPr lang="en-US" dirty="0">
                <a:latin typeface="Proxima Nova" panose="020B0604020202020204"/>
                <a:ea typeface="Cambria" panose="02040503050406030204" pitchFamily="18" charset="0"/>
              </a:rPr>
              <a:t>  &lt;h1&gt;opacity 0.6&lt;/h1&gt;</a:t>
            </a:r>
          </a:p>
          <a:p>
            <a:pPr lvl="2"/>
            <a:r>
              <a:rPr lang="en-US" dirty="0">
                <a:latin typeface="Proxima Nova" panose="020B0604020202020204"/>
                <a:ea typeface="Cambria" panose="02040503050406030204" pitchFamily="18" charset="0"/>
              </a:rPr>
              <a:t>&lt;/div&gt;</a:t>
            </a:r>
          </a:p>
          <a:p>
            <a:pPr lvl="1"/>
            <a:r>
              <a:rPr lang="en-US" dirty="0">
                <a:latin typeface="Proxima Nova" panose="020B0604020202020204"/>
                <a:ea typeface="Cambria" panose="02040503050406030204" pitchFamily="18" charset="0"/>
              </a:rPr>
              <a:t>	&lt;div&gt;</a:t>
            </a:r>
          </a:p>
          <a:p>
            <a:pPr lvl="1"/>
            <a:r>
              <a:rPr lang="en-US" dirty="0">
                <a:latin typeface="Proxima Nova" panose="020B0604020202020204"/>
                <a:ea typeface="Cambria" panose="02040503050406030204" pitchFamily="18" charset="0"/>
              </a:rPr>
              <a:t>  		&lt;h1&gt;opacity 1 (default)&lt;/h1&gt;</a:t>
            </a:r>
          </a:p>
          <a:p>
            <a:pPr lvl="1"/>
            <a:r>
              <a:rPr lang="en-US" dirty="0">
                <a:latin typeface="Proxima Nova" panose="020B0604020202020204"/>
                <a:ea typeface="Cambria" panose="02040503050406030204" pitchFamily="18" charset="0"/>
              </a:rPr>
              <a:t>	&lt;/div&gt;</a:t>
            </a: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spTree>
    <p:extLst>
      <p:ext uri="{BB962C8B-B14F-4D97-AF65-F5344CB8AC3E}">
        <p14:creationId xmlns:p14="http://schemas.microsoft.com/office/powerpoint/2010/main" val="143041371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F72C1-32D9-36C2-5B96-98CC057FE0DF}"/>
              </a:ext>
            </a:extLst>
          </p:cNvPr>
          <p:cNvSpPr>
            <a:spLocks noGrp="1"/>
          </p:cNvSpPr>
          <p:nvPr>
            <p:ph type="title"/>
          </p:nvPr>
        </p:nvSpPr>
        <p:spPr/>
        <p:txBody>
          <a:bodyPr/>
          <a:lstStyle/>
          <a:p>
            <a:r>
              <a:rPr lang="en-US" dirty="0"/>
              <a:t>Text Manipulation</a:t>
            </a:r>
            <a:endParaRPr lang="en-IN" dirty="0"/>
          </a:p>
        </p:txBody>
      </p:sp>
      <p:sp>
        <p:nvSpPr>
          <p:cNvPr id="3" name="Content Placeholder 2">
            <a:extLst>
              <a:ext uri="{FF2B5EF4-FFF2-40B4-BE49-F238E27FC236}">
                <a16:creationId xmlns:a16="http://schemas.microsoft.com/office/drawing/2014/main" id="{33F7464B-C861-A85B-47FC-C45452903A82}"/>
              </a:ext>
            </a:extLst>
          </p:cNvPr>
          <p:cNvSpPr>
            <a:spLocks noGrp="1"/>
          </p:cNvSpPr>
          <p:nvPr>
            <p:ph idx="1"/>
          </p:nvPr>
        </p:nvSpPr>
        <p:spPr>
          <a:xfrm>
            <a:off x="423420" y="1253331"/>
            <a:ext cx="11294097" cy="5468144"/>
          </a:xfrm>
        </p:spPr>
        <p:txBody>
          <a:bodyPr>
            <a:noAutofit/>
          </a:bodyPr>
          <a:lstStyle/>
          <a:p>
            <a:r>
              <a:rPr lang="en-IN" b="1" dirty="0"/>
              <a:t>Text Alignment:</a:t>
            </a:r>
          </a:p>
          <a:p>
            <a:r>
              <a:rPr lang="en-IN" dirty="0"/>
              <a:t>The text-alignment </a:t>
            </a:r>
            <a:r>
              <a:rPr lang="en-US" dirty="0"/>
              <a:t>property is used to set the horizontal alignment of a text.</a:t>
            </a:r>
          </a:p>
          <a:p>
            <a:r>
              <a:rPr lang="en-US" dirty="0"/>
              <a:t>A text can be left or right-aligned, centered, or justified.</a:t>
            </a:r>
          </a:p>
          <a:p>
            <a:pPr marL="182880" lvl="0" indent="-182880" algn="l">
              <a:lnSpc>
                <a:spcPct val="90000"/>
              </a:lnSpc>
              <a:spcBef>
                <a:spcPts val="1200"/>
              </a:spcBef>
              <a:buClr>
                <a:srgbClr val="40BAD2"/>
              </a:buClr>
              <a:buFont typeface="Wingdings 2" pitchFamily="18" charset="2"/>
              <a:buChar char=""/>
            </a:pPr>
            <a:r>
              <a:rPr lang="en-IN" dirty="0"/>
              <a:t>h1 {</a:t>
            </a:r>
            <a:br>
              <a:rPr lang="en-IN" dirty="0"/>
            </a:br>
            <a:r>
              <a:rPr lang="en-IN" dirty="0"/>
              <a:t>  text-align: </a:t>
            </a:r>
            <a:r>
              <a:rPr lang="en-IN" dirty="0" err="1"/>
              <a:t>center</a:t>
            </a:r>
            <a:r>
              <a:rPr lang="en-IN" dirty="0"/>
              <a:t>;</a:t>
            </a:r>
            <a:br>
              <a:rPr lang="en-IN" dirty="0"/>
            </a:br>
            <a:r>
              <a:rPr lang="en-IN" dirty="0"/>
              <a:t>}</a:t>
            </a:r>
            <a:br>
              <a:rPr lang="en-IN" dirty="0"/>
            </a:br>
            <a:br>
              <a:rPr lang="en-IN" dirty="0"/>
            </a:br>
            <a:r>
              <a:rPr lang="en-IN" dirty="0"/>
              <a:t>h2 {</a:t>
            </a:r>
            <a:br>
              <a:rPr lang="en-IN" dirty="0"/>
            </a:br>
            <a:r>
              <a:rPr lang="en-IN" dirty="0"/>
              <a:t>  text-align: left;</a:t>
            </a:r>
            <a:br>
              <a:rPr lang="en-IN" dirty="0"/>
            </a:br>
            <a:r>
              <a:rPr lang="en-IN" dirty="0"/>
              <a:t>}</a:t>
            </a:r>
            <a:br>
              <a:rPr lang="en-IN" dirty="0"/>
            </a:br>
            <a:br>
              <a:rPr lang="en-IN" dirty="0"/>
            </a:br>
            <a:r>
              <a:rPr lang="en-IN" dirty="0"/>
              <a:t>h3 {</a:t>
            </a:r>
            <a:br>
              <a:rPr lang="en-IN" dirty="0"/>
            </a:br>
            <a:r>
              <a:rPr lang="en-IN" dirty="0"/>
              <a:t>  text-align: right;</a:t>
            </a:r>
            <a:br>
              <a:rPr lang="en-IN" dirty="0"/>
            </a:br>
            <a:r>
              <a:rPr lang="en-IN" dirty="0"/>
              <a:t>}</a:t>
            </a:r>
          </a:p>
          <a:p>
            <a:pPr marL="0" lvl="0" indent="0" algn="l">
              <a:lnSpc>
                <a:spcPct val="90000"/>
              </a:lnSpc>
              <a:spcBef>
                <a:spcPts val="1200"/>
              </a:spcBef>
              <a:buClr>
                <a:srgbClr val="40BAD2"/>
              </a:buClr>
              <a:buNone/>
            </a:pPr>
            <a:r>
              <a:rPr lang="en-IN" dirty="0"/>
              <a:t>   h4{</a:t>
            </a:r>
          </a:p>
          <a:p>
            <a:pPr marL="0" lvl="0" indent="0" algn="l">
              <a:lnSpc>
                <a:spcPct val="90000"/>
              </a:lnSpc>
              <a:spcBef>
                <a:spcPts val="1200"/>
              </a:spcBef>
              <a:buClr>
                <a:srgbClr val="40BAD2"/>
              </a:buClr>
              <a:buNone/>
            </a:pPr>
            <a:r>
              <a:rPr lang="en-IN" dirty="0"/>
              <a:t>     text-align: justify;</a:t>
            </a:r>
            <a:br>
              <a:rPr lang="en-IN" dirty="0"/>
            </a:br>
            <a:r>
              <a:rPr lang="en-IN" dirty="0"/>
              <a:t>}</a:t>
            </a:r>
          </a:p>
          <a:p>
            <a:pPr marL="0" lvl="0" indent="0" algn="l">
              <a:lnSpc>
                <a:spcPct val="90000"/>
              </a:lnSpc>
              <a:spcBef>
                <a:spcPts val="1200"/>
              </a:spcBef>
              <a:buClr>
                <a:srgbClr val="40BAD2"/>
              </a:buClr>
              <a:buNone/>
            </a:pPr>
            <a:endParaRPr lang="en-US" dirty="0"/>
          </a:p>
          <a:p>
            <a:pPr marL="0" indent="0">
              <a:buNone/>
            </a:pPr>
            <a:endParaRPr lang="en-US" b="1" dirty="0"/>
          </a:p>
          <a:p>
            <a:endParaRPr lang="en-IN" dirty="0"/>
          </a:p>
        </p:txBody>
      </p:sp>
    </p:spTree>
    <p:extLst>
      <p:ext uri="{BB962C8B-B14F-4D97-AF65-F5344CB8AC3E}">
        <p14:creationId xmlns:p14="http://schemas.microsoft.com/office/powerpoint/2010/main" val="21557692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57</a:t>
            </a:fld>
            <a:endParaRPr lang="en-IN" dirty="0"/>
          </a:p>
        </p:txBody>
      </p:sp>
      <p:sp>
        <p:nvSpPr>
          <p:cNvPr id="5" name="Rectangle 4"/>
          <p:cNvSpPr/>
          <p:nvPr/>
        </p:nvSpPr>
        <p:spPr>
          <a:xfrm>
            <a:off x="703635" y="1179333"/>
            <a:ext cx="5068515" cy="5632311"/>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r>
              <a:rPr lang="en-US" dirty="0">
                <a:latin typeface="Proxima Nova" panose="020B0604020202020204"/>
                <a:ea typeface="Cambria" panose="02040503050406030204" pitchFamily="18" charset="0"/>
              </a:rPr>
              <a:t> 	&lt;style&gt;</a:t>
            </a:r>
          </a:p>
          <a:p>
            <a:r>
              <a:rPr lang="en-US" dirty="0">
                <a:latin typeface="Proxima Nova" panose="020B0604020202020204"/>
                <a:ea typeface="Cambria" panose="02040503050406030204" pitchFamily="18" charset="0"/>
              </a:rPr>
              <a:t>		h1 {</a:t>
            </a:r>
          </a:p>
          <a:p>
            <a:pPr lvl="2"/>
            <a:r>
              <a:rPr lang="en-US" dirty="0">
                <a:latin typeface="Proxima Nova" panose="020B0604020202020204"/>
                <a:ea typeface="Cambria" panose="02040503050406030204" pitchFamily="18" charset="0"/>
              </a:rPr>
              <a:t> 	text-align: center;</a:t>
            </a:r>
          </a:p>
          <a:p>
            <a:pPr lvl="2"/>
            <a:r>
              <a:rPr lang="en-US" dirty="0">
                <a:latin typeface="Proxima Nova" panose="020B0604020202020204"/>
                <a:ea typeface="Cambria" panose="02040503050406030204" pitchFamily="18" charset="0"/>
              </a:rPr>
              <a:t>	}</a:t>
            </a:r>
          </a:p>
          <a:p>
            <a:pPr lvl="2"/>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	h2 {</a:t>
            </a:r>
          </a:p>
          <a:p>
            <a:pPr lvl="2"/>
            <a:r>
              <a:rPr lang="en-US" dirty="0">
                <a:latin typeface="Proxima Nova" panose="020B0604020202020204"/>
                <a:ea typeface="Cambria" panose="02040503050406030204" pitchFamily="18" charset="0"/>
              </a:rPr>
              <a:t>	 text-align: left;</a:t>
            </a:r>
          </a:p>
          <a:p>
            <a:pPr lvl="2"/>
            <a:r>
              <a:rPr lang="en-US" dirty="0">
                <a:latin typeface="Proxima Nova" panose="020B0604020202020204"/>
                <a:ea typeface="Cambria" panose="02040503050406030204" pitchFamily="18" charset="0"/>
              </a:rPr>
              <a:t>	}</a:t>
            </a:r>
          </a:p>
          <a:p>
            <a:endParaRPr lang="en-US" dirty="0">
              <a:latin typeface="Proxima Nova" panose="020B0604020202020204"/>
              <a:ea typeface="Cambria" panose="02040503050406030204" pitchFamily="18" charset="0"/>
            </a:endParaRPr>
          </a:p>
          <a:p>
            <a:r>
              <a:rPr lang="en-US" dirty="0">
                <a:latin typeface="Proxima Nova" panose="020B0604020202020204"/>
                <a:ea typeface="Cambria" panose="02040503050406030204" pitchFamily="18" charset="0"/>
              </a:rPr>
              <a:t>		h3 {</a:t>
            </a:r>
          </a:p>
          <a:p>
            <a:r>
              <a:rPr lang="en-US" dirty="0">
                <a:latin typeface="Proxima Nova" panose="020B0604020202020204"/>
                <a:ea typeface="Cambria" panose="02040503050406030204" pitchFamily="18" charset="0"/>
              </a:rPr>
              <a:t>		  text-align: right;</a:t>
            </a:r>
          </a:p>
          <a:p>
            <a:r>
              <a:rPr lang="en-US" dirty="0">
                <a:latin typeface="Proxima Nova" panose="020B0604020202020204"/>
                <a:ea typeface="Cambria" panose="02040503050406030204" pitchFamily="18" charset="0"/>
              </a:rPr>
              <a:t>		}</a:t>
            </a:r>
          </a:p>
          <a:p>
            <a:r>
              <a:rPr lang="en-US" dirty="0">
                <a:latin typeface="Proxima Nova" panose="020B0604020202020204"/>
                <a:ea typeface="Cambria" panose="02040503050406030204" pitchFamily="18" charset="0"/>
              </a:rPr>
              <a:t>		p{</a:t>
            </a:r>
          </a:p>
          <a:p>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text-align:justify</a:t>
            </a:r>
            <a:r>
              <a:rPr lang="en-US" dirty="0">
                <a:latin typeface="Proxima Nova" panose="020B0604020202020204"/>
                <a:ea typeface="Cambria" panose="02040503050406030204" pitchFamily="18" charset="0"/>
              </a:rPr>
              <a:t>;</a:t>
            </a:r>
          </a:p>
          <a:p>
            <a:r>
              <a:rPr lang="en-US" dirty="0">
                <a:latin typeface="Proxima Nova" panose="020B0604020202020204"/>
                <a:ea typeface="Cambria" panose="02040503050406030204" pitchFamily="18" charset="0"/>
              </a:rPr>
              <a:t>		}</a:t>
            </a:r>
          </a:p>
          <a:p>
            <a:r>
              <a:rPr lang="en-US" dirty="0">
                <a:latin typeface="Proxima Nova" panose="020B0604020202020204"/>
                <a:ea typeface="Cambria" panose="02040503050406030204" pitchFamily="18" charset="0"/>
              </a:rPr>
              <a:t>		&lt;/style&gt;</a:t>
            </a:r>
          </a:p>
          <a:p>
            <a:r>
              <a:rPr lang="en-US" dirty="0">
                <a:latin typeface="Proxima Nova" panose="020B0604020202020204"/>
                <a:ea typeface="Cambria" panose="02040503050406030204" pitchFamily="18" charset="0"/>
              </a:rPr>
              <a:t>&lt;/head&gt;</a:t>
            </a:r>
          </a:p>
        </p:txBody>
      </p:sp>
      <p:sp>
        <p:nvSpPr>
          <p:cNvPr id="6" name="Rectangle 5"/>
          <p:cNvSpPr/>
          <p:nvPr/>
        </p:nvSpPr>
        <p:spPr>
          <a:xfrm>
            <a:off x="4773038" y="1179332"/>
            <a:ext cx="7266562" cy="3970318"/>
          </a:xfrm>
          <a:prstGeom prst="rect">
            <a:avLst/>
          </a:prstGeom>
        </p:spPr>
        <p:txBody>
          <a:bodyPr wrap="square">
            <a:spAutoFit/>
          </a:bodyPr>
          <a:lstStyle/>
          <a:p>
            <a:r>
              <a:rPr lang="en-US" dirty="0">
                <a:latin typeface="Proxima Nova" panose="020B0604020202020204"/>
                <a:ea typeface="Cambria" panose="02040503050406030204" pitchFamily="18" charset="0"/>
              </a:rPr>
              <a:t>	&lt;body&gt;</a:t>
            </a:r>
          </a:p>
          <a:p>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&lt;h1&gt;Heading 1 (center)&lt;/h1&gt;</a:t>
            </a:r>
          </a:p>
          <a:p>
            <a:pPr lvl="2"/>
            <a:r>
              <a:rPr lang="en-US" dirty="0">
                <a:latin typeface="Proxima Nova" panose="020B0604020202020204"/>
                <a:ea typeface="Cambria" panose="02040503050406030204" pitchFamily="18" charset="0"/>
              </a:rPr>
              <a:t>&lt;h2&gt;Heading 2 (left)&lt;/h2&gt;</a:t>
            </a:r>
          </a:p>
          <a:p>
            <a:pPr lvl="2"/>
            <a:r>
              <a:rPr lang="en-US" dirty="0">
                <a:latin typeface="Proxima Nova" panose="020B0604020202020204"/>
                <a:ea typeface="Cambria" panose="02040503050406030204" pitchFamily="18" charset="0"/>
              </a:rPr>
              <a:t>&lt;h3&gt;Heading 3 (right)&lt;/h3&gt;</a:t>
            </a:r>
          </a:p>
          <a:p>
            <a:pPr lvl="2"/>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&lt;p&gt;In my younger and more vulnerable years my father gave me some advice that I've been turning over in my mind ever since. 'Whenever you feel like criticizing anyone,' he told me, 'just remember that all the people in this world haven't had the advantages that you've had.'&lt;/p&gt;</a:t>
            </a:r>
          </a:p>
          <a:p>
            <a:pPr lvl="1"/>
            <a:endParaRPr lang="en-US" dirty="0">
              <a:latin typeface="Proxima Nova" panose="020B0604020202020204"/>
              <a:ea typeface="Cambria" panose="02040503050406030204" pitchFamily="18" charset="0"/>
            </a:endParaRP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pic>
        <p:nvPicPr>
          <p:cNvPr id="7" name="Picture 6"/>
          <p:cNvPicPr>
            <a:picLocks noChangeAspect="1"/>
          </p:cNvPicPr>
          <p:nvPr/>
        </p:nvPicPr>
        <p:blipFill>
          <a:blip r:embed="rId2"/>
          <a:stretch>
            <a:fillRect/>
          </a:stretch>
        </p:blipFill>
        <p:spPr>
          <a:xfrm>
            <a:off x="5107021" y="5276849"/>
            <a:ext cx="6819900" cy="1444625"/>
          </a:xfrm>
          <a:prstGeom prst="rect">
            <a:avLst/>
          </a:prstGeom>
          <a:ln w="19050">
            <a:solidFill>
              <a:schemeClr val="tx1"/>
            </a:solidFill>
          </a:ln>
        </p:spPr>
      </p:pic>
      <p:sp>
        <p:nvSpPr>
          <p:cNvPr id="2" name="Title 1">
            <a:extLst>
              <a:ext uri="{FF2B5EF4-FFF2-40B4-BE49-F238E27FC236}">
                <a16:creationId xmlns:a16="http://schemas.microsoft.com/office/drawing/2014/main" id="{E805B227-ADD6-9A37-C472-153C029BB307}"/>
              </a:ext>
            </a:extLst>
          </p:cNvPr>
          <p:cNvSpPr txBox="1">
            <a:spLocks/>
          </p:cNvSpPr>
          <p:nvPr/>
        </p:nvSpPr>
        <p:spPr>
          <a:xfrm>
            <a:off x="273181" y="302638"/>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Text Manipulation Example</a:t>
            </a:r>
            <a:endParaRPr lang="en-IN" sz="2400" dirty="0">
              <a:solidFill>
                <a:srgbClr val="00B0F0"/>
              </a:solidFill>
              <a:latin typeface="Proxima Nova" panose="020B0604020202020204"/>
            </a:endParaRPr>
          </a:p>
        </p:txBody>
      </p:sp>
    </p:spTree>
    <p:extLst>
      <p:ext uri="{BB962C8B-B14F-4D97-AF65-F5344CB8AC3E}">
        <p14:creationId xmlns:p14="http://schemas.microsoft.com/office/powerpoint/2010/main" val="24931699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Vertical Alignment</a:t>
            </a:r>
            <a:br>
              <a:rPr lang="en-US" dirty="0"/>
            </a:br>
            <a:endParaRPr lang="en-US" dirty="0"/>
          </a:p>
        </p:txBody>
      </p:sp>
      <p:sp>
        <p:nvSpPr>
          <p:cNvPr id="3" name="Content Placeholder 2"/>
          <p:cNvSpPr>
            <a:spLocks noGrp="1"/>
          </p:cNvSpPr>
          <p:nvPr>
            <p:ph idx="1"/>
          </p:nvPr>
        </p:nvSpPr>
        <p:spPr>
          <a:xfrm>
            <a:off x="448951" y="1081881"/>
            <a:ext cx="11294097" cy="6052344"/>
          </a:xfrm>
        </p:spPr>
        <p:txBody>
          <a:bodyPr>
            <a:noAutofit/>
          </a:bodyPr>
          <a:lstStyle/>
          <a:p>
            <a:r>
              <a:rPr lang="en-IN" dirty="0"/>
              <a:t>The vertical-alignment </a:t>
            </a:r>
            <a:r>
              <a:rPr lang="en-US" dirty="0"/>
              <a:t>property sets the vertical alignment of an element.</a:t>
            </a:r>
          </a:p>
          <a:p>
            <a:pPr marL="449263" lvl="1" indent="0">
              <a:lnSpc>
                <a:spcPct val="100000"/>
              </a:lnSpc>
              <a:buNone/>
            </a:pPr>
            <a:r>
              <a:rPr lang="en-US" dirty="0" err="1"/>
              <a:t>img.a</a:t>
            </a:r>
            <a:r>
              <a:rPr lang="en-US" dirty="0"/>
              <a:t> {</a:t>
            </a:r>
          </a:p>
          <a:p>
            <a:pPr marL="449263" lvl="1" indent="0">
              <a:lnSpc>
                <a:spcPct val="100000"/>
              </a:lnSpc>
              <a:buNone/>
            </a:pPr>
            <a:r>
              <a:rPr lang="en-US" dirty="0"/>
              <a:t>  vertical-align: baseline;</a:t>
            </a:r>
          </a:p>
          <a:p>
            <a:pPr marL="449263" lvl="1" indent="0">
              <a:lnSpc>
                <a:spcPct val="100000"/>
              </a:lnSpc>
              <a:buNone/>
            </a:pPr>
            <a:r>
              <a:rPr lang="en-US" dirty="0"/>
              <a:t>}</a:t>
            </a:r>
          </a:p>
          <a:p>
            <a:pPr marL="449263" lvl="1" indent="0">
              <a:lnSpc>
                <a:spcPct val="100000"/>
              </a:lnSpc>
              <a:buNone/>
            </a:pPr>
            <a:r>
              <a:rPr lang="en-US" dirty="0" err="1"/>
              <a:t>img.b</a:t>
            </a:r>
            <a:r>
              <a:rPr lang="en-US" dirty="0"/>
              <a:t> {</a:t>
            </a:r>
          </a:p>
          <a:p>
            <a:pPr marL="449263" lvl="1" indent="0">
              <a:lnSpc>
                <a:spcPct val="100000"/>
              </a:lnSpc>
              <a:buNone/>
            </a:pPr>
            <a:r>
              <a:rPr lang="en-US" dirty="0"/>
              <a:t>  vertical-align: text-top;</a:t>
            </a:r>
          </a:p>
          <a:p>
            <a:pPr marL="449263" lvl="1" indent="0">
              <a:lnSpc>
                <a:spcPct val="100000"/>
              </a:lnSpc>
              <a:buNone/>
            </a:pPr>
            <a:r>
              <a:rPr lang="en-US" dirty="0"/>
              <a:t>}</a:t>
            </a:r>
          </a:p>
          <a:p>
            <a:pPr marL="449263" lvl="1" indent="0">
              <a:lnSpc>
                <a:spcPct val="100000"/>
              </a:lnSpc>
              <a:buNone/>
            </a:pPr>
            <a:r>
              <a:rPr lang="en-US" dirty="0" err="1"/>
              <a:t>img.c</a:t>
            </a:r>
            <a:r>
              <a:rPr lang="en-US" dirty="0"/>
              <a:t> {</a:t>
            </a:r>
          </a:p>
          <a:p>
            <a:pPr marL="449263" lvl="1" indent="0">
              <a:lnSpc>
                <a:spcPct val="100000"/>
              </a:lnSpc>
              <a:buNone/>
            </a:pPr>
            <a:r>
              <a:rPr lang="en-US" dirty="0"/>
              <a:t>  vertical-align: text-bottom;</a:t>
            </a:r>
          </a:p>
          <a:p>
            <a:pPr marL="449263" lvl="1" indent="0">
              <a:lnSpc>
                <a:spcPct val="100000"/>
              </a:lnSpc>
              <a:buNone/>
            </a:pPr>
            <a:r>
              <a:rPr lang="en-US" dirty="0"/>
              <a:t>}</a:t>
            </a:r>
          </a:p>
          <a:p>
            <a:pPr marL="449263" lvl="1" indent="0">
              <a:lnSpc>
                <a:spcPct val="100000"/>
              </a:lnSpc>
              <a:buNone/>
            </a:pPr>
            <a:r>
              <a:rPr lang="en-US" dirty="0" err="1"/>
              <a:t>img.d</a:t>
            </a:r>
            <a:r>
              <a:rPr lang="en-US" dirty="0"/>
              <a:t> {</a:t>
            </a:r>
          </a:p>
          <a:p>
            <a:pPr marL="449263" lvl="1" indent="0">
              <a:lnSpc>
                <a:spcPct val="100000"/>
              </a:lnSpc>
              <a:buNone/>
            </a:pPr>
            <a:r>
              <a:rPr lang="en-US" dirty="0"/>
              <a:t>  vertical-align: sub;</a:t>
            </a:r>
          </a:p>
          <a:p>
            <a:pPr marL="449263" lvl="1" indent="0">
              <a:lnSpc>
                <a:spcPct val="100000"/>
              </a:lnSpc>
              <a:buNone/>
            </a:pPr>
            <a:r>
              <a:rPr lang="en-US" dirty="0"/>
              <a:t>}</a:t>
            </a:r>
          </a:p>
          <a:p>
            <a:pPr marL="449263" lvl="1" indent="0">
              <a:lnSpc>
                <a:spcPct val="100000"/>
              </a:lnSpc>
              <a:buNone/>
            </a:pPr>
            <a:r>
              <a:rPr lang="en-US" dirty="0" err="1"/>
              <a:t>img.e</a:t>
            </a:r>
            <a:r>
              <a:rPr lang="en-US" dirty="0"/>
              <a:t> {</a:t>
            </a:r>
          </a:p>
          <a:p>
            <a:pPr marL="449263" lvl="1" indent="0">
              <a:lnSpc>
                <a:spcPct val="100000"/>
              </a:lnSpc>
              <a:buNone/>
            </a:pPr>
            <a:r>
              <a:rPr lang="en-US" dirty="0"/>
              <a:t>  vertical-align: super;</a:t>
            </a:r>
          </a:p>
          <a:p>
            <a:pPr marL="449263" lvl="1" indent="0">
              <a:lnSpc>
                <a:spcPct val="100000"/>
              </a:lnSpc>
              <a:buNone/>
            </a:pPr>
            <a:r>
              <a:rPr lang="en-US" dirty="0"/>
              <a:t>}</a:t>
            </a:r>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58</a:t>
            </a:fld>
            <a:endParaRPr lang="en-IN" dirty="0"/>
          </a:p>
        </p:txBody>
      </p:sp>
    </p:spTree>
    <p:extLst>
      <p:ext uri="{BB962C8B-B14F-4D97-AF65-F5344CB8AC3E}">
        <p14:creationId xmlns:p14="http://schemas.microsoft.com/office/powerpoint/2010/main" val="2753715068"/>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59</a:t>
            </a:fld>
            <a:endParaRPr lang="en-IN" dirty="0"/>
          </a:p>
        </p:txBody>
      </p:sp>
      <p:sp>
        <p:nvSpPr>
          <p:cNvPr id="5" name="Rectangle 4"/>
          <p:cNvSpPr/>
          <p:nvPr/>
        </p:nvSpPr>
        <p:spPr>
          <a:xfrm>
            <a:off x="375123" y="1065033"/>
            <a:ext cx="5339877" cy="5909310"/>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r>
              <a:rPr lang="en-US" dirty="0">
                <a:latin typeface="Proxima Nova" panose="020B0604020202020204"/>
                <a:ea typeface="Cambria" panose="02040503050406030204" pitchFamily="18" charset="0"/>
              </a:rPr>
              <a:t>		&lt;style&gt;</a:t>
            </a:r>
          </a:p>
          <a:p>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img.a</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vertical-align: baseline;</a:t>
            </a:r>
          </a:p>
          <a:p>
            <a:pPr lvl="3"/>
            <a:r>
              <a:rPr lang="en-US" dirty="0">
                <a:latin typeface="Proxima Nova" panose="020B0604020202020204"/>
                <a:ea typeface="Cambria" panose="02040503050406030204" pitchFamily="18" charset="0"/>
              </a:rPr>
              <a:t>}</a:t>
            </a:r>
          </a:p>
          <a:p>
            <a:pPr lvl="3"/>
            <a:r>
              <a:rPr lang="en-US" dirty="0" err="1">
                <a:latin typeface="Proxima Nova" panose="020B0604020202020204"/>
                <a:ea typeface="Cambria" panose="02040503050406030204" pitchFamily="18" charset="0"/>
              </a:rPr>
              <a:t>img.b</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vertical-align: text-top;</a:t>
            </a:r>
          </a:p>
          <a:p>
            <a:pPr lvl="3"/>
            <a:r>
              <a:rPr lang="en-US" dirty="0">
                <a:latin typeface="Proxima Nova" panose="020B0604020202020204"/>
                <a:ea typeface="Cambria" panose="02040503050406030204" pitchFamily="18" charset="0"/>
              </a:rPr>
              <a:t>}</a:t>
            </a:r>
          </a:p>
          <a:p>
            <a:pPr lvl="3"/>
            <a:r>
              <a:rPr lang="en-US" dirty="0" err="1">
                <a:latin typeface="Proxima Nova" panose="020B0604020202020204"/>
                <a:ea typeface="Cambria" panose="02040503050406030204" pitchFamily="18" charset="0"/>
              </a:rPr>
              <a:t>img.c</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vertical-align: text-bottom;</a:t>
            </a:r>
          </a:p>
          <a:p>
            <a:pPr lvl="3"/>
            <a:r>
              <a:rPr lang="en-US" dirty="0">
                <a:latin typeface="Proxima Nova" panose="020B0604020202020204"/>
                <a:ea typeface="Cambria" panose="02040503050406030204" pitchFamily="18" charset="0"/>
              </a:rPr>
              <a:t>}</a:t>
            </a:r>
          </a:p>
          <a:p>
            <a:pPr lvl="3"/>
            <a:r>
              <a:rPr lang="en-US" dirty="0" err="1">
                <a:latin typeface="Proxima Nova" panose="020B0604020202020204"/>
                <a:ea typeface="Cambria" panose="02040503050406030204" pitchFamily="18" charset="0"/>
              </a:rPr>
              <a:t>img.d</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vertical-align: sub;</a:t>
            </a:r>
          </a:p>
          <a:p>
            <a:pPr lvl="3"/>
            <a:r>
              <a:rPr lang="en-US" dirty="0">
                <a:latin typeface="Proxima Nova" panose="020B0604020202020204"/>
                <a:ea typeface="Cambria" panose="02040503050406030204" pitchFamily="18" charset="0"/>
              </a:rPr>
              <a:t>}</a:t>
            </a:r>
          </a:p>
          <a:p>
            <a:pPr lvl="3"/>
            <a:r>
              <a:rPr lang="en-US" dirty="0" err="1">
                <a:latin typeface="Proxima Nova" panose="020B0604020202020204"/>
                <a:ea typeface="Cambria" panose="02040503050406030204" pitchFamily="18" charset="0"/>
              </a:rPr>
              <a:t>img.e</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vertical-align: super;</a:t>
            </a:r>
          </a:p>
          <a:p>
            <a:pPr lvl="3"/>
            <a:r>
              <a:rPr lang="en-US" dirty="0">
                <a:latin typeface="Proxima Nova" panose="020B0604020202020204"/>
                <a:ea typeface="Cambria" panose="02040503050406030204" pitchFamily="18" charset="0"/>
              </a:rPr>
              <a:t>}</a:t>
            </a:r>
          </a:p>
          <a:p>
            <a:r>
              <a:rPr lang="en-US" dirty="0">
                <a:latin typeface="Proxima Nova" panose="020B0604020202020204"/>
                <a:ea typeface="Cambria" panose="02040503050406030204" pitchFamily="18" charset="0"/>
              </a:rPr>
              <a:t>		&lt;/style&gt;</a:t>
            </a:r>
          </a:p>
          <a:p>
            <a:r>
              <a:rPr lang="en-US" dirty="0">
                <a:latin typeface="Proxima Nova" panose="020B0604020202020204"/>
                <a:ea typeface="Cambria" panose="02040503050406030204" pitchFamily="18" charset="0"/>
              </a:rPr>
              <a:t>&lt;/head&gt;</a:t>
            </a:r>
          </a:p>
        </p:txBody>
      </p:sp>
      <p:sp>
        <p:nvSpPr>
          <p:cNvPr id="6" name="Rectangle 5"/>
          <p:cNvSpPr/>
          <p:nvPr/>
        </p:nvSpPr>
        <p:spPr>
          <a:xfrm>
            <a:off x="5096887" y="677751"/>
            <a:ext cx="6640749" cy="4524315"/>
          </a:xfrm>
          <a:prstGeom prst="rect">
            <a:avLst/>
          </a:prstGeom>
        </p:spPr>
        <p:txBody>
          <a:bodyPr wrap="square">
            <a:spAutoFit/>
          </a:bodyPr>
          <a:lstStyle/>
          <a:p>
            <a:r>
              <a:rPr lang="en-US" dirty="0">
                <a:latin typeface="Proxima Nova" panose="020B0604020202020204"/>
                <a:ea typeface="Cambria" panose="02040503050406030204" pitchFamily="18" charset="0"/>
              </a:rPr>
              <a:t>	</a:t>
            </a:r>
          </a:p>
          <a:p>
            <a:r>
              <a:rPr lang="en-US" dirty="0">
                <a:latin typeface="Proxima Nova" panose="020B0604020202020204"/>
                <a:ea typeface="Cambria" panose="02040503050406030204" pitchFamily="18" charset="0"/>
              </a:rPr>
              <a:t>&lt;body&gt;</a:t>
            </a:r>
          </a:p>
          <a:p>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&lt;p&gt;An &lt;</a:t>
            </a:r>
            <a:r>
              <a:rPr lang="en-US" dirty="0" err="1">
                <a:latin typeface="Proxima Nova" panose="020B0604020202020204"/>
                <a:ea typeface="Cambria" panose="02040503050406030204" pitchFamily="18" charset="0"/>
              </a:rPr>
              <a:t>img</a:t>
            </a:r>
            <a:r>
              <a:rPr lang="en-US" dirty="0">
                <a:latin typeface="Proxima Nova" panose="020B0604020202020204"/>
                <a:ea typeface="Cambria" panose="02040503050406030204" pitchFamily="18" charset="0"/>
              </a:rPr>
              <a:t> class="a" </a:t>
            </a:r>
            <a:r>
              <a:rPr lang="en-US" dirty="0" err="1">
                <a:latin typeface="Proxima Nova" panose="020B0604020202020204"/>
                <a:ea typeface="Cambria" panose="02040503050406030204" pitchFamily="18" charset="0"/>
              </a:rPr>
              <a:t>src</a:t>
            </a:r>
            <a:r>
              <a:rPr lang="en-US" dirty="0">
                <a:latin typeface="Proxima Nova" panose="020B0604020202020204"/>
                <a:ea typeface="Cambria" panose="02040503050406030204" pitchFamily="18" charset="0"/>
              </a:rPr>
              <a:t>="sqpurple.gif" width="9" height="9"&gt; image with a default alignment.&lt;/p&gt; </a:t>
            </a:r>
          </a:p>
          <a:p>
            <a:pPr lvl="2"/>
            <a:r>
              <a:rPr lang="en-US" dirty="0">
                <a:latin typeface="Proxima Nova" panose="020B0604020202020204"/>
                <a:ea typeface="Cambria" panose="02040503050406030204" pitchFamily="18" charset="0"/>
              </a:rPr>
              <a:t>&lt;p&gt;An &lt;</a:t>
            </a:r>
            <a:r>
              <a:rPr lang="en-US" dirty="0" err="1">
                <a:latin typeface="Proxima Nova" panose="020B0604020202020204"/>
                <a:ea typeface="Cambria" panose="02040503050406030204" pitchFamily="18" charset="0"/>
              </a:rPr>
              <a:t>img</a:t>
            </a:r>
            <a:r>
              <a:rPr lang="en-US" dirty="0">
                <a:latin typeface="Proxima Nova" panose="020B0604020202020204"/>
                <a:ea typeface="Cambria" panose="02040503050406030204" pitchFamily="18" charset="0"/>
              </a:rPr>
              <a:t> class="b" </a:t>
            </a:r>
            <a:r>
              <a:rPr lang="en-US" dirty="0" err="1">
                <a:latin typeface="Proxima Nova" panose="020B0604020202020204"/>
                <a:ea typeface="Cambria" panose="02040503050406030204" pitchFamily="18" charset="0"/>
              </a:rPr>
              <a:t>src</a:t>
            </a:r>
            <a:r>
              <a:rPr lang="en-US" dirty="0">
                <a:latin typeface="Proxima Nova" panose="020B0604020202020204"/>
                <a:ea typeface="Cambria" panose="02040503050406030204" pitchFamily="18" charset="0"/>
              </a:rPr>
              <a:t>="sqpurple.gif" width="9" height="9"&gt; image with a text-top alignment.&lt;/p&gt; </a:t>
            </a:r>
          </a:p>
          <a:p>
            <a:pPr lvl="2"/>
            <a:r>
              <a:rPr lang="en-US" dirty="0">
                <a:latin typeface="Proxima Nova" panose="020B0604020202020204"/>
                <a:ea typeface="Cambria" panose="02040503050406030204" pitchFamily="18" charset="0"/>
              </a:rPr>
              <a:t>&lt;p&gt;An &lt;</a:t>
            </a:r>
            <a:r>
              <a:rPr lang="en-US" dirty="0" err="1">
                <a:latin typeface="Proxima Nova" panose="020B0604020202020204"/>
                <a:ea typeface="Cambria" panose="02040503050406030204" pitchFamily="18" charset="0"/>
              </a:rPr>
              <a:t>img</a:t>
            </a:r>
            <a:r>
              <a:rPr lang="en-US" dirty="0">
                <a:latin typeface="Proxima Nova" panose="020B0604020202020204"/>
                <a:ea typeface="Cambria" panose="02040503050406030204" pitchFamily="18" charset="0"/>
              </a:rPr>
              <a:t> class="c" </a:t>
            </a:r>
            <a:r>
              <a:rPr lang="en-US" dirty="0" err="1">
                <a:latin typeface="Proxima Nova" panose="020B0604020202020204"/>
                <a:ea typeface="Cambria" panose="02040503050406030204" pitchFamily="18" charset="0"/>
              </a:rPr>
              <a:t>src</a:t>
            </a:r>
            <a:r>
              <a:rPr lang="en-US" dirty="0">
                <a:latin typeface="Proxima Nova" panose="020B0604020202020204"/>
                <a:ea typeface="Cambria" panose="02040503050406030204" pitchFamily="18" charset="0"/>
              </a:rPr>
              <a:t>="sqpurple.gif" width="9" height="9"&gt; image with a text-bottom alignment.&lt;/p&gt;</a:t>
            </a:r>
          </a:p>
          <a:p>
            <a:pPr lvl="2"/>
            <a:r>
              <a:rPr lang="en-US" dirty="0">
                <a:latin typeface="Proxima Nova" panose="020B0604020202020204"/>
                <a:ea typeface="Cambria" panose="02040503050406030204" pitchFamily="18" charset="0"/>
              </a:rPr>
              <a:t>&lt;p&gt;An &lt;</a:t>
            </a:r>
            <a:r>
              <a:rPr lang="en-US" dirty="0" err="1">
                <a:latin typeface="Proxima Nova" panose="020B0604020202020204"/>
                <a:ea typeface="Cambria" panose="02040503050406030204" pitchFamily="18" charset="0"/>
              </a:rPr>
              <a:t>img</a:t>
            </a:r>
            <a:r>
              <a:rPr lang="en-US" dirty="0">
                <a:latin typeface="Proxima Nova" panose="020B0604020202020204"/>
                <a:ea typeface="Cambria" panose="02040503050406030204" pitchFamily="18" charset="0"/>
              </a:rPr>
              <a:t> class="d" </a:t>
            </a:r>
            <a:r>
              <a:rPr lang="en-US" dirty="0" err="1">
                <a:latin typeface="Proxima Nova" panose="020B0604020202020204"/>
                <a:ea typeface="Cambria" panose="02040503050406030204" pitchFamily="18" charset="0"/>
              </a:rPr>
              <a:t>src</a:t>
            </a:r>
            <a:r>
              <a:rPr lang="en-US" dirty="0">
                <a:latin typeface="Proxima Nova" panose="020B0604020202020204"/>
                <a:ea typeface="Cambria" panose="02040503050406030204" pitchFamily="18" charset="0"/>
              </a:rPr>
              <a:t>="sqpurple.gif" width="9" height="9"&gt; image with a sub alignment.&lt;/p&gt; </a:t>
            </a:r>
          </a:p>
          <a:p>
            <a:pPr lvl="2"/>
            <a:r>
              <a:rPr lang="en-US" dirty="0">
                <a:latin typeface="Proxima Nova" panose="020B0604020202020204"/>
                <a:ea typeface="Cambria" panose="02040503050406030204" pitchFamily="18" charset="0"/>
              </a:rPr>
              <a:t>&lt;p&gt;An &lt;</a:t>
            </a:r>
            <a:r>
              <a:rPr lang="en-US" dirty="0" err="1">
                <a:latin typeface="Proxima Nova" panose="020B0604020202020204"/>
                <a:ea typeface="Cambria" panose="02040503050406030204" pitchFamily="18" charset="0"/>
              </a:rPr>
              <a:t>img</a:t>
            </a:r>
            <a:r>
              <a:rPr lang="en-US" dirty="0">
                <a:latin typeface="Proxima Nova" panose="020B0604020202020204"/>
                <a:ea typeface="Cambria" panose="02040503050406030204" pitchFamily="18" charset="0"/>
              </a:rPr>
              <a:t> class="e" </a:t>
            </a:r>
            <a:r>
              <a:rPr lang="en-US" dirty="0" err="1">
                <a:latin typeface="Proxima Nova" panose="020B0604020202020204"/>
                <a:ea typeface="Cambria" panose="02040503050406030204" pitchFamily="18" charset="0"/>
              </a:rPr>
              <a:t>src</a:t>
            </a:r>
            <a:r>
              <a:rPr lang="en-US" dirty="0">
                <a:latin typeface="Proxima Nova" panose="020B0604020202020204"/>
                <a:ea typeface="Cambria" panose="02040503050406030204" pitchFamily="18" charset="0"/>
              </a:rPr>
              <a:t>="sqpurple.gif" width="9" height="9"&gt; image with a super alignment.&lt;/p&gt;</a:t>
            </a: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pic>
        <p:nvPicPr>
          <p:cNvPr id="2" name="Picture 1"/>
          <p:cNvPicPr>
            <a:picLocks noChangeAspect="1"/>
          </p:cNvPicPr>
          <p:nvPr/>
        </p:nvPicPr>
        <p:blipFill>
          <a:blip r:embed="rId2"/>
          <a:stretch>
            <a:fillRect/>
          </a:stretch>
        </p:blipFill>
        <p:spPr>
          <a:xfrm>
            <a:off x="7219950" y="4793371"/>
            <a:ext cx="3743325" cy="1785411"/>
          </a:xfrm>
          <a:prstGeom prst="rect">
            <a:avLst/>
          </a:prstGeom>
          <a:ln w="19050">
            <a:solidFill>
              <a:schemeClr val="tx1"/>
            </a:solidFill>
          </a:ln>
        </p:spPr>
      </p:pic>
      <p:sp>
        <p:nvSpPr>
          <p:cNvPr id="3" name="Title 1">
            <a:extLst>
              <a:ext uri="{FF2B5EF4-FFF2-40B4-BE49-F238E27FC236}">
                <a16:creationId xmlns:a16="http://schemas.microsoft.com/office/drawing/2014/main" id="{476CEC0C-0AB1-F177-507F-AB18A03A2B8E}"/>
              </a:ext>
            </a:extLst>
          </p:cNvPr>
          <p:cNvSpPr txBox="1">
            <a:spLocks/>
          </p:cNvSpPr>
          <p:nvPr/>
        </p:nvSpPr>
        <p:spPr>
          <a:xfrm>
            <a:off x="254131" y="188340"/>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endParaRPr lang="en-IN" sz="2400" dirty="0">
              <a:solidFill>
                <a:srgbClr val="00B0F0"/>
              </a:solidFill>
              <a:latin typeface="Proxima Nova" panose="020B0604020202020204"/>
            </a:endParaRPr>
          </a:p>
        </p:txBody>
      </p:sp>
    </p:spTree>
    <p:extLst>
      <p:ext uri="{BB962C8B-B14F-4D97-AF65-F5344CB8AC3E}">
        <p14:creationId xmlns:p14="http://schemas.microsoft.com/office/powerpoint/2010/main" val="346816617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Direction</a:t>
            </a:r>
            <a:br>
              <a:rPr lang="en-US" b="1" dirty="0"/>
            </a:br>
            <a:endParaRPr lang="en-US" dirty="0"/>
          </a:p>
        </p:txBody>
      </p:sp>
      <p:sp>
        <p:nvSpPr>
          <p:cNvPr id="3" name="Content Placeholder 2"/>
          <p:cNvSpPr>
            <a:spLocks noGrp="1"/>
          </p:cNvSpPr>
          <p:nvPr>
            <p:ph idx="1"/>
          </p:nvPr>
        </p:nvSpPr>
        <p:spPr/>
        <p:txBody>
          <a:bodyPr>
            <a:noAutofit/>
          </a:bodyPr>
          <a:lstStyle/>
          <a:p>
            <a:pPr>
              <a:lnSpc>
                <a:spcPct val="100000"/>
              </a:lnSpc>
            </a:pPr>
            <a:r>
              <a:rPr lang="en-US" dirty="0"/>
              <a:t>The direction and </a:t>
            </a:r>
            <a:r>
              <a:rPr lang="en-US" dirty="0" err="1"/>
              <a:t>unicode</a:t>
            </a:r>
            <a:r>
              <a:rPr lang="en-US" dirty="0"/>
              <a:t>-bidi properties can be used to change the text direction of an element.</a:t>
            </a:r>
          </a:p>
          <a:p>
            <a:pPr marL="0" indent="0">
              <a:lnSpc>
                <a:spcPct val="100000"/>
              </a:lnSpc>
              <a:buNone/>
            </a:pPr>
            <a:r>
              <a:rPr lang="en-US" dirty="0"/>
              <a:t>&lt;head&gt;</a:t>
            </a:r>
          </a:p>
          <a:p>
            <a:pPr marL="0" indent="0">
              <a:lnSpc>
                <a:spcPct val="100000"/>
              </a:lnSpc>
              <a:buNone/>
            </a:pPr>
            <a:r>
              <a:rPr lang="en-US" dirty="0"/>
              <a:t>	&lt;style&gt;</a:t>
            </a:r>
          </a:p>
          <a:p>
            <a:pPr marL="0" indent="0">
              <a:lnSpc>
                <a:spcPct val="100000"/>
              </a:lnSpc>
              <a:buNone/>
            </a:pPr>
            <a:r>
              <a:rPr lang="en-US" dirty="0"/>
              <a:t>		p.ex1 {</a:t>
            </a:r>
          </a:p>
          <a:p>
            <a:pPr marL="0" indent="0">
              <a:lnSpc>
                <a:spcPct val="100000"/>
              </a:lnSpc>
              <a:buNone/>
            </a:pPr>
            <a:r>
              <a:rPr lang="en-US" dirty="0"/>
              <a:t>  			direction: </a:t>
            </a:r>
            <a:r>
              <a:rPr lang="en-US" dirty="0" err="1"/>
              <a:t>rtl</a:t>
            </a:r>
            <a:r>
              <a:rPr lang="en-US" dirty="0"/>
              <a:t>;</a:t>
            </a:r>
          </a:p>
          <a:p>
            <a:pPr marL="0" indent="0">
              <a:lnSpc>
                <a:spcPct val="100000"/>
              </a:lnSpc>
              <a:buNone/>
            </a:pPr>
            <a:r>
              <a:rPr lang="en-US" dirty="0"/>
              <a:t>			</a:t>
            </a:r>
            <a:r>
              <a:rPr lang="en-US" dirty="0" err="1"/>
              <a:t>unicode</a:t>
            </a:r>
            <a:r>
              <a:rPr lang="en-US" dirty="0"/>
              <a:t>-bidi: bidi-override;</a:t>
            </a:r>
          </a:p>
          <a:p>
            <a:pPr marL="0" indent="0">
              <a:lnSpc>
                <a:spcPct val="100000"/>
              </a:lnSpc>
              <a:buNone/>
            </a:pPr>
            <a:r>
              <a:rPr lang="en-US" dirty="0"/>
              <a:t>		}</a:t>
            </a:r>
          </a:p>
          <a:p>
            <a:pPr marL="0" indent="0">
              <a:lnSpc>
                <a:spcPct val="100000"/>
              </a:lnSpc>
              <a:buNone/>
            </a:pPr>
            <a:r>
              <a:rPr lang="en-US" dirty="0"/>
              <a:t>	&lt;/style&gt;</a:t>
            </a:r>
          </a:p>
          <a:p>
            <a:pPr marL="0" indent="0">
              <a:lnSpc>
                <a:spcPct val="100000"/>
              </a:lnSpc>
              <a:buNone/>
            </a:pPr>
            <a:r>
              <a:rPr lang="en-US" dirty="0"/>
              <a:t>&lt;/head&gt;</a:t>
            </a:r>
          </a:p>
          <a:p>
            <a:pPr marL="0" indent="0">
              <a:lnSpc>
                <a:spcPct val="100000"/>
              </a:lnSpc>
              <a:buNone/>
            </a:pPr>
            <a:r>
              <a:rPr lang="en-US" dirty="0"/>
              <a:t>&lt;body&gt;</a:t>
            </a:r>
          </a:p>
          <a:p>
            <a:pPr marL="0" indent="0">
              <a:lnSpc>
                <a:spcPct val="100000"/>
              </a:lnSpc>
              <a:buNone/>
            </a:pPr>
            <a:r>
              <a:rPr lang="en-US" dirty="0"/>
              <a:t>	&lt;p&gt;This is the default text direction.&lt;/p&gt;</a:t>
            </a:r>
          </a:p>
          <a:p>
            <a:pPr marL="0" indent="0">
              <a:lnSpc>
                <a:spcPct val="100000"/>
              </a:lnSpc>
              <a:buNone/>
            </a:pPr>
            <a:r>
              <a:rPr lang="en-US" dirty="0"/>
              <a:t>	&lt;p class="ex1"&gt;This is right-to-left text direction.&lt;/p&gt;</a:t>
            </a:r>
          </a:p>
          <a:p>
            <a:pPr marL="0" indent="0">
              <a:lnSpc>
                <a:spcPct val="100000"/>
              </a:lnSpc>
              <a:buNone/>
            </a:pPr>
            <a:r>
              <a:rPr lang="en-US" dirty="0"/>
              <a:t>&lt;/body&gt;</a:t>
            </a:r>
          </a:p>
          <a:p>
            <a:pPr>
              <a:lnSpc>
                <a:spcPct val="100000"/>
              </a:lnSpc>
            </a:pPr>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60</a:t>
            </a:fld>
            <a:endParaRPr lang="en-IN" dirty="0"/>
          </a:p>
        </p:txBody>
      </p:sp>
      <p:pic>
        <p:nvPicPr>
          <p:cNvPr id="5" name="Picture 4"/>
          <p:cNvPicPr>
            <a:picLocks noChangeAspect="1"/>
          </p:cNvPicPr>
          <p:nvPr/>
        </p:nvPicPr>
        <p:blipFill>
          <a:blip r:embed="rId2"/>
          <a:stretch>
            <a:fillRect/>
          </a:stretch>
        </p:blipFill>
        <p:spPr>
          <a:xfrm>
            <a:off x="8122597" y="1795057"/>
            <a:ext cx="3570050" cy="1400175"/>
          </a:xfrm>
          <a:prstGeom prst="rect">
            <a:avLst/>
          </a:prstGeom>
          <a:ln w="12700">
            <a:solidFill>
              <a:schemeClr val="tx1"/>
            </a:solidFill>
          </a:ln>
        </p:spPr>
      </p:pic>
    </p:spTree>
    <p:extLst>
      <p:ext uri="{BB962C8B-B14F-4D97-AF65-F5344CB8AC3E}">
        <p14:creationId xmlns:p14="http://schemas.microsoft.com/office/powerpoint/2010/main" val="174243722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Text Decoration</a:t>
            </a:r>
            <a:endParaRPr lang="en-US" dirty="0"/>
          </a:p>
        </p:txBody>
      </p:sp>
      <p:sp>
        <p:nvSpPr>
          <p:cNvPr id="3" name="Content Placeholder 2"/>
          <p:cNvSpPr>
            <a:spLocks noGrp="1"/>
          </p:cNvSpPr>
          <p:nvPr>
            <p:ph idx="1"/>
          </p:nvPr>
        </p:nvSpPr>
        <p:spPr/>
        <p:txBody>
          <a:bodyPr>
            <a:noAutofit/>
          </a:bodyPr>
          <a:lstStyle/>
          <a:p>
            <a:pPr>
              <a:buClr>
                <a:schemeClr val="tx1"/>
              </a:buClr>
            </a:pPr>
            <a:r>
              <a:rPr lang="en-IN" dirty="0"/>
              <a:t>The text-decoration </a:t>
            </a:r>
            <a:r>
              <a:rPr lang="en-US" dirty="0"/>
              <a:t>property is used to set or remove decorations from text.</a:t>
            </a:r>
          </a:p>
          <a:p>
            <a:pPr>
              <a:buClr>
                <a:schemeClr val="tx1"/>
              </a:buClr>
            </a:pPr>
            <a:r>
              <a:rPr lang="en-US" dirty="0"/>
              <a:t>The value </a:t>
            </a:r>
            <a:r>
              <a:rPr lang="en-IN" dirty="0"/>
              <a:t>text-decoration: none </a:t>
            </a:r>
            <a:r>
              <a:rPr lang="en-US" dirty="0"/>
              <a:t>is often used to remove underlines from links.</a:t>
            </a:r>
          </a:p>
          <a:p>
            <a:pPr algn="l">
              <a:lnSpc>
                <a:spcPct val="90000"/>
              </a:lnSpc>
              <a:spcBef>
                <a:spcPts val="1200"/>
              </a:spcBef>
              <a:buClr>
                <a:schemeClr val="tx1"/>
              </a:buClr>
            </a:pPr>
            <a:r>
              <a:rPr lang="en-IN" dirty="0"/>
              <a:t>a {</a:t>
            </a:r>
            <a:br>
              <a:rPr lang="en-IN" dirty="0"/>
            </a:br>
            <a:r>
              <a:rPr lang="en-IN" dirty="0"/>
              <a:t>  text-decoration: none;</a:t>
            </a:r>
            <a:br>
              <a:rPr lang="en-IN" dirty="0"/>
            </a:br>
            <a:r>
              <a:rPr lang="en-IN" dirty="0"/>
              <a:t>}</a:t>
            </a:r>
          </a:p>
          <a:p>
            <a:pPr algn="l">
              <a:lnSpc>
                <a:spcPct val="90000"/>
              </a:lnSpc>
              <a:spcBef>
                <a:spcPts val="1200"/>
              </a:spcBef>
              <a:buClr>
                <a:schemeClr val="tx1"/>
              </a:buClr>
            </a:pPr>
            <a:r>
              <a:rPr lang="en-IN" dirty="0"/>
              <a:t>The other text-decoration </a:t>
            </a:r>
            <a:r>
              <a:rPr lang="en-US" dirty="0">
                <a:ea typeface="SimSun-ExtB" panose="02010609060101010101" pitchFamily="49" charset="-122"/>
              </a:rPr>
              <a:t>values are used to decorate text.</a:t>
            </a:r>
          </a:p>
          <a:p>
            <a:pPr algn="l">
              <a:lnSpc>
                <a:spcPct val="90000"/>
              </a:lnSpc>
              <a:spcBef>
                <a:spcPts val="1200"/>
              </a:spcBef>
              <a:buClr>
                <a:schemeClr val="tx1"/>
              </a:buClr>
            </a:pPr>
            <a:r>
              <a:rPr lang="en-US" dirty="0"/>
              <a:t>h1 {</a:t>
            </a:r>
            <a:br>
              <a:rPr lang="en-US" dirty="0"/>
            </a:br>
            <a:r>
              <a:rPr lang="en-US" dirty="0"/>
              <a:t>  text-decoration: </a:t>
            </a:r>
            <a:r>
              <a:rPr lang="en-US" dirty="0" err="1"/>
              <a:t>overline</a:t>
            </a:r>
            <a:r>
              <a:rPr lang="en-US" dirty="0"/>
              <a:t>;</a:t>
            </a:r>
            <a:br>
              <a:rPr lang="en-US" dirty="0"/>
            </a:br>
            <a:r>
              <a:rPr lang="en-US" dirty="0"/>
              <a:t>}</a:t>
            </a:r>
            <a:br>
              <a:rPr lang="en-US" dirty="0"/>
            </a:br>
            <a:br>
              <a:rPr lang="en-US" dirty="0"/>
            </a:br>
            <a:r>
              <a:rPr lang="en-US" dirty="0"/>
              <a:t>h2 {</a:t>
            </a:r>
            <a:br>
              <a:rPr lang="en-US" dirty="0"/>
            </a:br>
            <a:r>
              <a:rPr lang="en-US" dirty="0"/>
              <a:t>  text-decoration: line-through;</a:t>
            </a:r>
            <a:br>
              <a:rPr lang="en-US" dirty="0"/>
            </a:br>
            <a:r>
              <a:rPr lang="en-US" dirty="0"/>
              <a:t>}</a:t>
            </a:r>
            <a:br>
              <a:rPr lang="en-US" dirty="0"/>
            </a:br>
            <a:br>
              <a:rPr lang="en-US" dirty="0"/>
            </a:br>
            <a:r>
              <a:rPr lang="en-US" dirty="0"/>
              <a:t>h3 {</a:t>
            </a:r>
            <a:br>
              <a:rPr lang="en-US" dirty="0"/>
            </a:br>
            <a:r>
              <a:rPr lang="en-US" dirty="0"/>
              <a:t>  text-decoration: underline;</a:t>
            </a:r>
            <a:br>
              <a:rPr lang="en-US" dirty="0"/>
            </a:br>
            <a:r>
              <a:rPr lang="en-US" dirty="0"/>
              <a:t>}</a:t>
            </a:r>
            <a:endParaRPr lang="en-IN" dirty="0">
              <a:ea typeface="SimSun-ExtB" panose="02010609060101010101" pitchFamily="49" charset="-122"/>
            </a:endParaRPr>
          </a:p>
          <a:p>
            <a:pPr>
              <a:buClr>
                <a:schemeClr val="tx1"/>
              </a:buClr>
            </a:pPr>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61</a:t>
            </a:fld>
            <a:endParaRPr lang="en-IN" dirty="0"/>
          </a:p>
        </p:txBody>
      </p:sp>
    </p:spTree>
    <p:extLst>
      <p:ext uri="{BB962C8B-B14F-4D97-AF65-F5344CB8AC3E}">
        <p14:creationId xmlns:p14="http://schemas.microsoft.com/office/powerpoint/2010/main" val="2194017796"/>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62</a:t>
            </a:fld>
            <a:endParaRPr lang="en-IN" dirty="0"/>
          </a:p>
        </p:txBody>
      </p:sp>
      <p:sp>
        <p:nvSpPr>
          <p:cNvPr id="5" name="Rectangle 4"/>
          <p:cNvSpPr/>
          <p:nvPr/>
        </p:nvSpPr>
        <p:spPr>
          <a:xfrm>
            <a:off x="290917" y="1027541"/>
            <a:ext cx="6096000" cy="5909310"/>
          </a:xfrm>
          <a:prstGeom prst="rect">
            <a:avLst/>
          </a:prstGeom>
        </p:spPr>
        <p:txBody>
          <a:bodyPr>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r>
              <a:rPr lang="en-US" dirty="0">
                <a:latin typeface="Proxima Nova" panose="020B0604020202020204"/>
                <a:ea typeface="Cambria" panose="02040503050406030204" pitchFamily="18" charset="0"/>
              </a:rPr>
              <a:t>		&lt;style&gt;</a:t>
            </a:r>
          </a:p>
          <a:p>
            <a:pPr lvl="3"/>
            <a:r>
              <a:rPr lang="en-US" dirty="0">
                <a:latin typeface="Proxima Nova" panose="020B0604020202020204"/>
                <a:ea typeface="Cambria" panose="02040503050406030204" pitchFamily="18" charset="0"/>
              </a:rPr>
              <a:t>h1 {</a:t>
            </a:r>
          </a:p>
          <a:p>
            <a:pPr lvl="3"/>
            <a:r>
              <a:rPr lang="en-US" dirty="0">
                <a:latin typeface="Proxima Nova" panose="020B0604020202020204"/>
                <a:ea typeface="Cambria" panose="02040503050406030204" pitchFamily="18" charset="0"/>
              </a:rPr>
              <a:t>  text-decoration: </a:t>
            </a:r>
            <a:r>
              <a:rPr lang="en-US" dirty="0" err="1">
                <a:latin typeface="Proxima Nova" panose="020B0604020202020204"/>
                <a:ea typeface="Cambria" panose="02040503050406030204" pitchFamily="18" charset="0"/>
              </a:rPr>
              <a:t>overline</a:t>
            </a:r>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a:t>
            </a:r>
          </a:p>
          <a:p>
            <a:pPr lvl="3"/>
            <a:endParaRPr lang="en-US" dirty="0">
              <a:latin typeface="Proxima Nova" panose="020B0604020202020204"/>
              <a:ea typeface="Cambria" panose="02040503050406030204" pitchFamily="18" charset="0"/>
            </a:endParaRPr>
          </a:p>
          <a:p>
            <a:pPr lvl="3"/>
            <a:r>
              <a:rPr lang="en-US" dirty="0">
                <a:latin typeface="Proxima Nova" panose="020B0604020202020204"/>
                <a:ea typeface="Cambria" panose="02040503050406030204" pitchFamily="18" charset="0"/>
              </a:rPr>
              <a:t>h2 {</a:t>
            </a:r>
          </a:p>
          <a:p>
            <a:pPr lvl="3"/>
            <a:r>
              <a:rPr lang="en-US" dirty="0">
                <a:latin typeface="Proxima Nova" panose="020B0604020202020204"/>
                <a:ea typeface="Cambria" panose="02040503050406030204" pitchFamily="18" charset="0"/>
              </a:rPr>
              <a:t>  text-decoration: line-through;</a:t>
            </a:r>
          </a:p>
          <a:p>
            <a:pPr lvl="3"/>
            <a:r>
              <a:rPr lang="en-US" dirty="0">
                <a:latin typeface="Proxima Nova" panose="020B0604020202020204"/>
                <a:ea typeface="Cambria" panose="02040503050406030204" pitchFamily="18" charset="0"/>
              </a:rPr>
              <a:t>}</a:t>
            </a:r>
          </a:p>
          <a:p>
            <a:pPr lvl="3"/>
            <a:endParaRPr lang="en-US" dirty="0">
              <a:latin typeface="Proxima Nova" panose="020B0604020202020204"/>
              <a:ea typeface="Cambria" panose="02040503050406030204" pitchFamily="18" charset="0"/>
            </a:endParaRPr>
          </a:p>
          <a:p>
            <a:pPr lvl="3"/>
            <a:r>
              <a:rPr lang="en-US" dirty="0">
                <a:latin typeface="Proxima Nova" panose="020B0604020202020204"/>
                <a:ea typeface="Cambria" panose="02040503050406030204" pitchFamily="18" charset="0"/>
              </a:rPr>
              <a:t>h3 {</a:t>
            </a:r>
          </a:p>
          <a:p>
            <a:pPr lvl="3"/>
            <a:r>
              <a:rPr lang="en-US" dirty="0">
                <a:latin typeface="Proxima Nova" panose="020B0604020202020204"/>
                <a:ea typeface="Cambria" panose="02040503050406030204" pitchFamily="18" charset="0"/>
              </a:rPr>
              <a:t>  text-decoration: underline;</a:t>
            </a:r>
          </a:p>
          <a:p>
            <a:pPr lvl="3"/>
            <a:r>
              <a:rPr lang="en-US" dirty="0">
                <a:latin typeface="Proxima Nova" panose="020B0604020202020204"/>
                <a:ea typeface="Cambria" panose="02040503050406030204" pitchFamily="18" charset="0"/>
              </a:rPr>
              <a:t>}</a:t>
            </a:r>
          </a:p>
          <a:p>
            <a:pPr lvl="3"/>
            <a:endParaRPr lang="en-US" dirty="0">
              <a:latin typeface="Proxima Nova" panose="020B0604020202020204"/>
              <a:ea typeface="Cambria" panose="02040503050406030204" pitchFamily="18" charset="0"/>
            </a:endParaRPr>
          </a:p>
          <a:p>
            <a:pPr lvl="3"/>
            <a:r>
              <a:rPr lang="en-US" dirty="0" err="1">
                <a:latin typeface="Proxima Nova" panose="020B0604020202020204"/>
                <a:ea typeface="Cambria" panose="02040503050406030204" pitchFamily="18" charset="0"/>
              </a:rPr>
              <a:t>p.ex</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text-decoration: </a:t>
            </a:r>
            <a:r>
              <a:rPr lang="en-US" dirty="0" err="1">
                <a:latin typeface="Proxima Nova" panose="020B0604020202020204"/>
                <a:ea typeface="Cambria" panose="02040503050406030204" pitchFamily="18" charset="0"/>
              </a:rPr>
              <a:t>overline</a:t>
            </a:r>
            <a:r>
              <a:rPr lang="en-US" dirty="0">
                <a:latin typeface="Proxima Nova" panose="020B0604020202020204"/>
                <a:ea typeface="Cambria" panose="02040503050406030204" pitchFamily="18" charset="0"/>
              </a:rPr>
              <a:t> underline;</a:t>
            </a:r>
          </a:p>
          <a:p>
            <a:pPr lvl="3"/>
            <a:r>
              <a:rPr lang="en-US" dirty="0">
                <a:latin typeface="Proxima Nova" panose="020B0604020202020204"/>
                <a:ea typeface="Cambria" panose="02040503050406030204" pitchFamily="18" charset="0"/>
              </a:rPr>
              <a:t>}</a:t>
            </a:r>
          </a:p>
          <a:p>
            <a:r>
              <a:rPr lang="en-US" dirty="0">
                <a:latin typeface="Proxima Nova" panose="020B0604020202020204"/>
                <a:ea typeface="Cambria" panose="02040503050406030204" pitchFamily="18" charset="0"/>
              </a:rPr>
              <a:t>	&lt;/style&gt;</a:t>
            </a:r>
          </a:p>
          <a:p>
            <a:r>
              <a:rPr lang="en-US" dirty="0">
                <a:latin typeface="Proxima Nova" panose="020B0604020202020204"/>
                <a:ea typeface="Cambria" panose="02040503050406030204" pitchFamily="18" charset="0"/>
              </a:rPr>
              <a:t>&lt;/head&gt;</a:t>
            </a:r>
          </a:p>
        </p:txBody>
      </p:sp>
      <p:sp>
        <p:nvSpPr>
          <p:cNvPr id="6" name="Rectangle 5"/>
          <p:cNvSpPr/>
          <p:nvPr/>
        </p:nvSpPr>
        <p:spPr>
          <a:xfrm>
            <a:off x="5810654" y="999746"/>
            <a:ext cx="6096000" cy="2862322"/>
          </a:xfrm>
          <a:prstGeom prst="rect">
            <a:avLst/>
          </a:prstGeom>
        </p:spPr>
        <p:txBody>
          <a:bodyPr>
            <a:spAutoFit/>
          </a:bodyPr>
          <a:lstStyle/>
          <a:p>
            <a:r>
              <a:rPr lang="en-US" dirty="0">
                <a:latin typeface="Proxima Nova" panose="020B0604020202020204"/>
                <a:ea typeface="Cambria" panose="02040503050406030204" pitchFamily="18" charset="0"/>
              </a:rPr>
              <a:t>	&lt;body&gt;</a:t>
            </a:r>
          </a:p>
          <a:p>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&lt;h1&gt;</a:t>
            </a:r>
            <a:r>
              <a:rPr lang="en-US" dirty="0" err="1">
                <a:latin typeface="Proxima Nova" panose="020B0604020202020204"/>
                <a:ea typeface="Cambria" panose="02040503050406030204" pitchFamily="18" charset="0"/>
              </a:rPr>
              <a:t>Overline</a:t>
            </a:r>
            <a:r>
              <a:rPr lang="en-US" dirty="0">
                <a:latin typeface="Proxima Nova" panose="020B0604020202020204"/>
                <a:ea typeface="Cambria" panose="02040503050406030204" pitchFamily="18" charset="0"/>
              </a:rPr>
              <a:t> text decoration&lt;/h1&gt;</a:t>
            </a:r>
          </a:p>
          <a:p>
            <a:pPr lvl="2"/>
            <a:r>
              <a:rPr lang="en-US" dirty="0">
                <a:latin typeface="Proxima Nova" panose="020B0604020202020204"/>
                <a:ea typeface="Cambria" panose="02040503050406030204" pitchFamily="18" charset="0"/>
              </a:rPr>
              <a:t>&lt;h2&gt;Line-through text decoration&lt;/h2&gt;</a:t>
            </a:r>
          </a:p>
          <a:p>
            <a:pPr lvl="2"/>
            <a:r>
              <a:rPr lang="en-US" dirty="0">
                <a:latin typeface="Proxima Nova" panose="020B0604020202020204"/>
                <a:ea typeface="Cambria" panose="02040503050406030204" pitchFamily="18" charset="0"/>
              </a:rPr>
              <a:t>&lt;h3&gt;Underline text decoration&lt;/h3&gt;</a:t>
            </a:r>
          </a:p>
          <a:p>
            <a:pPr lvl="2"/>
            <a:r>
              <a:rPr lang="en-US" dirty="0">
                <a:latin typeface="Proxima Nova" panose="020B0604020202020204"/>
                <a:ea typeface="Cambria" panose="02040503050406030204" pitchFamily="18" charset="0"/>
              </a:rPr>
              <a:t>&lt;p class="ex"&gt;</a:t>
            </a:r>
            <a:r>
              <a:rPr lang="en-US" dirty="0" err="1">
                <a:latin typeface="Proxima Nova" panose="020B0604020202020204"/>
                <a:ea typeface="Cambria" panose="02040503050406030204" pitchFamily="18" charset="0"/>
              </a:rPr>
              <a:t>Overline</a:t>
            </a:r>
            <a:r>
              <a:rPr lang="en-US" dirty="0">
                <a:latin typeface="Proxima Nova" panose="020B0604020202020204"/>
                <a:ea typeface="Cambria" panose="02040503050406030204" pitchFamily="18" charset="0"/>
              </a:rPr>
              <a:t> and underline text decoration.&lt;/p&gt;</a:t>
            </a:r>
          </a:p>
          <a:p>
            <a:endParaRPr lang="en-US" dirty="0">
              <a:latin typeface="Proxima Nova" panose="020B0604020202020204"/>
              <a:ea typeface="Cambria" panose="02040503050406030204" pitchFamily="18" charset="0"/>
            </a:endParaRP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pic>
        <p:nvPicPr>
          <p:cNvPr id="7" name="Picture 6"/>
          <p:cNvPicPr>
            <a:picLocks noChangeAspect="1"/>
          </p:cNvPicPr>
          <p:nvPr/>
        </p:nvPicPr>
        <p:blipFill>
          <a:blip r:embed="rId2"/>
          <a:stretch>
            <a:fillRect/>
          </a:stretch>
        </p:blipFill>
        <p:spPr>
          <a:xfrm>
            <a:off x="6386917" y="3834273"/>
            <a:ext cx="4943475" cy="2771775"/>
          </a:xfrm>
          <a:prstGeom prst="rect">
            <a:avLst/>
          </a:prstGeom>
          <a:ln w="19050">
            <a:solidFill>
              <a:schemeClr val="tx1"/>
            </a:solidFill>
          </a:ln>
        </p:spPr>
      </p:pic>
      <p:sp>
        <p:nvSpPr>
          <p:cNvPr id="2" name="Title 1">
            <a:extLst>
              <a:ext uri="{FF2B5EF4-FFF2-40B4-BE49-F238E27FC236}">
                <a16:creationId xmlns:a16="http://schemas.microsoft.com/office/drawing/2014/main" id="{8F6E5271-B612-0EB9-9EF4-5F64CF07F3D2}"/>
              </a:ext>
            </a:extLst>
          </p:cNvPr>
          <p:cNvSpPr txBox="1">
            <a:spLocks/>
          </p:cNvSpPr>
          <p:nvPr/>
        </p:nvSpPr>
        <p:spPr>
          <a:xfrm>
            <a:off x="254131" y="188340"/>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endParaRPr lang="en-IN" sz="2400" dirty="0">
              <a:solidFill>
                <a:srgbClr val="00B0F0"/>
              </a:solidFill>
              <a:latin typeface="Proxima Nova" panose="020B0604020202020204"/>
            </a:endParaRPr>
          </a:p>
        </p:txBody>
      </p:sp>
    </p:spTree>
    <p:extLst>
      <p:ext uri="{BB962C8B-B14F-4D97-AF65-F5344CB8AC3E}">
        <p14:creationId xmlns:p14="http://schemas.microsoft.com/office/powerpoint/2010/main" val="46194722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20" end="2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Text Transformation</a:t>
            </a:r>
            <a:endParaRPr lang="en-US" dirty="0"/>
          </a:p>
        </p:txBody>
      </p:sp>
      <p:sp>
        <p:nvSpPr>
          <p:cNvPr id="3" name="Content Placeholder 2"/>
          <p:cNvSpPr>
            <a:spLocks noGrp="1"/>
          </p:cNvSpPr>
          <p:nvPr>
            <p:ph idx="1"/>
          </p:nvPr>
        </p:nvSpPr>
        <p:spPr/>
        <p:txBody>
          <a:bodyPr>
            <a:noAutofit/>
          </a:bodyPr>
          <a:lstStyle/>
          <a:p>
            <a:r>
              <a:rPr lang="en-US" dirty="0"/>
              <a:t>The text-transform property is used to specify uppercase and lowercase letters in a text.</a:t>
            </a:r>
          </a:p>
          <a:p>
            <a:r>
              <a:rPr lang="en-US" dirty="0"/>
              <a:t>It can be used to turn everything into uppercase or lowercase letters, or capitalize the first letter of each word.</a:t>
            </a:r>
          </a:p>
          <a:p>
            <a:pPr marL="0" lvl="0" indent="0" algn="l">
              <a:lnSpc>
                <a:spcPct val="90000"/>
              </a:lnSpc>
              <a:spcBef>
                <a:spcPts val="1200"/>
              </a:spcBef>
              <a:buClr>
                <a:srgbClr val="40BAD2"/>
              </a:buClr>
              <a:buNone/>
            </a:pPr>
            <a:r>
              <a:rPr lang="en-IN" dirty="0"/>
              <a:t>	</a:t>
            </a:r>
            <a:r>
              <a:rPr lang="en-IN" dirty="0" err="1"/>
              <a:t>p.uppercase</a:t>
            </a:r>
            <a:r>
              <a:rPr lang="en-IN" dirty="0"/>
              <a:t> {</a:t>
            </a:r>
          </a:p>
          <a:p>
            <a:pPr marL="0" lvl="0" indent="0" algn="l">
              <a:lnSpc>
                <a:spcPct val="90000"/>
              </a:lnSpc>
              <a:spcBef>
                <a:spcPts val="1200"/>
              </a:spcBef>
              <a:buClr>
                <a:srgbClr val="40BAD2"/>
              </a:buClr>
              <a:buNone/>
            </a:pPr>
            <a:r>
              <a:rPr lang="en-IN" dirty="0"/>
              <a:t>		  text-transform: uppercase;</a:t>
            </a:r>
          </a:p>
          <a:p>
            <a:pPr marL="0" lvl="0" indent="0" algn="l">
              <a:lnSpc>
                <a:spcPct val="90000"/>
              </a:lnSpc>
              <a:spcBef>
                <a:spcPts val="1200"/>
              </a:spcBef>
              <a:buClr>
                <a:srgbClr val="40BAD2"/>
              </a:buClr>
              <a:buNone/>
            </a:pPr>
            <a:r>
              <a:rPr lang="en-IN" dirty="0"/>
              <a:t>		}</a:t>
            </a:r>
          </a:p>
          <a:p>
            <a:pPr marL="0" lvl="0" indent="0" algn="l">
              <a:lnSpc>
                <a:spcPct val="90000"/>
              </a:lnSpc>
              <a:spcBef>
                <a:spcPts val="1200"/>
              </a:spcBef>
              <a:buClr>
                <a:srgbClr val="40BAD2"/>
              </a:buClr>
              <a:buNone/>
            </a:pPr>
            <a:endParaRPr lang="en-IN" dirty="0"/>
          </a:p>
          <a:p>
            <a:pPr marL="0" lvl="0" indent="0" algn="l">
              <a:lnSpc>
                <a:spcPct val="90000"/>
              </a:lnSpc>
              <a:spcBef>
                <a:spcPts val="1200"/>
              </a:spcBef>
              <a:buClr>
                <a:srgbClr val="40BAD2"/>
              </a:buClr>
              <a:buNone/>
            </a:pPr>
            <a:r>
              <a:rPr lang="en-IN" dirty="0"/>
              <a:t>	</a:t>
            </a:r>
            <a:r>
              <a:rPr lang="en-IN" dirty="0" err="1"/>
              <a:t>p.lowercase</a:t>
            </a:r>
            <a:r>
              <a:rPr lang="en-IN" dirty="0"/>
              <a:t> {</a:t>
            </a:r>
          </a:p>
          <a:p>
            <a:pPr marL="0" lvl="0" indent="0" algn="l">
              <a:lnSpc>
                <a:spcPct val="90000"/>
              </a:lnSpc>
              <a:spcBef>
                <a:spcPts val="1200"/>
              </a:spcBef>
              <a:buClr>
                <a:srgbClr val="40BAD2"/>
              </a:buClr>
              <a:buNone/>
            </a:pPr>
            <a:r>
              <a:rPr lang="en-IN" dirty="0"/>
              <a:t>		  text-transform: lowercase;</a:t>
            </a:r>
          </a:p>
          <a:p>
            <a:pPr marL="0" lvl="0" indent="0" algn="l">
              <a:lnSpc>
                <a:spcPct val="90000"/>
              </a:lnSpc>
              <a:spcBef>
                <a:spcPts val="1200"/>
              </a:spcBef>
              <a:buClr>
                <a:srgbClr val="40BAD2"/>
              </a:buClr>
              <a:buNone/>
            </a:pPr>
            <a:r>
              <a:rPr lang="en-IN" dirty="0"/>
              <a:t>	}</a:t>
            </a:r>
          </a:p>
          <a:p>
            <a:pPr marL="0" lvl="0" indent="0" algn="l">
              <a:lnSpc>
                <a:spcPct val="90000"/>
              </a:lnSpc>
              <a:spcBef>
                <a:spcPts val="1200"/>
              </a:spcBef>
              <a:buClr>
                <a:srgbClr val="40BAD2"/>
              </a:buClr>
              <a:buNone/>
            </a:pPr>
            <a:r>
              <a:rPr lang="en-IN" dirty="0"/>
              <a:t>	</a:t>
            </a:r>
            <a:r>
              <a:rPr lang="en-IN" dirty="0" err="1"/>
              <a:t>p.capitalize</a:t>
            </a:r>
            <a:r>
              <a:rPr lang="en-IN" dirty="0"/>
              <a:t> {</a:t>
            </a:r>
          </a:p>
          <a:p>
            <a:pPr marL="0" lvl="0" indent="0" algn="l">
              <a:lnSpc>
                <a:spcPct val="90000"/>
              </a:lnSpc>
              <a:spcBef>
                <a:spcPts val="1200"/>
              </a:spcBef>
              <a:buClr>
                <a:srgbClr val="40BAD2"/>
              </a:buClr>
              <a:buNone/>
            </a:pPr>
            <a:r>
              <a:rPr lang="en-IN" dirty="0"/>
              <a:t>  		text-transform: capitalize;</a:t>
            </a:r>
          </a:p>
          <a:p>
            <a:pPr marL="0" lvl="0" indent="0" algn="l">
              <a:lnSpc>
                <a:spcPct val="90000"/>
              </a:lnSpc>
              <a:spcBef>
                <a:spcPts val="1200"/>
              </a:spcBef>
              <a:buClr>
                <a:srgbClr val="40BAD2"/>
              </a:buClr>
              <a:buNone/>
            </a:pPr>
            <a:r>
              <a:rPr lang="en-IN" dirty="0"/>
              <a:t>	}</a:t>
            </a:r>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63</a:t>
            </a:fld>
            <a:endParaRPr lang="en-IN" dirty="0"/>
          </a:p>
        </p:txBody>
      </p:sp>
    </p:spTree>
    <p:extLst>
      <p:ext uri="{BB962C8B-B14F-4D97-AF65-F5344CB8AC3E}">
        <p14:creationId xmlns:p14="http://schemas.microsoft.com/office/powerpoint/2010/main" val="86305726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64</a:t>
            </a:fld>
            <a:endParaRPr lang="en-IN" dirty="0"/>
          </a:p>
        </p:txBody>
      </p:sp>
      <p:sp>
        <p:nvSpPr>
          <p:cNvPr id="5" name="Rectangle 4"/>
          <p:cNvSpPr/>
          <p:nvPr/>
        </p:nvSpPr>
        <p:spPr>
          <a:xfrm>
            <a:off x="442609" y="948690"/>
            <a:ext cx="10692116" cy="5909310"/>
          </a:xfrm>
          <a:prstGeom prst="rect">
            <a:avLst/>
          </a:prstGeom>
        </p:spPr>
        <p:txBody>
          <a:bodyPr wrap="square">
            <a:spAutoFit/>
          </a:bodyPr>
          <a:lstStyle/>
          <a:p>
            <a:r>
              <a:rPr lang="en-US" dirty="0">
                <a:latin typeface="Proxima Nova" panose="020B0604020202020204"/>
              </a:rPr>
              <a:t>&lt;!DOCTYPE html&gt;</a:t>
            </a:r>
          </a:p>
          <a:p>
            <a:r>
              <a:rPr lang="en-US" dirty="0">
                <a:latin typeface="Proxima Nova" panose="020B0604020202020204"/>
              </a:rPr>
              <a:t>&lt;html&gt;</a:t>
            </a:r>
          </a:p>
          <a:p>
            <a:r>
              <a:rPr lang="en-US" dirty="0">
                <a:latin typeface="Proxima Nova" panose="020B0604020202020204"/>
              </a:rPr>
              <a:t>	&lt;head&gt;</a:t>
            </a:r>
          </a:p>
          <a:p>
            <a:r>
              <a:rPr lang="en-US" dirty="0">
                <a:latin typeface="Proxima Nova" panose="020B0604020202020204"/>
              </a:rPr>
              <a:t>		&lt;style&gt;</a:t>
            </a:r>
          </a:p>
          <a:p>
            <a:r>
              <a:rPr lang="en-US" dirty="0">
                <a:latin typeface="Proxima Nova" panose="020B0604020202020204"/>
              </a:rPr>
              <a:t>			</a:t>
            </a:r>
            <a:r>
              <a:rPr lang="en-US" dirty="0" err="1">
                <a:latin typeface="Proxima Nova" panose="020B0604020202020204"/>
              </a:rPr>
              <a:t>p.uppercase</a:t>
            </a:r>
            <a:r>
              <a:rPr lang="en-US" dirty="0">
                <a:latin typeface="Proxima Nova" panose="020B0604020202020204"/>
              </a:rPr>
              <a:t> {</a:t>
            </a:r>
          </a:p>
          <a:p>
            <a:r>
              <a:rPr lang="en-US" dirty="0">
                <a:latin typeface="Proxima Nova" panose="020B0604020202020204"/>
              </a:rPr>
              <a:t> 				 text-transform: uppercase;</a:t>
            </a:r>
          </a:p>
          <a:p>
            <a:r>
              <a:rPr lang="en-US" dirty="0">
                <a:latin typeface="Proxima Nova" panose="020B0604020202020204"/>
              </a:rPr>
              <a:t>			}</a:t>
            </a:r>
          </a:p>
          <a:p>
            <a:pPr lvl="6"/>
            <a:r>
              <a:rPr lang="en-US" dirty="0" err="1">
                <a:latin typeface="Proxima Nova" panose="020B0604020202020204"/>
              </a:rPr>
              <a:t>p.lowercase</a:t>
            </a:r>
            <a:r>
              <a:rPr lang="en-US" dirty="0">
                <a:latin typeface="Proxima Nova" panose="020B0604020202020204"/>
              </a:rPr>
              <a:t> {</a:t>
            </a:r>
          </a:p>
          <a:p>
            <a:pPr lvl="6"/>
            <a:r>
              <a:rPr lang="en-US" dirty="0">
                <a:latin typeface="Proxima Nova" panose="020B0604020202020204"/>
              </a:rPr>
              <a:t>  text-transform: lowercase;</a:t>
            </a:r>
          </a:p>
          <a:p>
            <a:pPr lvl="6"/>
            <a:r>
              <a:rPr lang="en-US" dirty="0">
                <a:latin typeface="Proxima Nova" panose="020B0604020202020204"/>
              </a:rPr>
              <a:t>}</a:t>
            </a:r>
          </a:p>
          <a:p>
            <a:pPr lvl="6"/>
            <a:r>
              <a:rPr lang="en-US" dirty="0" err="1">
                <a:latin typeface="Proxima Nova" panose="020B0604020202020204"/>
              </a:rPr>
              <a:t>p.capitalize</a:t>
            </a:r>
            <a:r>
              <a:rPr lang="en-US" dirty="0">
                <a:latin typeface="Proxima Nova" panose="020B0604020202020204"/>
              </a:rPr>
              <a:t> {</a:t>
            </a:r>
          </a:p>
          <a:p>
            <a:pPr lvl="6"/>
            <a:r>
              <a:rPr lang="en-US" dirty="0">
                <a:latin typeface="Proxima Nova" panose="020B0604020202020204"/>
              </a:rPr>
              <a:t>  text-transform: capitalize;</a:t>
            </a:r>
          </a:p>
          <a:p>
            <a:pPr lvl="6"/>
            <a:r>
              <a:rPr lang="en-US" dirty="0">
                <a:latin typeface="Proxima Nova" panose="020B0604020202020204"/>
              </a:rPr>
              <a:t>}</a:t>
            </a:r>
          </a:p>
          <a:p>
            <a:r>
              <a:rPr lang="en-US" dirty="0">
                <a:latin typeface="Proxima Nova" panose="020B0604020202020204"/>
              </a:rPr>
              <a:t>		&lt;/style&gt;</a:t>
            </a:r>
          </a:p>
          <a:p>
            <a:r>
              <a:rPr lang="en-US" dirty="0">
                <a:latin typeface="Proxima Nova" panose="020B0604020202020204"/>
              </a:rPr>
              <a:t>	&lt;/head&gt;</a:t>
            </a:r>
          </a:p>
          <a:p>
            <a:r>
              <a:rPr lang="en-US" dirty="0">
                <a:latin typeface="Proxima Nova" panose="020B0604020202020204"/>
              </a:rPr>
              <a:t>	&lt;body&gt;</a:t>
            </a:r>
          </a:p>
          <a:p>
            <a:pPr lvl="2"/>
            <a:r>
              <a:rPr lang="en-US" dirty="0">
                <a:latin typeface="Proxima Nova" panose="020B0604020202020204"/>
              </a:rPr>
              <a:t>	&lt;p class="uppercase"&gt;This text is transformed to uppercase.&lt;/p&gt;</a:t>
            </a:r>
          </a:p>
          <a:p>
            <a:pPr lvl="2"/>
            <a:r>
              <a:rPr lang="en-US" dirty="0">
                <a:latin typeface="Proxima Nova" panose="020B0604020202020204"/>
              </a:rPr>
              <a:t>	&lt;p class="lowercase"&gt;This text is transformed to lowercase.&lt;/p&gt;</a:t>
            </a:r>
          </a:p>
          <a:p>
            <a:pPr lvl="2"/>
            <a:r>
              <a:rPr lang="en-US" dirty="0">
                <a:latin typeface="Proxima Nova" panose="020B0604020202020204"/>
              </a:rPr>
              <a:t>	&lt;p class="capitalize"&gt;This text is capitalized.&lt;/p&gt;</a:t>
            </a:r>
          </a:p>
          <a:p>
            <a:r>
              <a:rPr lang="en-US" dirty="0">
                <a:latin typeface="Proxima Nova" panose="020B0604020202020204"/>
              </a:rPr>
              <a:t>	&lt;/body&gt;</a:t>
            </a:r>
          </a:p>
          <a:p>
            <a:r>
              <a:rPr lang="en-US" dirty="0">
                <a:latin typeface="Proxima Nova" panose="020B0604020202020204"/>
              </a:rPr>
              <a:t>&lt;/html&gt;</a:t>
            </a:r>
          </a:p>
        </p:txBody>
      </p:sp>
      <p:pic>
        <p:nvPicPr>
          <p:cNvPr id="6" name="Picture 5"/>
          <p:cNvPicPr>
            <a:picLocks noChangeAspect="1"/>
          </p:cNvPicPr>
          <p:nvPr/>
        </p:nvPicPr>
        <p:blipFill>
          <a:blip r:embed="rId2"/>
          <a:stretch>
            <a:fillRect/>
          </a:stretch>
        </p:blipFill>
        <p:spPr>
          <a:xfrm>
            <a:off x="6209590" y="3135549"/>
            <a:ext cx="5400675" cy="1733550"/>
          </a:xfrm>
          <a:prstGeom prst="rect">
            <a:avLst/>
          </a:prstGeom>
          <a:ln w="19050">
            <a:solidFill>
              <a:schemeClr val="tx1"/>
            </a:solidFill>
          </a:ln>
        </p:spPr>
      </p:pic>
      <p:sp>
        <p:nvSpPr>
          <p:cNvPr id="2" name="Title 1">
            <a:extLst>
              <a:ext uri="{FF2B5EF4-FFF2-40B4-BE49-F238E27FC236}">
                <a16:creationId xmlns:a16="http://schemas.microsoft.com/office/drawing/2014/main" id="{5BE24457-807A-8F97-9BED-C56B0F4D74EF}"/>
              </a:ext>
            </a:extLst>
          </p:cNvPr>
          <p:cNvSpPr txBox="1">
            <a:spLocks/>
          </p:cNvSpPr>
          <p:nvPr/>
        </p:nvSpPr>
        <p:spPr>
          <a:xfrm>
            <a:off x="223534"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endParaRPr lang="en-IN" sz="2400" dirty="0">
              <a:solidFill>
                <a:srgbClr val="00B0F0"/>
              </a:solidFill>
              <a:latin typeface="Proxima Nova" panose="020B0604020202020204"/>
            </a:endParaRPr>
          </a:p>
        </p:txBody>
      </p:sp>
    </p:spTree>
    <p:extLst>
      <p:ext uri="{BB962C8B-B14F-4D97-AF65-F5344CB8AC3E}">
        <p14:creationId xmlns:p14="http://schemas.microsoft.com/office/powerpoint/2010/main" val="89176026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Spacing</a:t>
            </a:r>
            <a:br>
              <a:rPr lang="en-US" dirty="0"/>
            </a:br>
            <a:endParaRPr lang="en-US" dirty="0"/>
          </a:p>
        </p:txBody>
      </p:sp>
      <p:sp>
        <p:nvSpPr>
          <p:cNvPr id="3" name="Content Placeholder 2"/>
          <p:cNvSpPr>
            <a:spLocks noGrp="1"/>
          </p:cNvSpPr>
          <p:nvPr>
            <p:ph idx="1"/>
          </p:nvPr>
        </p:nvSpPr>
        <p:spPr/>
        <p:txBody>
          <a:bodyPr/>
          <a:lstStyle/>
          <a:p>
            <a:r>
              <a:rPr lang="en-US" dirty="0"/>
              <a:t>We  will learn about the following properties:</a:t>
            </a:r>
          </a:p>
          <a:p>
            <a:r>
              <a:rPr lang="en-US" dirty="0"/>
              <a:t>    text-indent</a:t>
            </a:r>
          </a:p>
          <a:p>
            <a:r>
              <a:rPr lang="en-US" dirty="0"/>
              <a:t>    letter-spacing</a:t>
            </a:r>
          </a:p>
          <a:p>
            <a:r>
              <a:rPr lang="en-US" dirty="0"/>
              <a:t>    line-height</a:t>
            </a:r>
          </a:p>
          <a:p>
            <a:r>
              <a:rPr lang="en-US" dirty="0"/>
              <a:t>    word-spacing</a:t>
            </a:r>
          </a:p>
          <a:p>
            <a:r>
              <a:rPr lang="en-US" dirty="0"/>
              <a:t>    white-space</a:t>
            </a:r>
          </a:p>
          <a:p>
            <a:r>
              <a:rPr lang="en-US" b="1" dirty="0"/>
              <a:t>Text Indentation:</a:t>
            </a:r>
          </a:p>
          <a:p>
            <a:r>
              <a:rPr lang="en-US" dirty="0"/>
              <a:t>The text-indent property is used to specify the indentation of the first line of a text.</a:t>
            </a:r>
          </a:p>
          <a:p>
            <a:endParaRPr lang="en-US" dirty="0"/>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65</a:t>
            </a:fld>
            <a:endParaRPr lang="en-IN" dirty="0"/>
          </a:p>
        </p:txBody>
      </p:sp>
    </p:spTree>
    <p:extLst>
      <p:ext uri="{BB962C8B-B14F-4D97-AF65-F5344CB8AC3E}">
        <p14:creationId xmlns:p14="http://schemas.microsoft.com/office/powerpoint/2010/main" val="40457324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66</a:t>
            </a:fld>
            <a:endParaRPr lang="en-IN" dirty="0"/>
          </a:p>
        </p:txBody>
      </p:sp>
      <p:sp>
        <p:nvSpPr>
          <p:cNvPr id="5" name="Rectangle 4"/>
          <p:cNvSpPr/>
          <p:nvPr/>
        </p:nvSpPr>
        <p:spPr>
          <a:xfrm>
            <a:off x="392349" y="1115417"/>
            <a:ext cx="11407302" cy="4247317"/>
          </a:xfrm>
          <a:prstGeom prst="rect">
            <a:avLst/>
          </a:prstGeom>
        </p:spPr>
        <p:txBody>
          <a:bodyPr wrap="square">
            <a:spAutoFit/>
          </a:bodyPr>
          <a:lstStyle/>
          <a:p>
            <a:r>
              <a:rPr lang="en-US" dirty="0">
                <a:latin typeface="Proxima Nova" panose="020B0604020202020204"/>
              </a:rPr>
              <a:t>&lt;!DOCTYPE html&gt;</a:t>
            </a:r>
          </a:p>
          <a:p>
            <a:r>
              <a:rPr lang="en-US" dirty="0">
                <a:latin typeface="Proxima Nova" panose="020B0604020202020204"/>
              </a:rPr>
              <a:t>&lt;html&gt;</a:t>
            </a:r>
          </a:p>
          <a:p>
            <a:r>
              <a:rPr lang="en-US" dirty="0">
                <a:latin typeface="Proxima Nova" panose="020B0604020202020204"/>
              </a:rPr>
              <a:t>	&lt;head&gt;</a:t>
            </a:r>
          </a:p>
          <a:p>
            <a:r>
              <a:rPr lang="en-US" dirty="0">
                <a:latin typeface="Proxima Nova" panose="020B0604020202020204"/>
              </a:rPr>
              <a:t>		&lt;style&gt;</a:t>
            </a:r>
          </a:p>
          <a:p>
            <a:r>
              <a:rPr lang="en-US" dirty="0">
                <a:latin typeface="Proxima Nova" panose="020B0604020202020204"/>
              </a:rPr>
              <a:t>			p{</a:t>
            </a:r>
          </a:p>
          <a:p>
            <a:r>
              <a:rPr lang="en-US" dirty="0">
                <a:latin typeface="Proxima Nova" panose="020B0604020202020204"/>
              </a:rPr>
              <a:t> 				 text-indent: 50px;</a:t>
            </a:r>
          </a:p>
          <a:p>
            <a:r>
              <a:rPr lang="en-US" dirty="0">
                <a:latin typeface="Proxima Nova" panose="020B0604020202020204"/>
              </a:rPr>
              <a:t>			}</a:t>
            </a:r>
          </a:p>
          <a:p>
            <a:r>
              <a:rPr lang="en-US" dirty="0">
                <a:latin typeface="Proxima Nova" panose="020B0604020202020204"/>
              </a:rPr>
              <a:t>		&lt;/style&gt;</a:t>
            </a:r>
          </a:p>
          <a:p>
            <a:r>
              <a:rPr lang="en-US" dirty="0">
                <a:latin typeface="Proxima Nova" panose="020B0604020202020204"/>
              </a:rPr>
              <a:t>	&lt;/head&gt;</a:t>
            </a:r>
          </a:p>
          <a:p>
            <a:r>
              <a:rPr lang="en-US" dirty="0">
                <a:latin typeface="Proxima Nova" panose="020B0604020202020204"/>
              </a:rPr>
              <a:t>	&lt;body&gt;</a:t>
            </a:r>
          </a:p>
          <a:p>
            <a:pPr lvl="3"/>
            <a:r>
              <a:rPr lang="en-US" dirty="0">
                <a:latin typeface="Proxima Nova" panose="020B0604020202020204"/>
              </a:rPr>
              <a:t>&lt;p&gt;In my younger and more vulnerable years my father gave me some advice that I've been turning over in my mind ever since. 'Whenever you feel like criticizing anyone,' he told me, 'just remember that all the people in this world haven't had the advantages that you've had.'&lt;/p&gt;</a:t>
            </a:r>
          </a:p>
          <a:p>
            <a:pPr marL="515938" lvl="3"/>
            <a:r>
              <a:rPr lang="en-US" dirty="0">
                <a:latin typeface="Proxima Nova" panose="020B0604020202020204"/>
              </a:rPr>
              <a:t>&lt;/body&gt;</a:t>
            </a:r>
          </a:p>
          <a:p>
            <a:r>
              <a:rPr lang="en-US" dirty="0">
                <a:latin typeface="Proxima Nova" panose="020B0604020202020204"/>
              </a:rPr>
              <a:t>&lt;/html&gt;</a:t>
            </a:r>
          </a:p>
        </p:txBody>
      </p:sp>
      <p:pic>
        <p:nvPicPr>
          <p:cNvPr id="6" name="Picture 5"/>
          <p:cNvPicPr>
            <a:picLocks noChangeAspect="1"/>
          </p:cNvPicPr>
          <p:nvPr/>
        </p:nvPicPr>
        <p:blipFill>
          <a:blip r:embed="rId2"/>
          <a:stretch>
            <a:fillRect/>
          </a:stretch>
        </p:blipFill>
        <p:spPr>
          <a:xfrm>
            <a:off x="2846759" y="5165725"/>
            <a:ext cx="9124950" cy="1190625"/>
          </a:xfrm>
          <a:prstGeom prst="rect">
            <a:avLst/>
          </a:prstGeom>
          <a:ln w="19050">
            <a:solidFill>
              <a:schemeClr val="tx1"/>
            </a:solidFill>
          </a:ln>
        </p:spPr>
      </p:pic>
      <p:sp>
        <p:nvSpPr>
          <p:cNvPr id="2" name="Title 1">
            <a:extLst>
              <a:ext uri="{FF2B5EF4-FFF2-40B4-BE49-F238E27FC236}">
                <a16:creationId xmlns:a16="http://schemas.microsoft.com/office/drawing/2014/main" id="{4FC25D93-0E53-B236-F10D-711795E553CD}"/>
              </a:ext>
            </a:extLst>
          </p:cNvPr>
          <p:cNvSpPr txBox="1">
            <a:spLocks/>
          </p:cNvSpPr>
          <p:nvPr/>
        </p:nvSpPr>
        <p:spPr>
          <a:xfrm>
            <a:off x="223534"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endParaRPr lang="en-IN" sz="2400" dirty="0">
              <a:solidFill>
                <a:srgbClr val="00B0F0"/>
              </a:solidFill>
              <a:latin typeface="Proxima Nova" panose="020B0604020202020204"/>
            </a:endParaRPr>
          </a:p>
        </p:txBody>
      </p:sp>
    </p:spTree>
    <p:extLst>
      <p:ext uri="{BB962C8B-B14F-4D97-AF65-F5344CB8AC3E}">
        <p14:creationId xmlns:p14="http://schemas.microsoft.com/office/powerpoint/2010/main" val="413142375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Letter Spacing</a:t>
            </a:r>
          </a:p>
        </p:txBody>
      </p:sp>
      <p:sp>
        <p:nvSpPr>
          <p:cNvPr id="3" name="Content Placeholder 2"/>
          <p:cNvSpPr>
            <a:spLocks noGrp="1"/>
          </p:cNvSpPr>
          <p:nvPr>
            <p:ph idx="1"/>
          </p:nvPr>
        </p:nvSpPr>
        <p:spPr/>
        <p:txBody>
          <a:bodyPr>
            <a:noAutofit/>
          </a:bodyPr>
          <a:lstStyle/>
          <a:p>
            <a:r>
              <a:rPr lang="en-US" dirty="0"/>
              <a:t>The letter-spacing property is used to specify the space between the characters in a text.</a:t>
            </a:r>
          </a:p>
          <a:p>
            <a:pPr marL="0" indent="0">
              <a:lnSpc>
                <a:spcPct val="100000"/>
              </a:lnSpc>
              <a:buNone/>
            </a:pPr>
            <a:r>
              <a:rPr lang="en-US" dirty="0"/>
              <a:t>&lt;!DOCTYPE html&gt;</a:t>
            </a:r>
          </a:p>
          <a:p>
            <a:pPr marL="0" indent="0">
              <a:lnSpc>
                <a:spcPct val="100000"/>
              </a:lnSpc>
              <a:buNone/>
            </a:pPr>
            <a:r>
              <a:rPr lang="en-US" dirty="0"/>
              <a:t>&lt;html&gt;</a:t>
            </a:r>
          </a:p>
          <a:p>
            <a:pPr marL="0" indent="0">
              <a:lnSpc>
                <a:spcPct val="100000"/>
              </a:lnSpc>
              <a:buNone/>
            </a:pPr>
            <a:r>
              <a:rPr lang="en-US" dirty="0"/>
              <a:t>	&lt;head&gt;</a:t>
            </a:r>
          </a:p>
          <a:p>
            <a:pPr marL="0" indent="0">
              <a:lnSpc>
                <a:spcPct val="100000"/>
              </a:lnSpc>
              <a:buNone/>
            </a:pPr>
            <a:r>
              <a:rPr lang="en-US" dirty="0"/>
              <a:t>		&lt;style&gt;</a:t>
            </a:r>
          </a:p>
          <a:p>
            <a:pPr marL="0" indent="0">
              <a:lnSpc>
                <a:spcPct val="100000"/>
              </a:lnSpc>
              <a:buNone/>
            </a:pPr>
            <a:r>
              <a:rPr lang="en-US" dirty="0"/>
              <a:t>			h2 {</a:t>
            </a:r>
          </a:p>
          <a:p>
            <a:pPr marL="3073400" lvl="7" indent="0">
              <a:lnSpc>
                <a:spcPct val="100000"/>
              </a:lnSpc>
              <a:buNone/>
            </a:pPr>
            <a:r>
              <a:rPr lang="en-US" dirty="0">
                <a:latin typeface="Proxima Nova" panose="020B0604020202020204"/>
                <a:ea typeface="Cambria" panose="02040503050406030204" pitchFamily="18" charset="0"/>
              </a:rPr>
              <a:t>  letter-spacing: 5px;</a:t>
            </a:r>
          </a:p>
          <a:p>
            <a:pPr marL="3073400" lvl="7" indent="0">
              <a:lnSpc>
                <a:spcPct val="100000"/>
              </a:lnSpc>
              <a:buNone/>
            </a:pPr>
            <a:r>
              <a:rPr lang="en-US" dirty="0">
                <a:latin typeface="Proxima Nova" panose="020B0604020202020204"/>
                <a:ea typeface="Cambria" panose="02040503050406030204" pitchFamily="18" charset="0"/>
              </a:rPr>
              <a:t>}</a:t>
            </a:r>
          </a:p>
          <a:p>
            <a:pPr marL="3073400" lvl="7" indent="0">
              <a:lnSpc>
                <a:spcPct val="100000"/>
              </a:lnSpc>
              <a:buNone/>
            </a:pPr>
            <a:endParaRPr lang="en-US" dirty="0">
              <a:latin typeface="Proxima Nova" panose="020B0604020202020204"/>
              <a:ea typeface="Cambria" panose="02040503050406030204" pitchFamily="18" charset="0"/>
            </a:endParaRPr>
          </a:p>
          <a:p>
            <a:pPr marL="3073400" lvl="7" indent="0">
              <a:lnSpc>
                <a:spcPct val="100000"/>
              </a:lnSpc>
              <a:buNone/>
            </a:pPr>
            <a:r>
              <a:rPr lang="en-US" dirty="0">
                <a:latin typeface="Proxima Nova" panose="020B0604020202020204"/>
                <a:ea typeface="Cambria" panose="02040503050406030204" pitchFamily="18" charset="0"/>
              </a:rPr>
              <a:t>h3 {</a:t>
            </a:r>
          </a:p>
          <a:p>
            <a:pPr marL="3073400" lvl="7" indent="0">
              <a:lnSpc>
                <a:spcPct val="100000"/>
              </a:lnSpc>
              <a:buNone/>
            </a:pPr>
            <a:r>
              <a:rPr lang="en-US" dirty="0">
                <a:latin typeface="Proxima Nova" panose="020B0604020202020204"/>
                <a:ea typeface="Cambria" panose="02040503050406030204" pitchFamily="18" charset="0"/>
              </a:rPr>
              <a:t>  letter-spacing: -2px;</a:t>
            </a:r>
          </a:p>
          <a:p>
            <a:pPr marL="0" indent="0">
              <a:lnSpc>
                <a:spcPct val="100000"/>
              </a:lnSpc>
              <a:buNone/>
            </a:pPr>
            <a:r>
              <a:rPr lang="en-US" dirty="0"/>
              <a:t>}		&lt;/style&gt;</a:t>
            </a:r>
          </a:p>
          <a:p>
            <a:pPr marL="0" indent="0">
              <a:lnSpc>
                <a:spcPct val="100000"/>
              </a:lnSpc>
              <a:buNone/>
            </a:pPr>
            <a:r>
              <a:rPr lang="en-US" dirty="0"/>
              <a:t>	&lt;/head&gt;</a:t>
            </a:r>
          </a:p>
          <a:p>
            <a:pPr marL="0" indent="0">
              <a:lnSpc>
                <a:spcPct val="100000"/>
              </a:lnSpc>
              <a:buNone/>
            </a:pPr>
            <a:r>
              <a:rPr lang="en-US" dirty="0"/>
              <a:t>	</a:t>
            </a:r>
          </a:p>
        </p:txBody>
      </p:sp>
      <p:sp>
        <p:nvSpPr>
          <p:cNvPr id="4" name="Slide Number Placeholder 3"/>
          <p:cNvSpPr>
            <a:spLocks noGrp="1"/>
          </p:cNvSpPr>
          <p:nvPr>
            <p:ph type="sldNum" sz="quarter" idx="12"/>
          </p:nvPr>
        </p:nvSpPr>
        <p:spPr/>
        <p:txBody>
          <a:bodyPr/>
          <a:lstStyle/>
          <a:p>
            <a:fld id="{9C11CE39-2868-44A2-A0C6-827D458F7A8B}" type="slidenum">
              <a:rPr lang="en-IN" smtClean="0"/>
              <a:pPr/>
              <a:t>67</a:t>
            </a:fld>
            <a:endParaRPr lang="en-IN" dirty="0"/>
          </a:p>
        </p:txBody>
      </p:sp>
      <p:pic>
        <p:nvPicPr>
          <p:cNvPr id="5" name="Picture 4"/>
          <p:cNvPicPr>
            <a:picLocks noChangeAspect="1"/>
          </p:cNvPicPr>
          <p:nvPr/>
        </p:nvPicPr>
        <p:blipFill>
          <a:blip r:embed="rId2"/>
          <a:stretch>
            <a:fillRect/>
          </a:stretch>
        </p:blipFill>
        <p:spPr>
          <a:xfrm>
            <a:off x="7131181" y="4328795"/>
            <a:ext cx="3600450" cy="1581150"/>
          </a:xfrm>
          <a:prstGeom prst="rect">
            <a:avLst/>
          </a:prstGeom>
          <a:ln w="19050">
            <a:solidFill>
              <a:schemeClr val="tx1"/>
            </a:solidFill>
          </a:ln>
        </p:spPr>
      </p:pic>
      <p:sp>
        <p:nvSpPr>
          <p:cNvPr id="7" name="TextBox 6">
            <a:extLst>
              <a:ext uri="{FF2B5EF4-FFF2-40B4-BE49-F238E27FC236}">
                <a16:creationId xmlns:a16="http://schemas.microsoft.com/office/drawing/2014/main" id="{A73D864F-6CDC-0695-C5C4-1156200CC43A}"/>
              </a:ext>
            </a:extLst>
          </p:cNvPr>
          <p:cNvSpPr txBox="1"/>
          <p:nvPr/>
        </p:nvSpPr>
        <p:spPr>
          <a:xfrm>
            <a:off x="6766020" y="2099786"/>
            <a:ext cx="6096000" cy="1477328"/>
          </a:xfrm>
          <a:prstGeom prst="rect">
            <a:avLst/>
          </a:prstGeom>
          <a:noFill/>
        </p:spPr>
        <p:txBody>
          <a:bodyPr wrap="square">
            <a:spAutoFit/>
          </a:bodyPr>
          <a:lstStyle/>
          <a:p>
            <a:pPr marL="0" indent="0">
              <a:lnSpc>
                <a:spcPct val="100000"/>
              </a:lnSpc>
              <a:buNone/>
            </a:pPr>
            <a:r>
              <a:rPr lang="en-US" dirty="0">
                <a:latin typeface="Proxima Nova" panose="020B0604020202020204"/>
              </a:rPr>
              <a:t>&lt;body&gt;</a:t>
            </a:r>
          </a:p>
          <a:p>
            <a:pPr marL="0" indent="0">
              <a:lnSpc>
                <a:spcPct val="100000"/>
              </a:lnSpc>
              <a:buNone/>
            </a:pPr>
            <a:r>
              <a:rPr lang="en-US" dirty="0">
                <a:latin typeface="Proxima Nova" panose="020B0604020202020204"/>
              </a:rPr>
              <a:t>		&lt;h2&gt;This is heading 1&lt;/h2&gt;</a:t>
            </a:r>
          </a:p>
          <a:p>
            <a:pPr marL="0" indent="0">
              <a:lnSpc>
                <a:spcPct val="100000"/>
              </a:lnSpc>
              <a:buNone/>
            </a:pPr>
            <a:r>
              <a:rPr lang="en-US" dirty="0">
                <a:latin typeface="Proxima Nova" panose="020B0604020202020204"/>
              </a:rPr>
              <a:t>		&lt;h3&gt;This is heading 2&lt;/h3&gt;</a:t>
            </a:r>
          </a:p>
          <a:p>
            <a:pPr marL="0" indent="0">
              <a:lnSpc>
                <a:spcPct val="100000"/>
              </a:lnSpc>
              <a:buNone/>
            </a:pPr>
            <a:r>
              <a:rPr lang="en-US" dirty="0">
                <a:latin typeface="Proxima Nova" panose="020B0604020202020204"/>
              </a:rPr>
              <a:t>	&lt;/body&gt;</a:t>
            </a:r>
          </a:p>
          <a:p>
            <a:pPr marL="0" indent="0">
              <a:lnSpc>
                <a:spcPct val="100000"/>
              </a:lnSpc>
              <a:buNone/>
            </a:pPr>
            <a:r>
              <a:rPr lang="en-US" dirty="0">
                <a:latin typeface="Proxima Nova" panose="020B0604020202020204"/>
              </a:rPr>
              <a:t>&lt;/html&gt;</a:t>
            </a:r>
          </a:p>
        </p:txBody>
      </p:sp>
    </p:spTree>
    <p:extLst>
      <p:ext uri="{BB962C8B-B14F-4D97-AF65-F5344CB8AC3E}">
        <p14:creationId xmlns:p14="http://schemas.microsoft.com/office/powerpoint/2010/main" val="392493285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 Height</a:t>
            </a:r>
            <a:br>
              <a:rPr lang="en-US" dirty="0"/>
            </a:br>
            <a:endParaRPr lang="en-US" dirty="0"/>
          </a:p>
        </p:txBody>
      </p:sp>
      <p:sp>
        <p:nvSpPr>
          <p:cNvPr id="3" name="Content Placeholder 2"/>
          <p:cNvSpPr>
            <a:spLocks noGrp="1"/>
          </p:cNvSpPr>
          <p:nvPr>
            <p:ph idx="1"/>
          </p:nvPr>
        </p:nvSpPr>
        <p:spPr/>
        <p:txBody>
          <a:bodyPr>
            <a:noAutofit/>
          </a:bodyPr>
          <a:lstStyle/>
          <a:p>
            <a:r>
              <a:rPr lang="en-US" dirty="0"/>
              <a:t>The line-height property is used to specify the space between lines.</a:t>
            </a:r>
          </a:p>
          <a:p>
            <a:pPr marL="0" indent="0">
              <a:lnSpc>
                <a:spcPct val="100000"/>
              </a:lnSpc>
              <a:buNone/>
            </a:pPr>
            <a:r>
              <a:rPr lang="en-US" dirty="0"/>
              <a:t>&lt;!DOCTYPE html&gt;</a:t>
            </a:r>
          </a:p>
          <a:p>
            <a:pPr marL="0" indent="0">
              <a:lnSpc>
                <a:spcPct val="100000"/>
              </a:lnSpc>
              <a:buNone/>
            </a:pPr>
            <a:r>
              <a:rPr lang="en-US" dirty="0"/>
              <a:t>&lt;html&gt;</a:t>
            </a:r>
          </a:p>
          <a:p>
            <a:pPr marL="0" indent="0">
              <a:lnSpc>
                <a:spcPct val="100000"/>
              </a:lnSpc>
              <a:buNone/>
            </a:pPr>
            <a:r>
              <a:rPr lang="en-US" dirty="0"/>
              <a:t>&lt;head&gt;</a:t>
            </a:r>
          </a:p>
          <a:p>
            <a:pPr marL="0" indent="0">
              <a:lnSpc>
                <a:spcPct val="100000"/>
              </a:lnSpc>
              <a:buNone/>
            </a:pPr>
            <a:r>
              <a:rPr lang="en-US" dirty="0"/>
              <a:t>	&lt;style&gt;</a:t>
            </a:r>
          </a:p>
          <a:p>
            <a:pPr marL="0" indent="0">
              <a:lnSpc>
                <a:spcPct val="100000"/>
              </a:lnSpc>
              <a:buNone/>
            </a:pPr>
            <a:r>
              <a:rPr lang="en-US" dirty="0"/>
              <a:t>	</a:t>
            </a:r>
            <a:r>
              <a:rPr lang="en-US" dirty="0" err="1"/>
              <a:t>p.small</a:t>
            </a:r>
            <a:r>
              <a:rPr lang="en-US" dirty="0"/>
              <a:t> {</a:t>
            </a:r>
          </a:p>
          <a:p>
            <a:pPr marL="0" indent="0">
              <a:lnSpc>
                <a:spcPct val="100000"/>
              </a:lnSpc>
              <a:buNone/>
            </a:pPr>
            <a:r>
              <a:rPr lang="en-US" dirty="0"/>
              <a:t>  	line-height: 0.7;</a:t>
            </a:r>
          </a:p>
          <a:p>
            <a:pPr marL="0" indent="0">
              <a:lnSpc>
                <a:spcPct val="100000"/>
              </a:lnSpc>
              <a:buNone/>
            </a:pPr>
            <a:r>
              <a:rPr lang="en-US" dirty="0"/>
              <a:t>	}</a:t>
            </a:r>
          </a:p>
          <a:p>
            <a:pPr marL="0" indent="0">
              <a:lnSpc>
                <a:spcPct val="100000"/>
              </a:lnSpc>
              <a:buNone/>
            </a:pP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p.big</a:t>
            </a:r>
            <a:r>
              <a:rPr lang="en-US" dirty="0">
                <a:latin typeface="Proxima Nova" panose="020B0604020202020204"/>
                <a:ea typeface="Cambria" panose="02040503050406030204" pitchFamily="18" charset="0"/>
              </a:rPr>
              <a:t> {</a:t>
            </a:r>
          </a:p>
          <a:p>
            <a:pPr marL="0" indent="0">
              <a:lnSpc>
                <a:spcPct val="100000"/>
              </a:lnSpc>
              <a:buNone/>
            </a:pPr>
            <a:r>
              <a:rPr lang="en-US" dirty="0">
                <a:ea typeface="Cambria" panose="02040503050406030204" pitchFamily="18" charset="0"/>
              </a:rPr>
              <a:t>	</a:t>
            </a:r>
            <a:r>
              <a:rPr lang="en-US" dirty="0">
                <a:latin typeface="Proxima Nova" panose="020B0604020202020204"/>
                <a:ea typeface="Cambria" panose="02040503050406030204" pitchFamily="18" charset="0"/>
              </a:rPr>
              <a:t>line-height: 1.8;</a:t>
            </a:r>
          </a:p>
          <a:p>
            <a:pPr marL="0" indent="0">
              <a:lnSpc>
                <a:spcPct val="100000"/>
              </a:lnSpc>
              <a:buNone/>
            </a:pPr>
            <a:r>
              <a:rPr lang="en-US" dirty="0">
                <a:ea typeface="Cambria" panose="02040503050406030204" pitchFamily="18" charset="0"/>
              </a:rPr>
              <a:t>	</a:t>
            </a:r>
            <a:r>
              <a:rPr lang="en-US" dirty="0">
                <a:latin typeface="Proxima Nova" panose="020B0604020202020204"/>
                <a:ea typeface="Cambria" panose="02040503050406030204" pitchFamily="18" charset="0"/>
              </a:rPr>
              <a:t>}</a:t>
            </a:r>
          </a:p>
          <a:p>
            <a:pPr marL="0" indent="0">
              <a:lnSpc>
                <a:spcPct val="100000"/>
              </a:lnSpc>
              <a:buNone/>
            </a:pPr>
            <a:r>
              <a:rPr lang="en-US" dirty="0"/>
              <a:t>	&lt;/style&gt;</a:t>
            </a:r>
          </a:p>
          <a:p>
            <a:pPr marL="0" indent="0">
              <a:lnSpc>
                <a:spcPct val="100000"/>
              </a:lnSpc>
              <a:buNone/>
            </a:pPr>
            <a:r>
              <a:rPr lang="en-US" dirty="0"/>
              <a:t>&lt;/head&gt;</a:t>
            </a:r>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68</a:t>
            </a:fld>
            <a:endParaRPr lang="en-IN" dirty="0"/>
          </a:p>
        </p:txBody>
      </p:sp>
      <p:sp>
        <p:nvSpPr>
          <p:cNvPr id="6" name="TextBox 5">
            <a:extLst>
              <a:ext uri="{FF2B5EF4-FFF2-40B4-BE49-F238E27FC236}">
                <a16:creationId xmlns:a16="http://schemas.microsoft.com/office/drawing/2014/main" id="{2D61C4B6-3781-5A80-D55B-E38900ECD6DF}"/>
              </a:ext>
            </a:extLst>
          </p:cNvPr>
          <p:cNvSpPr txBox="1"/>
          <p:nvPr/>
        </p:nvSpPr>
        <p:spPr>
          <a:xfrm>
            <a:off x="3487782" y="1643162"/>
            <a:ext cx="6096000" cy="5078313"/>
          </a:xfrm>
          <a:prstGeom prst="rect">
            <a:avLst/>
          </a:prstGeom>
          <a:noFill/>
        </p:spPr>
        <p:txBody>
          <a:bodyPr wrap="square">
            <a:spAutoFit/>
          </a:bodyPr>
          <a:lstStyle/>
          <a:p>
            <a:r>
              <a:rPr lang="en-US" dirty="0">
                <a:latin typeface="Proxima Nova" panose="020B0604020202020204"/>
                <a:ea typeface="Cambria" panose="02040503050406030204" pitchFamily="18" charset="0"/>
              </a:rPr>
              <a:t>&lt;body&gt;</a:t>
            </a:r>
          </a:p>
          <a:p>
            <a:pPr lvl="1"/>
            <a:r>
              <a:rPr lang="en-US" dirty="0">
                <a:latin typeface="Proxima Nova" panose="020B0604020202020204"/>
                <a:ea typeface="Cambria" panose="02040503050406030204" pitchFamily="18" charset="0"/>
              </a:rPr>
              <a:t>&lt;p&gt;</a:t>
            </a:r>
          </a:p>
          <a:p>
            <a:pPr lvl="1"/>
            <a:r>
              <a:rPr lang="en-US" dirty="0">
                <a:latin typeface="Proxima Nova" panose="020B0604020202020204"/>
                <a:ea typeface="Cambria" panose="02040503050406030204" pitchFamily="18" charset="0"/>
              </a:rPr>
              <a:t>This is a paragraph with a standard line-height.&lt;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pPr lvl="1"/>
            <a:r>
              <a:rPr lang="en-US" dirty="0">
                <a:latin typeface="Proxima Nova" panose="020B0604020202020204"/>
                <a:ea typeface="Cambria" panose="02040503050406030204" pitchFamily="18" charset="0"/>
              </a:rPr>
              <a:t>The default line height in most browsers is about 110% to 120%.&lt;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pPr lvl="1"/>
            <a:r>
              <a:rPr lang="en-US" dirty="0">
                <a:latin typeface="Proxima Nova" panose="020B0604020202020204"/>
                <a:ea typeface="Cambria" panose="02040503050406030204" pitchFamily="18" charset="0"/>
              </a:rPr>
              <a:t>&lt;/p&gt;</a:t>
            </a:r>
          </a:p>
          <a:p>
            <a:pPr lvl="1"/>
            <a:endParaRPr lang="en-US" dirty="0">
              <a:latin typeface="Proxima Nova" panose="020B0604020202020204"/>
              <a:ea typeface="Cambria" panose="02040503050406030204" pitchFamily="18" charset="0"/>
            </a:endParaRPr>
          </a:p>
          <a:p>
            <a:pPr lvl="1"/>
            <a:r>
              <a:rPr lang="en-US" dirty="0">
                <a:latin typeface="Proxima Nova" panose="020B0604020202020204"/>
                <a:ea typeface="Cambria" panose="02040503050406030204" pitchFamily="18" charset="0"/>
              </a:rPr>
              <a:t>&lt;p class="small"&gt;</a:t>
            </a:r>
          </a:p>
          <a:p>
            <a:pPr lvl="1"/>
            <a:r>
              <a:rPr lang="en-US" dirty="0">
                <a:latin typeface="Proxima Nova" panose="020B0604020202020204"/>
                <a:ea typeface="Cambria" panose="02040503050406030204" pitchFamily="18" charset="0"/>
              </a:rPr>
              <a:t>This is a paragraph with a smaller line-height.&lt;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pPr lvl="1"/>
            <a:r>
              <a:rPr lang="en-US" dirty="0">
                <a:latin typeface="Proxima Nova" panose="020B0604020202020204"/>
                <a:ea typeface="Cambria" panose="02040503050406030204" pitchFamily="18" charset="0"/>
              </a:rPr>
              <a:t>This is a paragraph with a smaller line-height.&lt;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pPr lvl="1"/>
            <a:r>
              <a:rPr lang="en-US" dirty="0">
                <a:latin typeface="Proxima Nova" panose="020B0604020202020204"/>
                <a:ea typeface="Cambria" panose="02040503050406030204" pitchFamily="18" charset="0"/>
              </a:rPr>
              <a:t>&lt;/p&gt;</a:t>
            </a:r>
          </a:p>
          <a:p>
            <a:pPr lvl="1"/>
            <a:endParaRPr lang="en-US" dirty="0">
              <a:latin typeface="Proxima Nova" panose="020B0604020202020204"/>
              <a:ea typeface="Cambria" panose="02040503050406030204" pitchFamily="18" charset="0"/>
            </a:endParaRPr>
          </a:p>
          <a:p>
            <a:pPr lvl="1"/>
            <a:r>
              <a:rPr lang="en-US" dirty="0">
                <a:latin typeface="Proxima Nova" panose="020B0604020202020204"/>
                <a:ea typeface="Cambria" panose="02040503050406030204" pitchFamily="18" charset="0"/>
              </a:rPr>
              <a:t>&lt;p class="big"&gt;</a:t>
            </a:r>
          </a:p>
          <a:p>
            <a:pPr lvl="1"/>
            <a:r>
              <a:rPr lang="en-US" dirty="0">
                <a:latin typeface="Proxima Nova" panose="020B0604020202020204"/>
                <a:ea typeface="Cambria" panose="02040503050406030204" pitchFamily="18" charset="0"/>
              </a:rPr>
              <a:t>This is a paragraph with a bigger line-height.&lt;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pPr lvl="1"/>
            <a:r>
              <a:rPr lang="en-US" dirty="0">
                <a:latin typeface="Proxima Nova" panose="020B0604020202020204"/>
                <a:ea typeface="Cambria" panose="02040503050406030204" pitchFamily="18" charset="0"/>
              </a:rPr>
              <a:t>This is a paragraph with a bigger line-height.&lt;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pPr lvl="1"/>
            <a:r>
              <a:rPr lang="en-US" dirty="0">
                <a:latin typeface="Proxima Nova" panose="020B0604020202020204"/>
                <a:ea typeface="Cambria" panose="02040503050406030204" pitchFamily="18" charset="0"/>
              </a:rPr>
              <a:t>&lt;/p&gt;</a:t>
            </a:r>
          </a:p>
          <a:p>
            <a:r>
              <a:rPr lang="en-US" dirty="0">
                <a:latin typeface="Proxima Nova" panose="020B0604020202020204"/>
                <a:ea typeface="Cambria" panose="02040503050406030204" pitchFamily="18" charset="0"/>
              </a:rPr>
              <a:t>&lt;/body&gt;</a:t>
            </a:r>
          </a:p>
          <a:p>
            <a:r>
              <a:rPr lang="en-US" dirty="0">
                <a:latin typeface="Proxima Nova" panose="020B0604020202020204"/>
                <a:ea typeface="Cambria" panose="02040503050406030204" pitchFamily="18" charset="0"/>
              </a:rPr>
              <a:t>&lt;/html&gt;</a:t>
            </a:r>
          </a:p>
        </p:txBody>
      </p:sp>
      <p:pic>
        <p:nvPicPr>
          <p:cNvPr id="7" name="Picture 6"/>
          <p:cNvPicPr>
            <a:picLocks noChangeAspect="1"/>
          </p:cNvPicPr>
          <p:nvPr/>
        </p:nvPicPr>
        <p:blipFill>
          <a:blip r:embed="rId2"/>
          <a:stretch>
            <a:fillRect/>
          </a:stretch>
        </p:blipFill>
        <p:spPr>
          <a:xfrm>
            <a:off x="9159104" y="4684170"/>
            <a:ext cx="2619375" cy="1061335"/>
          </a:xfrm>
          <a:prstGeom prst="rect">
            <a:avLst/>
          </a:prstGeom>
          <a:ln w="19050">
            <a:solidFill>
              <a:schemeClr val="tx1"/>
            </a:solidFill>
          </a:ln>
        </p:spPr>
      </p:pic>
    </p:spTree>
    <p:extLst>
      <p:ext uri="{BB962C8B-B14F-4D97-AF65-F5344CB8AC3E}">
        <p14:creationId xmlns:p14="http://schemas.microsoft.com/office/powerpoint/2010/main" val="291755998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59F5B-59D0-B328-3EB1-96C5729AD087}"/>
              </a:ext>
            </a:extLst>
          </p:cNvPr>
          <p:cNvSpPr>
            <a:spLocks noGrp="1"/>
          </p:cNvSpPr>
          <p:nvPr>
            <p:ph type="title"/>
          </p:nvPr>
        </p:nvSpPr>
        <p:spPr/>
        <p:txBody>
          <a:bodyPr/>
          <a:lstStyle/>
          <a:p>
            <a:r>
              <a:rPr lang="en-US" dirty="0"/>
              <a:t>Word Spacing</a:t>
            </a:r>
            <a:endParaRPr lang="en-IN" dirty="0"/>
          </a:p>
        </p:txBody>
      </p:sp>
      <p:sp>
        <p:nvSpPr>
          <p:cNvPr id="3" name="Content Placeholder 2">
            <a:extLst>
              <a:ext uri="{FF2B5EF4-FFF2-40B4-BE49-F238E27FC236}">
                <a16:creationId xmlns:a16="http://schemas.microsoft.com/office/drawing/2014/main" id="{249E1ABC-E69B-1588-EDB2-168D3BF499AF}"/>
              </a:ext>
            </a:extLst>
          </p:cNvPr>
          <p:cNvSpPr>
            <a:spLocks noGrp="1"/>
          </p:cNvSpPr>
          <p:nvPr>
            <p:ph idx="1"/>
          </p:nvPr>
        </p:nvSpPr>
        <p:spPr/>
        <p:txBody>
          <a:bodyPr>
            <a:noAutofit/>
          </a:bodyPr>
          <a:lstStyle/>
          <a:p>
            <a:pPr marL="0" indent="0">
              <a:buNone/>
            </a:pPr>
            <a:r>
              <a:rPr lang="en-IN" dirty="0"/>
              <a:t>The word-spacing </a:t>
            </a:r>
            <a:r>
              <a:rPr lang="en-US" dirty="0"/>
              <a:t>property is used to specify the space between the words in a text.</a:t>
            </a:r>
          </a:p>
          <a:p>
            <a:pPr marL="0" indent="0">
              <a:lnSpc>
                <a:spcPct val="100000"/>
              </a:lnSpc>
              <a:buNone/>
            </a:pPr>
            <a:r>
              <a:rPr lang="en-US" dirty="0">
                <a:ea typeface="Cambria" panose="02040503050406030204" pitchFamily="18" charset="0"/>
              </a:rPr>
              <a:t>&lt;!DOCTYPE html&gt;</a:t>
            </a:r>
          </a:p>
          <a:p>
            <a:pPr marL="0" indent="0">
              <a:lnSpc>
                <a:spcPct val="100000"/>
              </a:lnSpc>
              <a:buNone/>
            </a:pPr>
            <a:r>
              <a:rPr lang="en-US" dirty="0">
                <a:ea typeface="Cambria" panose="02040503050406030204" pitchFamily="18" charset="0"/>
              </a:rPr>
              <a:t>&lt;html&gt;</a:t>
            </a:r>
          </a:p>
          <a:p>
            <a:pPr marL="0" indent="0">
              <a:lnSpc>
                <a:spcPct val="100000"/>
              </a:lnSpc>
              <a:buNone/>
            </a:pPr>
            <a:r>
              <a:rPr lang="en-US" dirty="0">
                <a:ea typeface="Cambria" panose="02040503050406030204" pitchFamily="18" charset="0"/>
              </a:rPr>
              <a:t>	&lt;head&gt;</a:t>
            </a:r>
          </a:p>
          <a:p>
            <a:pPr marL="914400" lvl="2" indent="0">
              <a:lnSpc>
                <a:spcPct val="100000"/>
              </a:lnSpc>
              <a:buNone/>
            </a:pPr>
            <a:r>
              <a:rPr lang="en-US" dirty="0">
                <a:ea typeface="Cambria" panose="02040503050406030204" pitchFamily="18" charset="0"/>
              </a:rPr>
              <a:t>&lt;style&gt;</a:t>
            </a:r>
          </a:p>
          <a:p>
            <a:pPr marL="1371600" lvl="3" indent="0">
              <a:lnSpc>
                <a:spcPct val="100000"/>
              </a:lnSpc>
              <a:buNone/>
            </a:pPr>
            <a:r>
              <a:rPr lang="en-US" dirty="0">
                <a:ea typeface="Cambria" panose="02040503050406030204" pitchFamily="18" charset="0"/>
              </a:rPr>
              <a:t>p.one {</a:t>
            </a:r>
          </a:p>
          <a:p>
            <a:pPr marL="1371600" lvl="3" indent="0">
              <a:lnSpc>
                <a:spcPct val="100000"/>
              </a:lnSpc>
              <a:buNone/>
            </a:pPr>
            <a:r>
              <a:rPr lang="en-US" dirty="0">
                <a:ea typeface="Cambria" panose="02040503050406030204" pitchFamily="18" charset="0"/>
              </a:rPr>
              <a:t>  word-spacing: 10px;</a:t>
            </a:r>
          </a:p>
          <a:p>
            <a:pPr marL="1371600" lvl="3" indent="0">
              <a:lnSpc>
                <a:spcPct val="100000"/>
              </a:lnSpc>
              <a:buNone/>
            </a:pPr>
            <a:r>
              <a:rPr lang="en-US" dirty="0">
                <a:ea typeface="Cambria" panose="02040503050406030204" pitchFamily="18" charset="0"/>
              </a:rPr>
              <a:t>}</a:t>
            </a:r>
          </a:p>
          <a:p>
            <a:pPr marL="1371600" lvl="3" indent="0">
              <a:lnSpc>
                <a:spcPct val="100000"/>
              </a:lnSpc>
              <a:buNone/>
            </a:pPr>
            <a:r>
              <a:rPr lang="en-US" dirty="0" err="1">
                <a:ea typeface="Cambria" panose="02040503050406030204" pitchFamily="18" charset="0"/>
              </a:rPr>
              <a:t>p.two</a:t>
            </a:r>
            <a:r>
              <a:rPr lang="en-US" dirty="0">
                <a:ea typeface="Cambria" panose="02040503050406030204" pitchFamily="18" charset="0"/>
              </a:rPr>
              <a:t> {</a:t>
            </a:r>
          </a:p>
          <a:p>
            <a:pPr marL="1371600" lvl="3" indent="0">
              <a:lnSpc>
                <a:spcPct val="100000"/>
              </a:lnSpc>
              <a:buNone/>
            </a:pPr>
            <a:r>
              <a:rPr lang="en-US" dirty="0">
                <a:ea typeface="Cambria" panose="02040503050406030204" pitchFamily="18" charset="0"/>
              </a:rPr>
              <a:t>  word-spacing: -2px;</a:t>
            </a:r>
          </a:p>
          <a:p>
            <a:pPr marL="1371600" lvl="3" indent="0">
              <a:lnSpc>
                <a:spcPct val="100000"/>
              </a:lnSpc>
              <a:buNone/>
            </a:pPr>
            <a:r>
              <a:rPr lang="en-US" dirty="0">
                <a:ea typeface="Cambria" panose="02040503050406030204" pitchFamily="18" charset="0"/>
              </a:rPr>
              <a:t>}</a:t>
            </a:r>
          </a:p>
          <a:p>
            <a:pPr marL="914400" lvl="2" indent="0">
              <a:lnSpc>
                <a:spcPct val="100000"/>
              </a:lnSpc>
              <a:buNone/>
            </a:pPr>
            <a:r>
              <a:rPr lang="en-US" dirty="0">
                <a:ea typeface="Cambria" panose="02040503050406030204" pitchFamily="18" charset="0"/>
              </a:rPr>
              <a:t>&lt;/style&gt;</a:t>
            </a:r>
          </a:p>
          <a:p>
            <a:pPr marL="0" indent="0">
              <a:lnSpc>
                <a:spcPct val="100000"/>
              </a:lnSpc>
              <a:buNone/>
            </a:pPr>
            <a:r>
              <a:rPr lang="en-US" dirty="0">
                <a:ea typeface="Cambria" panose="02040503050406030204" pitchFamily="18" charset="0"/>
              </a:rPr>
              <a:t>	&lt;/head&gt;</a:t>
            </a:r>
          </a:p>
          <a:p>
            <a:pPr marL="0" indent="0">
              <a:lnSpc>
                <a:spcPct val="100000"/>
              </a:lnSpc>
              <a:buNone/>
            </a:pPr>
            <a:r>
              <a:rPr lang="en-US" dirty="0">
                <a:ea typeface="Cambria" panose="02040503050406030204" pitchFamily="18" charset="0"/>
              </a:rPr>
              <a:t>	</a:t>
            </a:r>
            <a:endParaRPr lang="en-IN" dirty="0"/>
          </a:p>
        </p:txBody>
      </p:sp>
      <p:sp>
        <p:nvSpPr>
          <p:cNvPr id="5" name="TextBox 4">
            <a:extLst>
              <a:ext uri="{FF2B5EF4-FFF2-40B4-BE49-F238E27FC236}">
                <a16:creationId xmlns:a16="http://schemas.microsoft.com/office/drawing/2014/main" id="{33ACD21D-52BB-27AC-548B-FF0F23585F6D}"/>
              </a:ext>
            </a:extLst>
          </p:cNvPr>
          <p:cNvSpPr txBox="1"/>
          <p:nvPr/>
        </p:nvSpPr>
        <p:spPr>
          <a:xfrm>
            <a:off x="4838700" y="2041089"/>
            <a:ext cx="6096000" cy="2585323"/>
          </a:xfrm>
          <a:prstGeom prst="rect">
            <a:avLst/>
          </a:prstGeom>
          <a:noFill/>
        </p:spPr>
        <p:txBody>
          <a:bodyPr wrap="square">
            <a:spAutoFit/>
          </a:bodyPr>
          <a:lstStyle/>
          <a:p>
            <a:pPr marL="0" indent="0">
              <a:lnSpc>
                <a:spcPct val="100000"/>
              </a:lnSpc>
              <a:buNone/>
            </a:pPr>
            <a:r>
              <a:rPr lang="en-US" dirty="0">
                <a:latin typeface="Proxima Nova" panose="020B0604020202020204"/>
                <a:ea typeface="Cambria" panose="02040503050406030204" pitchFamily="18" charset="0"/>
              </a:rPr>
              <a:t>&lt;body&gt;</a:t>
            </a:r>
          </a:p>
          <a:p>
            <a:pPr marL="914400" lvl="2" indent="0">
              <a:lnSpc>
                <a:spcPct val="100000"/>
              </a:lnSpc>
              <a:buNone/>
            </a:pPr>
            <a:r>
              <a:rPr lang="en-US" dirty="0">
                <a:latin typeface="Proxima Nova" panose="020B0604020202020204"/>
                <a:ea typeface="Cambria" panose="02040503050406030204" pitchFamily="18" charset="0"/>
              </a:rPr>
              <a:t>&lt;p&gt;This is a paragraph with normal word spacing.&lt;/p&gt;</a:t>
            </a:r>
          </a:p>
          <a:p>
            <a:pPr marL="914400" lvl="2" indent="0">
              <a:lnSpc>
                <a:spcPct val="100000"/>
              </a:lnSpc>
              <a:buNone/>
            </a:pPr>
            <a:r>
              <a:rPr lang="en-US" dirty="0">
                <a:latin typeface="Proxima Nova" panose="020B0604020202020204"/>
                <a:ea typeface="Cambria" panose="02040503050406030204" pitchFamily="18" charset="0"/>
              </a:rPr>
              <a:t>&lt;p class="one"&gt;This is a paragraph with larger word spacing.&lt;/p&gt;</a:t>
            </a:r>
          </a:p>
          <a:p>
            <a:pPr marL="914400" lvl="2" indent="0">
              <a:lnSpc>
                <a:spcPct val="100000"/>
              </a:lnSpc>
              <a:buNone/>
            </a:pPr>
            <a:r>
              <a:rPr lang="en-US" dirty="0">
                <a:latin typeface="Proxima Nova" panose="020B0604020202020204"/>
                <a:ea typeface="Cambria" panose="02040503050406030204" pitchFamily="18" charset="0"/>
              </a:rPr>
              <a:t>&lt;p class="two"&gt;This is a paragraph with smaller word spacing.&lt;/p&gt;</a:t>
            </a:r>
          </a:p>
          <a:p>
            <a:pPr marL="0" indent="0">
              <a:lnSpc>
                <a:spcPct val="100000"/>
              </a:lnSpc>
              <a:buNone/>
            </a:pPr>
            <a:r>
              <a:rPr lang="en-US" dirty="0">
                <a:latin typeface="Proxima Nova" panose="020B0604020202020204"/>
                <a:ea typeface="Cambria" panose="02040503050406030204" pitchFamily="18" charset="0"/>
              </a:rPr>
              <a:t>	&lt;/body&gt;</a:t>
            </a:r>
          </a:p>
          <a:p>
            <a:pPr marL="0" indent="0">
              <a:lnSpc>
                <a:spcPct val="100000"/>
              </a:lnSpc>
              <a:buNone/>
            </a:pPr>
            <a:r>
              <a:rPr lang="en-US" dirty="0">
                <a:latin typeface="Proxima Nova" panose="020B0604020202020204"/>
                <a:ea typeface="Cambria" panose="02040503050406030204" pitchFamily="18" charset="0"/>
              </a:rPr>
              <a:t>&lt;/html&gt;</a:t>
            </a:r>
          </a:p>
        </p:txBody>
      </p:sp>
      <p:pic>
        <p:nvPicPr>
          <p:cNvPr id="6" name="Picture 5">
            <a:extLst>
              <a:ext uri="{FF2B5EF4-FFF2-40B4-BE49-F238E27FC236}">
                <a16:creationId xmlns:a16="http://schemas.microsoft.com/office/drawing/2014/main" id="{743F3943-9024-7FD1-D66A-A0DD616ABD86}"/>
              </a:ext>
            </a:extLst>
          </p:cNvPr>
          <p:cNvPicPr>
            <a:picLocks noChangeAspect="1"/>
          </p:cNvPicPr>
          <p:nvPr/>
        </p:nvPicPr>
        <p:blipFill>
          <a:blip r:embed="rId2"/>
          <a:stretch>
            <a:fillRect/>
          </a:stretch>
        </p:blipFill>
        <p:spPr>
          <a:xfrm>
            <a:off x="4695521" y="4810125"/>
            <a:ext cx="5362575" cy="1828800"/>
          </a:xfrm>
          <a:prstGeom prst="rect">
            <a:avLst/>
          </a:prstGeom>
          <a:ln w="19050">
            <a:solidFill>
              <a:schemeClr val="tx1"/>
            </a:solidFill>
          </a:ln>
        </p:spPr>
      </p:pic>
    </p:spTree>
    <p:extLst>
      <p:ext uri="{BB962C8B-B14F-4D97-AF65-F5344CB8AC3E}">
        <p14:creationId xmlns:p14="http://schemas.microsoft.com/office/powerpoint/2010/main" val="276029840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0DC3-D0C9-C5EA-0FF8-F8B6FCEF6292}"/>
              </a:ext>
            </a:extLst>
          </p:cNvPr>
          <p:cNvSpPr>
            <a:spLocks noGrp="1"/>
          </p:cNvSpPr>
          <p:nvPr>
            <p:ph type="title"/>
          </p:nvPr>
        </p:nvSpPr>
        <p:spPr/>
        <p:txBody>
          <a:bodyPr/>
          <a:lstStyle/>
          <a:p>
            <a:r>
              <a:rPr lang="en-US" dirty="0"/>
              <a:t>White Space</a:t>
            </a:r>
            <a:endParaRPr lang="en-IN" dirty="0"/>
          </a:p>
        </p:txBody>
      </p:sp>
      <p:sp>
        <p:nvSpPr>
          <p:cNvPr id="3" name="Content Placeholder 2">
            <a:extLst>
              <a:ext uri="{FF2B5EF4-FFF2-40B4-BE49-F238E27FC236}">
                <a16:creationId xmlns:a16="http://schemas.microsoft.com/office/drawing/2014/main" id="{90A4EC19-BC1D-C9D8-FC63-FD41D9A8F49D}"/>
              </a:ext>
            </a:extLst>
          </p:cNvPr>
          <p:cNvSpPr>
            <a:spLocks noGrp="1"/>
          </p:cNvSpPr>
          <p:nvPr>
            <p:ph idx="1"/>
          </p:nvPr>
        </p:nvSpPr>
        <p:spPr/>
        <p:txBody>
          <a:bodyPr>
            <a:noAutofit/>
          </a:bodyPr>
          <a:lstStyle/>
          <a:p>
            <a:r>
              <a:rPr lang="en-IN" dirty="0"/>
              <a:t>The white-space </a:t>
            </a:r>
            <a:r>
              <a:rPr lang="en-US" dirty="0"/>
              <a:t>property specifies how the white space inside an element is handled.</a:t>
            </a:r>
          </a:p>
          <a:p>
            <a:r>
              <a:rPr lang="en-US" dirty="0"/>
              <a:t>The following example demonstrates how to disable text wrapping inside an element:</a:t>
            </a:r>
          </a:p>
          <a:p>
            <a:pPr marL="0" indent="0">
              <a:buNone/>
            </a:pPr>
            <a:r>
              <a:rPr lang="en-US" dirty="0">
                <a:ea typeface="Cambria" panose="02040503050406030204" pitchFamily="18" charset="0"/>
              </a:rPr>
              <a:t>&lt;!DOCTYPE html&gt;</a:t>
            </a:r>
          </a:p>
          <a:p>
            <a:pPr marL="0" indent="0">
              <a:buNone/>
            </a:pPr>
            <a:r>
              <a:rPr lang="en-US" dirty="0">
                <a:ea typeface="Cambria" panose="02040503050406030204" pitchFamily="18" charset="0"/>
              </a:rPr>
              <a:t>&lt;html&gt;</a:t>
            </a:r>
          </a:p>
          <a:p>
            <a:pPr marL="0" indent="0">
              <a:buNone/>
            </a:pPr>
            <a:r>
              <a:rPr lang="en-US" dirty="0">
                <a:ea typeface="Cambria" panose="02040503050406030204" pitchFamily="18" charset="0"/>
              </a:rPr>
              <a:t>	&lt;head&gt;</a:t>
            </a:r>
          </a:p>
          <a:p>
            <a:pPr marL="914400" lvl="2" indent="0">
              <a:buNone/>
            </a:pPr>
            <a:r>
              <a:rPr lang="en-US" dirty="0">
                <a:ea typeface="Cambria" panose="02040503050406030204" pitchFamily="18" charset="0"/>
              </a:rPr>
              <a:t>&lt;style&gt;</a:t>
            </a:r>
          </a:p>
          <a:p>
            <a:pPr marL="1371600" lvl="3" indent="0">
              <a:buNone/>
            </a:pPr>
            <a:r>
              <a:rPr lang="en-US" dirty="0">
                <a:ea typeface="Cambria" panose="02040503050406030204" pitchFamily="18" charset="0"/>
              </a:rPr>
              <a:t>p {</a:t>
            </a:r>
          </a:p>
          <a:p>
            <a:pPr marL="1371600" lvl="3" indent="0">
              <a:buNone/>
            </a:pPr>
            <a:r>
              <a:rPr lang="en-US" dirty="0">
                <a:ea typeface="Cambria" panose="02040503050406030204" pitchFamily="18" charset="0"/>
              </a:rPr>
              <a:t>  white-space: </a:t>
            </a:r>
            <a:r>
              <a:rPr lang="en-US" dirty="0" err="1">
                <a:ea typeface="Cambria" panose="02040503050406030204" pitchFamily="18" charset="0"/>
              </a:rPr>
              <a:t>nowrap</a:t>
            </a:r>
            <a:r>
              <a:rPr lang="en-US" dirty="0">
                <a:ea typeface="Cambria" panose="02040503050406030204" pitchFamily="18" charset="0"/>
              </a:rPr>
              <a:t>;</a:t>
            </a:r>
          </a:p>
          <a:p>
            <a:pPr marL="1371600" lvl="3" indent="0">
              <a:buNone/>
            </a:pPr>
            <a:r>
              <a:rPr lang="en-US" dirty="0">
                <a:ea typeface="Cambria" panose="02040503050406030204" pitchFamily="18" charset="0"/>
              </a:rPr>
              <a:t>}</a:t>
            </a:r>
          </a:p>
          <a:p>
            <a:pPr marL="914400" lvl="2" indent="0">
              <a:buNone/>
            </a:pPr>
            <a:r>
              <a:rPr lang="en-US" dirty="0">
                <a:ea typeface="Cambria" panose="02040503050406030204" pitchFamily="18" charset="0"/>
              </a:rPr>
              <a:t>&lt;/style&gt;</a:t>
            </a:r>
          </a:p>
          <a:p>
            <a:pPr marL="457200" lvl="1" indent="0">
              <a:buNone/>
            </a:pPr>
            <a:r>
              <a:rPr lang="en-US" dirty="0">
                <a:ea typeface="Cambria" panose="02040503050406030204" pitchFamily="18" charset="0"/>
              </a:rPr>
              <a:t>&lt;/head&gt;</a:t>
            </a:r>
            <a:endParaRPr lang="en-IN" dirty="0"/>
          </a:p>
        </p:txBody>
      </p:sp>
      <p:sp>
        <p:nvSpPr>
          <p:cNvPr id="5" name="TextBox 4">
            <a:extLst>
              <a:ext uri="{FF2B5EF4-FFF2-40B4-BE49-F238E27FC236}">
                <a16:creationId xmlns:a16="http://schemas.microsoft.com/office/drawing/2014/main" id="{2CC78F32-33B3-7C4E-6B84-EA128B2E2213}"/>
              </a:ext>
            </a:extLst>
          </p:cNvPr>
          <p:cNvSpPr txBox="1"/>
          <p:nvPr/>
        </p:nvSpPr>
        <p:spPr>
          <a:xfrm>
            <a:off x="4152900" y="2197160"/>
            <a:ext cx="6096000" cy="4524315"/>
          </a:xfrm>
          <a:prstGeom prst="rect">
            <a:avLst/>
          </a:prstGeom>
          <a:noFill/>
        </p:spPr>
        <p:txBody>
          <a:bodyPr wrap="square">
            <a:spAutoFit/>
          </a:bodyPr>
          <a:lstStyle/>
          <a:p>
            <a:pPr marL="457200" lvl="1" indent="0">
              <a:buNone/>
            </a:pPr>
            <a:endParaRPr lang="en-US" dirty="0">
              <a:latin typeface="Proxima Nova" panose="020B0604020202020204"/>
              <a:ea typeface="Cambria" panose="02040503050406030204" pitchFamily="18" charset="0"/>
            </a:endParaRPr>
          </a:p>
          <a:p>
            <a:pPr marL="457200" lvl="1" indent="0">
              <a:buNone/>
            </a:pPr>
            <a:r>
              <a:rPr lang="en-US" dirty="0">
                <a:latin typeface="Proxima Nova" panose="020B0604020202020204"/>
                <a:ea typeface="Cambria" panose="02040503050406030204" pitchFamily="18" charset="0"/>
              </a:rPr>
              <a:t>&lt;body&gt;</a:t>
            </a:r>
          </a:p>
          <a:p>
            <a:pPr marL="914400" lvl="2" indent="0">
              <a:buNone/>
            </a:pPr>
            <a:r>
              <a:rPr lang="en-US" dirty="0">
                <a:latin typeface="Proxima Nova" panose="020B0604020202020204"/>
                <a:ea typeface="Cambria" panose="02040503050406030204" pitchFamily="18" charset="0"/>
              </a:rPr>
              <a:t>&lt;p&gt;</a:t>
            </a:r>
          </a:p>
          <a:p>
            <a:pPr marL="914400" lvl="2" indent="0">
              <a:buNone/>
            </a:pPr>
            <a:r>
              <a:rPr lang="en-US" dirty="0">
                <a:latin typeface="Proxima Nova" panose="020B0604020202020204"/>
                <a:ea typeface="Cambria" panose="02040503050406030204" pitchFamily="18" charset="0"/>
              </a:rPr>
              <a:t>This is some text that will not wrap.</a:t>
            </a:r>
          </a:p>
          <a:p>
            <a:pPr marL="914400" lvl="2" indent="0">
              <a:buNone/>
            </a:pPr>
            <a:r>
              <a:rPr lang="en-US" dirty="0">
                <a:latin typeface="Proxima Nova" panose="020B0604020202020204"/>
                <a:ea typeface="Cambria" panose="02040503050406030204" pitchFamily="18" charset="0"/>
              </a:rPr>
              <a:t>This is some text that will not wrap.</a:t>
            </a:r>
          </a:p>
          <a:p>
            <a:pPr marL="914400" lvl="2" indent="0">
              <a:buNone/>
            </a:pPr>
            <a:r>
              <a:rPr lang="en-US" dirty="0">
                <a:latin typeface="Proxima Nova" panose="020B0604020202020204"/>
                <a:ea typeface="Cambria" panose="02040503050406030204" pitchFamily="18" charset="0"/>
              </a:rPr>
              <a:t>This is some text that will not wrap.</a:t>
            </a:r>
          </a:p>
          <a:p>
            <a:pPr marL="914400" lvl="2" indent="0">
              <a:buNone/>
            </a:pPr>
            <a:r>
              <a:rPr lang="en-US" dirty="0">
                <a:latin typeface="Proxima Nova" panose="020B0604020202020204"/>
                <a:ea typeface="Cambria" panose="02040503050406030204" pitchFamily="18" charset="0"/>
              </a:rPr>
              <a:t>This is some text that will not wrap.</a:t>
            </a:r>
          </a:p>
          <a:p>
            <a:pPr marL="914400" lvl="2" indent="0">
              <a:buNone/>
            </a:pPr>
            <a:r>
              <a:rPr lang="en-US" dirty="0">
                <a:latin typeface="Proxima Nova" panose="020B0604020202020204"/>
                <a:ea typeface="Cambria" panose="02040503050406030204" pitchFamily="18" charset="0"/>
              </a:rPr>
              <a:t>This is some text that will not wrap.</a:t>
            </a:r>
          </a:p>
          <a:p>
            <a:pPr marL="914400" lvl="2" indent="0">
              <a:buNone/>
            </a:pPr>
            <a:r>
              <a:rPr lang="en-US" dirty="0">
                <a:latin typeface="Proxima Nova" panose="020B0604020202020204"/>
                <a:ea typeface="Cambria" panose="02040503050406030204" pitchFamily="18" charset="0"/>
              </a:rPr>
              <a:t>This is some text that will not wrap.</a:t>
            </a:r>
          </a:p>
          <a:p>
            <a:pPr marL="914400" lvl="2" indent="0">
              <a:buNone/>
            </a:pPr>
            <a:r>
              <a:rPr lang="en-US" dirty="0">
                <a:latin typeface="Proxima Nova" panose="020B0604020202020204"/>
                <a:ea typeface="Cambria" panose="02040503050406030204" pitchFamily="18" charset="0"/>
              </a:rPr>
              <a:t>This is some text that will not wrap.</a:t>
            </a:r>
          </a:p>
          <a:p>
            <a:pPr marL="914400" lvl="2" indent="0">
              <a:buNone/>
            </a:pPr>
            <a:r>
              <a:rPr lang="en-US" dirty="0">
                <a:latin typeface="Proxima Nova" panose="020B0604020202020204"/>
                <a:ea typeface="Cambria" panose="02040503050406030204" pitchFamily="18" charset="0"/>
              </a:rPr>
              <a:t>This is some text that will not wrap.</a:t>
            </a:r>
          </a:p>
          <a:p>
            <a:pPr marL="914400" lvl="2" indent="0">
              <a:buNone/>
            </a:pPr>
            <a:r>
              <a:rPr lang="en-US" dirty="0">
                <a:latin typeface="Proxima Nova" panose="020B0604020202020204"/>
                <a:ea typeface="Cambria" panose="02040503050406030204" pitchFamily="18" charset="0"/>
              </a:rPr>
              <a:t>This is some text that will not wrap.</a:t>
            </a:r>
          </a:p>
          <a:p>
            <a:pPr marL="914400" lvl="2" indent="0">
              <a:buNone/>
            </a:pPr>
            <a:r>
              <a:rPr lang="en-US" dirty="0">
                <a:latin typeface="Proxima Nova" panose="020B0604020202020204"/>
                <a:ea typeface="Cambria" panose="02040503050406030204" pitchFamily="18" charset="0"/>
              </a:rPr>
              <a:t>&lt;/p&gt;</a:t>
            </a:r>
          </a:p>
          <a:p>
            <a:pPr marL="0" indent="0">
              <a:buNone/>
            </a:pPr>
            <a:endParaRPr lang="en-US" dirty="0">
              <a:latin typeface="Proxima Nova" panose="020B0604020202020204"/>
              <a:ea typeface="Cambria" panose="02040503050406030204" pitchFamily="18" charset="0"/>
            </a:endParaRPr>
          </a:p>
          <a:p>
            <a:pPr marL="0" indent="0">
              <a:buNone/>
            </a:pPr>
            <a:r>
              <a:rPr lang="en-US" dirty="0">
                <a:latin typeface="Proxima Nova" panose="020B0604020202020204"/>
                <a:ea typeface="Cambria" panose="02040503050406030204" pitchFamily="18" charset="0"/>
              </a:rPr>
              <a:t>	&lt;/body&gt;</a:t>
            </a:r>
          </a:p>
          <a:p>
            <a:pPr marL="0" indent="0">
              <a:buNone/>
            </a:pPr>
            <a:r>
              <a:rPr lang="en-US" dirty="0">
                <a:latin typeface="Proxima Nova" panose="020B0604020202020204"/>
                <a:ea typeface="Cambria" panose="02040503050406030204" pitchFamily="18" charset="0"/>
              </a:rPr>
              <a:t>&lt;/html&gt;</a:t>
            </a:r>
          </a:p>
        </p:txBody>
      </p:sp>
      <p:pic>
        <p:nvPicPr>
          <p:cNvPr id="6" name="Picture 5">
            <a:extLst>
              <a:ext uri="{FF2B5EF4-FFF2-40B4-BE49-F238E27FC236}">
                <a16:creationId xmlns:a16="http://schemas.microsoft.com/office/drawing/2014/main" id="{EB26C7C8-9CE2-734A-DF7D-0281C206D725}"/>
              </a:ext>
            </a:extLst>
          </p:cNvPr>
          <p:cNvPicPr>
            <a:picLocks noChangeAspect="1"/>
          </p:cNvPicPr>
          <p:nvPr/>
        </p:nvPicPr>
        <p:blipFill>
          <a:blip r:embed="rId2"/>
          <a:stretch>
            <a:fillRect/>
          </a:stretch>
        </p:blipFill>
        <p:spPr>
          <a:xfrm>
            <a:off x="9076905" y="2247900"/>
            <a:ext cx="2392005" cy="4262437"/>
          </a:xfrm>
          <a:prstGeom prst="rect">
            <a:avLst/>
          </a:prstGeom>
          <a:ln w="19050">
            <a:solidFill>
              <a:schemeClr val="tx1"/>
            </a:solidFill>
          </a:ln>
        </p:spPr>
      </p:pic>
    </p:spTree>
    <p:extLst>
      <p:ext uri="{BB962C8B-B14F-4D97-AF65-F5344CB8AC3E}">
        <p14:creationId xmlns:p14="http://schemas.microsoft.com/office/powerpoint/2010/main" val="40533717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CE6E5-9029-1663-2E7D-BA83FD267CDF}"/>
              </a:ext>
            </a:extLst>
          </p:cNvPr>
          <p:cNvSpPr>
            <a:spLocks noGrp="1"/>
          </p:cNvSpPr>
          <p:nvPr>
            <p:ph type="title"/>
          </p:nvPr>
        </p:nvSpPr>
        <p:spPr/>
        <p:txBody>
          <a:bodyPr/>
          <a:lstStyle/>
          <a:p>
            <a:r>
              <a:rPr lang="en-US" dirty="0"/>
              <a:t>Text Shadow</a:t>
            </a:r>
            <a:endParaRPr lang="en-IN" dirty="0"/>
          </a:p>
        </p:txBody>
      </p:sp>
      <p:sp>
        <p:nvSpPr>
          <p:cNvPr id="3" name="Content Placeholder 2">
            <a:extLst>
              <a:ext uri="{FF2B5EF4-FFF2-40B4-BE49-F238E27FC236}">
                <a16:creationId xmlns:a16="http://schemas.microsoft.com/office/drawing/2014/main" id="{F86F4A0E-1A1F-40E2-FCBA-D019F57BDE2D}"/>
              </a:ext>
            </a:extLst>
          </p:cNvPr>
          <p:cNvSpPr>
            <a:spLocks noGrp="1"/>
          </p:cNvSpPr>
          <p:nvPr>
            <p:ph idx="1"/>
          </p:nvPr>
        </p:nvSpPr>
        <p:spPr>
          <a:xfrm>
            <a:off x="423420" y="1253331"/>
            <a:ext cx="11294097" cy="5366544"/>
          </a:xfrm>
        </p:spPr>
        <p:txBody>
          <a:bodyPr>
            <a:normAutofit fontScale="62500" lnSpcReduction="20000"/>
          </a:bodyPr>
          <a:lstStyle/>
          <a:p>
            <a:r>
              <a:rPr lang="en-US" sz="2900" dirty="0"/>
              <a:t>The text-shadow property adds shadow to text.</a:t>
            </a:r>
          </a:p>
          <a:p>
            <a:r>
              <a:rPr lang="en-US" sz="2900" dirty="0"/>
              <a:t>In its simplest use, you only specify the horizontal shadow (2px) and the vertical shadow (2px).</a:t>
            </a:r>
          </a:p>
          <a:p>
            <a:r>
              <a:rPr lang="en-US" sz="2900" b="1" dirty="0"/>
              <a:t>Syntax: text-shadow: </a:t>
            </a:r>
            <a:r>
              <a:rPr lang="en-US" sz="2900" b="1" i="1" dirty="0"/>
              <a:t>h-shadow v-shadow blur-radius color </a:t>
            </a:r>
            <a:r>
              <a:rPr lang="en-US" sz="2900" b="1" dirty="0"/>
              <a:t>| none | initial | inherit;</a:t>
            </a:r>
          </a:p>
          <a:p>
            <a:pPr marL="0" lvl="0" indent="0" algn="l">
              <a:lnSpc>
                <a:spcPct val="90000"/>
              </a:lnSpc>
              <a:spcBef>
                <a:spcPts val="1200"/>
              </a:spcBef>
              <a:buClr>
                <a:srgbClr val="40BAD2"/>
              </a:buClr>
              <a:buNone/>
            </a:pPr>
            <a:r>
              <a:rPr lang="en-IN" sz="2900" dirty="0"/>
              <a:t>h1 {</a:t>
            </a:r>
            <a:br>
              <a:rPr lang="en-IN" sz="2900" dirty="0"/>
            </a:br>
            <a:r>
              <a:rPr lang="en-IN" sz="2900" dirty="0"/>
              <a:t>  text-shadow: 2px </a:t>
            </a:r>
            <a:r>
              <a:rPr lang="en-IN" sz="2900" dirty="0" err="1"/>
              <a:t>2px</a:t>
            </a:r>
            <a:r>
              <a:rPr lang="en-IN" sz="2900" dirty="0"/>
              <a:t>;</a:t>
            </a:r>
            <a:br>
              <a:rPr lang="en-IN" sz="2900" dirty="0"/>
            </a:br>
            <a:r>
              <a:rPr lang="en-IN" sz="2900" dirty="0"/>
              <a:t>}</a:t>
            </a:r>
            <a:endParaRPr lang="en-US" sz="2900" dirty="0"/>
          </a:p>
          <a:p>
            <a:pPr algn="l">
              <a:lnSpc>
                <a:spcPct val="90000"/>
              </a:lnSpc>
              <a:spcBef>
                <a:spcPts val="1200"/>
              </a:spcBef>
              <a:buClr>
                <a:srgbClr val="40BAD2"/>
              </a:buClr>
            </a:pPr>
            <a:r>
              <a:rPr lang="en-US" sz="2900" b="1" dirty="0"/>
              <a:t>Now, let’s add red color to it.</a:t>
            </a:r>
          </a:p>
          <a:p>
            <a:pPr marL="0" lvl="0" indent="0" algn="l">
              <a:lnSpc>
                <a:spcPct val="90000"/>
              </a:lnSpc>
              <a:spcBef>
                <a:spcPts val="1200"/>
              </a:spcBef>
              <a:buClr>
                <a:srgbClr val="40BAD2"/>
              </a:buClr>
              <a:buNone/>
            </a:pPr>
            <a:r>
              <a:rPr lang="en-IN" sz="2900" dirty="0"/>
              <a:t>h1 {</a:t>
            </a:r>
            <a:br>
              <a:rPr lang="en-IN" sz="2900" dirty="0"/>
            </a:br>
            <a:r>
              <a:rPr lang="en-IN" sz="2900" dirty="0"/>
              <a:t>  text-shadow: 2px </a:t>
            </a:r>
            <a:r>
              <a:rPr lang="en-IN" sz="2900" dirty="0" err="1"/>
              <a:t>2px</a:t>
            </a:r>
            <a:r>
              <a:rPr lang="en-IN" sz="2900" dirty="0"/>
              <a:t> red;</a:t>
            </a:r>
            <a:br>
              <a:rPr lang="en-IN" sz="2900" dirty="0"/>
            </a:br>
            <a:r>
              <a:rPr lang="en-IN" sz="2900" dirty="0"/>
              <a:t>}</a:t>
            </a:r>
          </a:p>
          <a:p>
            <a:r>
              <a:rPr lang="en-US" sz="2900" b="1" dirty="0"/>
              <a:t>Then, add a blur effect (5px) to the shadow.</a:t>
            </a:r>
          </a:p>
          <a:p>
            <a:pPr marL="0" indent="0">
              <a:buNone/>
            </a:pPr>
            <a:r>
              <a:rPr lang="en-US" sz="2900" dirty="0"/>
              <a:t>h1 {</a:t>
            </a:r>
          </a:p>
          <a:p>
            <a:pPr marL="0" indent="0">
              <a:buNone/>
            </a:pPr>
            <a:r>
              <a:rPr lang="en-US" sz="2900" dirty="0"/>
              <a:t>  text-shadow: 2px </a:t>
            </a:r>
            <a:r>
              <a:rPr lang="en-US" sz="2900" dirty="0" err="1"/>
              <a:t>2px</a:t>
            </a:r>
            <a:r>
              <a:rPr lang="en-US" sz="2900" dirty="0"/>
              <a:t> 5px red;</a:t>
            </a:r>
          </a:p>
          <a:p>
            <a:pPr marL="0" indent="0">
              <a:buNone/>
            </a:pPr>
            <a:r>
              <a:rPr lang="en-US" sz="2900" dirty="0"/>
              <a:t>}</a:t>
            </a:r>
          </a:p>
          <a:p>
            <a:endParaRPr lang="en-IN" dirty="0"/>
          </a:p>
        </p:txBody>
      </p:sp>
    </p:spTree>
    <p:extLst>
      <p:ext uri="{BB962C8B-B14F-4D97-AF65-F5344CB8AC3E}">
        <p14:creationId xmlns:p14="http://schemas.microsoft.com/office/powerpoint/2010/main" val="1152445966"/>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52BEB-7205-7975-4913-D995F099BA13}"/>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7683876E-981F-38FA-68D4-95993A3D9151}"/>
              </a:ext>
            </a:extLst>
          </p:cNvPr>
          <p:cNvSpPr>
            <a:spLocks noGrp="1"/>
          </p:cNvSpPr>
          <p:nvPr>
            <p:ph idx="1"/>
          </p:nvPr>
        </p:nvSpPr>
        <p:spPr/>
        <p:txBody>
          <a:bodyPr>
            <a:noAutofit/>
          </a:bodyPr>
          <a:lstStyle/>
          <a:p>
            <a:pPr marL="0" indent="0">
              <a:lnSpc>
                <a:spcPct val="100000"/>
              </a:lnSpc>
              <a:buNone/>
            </a:pPr>
            <a:r>
              <a:rPr lang="en-US" dirty="0">
                <a:ea typeface="Cambria" panose="02040503050406030204" pitchFamily="18" charset="0"/>
              </a:rPr>
              <a:t>&lt;!DOCTYPE html&gt;</a:t>
            </a:r>
          </a:p>
          <a:p>
            <a:pPr marL="0" indent="0">
              <a:lnSpc>
                <a:spcPct val="100000"/>
              </a:lnSpc>
              <a:buNone/>
            </a:pPr>
            <a:r>
              <a:rPr lang="en-US" dirty="0">
                <a:ea typeface="Cambria" panose="02040503050406030204" pitchFamily="18" charset="0"/>
              </a:rPr>
              <a:t>&lt;html&gt;</a:t>
            </a:r>
          </a:p>
          <a:p>
            <a:pPr marL="0" indent="0">
              <a:lnSpc>
                <a:spcPct val="100000"/>
              </a:lnSpc>
              <a:buNone/>
            </a:pPr>
            <a:r>
              <a:rPr lang="en-US" dirty="0">
                <a:ea typeface="Cambria" panose="02040503050406030204" pitchFamily="18" charset="0"/>
              </a:rPr>
              <a:t>	&lt;head&gt;</a:t>
            </a:r>
          </a:p>
          <a:p>
            <a:pPr marL="0" indent="0">
              <a:lnSpc>
                <a:spcPct val="100000"/>
              </a:lnSpc>
              <a:buNone/>
            </a:pPr>
            <a:r>
              <a:rPr lang="en-US" dirty="0">
                <a:ea typeface="Cambria" panose="02040503050406030204" pitchFamily="18" charset="0"/>
              </a:rPr>
              <a:t>		&lt;style&gt;</a:t>
            </a:r>
          </a:p>
          <a:p>
            <a:pPr marL="1371600" lvl="3" indent="0">
              <a:lnSpc>
                <a:spcPct val="100000"/>
              </a:lnSpc>
              <a:buNone/>
            </a:pPr>
            <a:r>
              <a:rPr lang="en-US" dirty="0">
                <a:ea typeface="Cambria" panose="02040503050406030204" pitchFamily="18" charset="0"/>
              </a:rPr>
              <a:t>h1 {</a:t>
            </a:r>
          </a:p>
          <a:p>
            <a:pPr marL="1371600" lvl="3" indent="0">
              <a:lnSpc>
                <a:spcPct val="100000"/>
              </a:lnSpc>
              <a:buNone/>
            </a:pPr>
            <a:r>
              <a:rPr lang="en-US" dirty="0">
                <a:ea typeface="Cambria" panose="02040503050406030204" pitchFamily="18" charset="0"/>
              </a:rPr>
              <a:t>  text-shadow: 2px </a:t>
            </a:r>
            <a:r>
              <a:rPr lang="en-US" dirty="0" err="1">
                <a:ea typeface="Cambria" panose="02040503050406030204" pitchFamily="18" charset="0"/>
              </a:rPr>
              <a:t>2px</a:t>
            </a:r>
            <a:r>
              <a:rPr lang="en-US" dirty="0">
                <a:ea typeface="Cambria" panose="02040503050406030204" pitchFamily="18" charset="0"/>
              </a:rPr>
              <a:t> 5px red;</a:t>
            </a:r>
          </a:p>
          <a:p>
            <a:pPr marL="1371600" lvl="3" indent="0">
              <a:lnSpc>
                <a:spcPct val="100000"/>
              </a:lnSpc>
              <a:buNone/>
            </a:pPr>
            <a:r>
              <a:rPr lang="en-US" dirty="0">
                <a:ea typeface="Cambria" panose="02040503050406030204" pitchFamily="18" charset="0"/>
              </a:rPr>
              <a:t>}</a:t>
            </a:r>
          </a:p>
          <a:p>
            <a:pPr marL="0" indent="0">
              <a:lnSpc>
                <a:spcPct val="100000"/>
              </a:lnSpc>
              <a:buNone/>
            </a:pPr>
            <a:r>
              <a:rPr lang="en-US" dirty="0">
                <a:ea typeface="Cambria" panose="02040503050406030204" pitchFamily="18" charset="0"/>
              </a:rPr>
              <a:t>		&lt;/style&gt;</a:t>
            </a:r>
          </a:p>
          <a:p>
            <a:pPr marL="457200" lvl="1" indent="0">
              <a:lnSpc>
                <a:spcPct val="100000"/>
              </a:lnSpc>
              <a:buNone/>
            </a:pPr>
            <a:r>
              <a:rPr lang="en-US" dirty="0">
                <a:ea typeface="Cambria" panose="02040503050406030204" pitchFamily="18" charset="0"/>
              </a:rPr>
              <a:t>&lt;/head&gt;</a:t>
            </a:r>
          </a:p>
          <a:p>
            <a:pPr marL="457200" lvl="1" indent="0">
              <a:lnSpc>
                <a:spcPct val="100000"/>
              </a:lnSpc>
              <a:buNone/>
            </a:pPr>
            <a:r>
              <a:rPr lang="en-US" dirty="0">
                <a:ea typeface="Cambria" panose="02040503050406030204" pitchFamily="18" charset="0"/>
              </a:rPr>
              <a:t>&lt;body&gt;</a:t>
            </a:r>
          </a:p>
          <a:p>
            <a:pPr marL="0" indent="0">
              <a:lnSpc>
                <a:spcPct val="100000"/>
              </a:lnSpc>
              <a:buNone/>
            </a:pPr>
            <a:r>
              <a:rPr lang="en-US" dirty="0">
                <a:ea typeface="Cambria" panose="02040503050406030204" pitchFamily="18" charset="0"/>
              </a:rPr>
              <a:t>		&lt;h1&gt;Text-shadow effect!&lt;/h1&gt;</a:t>
            </a:r>
          </a:p>
          <a:p>
            <a:pPr marL="0" indent="0">
              <a:lnSpc>
                <a:spcPct val="100000"/>
              </a:lnSpc>
              <a:buNone/>
            </a:pPr>
            <a:endParaRPr lang="en-US" dirty="0">
              <a:ea typeface="Cambria" panose="02040503050406030204" pitchFamily="18" charset="0"/>
            </a:endParaRPr>
          </a:p>
          <a:p>
            <a:pPr marL="0" indent="0">
              <a:lnSpc>
                <a:spcPct val="100000"/>
              </a:lnSpc>
              <a:buNone/>
            </a:pPr>
            <a:r>
              <a:rPr lang="en-US" dirty="0">
                <a:ea typeface="Cambria" panose="02040503050406030204" pitchFamily="18" charset="0"/>
              </a:rPr>
              <a:t>	&lt;/body&gt;</a:t>
            </a:r>
          </a:p>
          <a:p>
            <a:pPr marL="0" indent="0">
              <a:lnSpc>
                <a:spcPct val="100000"/>
              </a:lnSpc>
              <a:buNone/>
            </a:pPr>
            <a:r>
              <a:rPr lang="en-US" dirty="0">
                <a:ea typeface="Cambria" panose="02040503050406030204" pitchFamily="18" charset="0"/>
              </a:rPr>
              <a:t>&lt;/html&gt;</a:t>
            </a:r>
          </a:p>
          <a:p>
            <a:pPr marL="0" indent="0">
              <a:lnSpc>
                <a:spcPct val="100000"/>
              </a:lnSpc>
              <a:buNone/>
            </a:pPr>
            <a:endParaRPr lang="en-IN" dirty="0"/>
          </a:p>
        </p:txBody>
      </p:sp>
      <p:pic>
        <p:nvPicPr>
          <p:cNvPr id="4" name="Picture 3">
            <a:extLst>
              <a:ext uri="{FF2B5EF4-FFF2-40B4-BE49-F238E27FC236}">
                <a16:creationId xmlns:a16="http://schemas.microsoft.com/office/drawing/2014/main" id="{0DD2E807-64FD-6E02-E1B2-2DED599CCA89}"/>
              </a:ext>
            </a:extLst>
          </p:cNvPr>
          <p:cNvPicPr>
            <a:picLocks noChangeAspect="1"/>
          </p:cNvPicPr>
          <p:nvPr/>
        </p:nvPicPr>
        <p:blipFill>
          <a:blip r:embed="rId2"/>
          <a:stretch>
            <a:fillRect/>
          </a:stretch>
        </p:blipFill>
        <p:spPr>
          <a:xfrm>
            <a:off x="4798674" y="5509401"/>
            <a:ext cx="4486275" cy="1057275"/>
          </a:xfrm>
          <a:prstGeom prst="rect">
            <a:avLst/>
          </a:prstGeom>
          <a:ln w="19050">
            <a:solidFill>
              <a:schemeClr val="tx1"/>
            </a:solidFill>
          </a:ln>
        </p:spPr>
      </p:pic>
    </p:spTree>
    <p:extLst>
      <p:ext uri="{BB962C8B-B14F-4D97-AF65-F5344CB8AC3E}">
        <p14:creationId xmlns:p14="http://schemas.microsoft.com/office/powerpoint/2010/main" val="34309880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05C3D-6A57-A24E-98D6-57A54727CD71}"/>
              </a:ext>
            </a:extLst>
          </p:cNvPr>
          <p:cNvSpPr>
            <a:spLocks noGrp="1"/>
          </p:cNvSpPr>
          <p:nvPr>
            <p:ph type="title"/>
          </p:nvPr>
        </p:nvSpPr>
        <p:spPr/>
        <p:txBody>
          <a:bodyPr/>
          <a:lstStyle/>
          <a:p>
            <a:r>
              <a:rPr lang="en-US" dirty="0"/>
              <a:t>Font-family</a:t>
            </a:r>
            <a:endParaRPr lang="en-IN" dirty="0"/>
          </a:p>
        </p:txBody>
      </p:sp>
      <p:sp>
        <p:nvSpPr>
          <p:cNvPr id="3" name="Content Placeholder 2">
            <a:extLst>
              <a:ext uri="{FF2B5EF4-FFF2-40B4-BE49-F238E27FC236}">
                <a16:creationId xmlns:a16="http://schemas.microsoft.com/office/drawing/2014/main" id="{77B08324-8815-12A2-F1F2-9825B3FA2411}"/>
              </a:ext>
            </a:extLst>
          </p:cNvPr>
          <p:cNvSpPr>
            <a:spLocks noGrp="1"/>
          </p:cNvSpPr>
          <p:nvPr>
            <p:ph idx="1"/>
          </p:nvPr>
        </p:nvSpPr>
        <p:spPr/>
        <p:txBody>
          <a:bodyPr>
            <a:noAutofit/>
          </a:bodyPr>
          <a:lstStyle/>
          <a:p>
            <a:r>
              <a:rPr lang="en-US" dirty="0"/>
              <a:t>The font family of a text is set with the </a:t>
            </a:r>
            <a:r>
              <a:rPr lang="en-IN" dirty="0"/>
              <a:t> font-family </a:t>
            </a:r>
            <a:r>
              <a:rPr lang="en-US" dirty="0"/>
              <a:t>property.</a:t>
            </a:r>
            <a:endParaRPr lang="en-IN" dirty="0"/>
          </a:p>
          <a:p>
            <a:r>
              <a:rPr lang="en-IN" dirty="0"/>
              <a:t>The font-family </a:t>
            </a:r>
            <a:r>
              <a:rPr lang="en-US" dirty="0"/>
              <a:t>property should hold several font names as a "fallback" system. If the browser does not support the first font, it tries the next font, and so on.</a:t>
            </a:r>
          </a:p>
          <a:p>
            <a:pPr marL="0" indent="0">
              <a:lnSpc>
                <a:spcPct val="100000"/>
              </a:lnSpc>
              <a:buNone/>
            </a:pPr>
            <a:r>
              <a:rPr lang="en-US" dirty="0">
                <a:ea typeface="Cambria" panose="02040503050406030204" pitchFamily="18" charset="0"/>
              </a:rPr>
              <a:t>&lt;!DOCTYPE html&gt;</a:t>
            </a:r>
          </a:p>
          <a:p>
            <a:pPr marL="0" indent="0">
              <a:lnSpc>
                <a:spcPct val="100000"/>
              </a:lnSpc>
              <a:buNone/>
            </a:pPr>
            <a:r>
              <a:rPr lang="en-US" dirty="0">
                <a:ea typeface="Cambria" panose="02040503050406030204" pitchFamily="18" charset="0"/>
              </a:rPr>
              <a:t>&lt;html&gt;</a:t>
            </a:r>
          </a:p>
          <a:p>
            <a:pPr marL="0" indent="0">
              <a:lnSpc>
                <a:spcPct val="100000"/>
              </a:lnSpc>
              <a:buNone/>
            </a:pPr>
            <a:r>
              <a:rPr lang="en-US" dirty="0">
                <a:ea typeface="Cambria" panose="02040503050406030204" pitchFamily="18" charset="0"/>
              </a:rPr>
              <a:t>	&lt;head&gt;</a:t>
            </a:r>
          </a:p>
          <a:p>
            <a:pPr marL="914400" lvl="2" indent="0">
              <a:lnSpc>
                <a:spcPct val="100000"/>
              </a:lnSpc>
              <a:buNone/>
            </a:pPr>
            <a:r>
              <a:rPr lang="en-US" dirty="0">
                <a:ea typeface="Cambria" panose="02040503050406030204" pitchFamily="18" charset="0"/>
              </a:rPr>
              <a:t>&lt;style&gt;</a:t>
            </a:r>
          </a:p>
          <a:p>
            <a:pPr marL="1371600" lvl="3" indent="0">
              <a:lnSpc>
                <a:spcPct val="100000"/>
              </a:lnSpc>
              <a:buNone/>
            </a:pPr>
            <a:r>
              <a:rPr lang="en-US" dirty="0">
                <a:ea typeface="Cambria" panose="02040503050406030204" pitchFamily="18" charset="0"/>
              </a:rPr>
              <a:t>.p1 {</a:t>
            </a:r>
          </a:p>
          <a:p>
            <a:pPr marL="1371600" lvl="3" indent="0">
              <a:lnSpc>
                <a:spcPct val="100000"/>
              </a:lnSpc>
              <a:buNone/>
            </a:pPr>
            <a:r>
              <a:rPr lang="en-US" dirty="0">
                <a:ea typeface="Cambria" panose="02040503050406030204" pitchFamily="18" charset="0"/>
              </a:rPr>
              <a:t>  font-family: "Times New Roman", Times, serif;</a:t>
            </a:r>
          </a:p>
          <a:p>
            <a:pPr marL="1371600" lvl="3" indent="0">
              <a:lnSpc>
                <a:spcPct val="100000"/>
              </a:lnSpc>
              <a:buNone/>
            </a:pPr>
            <a:r>
              <a:rPr lang="en-US" dirty="0">
                <a:ea typeface="Cambria" panose="02040503050406030204" pitchFamily="18" charset="0"/>
              </a:rPr>
              <a:t>}</a:t>
            </a:r>
          </a:p>
          <a:p>
            <a:pPr marL="1371600" lvl="3" indent="0">
              <a:lnSpc>
                <a:spcPct val="100000"/>
              </a:lnSpc>
              <a:buNone/>
            </a:pPr>
            <a:r>
              <a:rPr lang="en-US" dirty="0">
                <a:ea typeface="Cambria" panose="02040503050406030204" pitchFamily="18" charset="0"/>
              </a:rPr>
              <a:t>.p2 {</a:t>
            </a:r>
          </a:p>
          <a:p>
            <a:pPr marL="1371600" lvl="3" indent="0">
              <a:lnSpc>
                <a:spcPct val="100000"/>
              </a:lnSpc>
              <a:buNone/>
            </a:pPr>
            <a:r>
              <a:rPr lang="en-US" dirty="0">
                <a:ea typeface="Cambria" panose="02040503050406030204" pitchFamily="18" charset="0"/>
              </a:rPr>
              <a:t>  font-family: Arial, Helvetica, sans-serif;</a:t>
            </a:r>
          </a:p>
          <a:p>
            <a:pPr marL="1371600" lvl="3" indent="0">
              <a:lnSpc>
                <a:spcPct val="100000"/>
              </a:lnSpc>
              <a:buNone/>
            </a:pPr>
            <a:r>
              <a:rPr lang="en-US" dirty="0">
                <a:ea typeface="Cambria" panose="02040503050406030204" pitchFamily="18" charset="0"/>
              </a:rPr>
              <a:t>}</a:t>
            </a:r>
          </a:p>
          <a:p>
            <a:pPr marL="1371600" lvl="3" indent="0">
              <a:lnSpc>
                <a:spcPct val="100000"/>
              </a:lnSpc>
              <a:buNone/>
            </a:pPr>
            <a:r>
              <a:rPr lang="en-US" dirty="0">
                <a:ea typeface="Cambria" panose="02040503050406030204" pitchFamily="18" charset="0"/>
              </a:rPr>
              <a:t>&lt;/body&gt;</a:t>
            </a:r>
          </a:p>
          <a:p>
            <a:pPr marL="0" indent="0">
              <a:lnSpc>
                <a:spcPct val="100000"/>
              </a:lnSpc>
              <a:buNone/>
            </a:pPr>
            <a:r>
              <a:rPr lang="en-US" dirty="0">
                <a:ea typeface="Cambria" panose="02040503050406030204" pitchFamily="18" charset="0"/>
              </a:rPr>
              <a:t>&lt;/html&gt;</a:t>
            </a:r>
          </a:p>
          <a:p>
            <a:pPr marL="0" indent="0">
              <a:lnSpc>
                <a:spcPct val="100000"/>
              </a:lnSpc>
              <a:buNone/>
            </a:pPr>
            <a:endParaRPr lang="en-US" dirty="0"/>
          </a:p>
          <a:p>
            <a:endParaRPr lang="en-IN" dirty="0"/>
          </a:p>
        </p:txBody>
      </p:sp>
      <p:sp>
        <p:nvSpPr>
          <p:cNvPr id="5" name="TextBox 4">
            <a:extLst>
              <a:ext uri="{FF2B5EF4-FFF2-40B4-BE49-F238E27FC236}">
                <a16:creationId xmlns:a16="http://schemas.microsoft.com/office/drawing/2014/main" id="{579728A2-EEA8-8AD6-C611-D0A5B613613A}"/>
              </a:ext>
            </a:extLst>
          </p:cNvPr>
          <p:cNvSpPr txBox="1"/>
          <p:nvPr/>
        </p:nvSpPr>
        <p:spPr>
          <a:xfrm>
            <a:off x="5981700" y="2610683"/>
            <a:ext cx="6096000" cy="4247317"/>
          </a:xfrm>
          <a:prstGeom prst="rect">
            <a:avLst/>
          </a:prstGeom>
          <a:noFill/>
        </p:spPr>
        <p:txBody>
          <a:bodyPr wrap="square">
            <a:spAutoFit/>
          </a:bodyPr>
          <a:lstStyle/>
          <a:p>
            <a:pPr marL="1371600" lvl="3" indent="0">
              <a:lnSpc>
                <a:spcPct val="100000"/>
              </a:lnSpc>
              <a:buNone/>
            </a:pPr>
            <a:r>
              <a:rPr lang="en-US" dirty="0">
                <a:ea typeface="Cambria" panose="02040503050406030204" pitchFamily="18" charset="0"/>
              </a:rPr>
              <a:t>.p3 {</a:t>
            </a:r>
          </a:p>
          <a:p>
            <a:pPr marL="1371600" lvl="3" indent="0">
              <a:lnSpc>
                <a:spcPct val="100000"/>
              </a:lnSpc>
              <a:buNone/>
            </a:pPr>
            <a:r>
              <a:rPr lang="en-US" dirty="0">
                <a:ea typeface="Cambria" panose="02040503050406030204" pitchFamily="18" charset="0"/>
              </a:rPr>
              <a:t>  font-family: "Lucida Console", "Courier New", monospace;</a:t>
            </a:r>
          </a:p>
          <a:p>
            <a:pPr marL="1371600" lvl="3" indent="0">
              <a:lnSpc>
                <a:spcPct val="100000"/>
              </a:lnSpc>
              <a:buNone/>
            </a:pPr>
            <a:r>
              <a:rPr lang="en-US" dirty="0">
                <a:ea typeface="Cambria" panose="02040503050406030204" pitchFamily="18" charset="0"/>
              </a:rPr>
              <a:t>}</a:t>
            </a:r>
          </a:p>
          <a:p>
            <a:pPr marL="914400" lvl="2" indent="0">
              <a:lnSpc>
                <a:spcPct val="100000"/>
              </a:lnSpc>
              <a:buNone/>
            </a:pPr>
            <a:r>
              <a:rPr lang="en-US" dirty="0">
                <a:ea typeface="Cambria" panose="02040503050406030204" pitchFamily="18" charset="0"/>
              </a:rPr>
              <a:t>&lt;/style&gt;</a:t>
            </a:r>
          </a:p>
          <a:p>
            <a:pPr marL="457200" lvl="1" indent="0">
              <a:lnSpc>
                <a:spcPct val="100000"/>
              </a:lnSpc>
              <a:buNone/>
            </a:pPr>
            <a:r>
              <a:rPr lang="en-US" dirty="0">
                <a:ea typeface="Cambria" panose="02040503050406030204" pitchFamily="18" charset="0"/>
              </a:rPr>
              <a:t>&lt;/head&gt;</a:t>
            </a:r>
          </a:p>
          <a:p>
            <a:pPr marL="457200" lvl="1" indent="0">
              <a:lnSpc>
                <a:spcPct val="100000"/>
              </a:lnSpc>
              <a:buNone/>
            </a:pPr>
            <a:r>
              <a:rPr lang="en-US" dirty="0">
                <a:ea typeface="Cambria" panose="02040503050406030204" pitchFamily="18" charset="0"/>
              </a:rPr>
              <a:t>&lt;body&gt;</a:t>
            </a:r>
          </a:p>
          <a:p>
            <a:pPr marL="914400" lvl="2" indent="0">
              <a:lnSpc>
                <a:spcPct val="100000"/>
              </a:lnSpc>
              <a:buNone/>
            </a:pPr>
            <a:r>
              <a:rPr lang="en-US" dirty="0">
                <a:ea typeface="Cambria" panose="02040503050406030204" pitchFamily="18" charset="0"/>
              </a:rPr>
              <a:t>&lt;h1&gt;CSS font-family&lt;/h1&gt;</a:t>
            </a:r>
          </a:p>
          <a:p>
            <a:pPr marL="914400" lvl="2" indent="0">
              <a:lnSpc>
                <a:spcPct val="100000"/>
              </a:lnSpc>
              <a:buNone/>
            </a:pPr>
            <a:r>
              <a:rPr lang="en-US" dirty="0">
                <a:ea typeface="Cambria" panose="02040503050406030204" pitchFamily="18" charset="0"/>
              </a:rPr>
              <a:t>&lt;p class="p1"&gt;This is a paragraph, shown in the Times New Roman font.&lt;/p&gt;</a:t>
            </a:r>
          </a:p>
          <a:p>
            <a:pPr marL="914400" lvl="2" indent="0">
              <a:lnSpc>
                <a:spcPct val="100000"/>
              </a:lnSpc>
              <a:buNone/>
            </a:pPr>
            <a:r>
              <a:rPr lang="en-US" dirty="0">
                <a:ea typeface="Cambria" panose="02040503050406030204" pitchFamily="18" charset="0"/>
              </a:rPr>
              <a:t>&lt;p class="p2"&gt;This is a paragraph, shown in the Arial font.&lt;/p&gt;</a:t>
            </a:r>
          </a:p>
          <a:p>
            <a:pPr marL="914400" lvl="2" indent="0">
              <a:lnSpc>
                <a:spcPct val="100000"/>
              </a:lnSpc>
              <a:buNone/>
            </a:pPr>
            <a:r>
              <a:rPr lang="en-US" dirty="0">
                <a:ea typeface="Cambria" panose="02040503050406030204" pitchFamily="18" charset="0"/>
              </a:rPr>
              <a:t>&lt;p class="p3"&gt;This is a paragraph, shown in the Lucida Console font.&lt;/p&gt;</a:t>
            </a:r>
          </a:p>
          <a:p>
            <a:pPr marL="0" indent="0">
              <a:lnSpc>
                <a:spcPct val="100000"/>
              </a:lnSpc>
              <a:buNone/>
            </a:pPr>
            <a:r>
              <a:rPr lang="en-US" dirty="0">
                <a:ea typeface="Cambria" panose="02040503050406030204" pitchFamily="18" charset="0"/>
              </a:rPr>
              <a:t>	</a:t>
            </a:r>
            <a:endParaRPr lang="en-IN" dirty="0"/>
          </a:p>
        </p:txBody>
      </p:sp>
      <p:pic>
        <p:nvPicPr>
          <p:cNvPr id="6" name="Picture 5">
            <a:extLst>
              <a:ext uri="{FF2B5EF4-FFF2-40B4-BE49-F238E27FC236}">
                <a16:creationId xmlns:a16="http://schemas.microsoft.com/office/drawing/2014/main" id="{5C508A84-41DA-E877-EA31-A5A4AC2CE05B}"/>
              </a:ext>
            </a:extLst>
          </p:cNvPr>
          <p:cNvPicPr>
            <a:picLocks noChangeAspect="1"/>
          </p:cNvPicPr>
          <p:nvPr/>
        </p:nvPicPr>
        <p:blipFill>
          <a:blip r:embed="rId2"/>
          <a:stretch>
            <a:fillRect/>
          </a:stretch>
        </p:blipFill>
        <p:spPr>
          <a:xfrm>
            <a:off x="3667125" y="2751316"/>
            <a:ext cx="2818791" cy="1738457"/>
          </a:xfrm>
          <a:prstGeom prst="rect">
            <a:avLst/>
          </a:prstGeom>
          <a:ln w="19050">
            <a:solidFill>
              <a:schemeClr val="tx1"/>
            </a:solidFill>
          </a:ln>
        </p:spPr>
      </p:pic>
    </p:spTree>
    <p:extLst>
      <p:ext uri="{BB962C8B-B14F-4D97-AF65-F5344CB8AC3E}">
        <p14:creationId xmlns:p14="http://schemas.microsoft.com/office/powerpoint/2010/main" val="16592736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EA66B-6188-8B21-31CF-EBC33CE499D1}"/>
              </a:ext>
            </a:extLst>
          </p:cNvPr>
          <p:cNvSpPr>
            <a:spLocks noGrp="1"/>
          </p:cNvSpPr>
          <p:nvPr>
            <p:ph type="title"/>
          </p:nvPr>
        </p:nvSpPr>
        <p:spPr/>
        <p:txBody>
          <a:bodyPr/>
          <a:lstStyle/>
          <a:p>
            <a:r>
              <a:rPr lang="en-US" dirty="0"/>
              <a:t>Font-style</a:t>
            </a:r>
            <a:endParaRPr lang="en-IN" dirty="0"/>
          </a:p>
        </p:txBody>
      </p:sp>
      <p:sp>
        <p:nvSpPr>
          <p:cNvPr id="3" name="Content Placeholder 2">
            <a:extLst>
              <a:ext uri="{FF2B5EF4-FFF2-40B4-BE49-F238E27FC236}">
                <a16:creationId xmlns:a16="http://schemas.microsoft.com/office/drawing/2014/main" id="{61C50F94-60A4-64A9-C0EB-44FAF5D635EF}"/>
              </a:ext>
            </a:extLst>
          </p:cNvPr>
          <p:cNvSpPr>
            <a:spLocks noGrp="1"/>
          </p:cNvSpPr>
          <p:nvPr>
            <p:ph idx="1"/>
          </p:nvPr>
        </p:nvSpPr>
        <p:spPr/>
        <p:txBody>
          <a:bodyPr/>
          <a:lstStyle/>
          <a:p>
            <a:r>
              <a:rPr lang="en-US" dirty="0"/>
              <a:t>The font-style property is mostly used to specify italic text.</a:t>
            </a:r>
          </a:p>
          <a:p>
            <a:r>
              <a:rPr lang="en-US" dirty="0"/>
              <a:t>This property has three values:</a:t>
            </a:r>
          </a:p>
          <a:p>
            <a:r>
              <a:rPr lang="en-US" dirty="0"/>
              <a:t> normal - The text is shown normally</a:t>
            </a:r>
          </a:p>
          <a:p>
            <a:r>
              <a:rPr lang="en-US" dirty="0"/>
              <a:t> italic - The text is shown in italics</a:t>
            </a:r>
          </a:p>
          <a:p>
            <a:r>
              <a:rPr lang="en-US" dirty="0"/>
              <a:t> oblique - The text is "leaning" (oblique is very similar      to italic, but less supported)</a:t>
            </a:r>
          </a:p>
          <a:p>
            <a:endParaRPr lang="en-US" dirty="0"/>
          </a:p>
          <a:p>
            <a:endParaRPr lang="en-IN" dirty="0"/>
          </a:p>
        </p:txBody>
      </p:sp>
    </p:spTree>
    <p:extLst>
      <p:ext uri="{BB962C8B-B14F-4D97-AF65-F5344CB8AC3E}">
        <p14:creationId xmlns:p14="http://schemas.microsoft.com/office/powerpoint/2010/main" val="58358905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608ED-ACCA-B62A-440C-839033CA2FE7}"/>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3FD1F604-10DD-49B7-1040-68E0D475B610}"/>
              </a:ext>
            </a:extLst>
          </p:cNvPr>
          <p:cNvSpPr>
            <a:spLocks noGrp="1"/>
          </p:cNvSpPr>
          <p:nvPr>
            <p:ph idx="1"/>
          </p:nvPr>
        </p:nvSpPr>
        <p:spPr/>
        <p:txBody>
          <a:bodyPr>
            <a:noAutofit/>
          </a:bodyPr>
          <a:lstStyle/>
          <a:p>
            <a:pPr marL="0" indent="0">
              <a:lnSpc>
                <a:spcPct val="100000"/>
              </a:lnSpc>
              <a:buNone/>
            </a:pPr>
            <a:r>
              <a:rPr lang="en-US" dirty="0">
                <a:ea typeface="Cambria" panose="02040503050406030204" pitchFamily="18" charset="0"/>
              </a:rPr>
              <a:t>&lt;!DOCTYPE html&gt;</a:t>
            </a:r>
          </a:p>
          <a:p>
            <a:pPr marL="0" indent="0">
              <a:lnSpc>
                <a:spcPct val="100000"/>
              </a:lnSpc>
              <a:buNone/>
            </a:pPr>
            <a:r>
              <a:rPr lang="en-US" dirty="0">
                <a:ea typeface="Cambria" panose="02040503050406030204" pitchFamily="18" charset="0"/>
              </a:rPr>
              <a:t>&lt;html&gt;</a:t>
            </a:r>
          </a:p>
          <a:p>
            <a:pPr marL="0" indent="0">
              <a:lnSpc>
                <a:spcPct val="100000"/>
              </a:lnSpc>
              <a:buNone/>
            </a:pPr>
            <a:r>
              <a:rPr lang="en-US" dirty="0">
                <a:ea typeface="Cambria" panose="02040503050406030204" pitchFamily="18" charset="0"/>
              </a:rPr>
              <a:t>	&lt;head&gt;</a:t>
            </a:r>
          </a:p>
          <a:p>
            <a:pPr marL="914400" lvl="2" indent="0">
              <a:lnSpc>
                <a:spcPct val="100000"/>
              </a:lnSpc>
              <a:buNone/>
            </a:pPr>
            <a:r>
              <a:rPr lang="en-US" dirty="0">
                <a:ea typeface="Cambria" panose="02040503050406030204" pitchFamily="18" charset="0"/>
              </a:rPr>
              <a:t>&lt;style&gt;</a:t>
            </a:r>
          </a:p>
          <a:p>
            <a:pPr marL="1371600" lvl="3" indent="0">
              <a:lnSpc>
                <a:spcPct val="100000"/>
              </a:lnSpc>
              <a:buNone/>
            </a:pPr>
            <a:r>
              <a:rPr lang="en-US" dirty="0" err="1">
                <a:ea typeface="Cambria" panose="02040503050406030204" pitchFamily="18" charset="0"/>
              </a:rPr>
              <a:t>p.normal</a:t>
            </a:r>
            <a:r>
              <a:rPr lang="en-US" dirty="0">
                <a:ea typeface="Cambria" panose="02040503050406030204" pitchFamily="18" charset="0"/>
              </a:rPr>
              <a:t> {</a:t>
            </a:r>
          </a:p>
          <a:p>
            <a:pPr marL="1371600" lvl="3" indent="0">
              <a:lnSpc>
                <a:spcPct val="100000"/>
              </a:lnSpc>
              <a:buNone/>
            </a:pPr>
            <a:r>
              <a:rPr lang="en-US" dirty="0">
                <a:ea typeface="Cambria" panose="02040503050406030204" pitchFamily="18" charset="0"/>
              </a:rPr>
              <a:t>  font-style: normal;</a:t>
            </a:r>
          </a:p>
          <a:p>
            <a:pPr marL="1371600" lvl="3" indent="0">
              <a:lnSpc>
                <a:spcPct val="100000"/>
              </a:lnSpc>
              <a:buNone/>
            </a:pPr>
            <a:r>
              <a:rPr lang="en-US" dirty="0">
                <a:ea typeface="Cambria" panose="02040503050406030204" pitchFamily="18" charset="0"/>
              </a:rPr>
              <a:t>}</a:t>
            </a:r>
          </a:p>
          <a:p>
            <a:pPr marL="1371600" lvl="3" indent="0">
              <a:lnSpc>
                <a:spcPct val="100000"/>
              </a:lnSpc>
              <a:buNone/>
            </a:pPr>
            <a:r>
              <a:rPr lang="en-US" dirty="0" err="1">
                <a:ea typeface="Cambria" panose="02040503050406030204" pitchFamily="18" charset="0"/>
              </a:rPr>
              <a:t>p.italic</a:t>
            </a:r>
            <a:r>
              <a:rPr lang="en-US" dirty="0">
                <a:ea typeface="Cambria" panose="02040503050406030204" pitchFamily="18" charset="0"/>
              </a:rPr>
              <a:t> {</a:t>
            </a:r>
          </a:p>
          <a:p>
            <a:pPr marL="1371600" lvl="3" indent="0">
              <a:lnSpc>
                <a:spcPct val="100000"/>
              </a:lnSpc>
              <a:buNone/>
            </a:pPr>
            <a:r>
              <a:rPr lang="en-US" dirty="0">
                <a:ea typeface="Cambria" panose="02040503050406030204" pitchFamily="18" charset="0"/>
              </a:rPr>
              <a:t>  font-style: italic;</a:t>
            </a:r>
          </a:p>
          <a:p>
            <a:pPr marL="1371600" lvl="3" indent="0">
              <a:lnSpc>
                <a:spcPct val="100000"/>
              </a:lnSpc>
              <a:buNone/>
            </a:pPr>
            <a:r>
              <a:rPr lang="en-US" dirty="0">
                <a:ea typeface="Cambria" panose="02040503050406030204" pitchFamily="18" charset="0"/>
              </a:rPr>
              <a:t>}</a:t>
            </a:r>
          </a:p>
          <a:p>
            <a:pPr marL="1371600" lvl="3" indent="0">
              <a:lnSpc>
                <a:spcPct val="100000"/>
              </a:lnSpc>
              <a:buNone/>
            </a:pPr>
            <a:r>
              <a:rPr lang="en-US" dirty="0" err="1">
                <a:ea typeface="Cambria" panose="02040503050406030204" pitchFamily="18" charset="0"/>
              </a:rPr>
              <a:t>p.oblique</a:t>
            </a:r>
            <a:r>
              <a:rPr lang="en-US" dirty="0">
                <a:ea typeface="Cambria" panose="02040503050406030204" pitchFamily="18" charset="0"/>
              </a:rPr>
              <a:t> {</a:t>
            </a:r>
          </a:p>
          <a:p>
            <a:pPr marL="1371600" lvl="3" indent="0">
              <a:lnSpc>
                <a:spcPct val="100000"/>
              </a:lnSpc>
              <a:buNone/>
            </a:pPr>
            <a:r>
              <a:rPr lang="en-US" dirty="0">
                <a:ea typeface="Cambria" panose="02040503050406030204" pitchFamily="18" charset="0"/>
              </a:rPr>
              <a:t>  font-style: oblique;</a:t>
            </a:r>
          </a:p>
          <a:p>
            <a:pPr marL="1371600" lvl="3" indent="0">
              <a:lnSpc>
                <a:spcPct val="100000"/>
              </a:lnSpc>
              <a:buNone/>
            </a:pPr>
            <a:r>
              <a:rPr lang="en-US" dirty="0">
                <a:ea typeface="Cambria" panose="02040503050406030204" pitchFamily="18" charset="0"/>
              </a:rPr>
              <a:t>}</a:t>
            </a:r>
          </a:p>
          <a:p>
            <a:pPr marL="914400" lvl="2" indent="0">
              <a:lnSpc>
                <a:spcPct val="100000"/>
              </a:lnSpc>
              <a:buNone/>
            </a:pPr>
            <a:r>
              <a:rPr lang="en-US" dirty="0">
                <a:ea typeface="Cambria" panose="02040503050406030204" pitchFamily="18" charset="0"/>
              </a:rPr>
              <a:t>&lt;/style&gt;</a:t>
            </a:r>
          </a:p>
          <a:p>
            <a:pPr marL="457200" lvl="1" indent="0">
              <a:lnSpc>
                <a:spcPct val="100000"/>
              </a:lnSpc>
              <a:buNone/>
            </a:pPr>
            <a:r>
              <a:rPr lang="en-US" dirty="0">
                <a:ea typeface="Cambria" panose="02040503050406030204" pitchFamily="18" charset="0"/>
              </a:rPr>
              <a:t>&lt;/head&gt;</a:t>
            </a:r>
          </a:p>
          <a:p>
            <a:pPr marL="0" indent="0">
              <a:lnSpc>
                <a:spcPct val="100000"/>
              </a:lnSpc>
              <a:buNone/>
            </a:pPr>
            <a:endParaRPr lang="en-IN" dirty="0"/>
          </a:p>
        </p:txBody>
      </p:sp>
      <p:sp>
        <p:nvSpPr>
          <p:cNvPr id="5" name="TextBox 4">
            <a:extLst>
              <a:ext uri="{FF2B5EF4-FFF2-40B4-BE49-F238E27FC236}">
                <a16:creationId xmlns:a16="http://schemas.microsoft.com/office/drawing/2014/main" id="{BA38E0A8-4D59-3575-01D1-EE170C170FFA}"/>
              </a:ext>
            </a:extLst>
          </p:cNvPr>
          <p:cNvSpPr txBox="1"/>
          <p:nvPr/>
        </p:nvSpPr>
        <p:spPr>
          <a:xfrm>
            <a:off x="4635631" y="1253331"/>
            <a:ext cx="6096000" cy="3139321"/>
          </a:xfrm>
          <a:prstGeom prst="rect">
            <a:avLst/>
          </a:prstGeom>
          <a:noFill/>
        </p:spPr>
        <p:txBody>
          <a:bodyPr wrap="square">
            <a:spAutoFit/>
          </a:bodyPr>
          <a:lstStyle/>
          <a:p>
            <a:pPr marL="457200" lvl="1" indent="0">
              <a:lnSpc>
                <a:spcPct val="100000"/>
              </a:lnSpc>
              <a:buNone/>
            </a:pPr>
            <a:r>
              <a:rPr lang="en-US" dirty="0">
                <a:latin typeface="Proxima Nova" panose="020B0604020202020204"/>
                <a:ea typeface="Cambria" panose="02040503050406030204" pitchFamily="18" charset="0"/>
              </a:rPr>
              <a:t>&lt;body&gt;</a:t>
            </a:r>
          </a:p>
          <a:p>
            <a:pPr marL="914400" lvl="2" indent="0">
              <a:lnSpc>
                <a:spcPct val="100000"/>
              </a:lnSpc>
              <a:buNone/>
            </a:pPr>
            <a:r>
              <a:rPr lang="en-US" dirty="0">
                <a:latin typeface="Proxima Nova" panose="020B0604020202020204"/>
                <a:ea typeface="Cambria" panose="02040503050406030204" pitchFamily="18" charset="0"/>
              </a:rPr>
              <a:t>&lt;p class="normal"&gt;This is a paragraph in normal style.&lt;/p&gt;</a:t>
            </a:r>
          </a:p>
          <a:p>
            <a:pPr marL="914400" lvl="2" indent="0">
              <a:lnSpc>
                <a:spcPct val="100000"/>
              </a:lnSpc>
              <a:buNone/>
            </a:pPr>
            <a:r>
              <a:rPr lang="en-US" dirty="0">
                <a:latin typeface="Proxima Nova" panose="020B0604020202020204"/>
                <a:ea typeface="Cambria" panose="02040503050406030204" pitchFamily="18" charset="0"/>
              </a:rPr>
              <a:t>&lt;p class="italic"&gt;This is a paragraph in italic style.&lt;/p&gt;</a:t>
            </a:r>
          </a:p>
          <a:p>
            <a:pPr marL="914400" lvl="2" indent="0">
              <a:lnSpc>
                <a:spcPct val="100000"/>
              </a:lnSpc>
              <a:buNone/>
            </a:pPr>
            <a:r>
              <a:rPr lang="en-US" dirty="0">
                <a:latin typeface="Proxima Nova" panose="020B0604020202020204"/>
                <a:ea typeface="Cambria" panose="02040503050406030204" pitchFamily="18" charset="0"/>
              </a:rPr>
              <a:t>&lt;p class="oblique"&gt;This is a paragraph in oblique style.&lt;/p&gt;</a:t>
            </a:r>
          </a:p>
          <a:p>
            <a:pPr marL="0" indent="0">
              <a:lnSpc>
                <a:spcPct val="100000"/>
              </a:lnSpc>
              <a:buNone/>
            </a:pPr>
            <a:r>
              <a:rPr lang="en-US" dirty="0">
                <a:latin typeface="Proxima Nova" panose="020B0604020202020204"/>
                <a:ea typeface="Cambria" panose="02040503050406030204" pitchFamily="18" charset="0"/>
              </a:rPr>
              <a:t>	&lt;/body&gt;</a:t>
            </a:r>
          </a:p>
          <a:p>
            <a:pPr marL="0" indent="0">
              <a:lnSpc>
                <a:spcPct val="100000"/>
              </a:lnSpc>
              <a:buNone/>
            </a:pPr>
            <a:r>
              <a:rPr lang="en-US" dirty="0">
                <a:latin typeface="Proxima Nova" panose="020B0604020202020204"/>
                <a:ea typeface="Cambria" panose="02040503050406030204" pitchFamily="18" charset="0"/>
              </a:rPr>
              <a:t>&lt;/html&gt;</a:t>
            </a:r>
          </a:p>
          <a:p>
            <a:pPr marL="0" indent="0">
              <a:lnSpc>
                <a:spcPct val="100000"/>
              </a:lnSpc>
              <a:buNone/>
            </a:pPr>
            <a:endParaRPr lang="en-US" dirty="0">
              <a:latin typeface="Proxima Nova" panose="020B0604020202020204"/>
              <a:ea typeface="Cambria" panose="02040503050406030204" pitchFamily="18" charset="0"/>
            </a:endParaRPr>
          </a:p>
          <a:p>
            <a:pPr marL="0" indent="0">
              <a:lnSpc>
                <a:spcPct val="100000"/>
              </a:lnSpc>
              <a:buNone/>
            </a:pPr>
            <a:endParaRPr lang="en-US" dirty="0">
              <a:latin typeface="Proxima Nova" panose="020B0604020202020204"/>
              <a:ea typeface="Cambria" panose="02040503050406030204" pitchFamily="18" charset="0"/>
            </a:endParaRPr>
          </a:p>
        </p:txBody>
      </p:sp>
      <p:pic>
        <p:nvPicPr>
          <p:cNvPr id="6" name="Picture 5">
            <a:extLst>
              <a:ext uri="{FF2B5EF4-FFF2-40B4-BE49-F238E27FC236}">
                <a16:creationId xmlns:a16="http://schemas.microsoft.com/office/drawing/2014/main" id="{45DC2882-B465-7272-0E02-1F7C340DDE30}"/>
              </a:ext>
            </a:extLst>
          </p:cNvPr>
          <p:cNvPicPr>
            <a:picLocks noChangeAspect="1"/>
          </p:cNvPicPr>
          <p:nvPr/>
        </p:nvPicPr>
        <p:blipFill>
          <a:blip r:embed="rId2"/>
          <a:stretch>
            <a:fillRect/>
          </a:stretch>
        </p:blipFill>
        <p:spPr>
          <a:xfrm>
            <a:off x="5826256" y="4168382"/>
            <a:ext cx="3714750" cy="1676400"/>
          </a:xfrm>
          <a:prstGeom prst="rect">
            <a:avLst/>
          </a:prstGeom>
          <a:ln w="19050">
            <a:solidFill>
              <a:schemeClr val="tx1"/>
            </a:solidFill>
          </a:ln>
        </p:spPr>
      </p:pic>
    </p:spTree>
    <p:extLst>
      <p:ext uri="{BB962C8B-B14F-4D97-AF65-F5344CB8AC3E}">
        <p14:creationId xmlns:p14="http://schemas.microsoft.com/office/powerpoint/2010/main" val="17663621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A2FAC-8D1C-3E18-B4CD-BBAE34812A17}"/>
              </a:ext>
            </a:extLst>
          </p:cNvPr>
          <p:cNvSpPr>
            <a:spLocks noGrp="1"/>
          </p:cNvSpPr>
          <p:nvPr>
            <p:ph type="title"/>
          </p:nvPr>
        </p:nvSpPr>
        <p:spPr/>
        <p:txBody>
          <a:bodyPr/>
          <a:lstStyle/>
          <a:p>
            <a:r>
              <a:rPr lang="en-US" dirty="0"/>
              <a:t>Font-weight</a:t>
            </a:r>
            <a:endParaRPr lang="en-IN" dirty="0"/>
          </a:p>
        </p:txBody>
      </p:sp>
      <p:sp>
        <p:nvSpPr>
          <p:cNvPr id="3" name="Content Placeholder 2">
            <a:extLst>
              <a:ext uri="{FF2B5EF4-FFF2-40B4-BE49-F238E27FC236}">
                <a16:creationId xmlns:a16="http://schemas.microsoft.com/office/drawing/2014/main" id="{A9C42804-CFE7-DD8D-8D11-5E9A8E5C481D}"/>
              </a:ext>
            </a:extLst>
          </p:cNvPr>
          <p:cNvSpPr>
            <a:spLocks noGrp="1"/>
          </p:cNvSpPr>
          <p:nvPr>
            <p:ph idx="1"/>
          </p:nvPr>
        </p:nvSpPr>
        <p:spPr/>
        <p:txBody>
          <a:bodyPr>
            <a:noAutofit/>
          </a:bodyPr>
          <a:lstStyle/>
          <a:p>
            <a:r>
              <a:rPr lang="en-US" dirty="0"/>
              <a:t>The font-weight property specifies the weight of a font.</a:t>
            </a:r>
          </a:p>
          <a:p>
            <a:r>
              <a:rPr lang="en-IN" dirty="0"/>
              <a:t>Normal - Defines normal characters. This is default</a:t>
            </a:r>
          </a:p>
          <a:p>
            <a:r>
              <a:rPr lang="en-IN" dirty="0"/>
              <a:t>Bold - Defines thick characters</a:t>
            </a:r>
          </a:p>
          <a:p>
            <a:pPr marL="0" indent="0">
              <a:lnSpc>
                <a:spcPct val="100000"/>
              </a:lnSpc>
              <a:buNone/>
            </a:pPr>
            <a:r>
              <a:rPr lang="en-US" dirty="0"/>
              <a:t>&lt;style&gt;</a:t>
            </a:r>
          </a:p>
          <a:p>
            <a:pPr marL="0" indent="0">
              <a:lnSpc>
                <a:spcPct val="100000"/>
              </a:lnSpc>
              <a:buNone/>
            </a:pPr>
            <a:r>
              <a:rPr lang="en-US" dirty="0" err="1"/>
              <a:t>p.normal</a:t>
            </a:r>
            <a:r>
              <a:rPr lang="en-US" dirty="0"/>
              <a:t> {</a:t>
            </a:r>
          </a:p>
          <a:p>
            <a:pPr marL="0" indent="0">
              <a:lnSpc>
                <a:spcPct val="100000"/>
              </a:lnSpc>
              <a:buNone/>
            </a:pPr>
            <a:r>
              <a:rPr lang="en-US" dirty="0"/>
              <a:t>  font-weight: normal;</a:t>
            </a:r>
          </a:p>
          <a:p>
            <a:pPr marL="0" indent="0">
              <a:lnSpc>
                <a:spcPct val="100000"/>
              </a:lnSpc>
              <a:buNone/>
            </a:pPr>
            <a:r>
              <a:rPr lang="en-US" dirty="0"/>
              <a:t>}</a:t>
            </a:r>
          </a:p>
          <a:p>
            <a:pPr marL="0" indent="0">
              <a:lnSpc>
                <a:spcPct val="100000"/>
              </a:lnSpc>
              <a:buNone/>
            </a:pPr>
            <a:r>
              <a:rPr lang="en-US" dirty="0" err="1"/>
              <a:t>p.light</a:t>
            </a:r>
            <a:r>
              <a:rPr lang="en-US" dirty="0"/>
              <a:t> {</a:t>
            </a:r>
          </a:p>
          <a:p>
            <a:pPr marL="0" indent="0">
              <a:lnSpc>
                <a:spcPct val="100000"/>
              </a:lnSpc>
              <a:buNone/>
            </a:pPr>
            <a:r>
              <a:rPr lang="en-US" dirty="0"/>
              <a:t>  font-weight: lighter;</a:t>
            </a:r>
          </a:p>
          <a:p>
            <a:pPr marL="0" indent="0">
              <a:lnSpc>
                <a:spcPct val="100000"/>
              </a:lnSpc>
              <a:buNone/>
            </a:pPr>
            <a:r>
              <a:rPr lang="en-US" dirty="0"/>
              <a:t>}</a:t>
            </a:r>
          </a:p>
          <a:p>
            <a:pPr marL="0" indent="0">
              <a:lnSpc>
                <a:spcPct val="100000"/>
              </a:lnSpc>
              <a:buNone/>
            </a:pPr>
            <a:r>
              <a:rPr lang="en-US" dirty="0" err="1"/>
              <a:t>p.thick</a:t>
            </a:r>
            <a:r>
              <a:rPr lang="en-US" dirty="0"/>
              <a:t> {</a:t>
            </a:r>
          </a:p>
          <a:p>
            <a:pPr marL="0" indent="0">
              <a:lnSpc>
                <a:spcPct val="100000"/>
              </a:lnSpc>
              <a:buNone/>
            </a:pPr>
            <a:r>
              <a:rPr lang="en-US" dirty="0"/>
              <a:t>  font-weight: bold;</a:t>
            </a:r>
          </a:p>
          <a:p>
            <a:pPr marL="0" indent="0">
              <a:lnSpc>
                <a:spcPct val="100000"/>
              </a:lnSpc>
              <a:buNone/>
            </a:pPr>
            <a:r>
              <a:rPr lang="en-US" dirty="0"/>
              <a:t>}</a:t>
            </a:r>
          </a:p>
          <a:p>
            <a:pPr marL="0" indent="0">
              <a:lnSpc>
                <a:spcPct val="100000"/>
              </a:lnSpc>
              <a:buNone/>
            </a:pPr>
            <a:endParaRPr lang="en-US" dirty="0"/>
          </a:p>
          <a:p>
            <a:endParaRPr lang="en-IN" dirty="0"/>
          </a:p>
        </p:txBody>
      </p:sp>
      <p:sp>
        <p:nvSpPr>
          <p:cNvPr id="5" name="TextBox 4">
            <a:extLst>
              <a:ext uri="{FF2B5EF4-FFF2-40B4-BE49-F238E27FC236}">
                <a16:creationId xmlns:a16="http://schemas.microsoft.com/office/drawing/2014/main" id="{28310739-81F2-2511-5D5E-B15213451EBD}"/>
              </a:ext>
            </a:extLst>
          </p:cNvPr>
          <p:cNvSpPr txBox="1"/>
          <p:nvPr/>
        </p:nvSpPr>
        <p:spPr>
          <a:xfrm>
            <a:off x="4181475" y="3100298"/>
            <a:ext cx="6096000" cy="3139321"/>
          </a:xfrm>
          <a:prstGeom prst="rect">
            <a:avLst/>
          </a:prstGeom>
          <a:noFill/>
        </p:spPr>
        <p:txBody>
          <a:bodyPr wrap="square">
            <a:spAutoFit/>
          </a:bodyPr>
          <a:lstStyle/>
          <a:p>
            <a:pPr marL="0" indent="0">
              <a:lnSpc>
                <a:spcPct val="100000"/>
              </a:lnSpc>
              <a:buNone/>
            </a:pPr>
            <a:r>
              <a:rPr lang="en-US" dirty="0" err="1">
                <a:latin typeface="Proxima Nova" panose="020B0604020202020204"/>
              </a:rPr>
              <a:t>p.thicker</a:t>
            </a:r>
            <a:r>
              <a:rPr lang="en-US" dirty="0">
                <a:latin typeface="Proxima Nova" panose="020B0604020202020204"/>
              </a:rPr>
              <a:t> {</a:t>
            </a:r>
          </a:p>
          <a:p>
            <a:pPr marL="0" indent="0">
              <a:lnSpc>
                <a:spcPct val="100000"/>
              </a:lnSpc>
              <a:buNone/>
            </a:pPr>
            <a:r>
              <a:rPr lang="en-US" dirty="0">
                <a:latin typeface="Proxima Nova" panose="020B0604020202020204"/>
              </a:rPr>
              <a:t>  font-weight: 900;</a:t>
            </a:r>
          </a:p>
          <a:p>
            <a:pPr marL="0" indent="0">
              <a:lnSpc>
                <a:spcPct val="100000"/>
              </a:lnSpc>
              <a:buNone/>
            </a:pPr>
            <a:r>
              <a:rPr lang="en-US" dirty="0">
                <a:latin typeface="Proxima Nova" panose="020B0604020202020204"/>
              </a:rPr>
              <a:t>}</a:t>
            </a:r>
          </a:p>
          <a:p>
            <a:pPr marL="0" indent="0">
              <a:lnSpc>
                <a:spcPct val="100000"/>
              </a:lnSpc>
              <a:buNone/>
            </a:pPr>
            <a:r>
              <a:rPr lang="en-US" dirty="0">
                <a:latin typeface="Proxima Nova" panose="020B0604020202020204"/>
              </a:rPr>
              <a:t>&lt;/style&gt;</a:t>
            </a:r>
          </a:p>
          <a:p>
            <a:pPr marL="0" indent="0">
              <a:lnSpc>
                <a:spcPct val="100000"/>
              </a:lnSpc>
              <a:buNone/>
            </a:pPr>
            <a:r>
              <a:rPr lang="en-US" dirty="0">
                <a:latin typeface="Proxima Nova" panose="020B0604020202020204"/>
              </a:rPr>
              <a:t>&lt;body&gt;</a:t>
            </a:r>
          </a:p>
          <a:p>
            <a:pPr marL="0" indent="0">
              <a:lnSpc>
                <a:spcPct val="100000"/>
              </a:lnSpc>
              <a:buNone/>
            </a:pPr>
            <a:r>
              <a:rPr lang="en-US" dirty="0">
                <a:latin typeface="Proxima Nova" panose="020B0604020202020204"/>
              </a:rPr>
              <a:t>&lt;p class="normal"&gt;This is a paragraph.&lt;/p&gt;</a:t>
            </a:r>
          </a:p>
          <a:p>
            <a:pPr marL="0" indent="0">
              <a:lnSpc>
                <a:spcPct val="100000"/>
              </a:lnSpc>
              <a:buNone/>
            </a:pPr>
            <a:r>
              <a:rPr lang="en-US" dirty="0">
                <a:latin typeface="Proxima Nova" panose="020B0604020202020204"/>
              </a:rPr>
              <a:t>&lt;p class="light"&gt;This is a paragraph.&lt;/p&gt;</a:t>
            </a:r>
          </a:p>
          <a:p>
            <a:pPr marL="0" indent="0">
              <a:lnSpc>
                <a:spcPct val="100000"/>
              </a:lnSpc>
              <a:buNone/>
            </a:pPr>
            <a:r>
              <a:rPr lang="en-US" dirty="0">
                <a:latin typeface="Proxima Nova" panose="020B0604020202020204"/>
              </a:rPr>
              <a:t>&lt;p class="thick"&gt;This is a paragraph.&lt;/p&gt;</a:t>
            </a:r>
          </a:p>
          <a:p>
            <a:pPr marL="0" indent="0">
              <a:lnSpc>
                <a:spcPct val="100000"/>
              </a:lnSpc>
              <a:buNone/>
            </a:pPr>
            <a:r>
              <a:rPr lang="en-US" dirty="0">
                <a:latin typeface="Proxima Nova" panose="020B0604020202020204"/>
              </a:rPr>
              <a:t>&lt;p class="thicker"&gt;This is a paragraph.&lt;/p&gt;</a:t>
            </a:r>
          </a:p>
          <a:p>
            <a:pPr marL="0" indent="0">
              <a:lnSpc>
                <a:spcPct val="100000"/>
              </a:lnSpc>
              <a:buNone/>
            </a:pPr>
            <a:r>
              <a:rPr lang="en-US" dirty="0">
                <a:latin typeface="Proxima Nova" panose="020B0604020202020204"/>
              </a:rPr>
              <a:t>&lt;/body&gt;</a:t>
            </a:r>
          </a:p>
          <a:p>
            <a:pPr marL="0" indent="0">
              <a:lnSpc>
                <a:spcPct val="100000"/>
              </a:lnSpc>
              <a:buNone/>
            </a:pPr>
            <a:endParaRPr lang="en-US" dirty="0">
              <a:latin typeface="Proxima Nova" panose="020B0604020202020204"/>
            </a:endParaRPr>
          </a:p>
        </p:txBody>
      </p:sp>
      <p:pic>
        <p:nvPicPr>
          <p:cNvPr id="6" name="Picture 5">
            <a:extLst>
              <a:ext uri="{FF2B5EF4-FFF2-40B4-BE49-F238E27FC236}">
                <a16:creationId xmlns:a16="http://schemas.microsoft.com/office/drawing/2014/main" id="{E15F36C4-FFC8-0A63-F680-966989030C51}"/>
              </a:ext>
            </a:extLst>
          </p:cNvPr>
          <p:cNvPicPr>
            <a:picLocks noChangeAspect="1"/>
          </p:cNvPicPr>
          <p:nvPr/>
        </p:nvPicPr>
        <p:blipFill>
          <a:blip r:embed="rId2"/>
          <a:stretch>
            <a:fillRect/>
          </a:stretch>
        </p:blipFill>
        <p:spPr>
          <a:xfrm>
            <a:off x="7863331" y="1873116"/>
            <a:ext cx="3623820" cy="2152698"/>
          </a:xfrm>
          <a:prstGeom prst="rect">
            <a:avLst/>
          </a:prstGeom>
          <a:ln w="19050">
            <a:solidFill>
              <a:schemeClr val="tx1"/>
            </a:solidFill>
          </a:ln>
        </p:spPr>
      </p:pic>
    </p:spTree>
    <p:extLst>
      <p:ext uri="{BB962C8B-B14F-4D97-AF65-F5344CB8AC3E}">
        <p14:creationId xmlns:p14="http://schemas.microsoft.com/office/powerpoint/2010/main" val="12184947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CF0F2-EDC9-57E3-89E8-78250C1178B1}"/>
              </a:ext>
            </a:extLst>
          </p:cNvPr>
          <p:cNvSpPr>
            <a:spLocks noGrp="1"/>
          </p:cNvSpPr>
          <p:nvPr>
            <p:ph type="title"/>
          </p:nvPr>
        </p:nvSpPr>
        <p:spPr/>
        <p:txBody>
          <a:bodyPr/>
          <a:lstStyle/>
          <a:p>
            <a:r>
              <a:rPr lang="en-US" dirty="0"/>
              <a:t>Font-variant</a:t>
            </a:r>
            <a:endParaRPr lang="en-IN" dirty="0"/>
          </a:p>
        </p:txBody>
      </p:sp>
      <p:sp>
        <p:nvSpPr>
          <p:cNvPr id="3" name="Content Placeholder 2">
            <a:extLst>
              <a:ext uri="{FF2B5EF4-FFF2-40B4-BE49-F238E27FC236}">
                <a16:creationId xmlns:a16="http://schemas.microsoft.com/office/drawing/2014/main" id="{0381C3C4-E8E9-087F-0EC7-C35362A42468}"/>
              </a:ext>
            </a:extLst>
          </p:cNvPr>
          <p:cNvSpPr>
            <a:spLocks noGrp="1"/>
          </p:cNvSpPr>
          <p:nvPr>
            <p:ph idx="1"/>
          </p:nvPr>
        </p:nvSpPr>
        <p:spPr/>
        <p:txBody>
          <a:bodyPr>
            <a:normAutofit/>
          </a:bodyPr>
          <a:lstStyle/>
          <a:p>
            <a:r>
              <a:rPr lang="en-US" dirty="0"/>
              <a:t>The font-variant property specifies whether or not a text should be displayed in a small-caps font.</a:t>
            </a:r>
          </a:p>
          <a:p>
            <a:r>
              <a:rPr lang="en-US" dirty="0"/>
              <a:t>In a small-caps font, all lowercase letters are converted to uppercase letters. However, the converted uppercase letters appears in a smaller font size than the original uppercase letters in the text.</a:t>
            </a:r>
          </a:p>
          <a:p>
            <a:pPr algn="l">
              <a:lnSpc>
                <a:spcPct val="90000"/>
              </a:lnSpc>
              <a:spcBef>
                <a:spcPts val="1200"/>
              </a:spcBef>
            </a:pPr>
            <a:r>
              <a:rPr lang="en-IN" dirty="0" err="1"/>
              <a:t>p.normal</a:t>
            </a:r>
            <a:r>
              <a:rPr lang="en-IN" dirty="0"/>
              <a:t> {</a:t>
            </a:r>
            <a:br>
              <a:rPr lang="en-IN" dirty="0"/>
            </a:br>
            <a:r>
              <a:rPr lang="en-IN" dirty="0"/>
              <a:t>  font-variant: normal;</a:t>
            </a:r>
            <a:br>
              <a:rPr lang="en-IN" dirty="0"/>
            </a:br>
            <a:r>
              <a:rPr lang="en-IN" dirty="0"/>
              <a:t>}</a:t>
            </a:r>
            <a:br>
              <a:rPr lang="en-IN" dirty="0"/>
            </a:br>
            <a:br>
              <a:rPr lang="en-IN" dirty="0"/>
            </a:br>
            <a:r>
              <a:rPr lang="en-IN" dirty="0" err="1"/>
              <a:t>p.small</a:t>
            </a:r>
            <a:r>
              <a:rPr lang="en-IN" dirty="0"/>
              <a:t> {</a:t>
            </a:r>
            <a:br>
              <a:rPr lang="en-IN" dirty="0"/>
            </a:br>
            <a:r>
              <a:rPr lang="en-IN" dirty="0"/>
              <a:t>  font-variant: small-caps;</a:t>
            </a:r>
            <a:br>
              <a:rPr lang="en-IN" dirty="0"/>
            </a:br>
            <a:r>
              <a:rPr lang="en-IN" dirty="0"/>
              <a:t>}</a:t>
            </a:r>
          </a:p>
          <a:p>
            <a:endParaRPr lang="en-US" dirty="0"/>
          </a:p>
          <a:p>
            <a:endParaRPr lang="en-IN" dirty="0"/>
          </a:p>
        </p:txBody>
      </p:sp>
      <p:pic>
        <p:nvPicPr>
          <p:cNvPr id="4" name="Picture 3">
            <a:extLst>
              <a:ext uri="{FF2B5EF4-FFF2-40B4-BE49-F238E27FC236}">
                <a16:creationId xmlns:a16="http://schemas.microsoft.com/office/drawing/2014/main" id="{857E7C29-1F7D-5043-6F84-72ECD19E7F4F}"/>
              </a:ext>
            </a:extLst>
          </p:cNvPr>
          <p:cNvPicPr>
            <a:picLocks noChangeAspect="1"/>
          </p:cNvPicPr>
          <p:nvPr/>
        </p:nvPicPr>
        <p:blipFill>
          <a:blip r:embed="rId2"/>
          <a:stretch>
            <a:fillRect/>
          </a:stretch>
        </p:blipFill>
        <p:spPr>
          <a:xfrm>
            <a:off x="594096" y="4799806"/>
            <a:ext cx="3400425" cy="1609725"/>
          </a:xfrm>
          <a:prstGeom prst="rect">
            <a:avLst/>
          </a:prstGeom>
          <a:ln w="19050">
            <a:solidFill>
              <a:schemeClr val="tx1"/>
            </a:solidFill>
          </a:ln>
        </p:spPr>
      </p:pic>
    </p:spTree>
    <p:extLst>
      <p:ext uri="{BB962C8B-B14F-4D97-AF65-F5344CB8AC3E}">
        <p14:creationId xmlns:p14="http://schemas.microsoft.com/office/powerpoint/2010/main" val="34724669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48393-BCAE-463C-9577-0E6500922BAC}"/>
              </a:ext>
            </a:extLst>
          </p:cNvPr>
          <p:cNvSpPr>
            <a:spLocks noGrp="1"/>
          </p:cNvSpPr>
          <p:nvPr>
            <p:ph type="title"/>
          </p:nvPr>
        </p:nvSpPr>
        <p:spPr/>
        <p:txBody>
          <a:bodyPr/>
          <a:lstStyle/>
          <a:p>
            <a:r>
              <a:rPr lang="en-US" dirty="0"/>
              <a:t>Font-size</a:t>
            </a:r>
            <a:endParaRPr lang="en-IN" dirty="0"/>
          </a:p>
        </p:txBody>
      </p:sp>
      <p:sp>
        <p:nvSpPr>
          <p:cNvPr id="3" name="Content Placeholder 2">
            <a:extLst>
              <a:ext uri="{FF2B5EF4-FFF2-40B4-BE49-F238E27FC236}">
                <a16:creationId xmlns:a16="http://schemas.microsoft.com/office/drawing/2014/main" id="{285186E9-D660-4795-5EF3-8824018A27F8}"/>
              </a:ext>
            </a:extLst>
          </p:cNvPr>
          <p:cNvSpPr>
            <a:spLocks noGrp="1"/>
          </p:cNvSpPr>
          <p:nvPr>
            <p:ph idx="1"/>
          </p:nvPr>
        </p:nvSpPr>
        <p:spPr>
          <a:xfrm>
            <a:off x="448951" y="1091406"/>
            <a:ext cx="11294097" cy="5099844"/>
          </a:xfrm>
        </p:spPr>
        <p:txBody>
          <a:bodyPr>
            <a:noAutofit/>
          </a:bodyPr>
          <a:lstStyle/>
          <a:p>
            <a:pPr>
              <a:lnSpc>
                <a:spcPct val="100000"/>
              </a:lnSpc>
            </a:pPr>
            <a:r>
              <a:rPr lang="en-US" dirty="0"/>
              <a:t>The font-size property sets the size of the text.</a:t>
            </a:r>
          </a:p>
          <a:p>
            <a:pPr>
              <a:lnSpc>
                <a:spcPct val="100000"/>
              </a:lnSpc>
            </a:pPr>
            <a:r>
              <a:rPr lang="en-US" dirty="0"/>
              <a:t>Being able to manage the text size is important in web design. However, you should not use font size adjustments to make paragraphs look like headings, or headings look like paragraphs.</a:t>
            </a:r>
          </a:p>
          <a:p>
            <a:pPr>
              <a:lnSpc>
                <a:spcPct val="100000"/>
              </a:lnSpc>
            </a:pPr>
            <a:r>
              <a:rPr lang="en-US" dirty="0"/>
              <a:t>Always use the proper HTML tags, like &lt;h1&gt; - &lt;h6&gt; for headings and &lt;p&gt; for paragraphs.</a:t>
            </a:r>
          </a:p>
          <a:p>
            <a:pPr>
              <a:lnSpc>
                <a:spcPct val="100000"/>
              </a:lnSpc>
            </a:pPr>
            <a:r>
              <a:rPr lang="en-US" dirty="0"/>
              <a:t>The font-size value can be an absolute, or relative size.</a:t>
            </a:r>
          </a:p>
          <a:p>
            <a:pPr>
              <a:lnSpc>
                <a:spcPct val="100000"/>
              </a:lnSpc>
            </a:pPr>
            <a:endParaRPr lang="en-US" b="1" dirty="0"/>
          </a:p>
          <a:p>
            <a:pPr>
              <a:lnSpc>
                <a:spcPct val="100000"/>
              </a:lnSpc>
            </a:pPr>
            <a:r>
              <a:rPr lang="en-US" b="1" dirty="0"/>
              <a:t>Absolute size:</a:t>
            </a:r>
          </a:p>
          <a:p>
            <a:pPr>
              <a:lnSpc>
                <a:spcPct val="100000"/>
              </a:lnSpc>
            </a:pPr>
            <a:r>
              <a:rPr lang="en-US" dirty="0"/>
              <a:t>Sets the text to a specified size</a:t>
            </a:r>
          </a:p>
          <a:p>
            <a:pPr>
              <a:lnSpc>
                <a:spcPct val="100000"/>
              </a:lnSpc>
            </a:pPr>
            <a:r>
              <a:rPr lang="en-US" dirty="0"/>
              <a:t>Does not allow a user to change the text size in all browsers (bad for accessibility reasons)</a:t>
            </a:r>
          </a:p>
          <a:p>
            <a:pPr>
              <a:lnSpc>
                <a:spcPct val="100000"/>
              </a:lnSpc>
            </a:pPr>
            <a:r>
              <a:rPr lang="en-US" dirty="0"/>
              <a:t>Absolute size is useful when the physical size of the output is known</a:t>
            </a:r>
            <a:endParaRPr lang="en-US" b="1" dirty="0"/>
          </a:p>
          <a:p>
            <a:pPr>
              <a:lnSpc>
                <a:spcPct val="100000"/>
              </a:lnSpc>
            </a:pPr>
            <a:endParaRPr lang="en-US" b="1" dirty="0"/>
          </a:p>
          <a:p>
            <a:pPr>
              <a:lnSpc>
                <a:spcPct val="100000"/>
              </a:lnSpc>
            </a:pPr>
            <a:r>
              <a:rPr lang="en-US" b="1" dirty="0"/>
              <a:t>Relative size:</a:t>
            </a:r>
          </a:p>
          <a:p>
            <a:pPr>
              <a:lnSpc>
                <a:spcPct val="100000"/>
              </a:lnSpc>
            </a:pPr>
            <a:r>
              <a:rPr lang="en-US" dirty="0"/>
              <a:t>Sets the size relative to surrounding elements</a:t>
            </a:r>
          </a:p>
          <a:p>
            <a:pPr>
              <a:lnSpc>
                <a:spcPct val="100000"/>
              </a:lnSpc>
            </a:pPr>
            <a:r>
              <a:rPr lang="en-US" dirty="0"/>
              <a:t> Allows a user to change the text size in browsers</a:t>
            </a:r>
          </a:p>
          <a:p>
            <a:pPr>
              <a:lnSpc>
                <a:spcPct val="100000"/>
              </a:lnSpc>
            </a:pPr>
            <a:endParaRPr lang="en-US" dirty="0"/>
          </a:p>
          <a:p>
            <a:pPr>
              <a:lnSpc>
                <a:spcPct val="100000"/>
              </a:lnSpc>
            </a:pPr>
            <a:endParaRPr lang="en-US" dirty="0"/>
          </a:p>
          <a:p>
            <a:pPr>
              <a:lnSpc>
                <a:spcPct val="100000"/>
              </a:lnSpc>
            </a:pPr>
            <a:endParaRPr lang="en-US" dirty="0"/>
          </a:p>
          <a:p>
            <a:pPr>
              <a:lnSpc>
                <a:spcPct val="100000"/>
              </a:lnSpc>
            </a:pPr>
            <a:endParaRPr lang="en-IN" dirty="0"/>
          </a:p>
        </p:txBody>
      </p:sp>
    </p:spTree>
    <p:extLst>
      <p:ext uri="{BB962C8B-B14F-4D97-AF65-F5344CB8AC3E}">
        <p14:creationId xmlns:p14="http://schemas.microsoft.com/office/powerpoint/2010/main" val="3245577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3F24F-74BC-6D7E-AEEF-8610605C2763}"/>
              </a:ext>
            </a:extLst>
          </p:cNvPr>
          <p:cNvSpPr>
            <a:spLocks noGrp="1"/>
          </p:cNvSpPr>
          <p:nvPr>
            <p:ph type="title"/>
          </p:nvPr>
        </p:nvSpPr>
        <p:spPr/>
        <p:txBody>
          <a:bodyPr/>
          <a:lstStyle/>
          <a:p>
            <a:r>
              <a:rPr lang="en-US" dirty="0"/>
              <a:t>Font-Size Units</a:t>
            </a:r>
            <a:endParaRPr lang="en-IN" dirty="0"/>
          </a:p>
        </p:txBody>
      </p:sp>
      <p:sp>
        <p:nvSpPr>
          <p:cNvPr id="3" name="Content Placeholder 2">
            <a:extLst>
              <a:ext uri="{FF2B5EF4-FFF2-40B4-BE49-F238E27FC236}">
                <a16:creationId xmlns:a16="http://schemas.microsoft.com/office/drawing/2014/main" id="{89E51A11-5880-7A84-AA81-9982153D2132}"/>
              </a:ext>
            </a:extLst>
          </p:cNvPr>
          <p:cNvSpPr>
            <a:spLocks noGrp="1"/>
          </p:cNvSpPr>
          <p:nvPr>
            <p:ph idx="1"/>
          </p:nvPr>
        </p:nvSpPr>
        <p:spPr>
          <a:xfrm>
            <a:off x="423420" y="1253331"/>
            <a:ext cx="11294097" cy="5366544"/>
          </a:xfrm>
        </p:spPr>
        <p:txBody>
          <a:bodyPr>
            <a:noAutofit/>
          </a:bodyPr>
          <a:lstStyle/>
          <a:p>
            <a:r>
              <a:rPr lang="en-US" dirty="0"/>
              <a:t>Pixel: Setting the text size with pixels gives you full control over the text size.</a:t>
            </a:r>
          </a:p>
          <a:p>
            <a:pPr marL="0" indent="0">
              <a:buNone/>
            </a:pPr>
            <a:r>
              <a:rPr lang="en-US" dirty="0"/>
              <a:t>h1 {</a:t>
            </a:r>
          </a:p>
          <a:p>
            <a:pPr marL="0" indent="0">
              <a:buNone/>
            </a:pPr>
            <a:r>
              <a:rPr lang="en-US" dirty="0"/>
              <a:t>  font-size: 40px;</a:t>
            </a:r>
          </a:p>
          <a:p>
            <a:pPr marL="0" indent="0">
              <a:buNone/>
            </a:pPr>
            <a:r>
              <a:rPr lang="en-US" dirty="0"/>
              <a:t>}</a:t>
            </a:r>
          </a:p>
          <a:p>
            <a:r>
              <a:rPr lang="en-US" dirty="0"/>
              <a:t>EM: To allow users to resize the text (in the browser menu), many developers use </a:t>
            </a:r>
            <a:r>
              <a:rPr lang="en-US" dirty="0" err="1"/>
              <a:t>em</a:t>
            </a:r>
            <a:r>
              <a:rPr lang="en-US" dirty="0"/>
              <a:t> instead of pixels.</a:t>
            </a:r>
          </a:p>
          <a:p>
            <a:r>
              <a:rPr lang="en-US" dirty="0"/>
              <a:t>Em stands for </a:t>
            </a:r>
            <a:r>
              <a:rPr lang="en-US" dirty="0" err="1"/>
              <a:t>emphimeral</a:t>
            </a:r>
            <a:r>
              <a:rPr lang="en-US" dirty="0"/>
              <a:t> unit.</a:t>
            </a:r>
          </a:p>
          <a:p>
            <a:r>
              <a:rPr lang="en-US" dirty="0"/>
              <a:t>1em is equal to the current font size. The default text size in browsers is 16px. So, the default size of 1em is 16px.</a:t>
            </a:r>
          </a:p>
          <a:p>
            <a:r>
              <a:rPr lang="en-US" dirty="0"/>
              <a:t>The size can be calculated from pixels to </a:t>
            </a:r>
            <a:r>
              <a:rPr lang="en-US" dirty="0" err="1"/>
              <a:t>em</a:t>
            </a:r>
            <a:r>
              <a:rPr lang="en-US" dirty="0"/>
              <a:t> using this formula: pixels/16=</a:t>
            </a:r>
            <a:r>
              <a:rPr lang="en-US" dirty="0" err="1"/>
              <a:t>em</a:t>
            </a:r>
            <a:r>
              <a:rPr lang="en-US" dirty="0"/>
              <a:t>.</a:t>
            </a:r>
          </a:p>
          <a:p>
            <a:pPr marL="0" indent="0">
              <a:buNone/>
            </a:pPr>
            <a:r>
              <a:rPr lang="pt-BR" dirty="0"/>
              <a:t>h1 { font-size: 2.5em; /* 40px/16=2.5em */}</a:t>
            </a:r>
          </a:p>
          <a:p>
            <a:endParaRPr lang="en-US" dirty="0"/>
          </a:p>
          <a:p>
            <a:pPr marL="0" indent="0">
              <a:buNone/>
            </a:pPr>
            <a:endParaRPr lang="en-US" dirty="0">
              <a:solidFill>
                <a:schemeClr val="accent6">
                  <a:lumMod val="75000"/>
                </a:schemeClr>
              </a:solidFill>
            </a:endParaRPr>
          </a:p>
          <a:p>
            <a:endParaRPr lang="en-IN" dirty="0"/>
          </a:p>
        </p:txBody>
      </p:sp>
    </p:spTree>
    <p:extLst>
      <p:ext uri="{BB962C8B-B14F-4D97-AF65-F5344CB8AC3E}">
        <p14:creationId xmlns:p14="http://schemas.microsoft.com/office/powerpoint/2010/main" val="11024950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6F8BA-58B6-BAFF-1233-14637F383244}"/>
              </a:ext>
            </a:extLst>
          </p:cNvPr>
          <p:cNvSpPr>
            <a:spLocks noGrp="1"/>
          </p:cNvSpPr>
          <p:nvPr>
            <p:ph type="title"/>
          </p:nvPr>
        </p:nvSpPr>
        <p:spPr/>
        <p:txBody>
          <a:bodyPr/>
          <a:lstStyle/>
          <a:p>
            <a:r>
              <a:rPr lang="en-US" dirty="0"/>
              <a:t>Font size unit</a:t>
            </a:r>
            <a:endParaRPr lang="en-IN" dirty="0"/>
          </a:p>
        </p:txBody>
      </p:sp>
      <p:sp>
        <p:nvSpPr>
          <p:cNvPr id="3" name="Content Placeholder 2">
            <a:extLst>
              <a:ext uri="{FF2B5EF4-FFF2-40B4-BE49-F238E27FC236}">
                <a16:creationId xmlns:a16="http://schemas.microsoft.com/office/drawing/2014/main" id="{3267F72C-EC06-415F-1C0D-6E7A83C14883}"/>
              </a:ext>
            </a:extLst>
          </p:cNvPr>
          <p:cNvSpPr>
            <a:spLocks noGrp="1"/>
          </p:cNvSpPr>
          <p:nvPr>
            <p:ph idx="1"/>
          </p:nvPr>
        </p:nvSpPr>
        <p:spPr/>
        <p:txBody>
          <a:bodyPr>
            <a:noAutofit/>
          </a:bodyPr>
          <a:lstStyle/>
          <a:p>
            <a:r>
              <a:rPr lang="en-US" dirty="0"/>
              <a:t>Responsive Font Size: The text size can be set with a </a:t>
            </a:r>
            <a:r>
              <a:rPr lang="en-US" dirty="0" err="1"/>
              <a:t>vw</a:t>
            </a:r>
            <a:r>
              <a:rPr lang="en-US" dirty="0"/>
              <a:t> unit, which means the "viewport width".</a:t>
            </a:r>
          </a:p>
          <a:p>
            <a:r>
              <a:rPr lang="en-US" dirty="0"/>
              <a:t>That way the text size will follow the size of the browser window:</a:t>
            </a:r>
          </a:p>
          <a:p>
            <a:r>
              <a:rPr lang="en-US" dirty="0"/>
              <a:t> &lt;h1 style="font-size:10vw"&gt;Hello World&lt;/h1&gt; </a:t>
            </a:r>
          </a:p>
          <a:p>
            <a:pPr marL="0" indent="0">
              <a:lnSpc>
                <a:spcPct val="100000"/>
              </a:lnSpc>
              <a:buNone/>
            </a:pPr>
            <a:r>
              <a:rPr lang="en-US" dirty="0">
                <a:ea typeface="Cambria" panose="02040503050406030204" pitchFamily="18" charset="0"/>
              </a:rPr>
              <a:t>	&lt;style&gt;</a:t>
            </a:r>
          </a:p>
          <a:p>
            <a:pPr marL="1371600" lvl="3" indent="0">
              <a:lnSpc>
                <a:spcPct val="100000"/>
              </a:lnSpc>
              <a:buNone/>
            </a:pPr>
            <a:r>
              <a:rPr lang="en-US" dirty="0">
                <a:ea typeface="Cambria" panose="02040503050406030204" pitchFamily="18" charset="0"/>
              </a:rPr>
              <a:t>body {</a:t>
            </a:r>
          </a:p>
          <a:p>
            <a:pPr marL="1371600" lvl="3" indent="0">
              <a:lnSpc>
                <a:spcPct val="100000"/>
              </a:lnSpc>
              <a:buNone/>
            </a:pPr>
            <a:r>
              <a:rPr lang="en-US" dirty="0">
                <a:ea typeface="Cambria" panose="02040503050406030204" pitchFamily="18" charset="0"/>
              </a:rPr>
              <a:t>  font-size: 100%;</a:t>
            </a:r>
          </a:p>
          <a:p>
            <a:pPr marL="1371600" lvl="3" indent="0">
              <a:lnSpc>
                <a:spcPct val="100000"/>
              </a:lnSpc>
              <a:buNone/>
            </a:pPr>
            <a:r>
              <a:rPr lang="en-US" dirty="0">
                <a:ea typeface="Cambria" panose="02040503050406030204" pitchFamily="18" charset="0"/>
              </a:rPr>
              <a:t>}</a:t>
            </a:r>
          </a:p>
          <a:p>
            <a:pPr marL="1371600" lvl="3" indent="0">
              <a:lnSpc>
                <a:spcPct val="100000"/>
              </a:lnSpc>
              <a:buNone/>
            </a:pPr>
            <a:endParaRPr lang="en-US" dirty="0">
              <a:ea typeface="Cambria" panose="02040503050406030204" pitchFamily="18" charset="0"/>
            </a:endParaRPr>
          </a:p>
          <a:p>
            <a:pPr marL="1371600" lvl="3" indent="0">
              <a:lnSpc>
                <a:spcPct val="100000"/>
              </a:lnSpc>
              <a:buNone/>
            </a:pPr>
            <a:r>
              <a:rPr lang="en-US" dirty="0">
                <a:ea typeface="Cambria" panose="02040503050406030204" pitchFamily="18" charset="0"/>
              </a:rPr>
              <a:t>h1 {</a:t>
            </a:r>
          </a:p>
          <a:p>
            <a:pPr marL="1371600" lvl="3" indent="0">
              <a:lnSpc>
                <a:spcPct val="100000"/>
              </a:lnSpc>
              <a:buNone/>
            </a:pPr>
            <a:r>
              <a:rPr lang="en-US" dirty="0">
                <a:ea typeface="Cambria" panose="02040503050406030204" pitchFamily="18" charset="0"/>
              </a:rPr>
              <a:t>  font-size: 30px;</a:t>
            </a:r>
          </a:p>
          <a:p>
            <a:pPr marL="1371600" lvl="3" indent="0">
              <a:lnSpc>
                <a:spcPct val="100000"/>
              </a:lnSpc>
              <a:buNone/>
            </a:pPr>
            <a:r>
              <a:rPr lang="en-US" dirty="0">
                <a:ea typeface="Cambria" panose="02040503050406030204" pitchFamily="18" charset="0"/>
              </a:rPr>
              <a:t>}</a:t>
            </a:r>
          </a:p>
          <a:p>
            <a:pPr marL="1371600" lvl="3" indent="0">
              <a:lnSpc>
                <a:spcPct val="100000"/>
              </a:lnSpc>
              <a:buNone/>
            </a:pPr>
            <a:r>
              <a:rPr lang="en-US" dirty="0">
                <a:ea typeface="Cambria" panose="02040503050406030204" pitchFamily="18" charset="0"/>
              </a:rPr>
              <a:t>h2 {</a:t>
            </a:r>
          </a:p>
          <a:p>
            <a:pPr marL="1371600" lvl="3" indent="0">
              <a:lnSpc>
                <a:spcPct val="100000"/>
              </a:lnSpc>
              <a:buNone/>
            </a:pPr>
            <a:r>
              <a:rPr lang="en-US" dirty="0">
                <a:ea typeface="Cambria" panose="02040503050406030204" pitchFamily="18" charset="0"/>
              </a:rPr>
              <a:t>  font-size: 10vw;</a:t>
            </a:r>
          </a:p>
          <a:p>
            <a:pPr marL="1371600" lvl="3" indent="0">
              <a:lnSpc>
                <a:spcPct val="100000"/>
              </a:lnSpc>
              <a:buNone/>
            </a:pPr>
            <a:r>
              <a:rPr lang="en-US" dirty="0">
                <a:ea typeface="Cambria" panose="02040503050406030204" pitchFamily="18" charset="0"/>
              </a:rPr>
              <a:t>}</a:t>
            </a:r>
          </a:p>
          <a:p>
            <a:pPr marL="1371600" lvl="3" indent="0">
              <a:lnSpc>
                <a:spcPct val="100000"/>
              </a:lnSpc>
              <a:buNone/>
            </a:pPr>
            <a:endParaRPr lang="en-US" dirty="0">
              <a:ea typeface="Cambria" panose="02040503050406030204" pitchFamily="18" charset="0"/>
            </a:endParaRPr>
          </a:p>
          <a:p>
            <a:endParaRPr lang="en-IN" dirty="0"/>
          </a:p>
        </p:txBody>
      </p:sp>
      <p:sp>
        <p:nvSpPr>
          <p:cNvPr id="5" name="TextBox 4">
            <a:extLst>
              <a:ext uri="{FF2B5EF4-FFF2-40B4-BE49-F238E27FC236}">
                <a16:creationId xmlns:a16="http://schemas.microsoft.com/office/drawing/2014/main" id="{8A35039E-A897-3D4F-0505-FD20051E326E}"/>
              </a:ext>
            </a:extLst>
          </p:cNvPr>
          <p:cNvSpPr txBox="1"/>
          <p:nvPr/>
        </p:nvSpPr>
        <p:spPr>
          <a:xfrm>
            <a:off x="3781425" y="2905036"/>
            <a:ext cx="6096000" cy="1200329"/>
          </a:xfrm>
          <a:prstGeom prst="rect">
            <a:avLst/>
          </a:prstGeom>
          <a:noFill/>
        </p:spPr>
        <p:txBody>
          <a:bodyPr wrap="square">
            <a:spAutoFit/>
          </a:bodyPr>
          <a:lstStyle/>
          <a:p>
            <a:pPr marL="1371600" lvl="3" indent="0">
              <a:lnSpc>
                <a:spcPct val="100000"/>
              </a:lnSpc>
              <a:buNone/>
            </a:pPr>
            <a:r>
              <a:rPr lang="en-US" dirty="0">
                <a:ea typeface="Cambria" panose="02040503050406030204" pitchFamily="18" charset="0"/>
              </a:rPr>
              <a:t>p {</a:t>
            </a:r>
          </a:p>
          <a:p>
            <a:pPr marL="1371600" lvl="3" indent="0">
              <a:lnSpc>
                <a:spcPct val="100000"/>
              </a:lnSpc>
              <a:buNone/>
            </a:pPr>
            <a:r>
              <a:rPr lang="en-US" dirty="0">
                <a:ea typeface="Cambria" panose="02040503050406030204" pitchFamily="18" charset="0"/>
              </a:rPr>
              <a:t>  font-size: 1.9em;</a:t>
            </a:r>
          </a:p>
          <a:p>
            <a:pPr marL="1371600" lvl="3" indent="0">
              <a:lnSpc>
                <a:spcPct val="100000"/>
              </a:lnSpc>
              <a:buNone/>
            </a:pPr>
            <a:r>
              <a:rPr lang="en-US" dirty="0">
                <a:ea typeface="Cambria" panose="02040503050406030204" pitchFamily="18" charset="0"/>
              </a:rPr>
              <a:t>}</a:t>
            </a:r>
          </a:p>
          <a:p>
            <a:pPr marL="0" indent="0">
              <a:lnSpc>
                <a:spcPct val="100000"/>
              </a:lnSpc>
              <a:buNone/>
            </a:pPr>
            <a:r>
              <a:rPr lang="en-US" dirty="0">
                <a:ea typeface="Cambria" panose="02040503050406030204" pitchFamily="18" charset="0"/>
              </a:rPr>
              <a:t>		&lt;/style&gt;</a:t>
            </a:r>
          </a:p>
        </p:txBody>
      </p:sp>
      <p:pic>
        <p:nvPicPr>
          <p:cNvPr id="6" name="Picture 5">
            <a:extLst>
              <a:ext uri="{FF2B5EF4-FFF2-40B4-BE49-F238E27FC236}">
                <a16:creationId xmlns:a16="http://schemas.microsoft.com/office/drawing/2014/main" id="{A71ACBF9-C217-6AEB-E6D2-541328380BF2}"/>
              </a:ext>
            </a:extLst>
          </p:cNvPr>
          <p:cNvPicPr>
            <a:picLocks noChangeAspect="1"/>
          </p:cNvPicPr>
          <p:nvPr/>
        </p:nvPicPr>
        <p:blipFill>
          <a:blip r:embed="rId2"/>
          <a:stretch>
            <a:fillRect/>
          </a:stretch>
        </p:blipFill>
        <p:spPr>
          <a:xfrm>
            <a:off x="6896100" y="3724338"/>
            <a:ext cx="4319892" cy="2411798"/>
          </a:xfrm>
          <a:prstGeom prst="rect">
            <a:avLst/>
          </a:prstGeom>
          <a:ln w="19050">
            <a:solidFill>
              <a:schemeClr val="tx1"/>
            </a:solidFill>
          </a:ln>
        </p:spPr>
      </p:pic>
    </p:spTree>
    <p:extLst>
      <p:ext uri="{BB962C8B-B14F-4D97-AF65-F5344CB8AC3E}">
        <p14:creationId xmlns:p14="http://schemas.microsoft.com/office/powerpoint/2010/main" val="338889111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FCD9-5DCA-B247-9F8F-C68EA2F929CC}"/>
              </a:ext>
            </a:extLst>
          </p:cNvPr>
          <p:cNvSpPr>
            <a:spLocks noGrp="1"/>
          </p:cNvSpPr>
          <p:nvPr>
            <p:ph type="title"/>
          </p:nvPr>
        </p:nvSpPr>
        <p:spPr/>
        <p:txBody>
          <a:bodyPr/>
          <a:lstStyle/>
          <a:p>
            <a:r>
              <a:rPr lang="en-IN" dirty="0"/>
              <a:t>Borders</a:t>
            </a:r>
          </a:p>
        </p:txBody>
      </p:sp>
      <p:sp>
        <p:nvSpPr>
          <p:cNvPr id="3" name="Content Placeholder 2">
            <a:extLst>
              <a:ext uri="{FF2B5EF4-FFF2-40B4-BE49-F238E27FC236}">
                <a16:creationId xmlns:a16="http://schemas.microsoft.com/office/drawing/2014/main" id="{EE8AA2B7-778F-17A8-74DB-D1F7C1322980}"/>
              </a:ext>
            </a:extLst>
          </p:cNvPr>
          <p:cNvSpPr>
            <a:spLocks noGrp="1"/>
          </p:cNvSpPr>
          <p:nvPr>
            <p:ph idx="1"/>
          </p:nvPr>
        </p:nvSpPr>
        <p:spPr>
          <a:xfrm>
            <a:off x="423420" y="1253331"/>
            <a:ext cx="11294097" cy="5468144"/>
          </a:xfrm>
        </p:spPr>
        <p:txBody>
          <a:bodyPr>
            <a:normAutofit fontScale="92500" lnSpcReduction="10000"/>
          </a:bodyPr>
          <a:lstStyle/>
          <a:p>
            <a:r>
              <a:rPr lang="en-US" dirty="0"/>
              <a:t>The CSS Border properties allow you to specify the style, width, and color of an element's border.</a:t>
            </a:r>
          </a:p>
          <a:p>
            <a:r>
              <a:rPr lang="en-US" dirty="0"/>
              <a:t>The border-style property specifies what kind of border to display.</a:t>
            </a:r>
          </a:p>
          <a:p>
            <a:r>
              <a:rPr lang="en-US" dirty="0"/>
              <a:t>The border-style property can have from one to four values (for the top border, right border, bottom border, and the left border).</a:t>
            </a:r>
          </a:p>
          <a:p>
            <a:r>
              <a:rPr lang="en-US" b="1" dirty="0"/>
              <a:t>Dotted-</a:t>
            </a:r>
            <a:r>
              <a:rPr lang="en-US" dirty="0"/>
              <a:t> Defines a dotted border</a:t>
            </a:r>
          </a:p>
          <a:p>
            <a:r>
              <a:rPr lang="en-US" b="1" dirty="0"/>
              <a:t>Dashed-</a:t>
            </a:r>
            <a:r>
              <a:rPr lang="en-US" dirty="0"/>
              <a:t> Defines a dashed border</a:t>
            </a:r>
          </a:p>
          <a:p>
            <a:r>
              <a:rPr lang="en-US" b="1" dirty="0"/>
              <a:t>Solid-</a:t>
            </a:r>
            <a:r>
              <a:rPr lang="en-US" dirty="0"/>
              <a:t> Defines a solid border</a:t>
            </a:r>
          </a:p>
          <a:p>
            <a:r>
              <a:rPr lang="en-US" b="1" dirty="0"/>
              <a:t>Double-</a:t>
            </a:r>
            <a:r>
              <a:rPr lang="en-US" dirty="0"/>
              <a:t> Defines a double border</a:t>
            </a:r>
          </a:p>
          <a:p>
            <a:r>
              <a:rPr lang="en-US" b="1" dirty="0"/>
              <a:t>Groove-</a:t>
            </a:r>
            <a:r>
              <a:rPr lang="en-US" dirty="0"/>
              <a:t> Defines a 3D grooved border. The effect depends on the border-color value</a:t>
            </a:r>
          </a:p>
          <a:p>
            <a:r>
              <a:rPr lang="en-US" b="1" dirty="0"/>
              <a:t>Ridge-</a:t>
            </a:r>
            <a:r>
              <a:rPr lang="en-US" dirty="0"/>
              <a:t> Defines a 3D ridged border. The effect depends on the border-color value</a:t>
            </a:r>
          </a:p>
          <a:p>
            <a:r>
              <a:rPr lang="en-US" b="1" dirty="0"/>
              <a:t>Inset-</a:t>
            </a:r>
            <a:r>
              <a:rPr lang="en-US" dirty="0"/>
              <a:t> Defines a 3D inset border. The effect depends on the border-color value</a:t>
            </a:r>
          </a:p>
          <a:p>
            <a:endParaRPr lang="en-US" dirty="0"/>
          </a:p>
          <a:p>
            <a:endParaRPr lang="en-US" dirty="0"/>
          </a:p>
          <a:p>
            <a:endParaRPr lang="en-IN" dirty="0"/>
          </a:p>
        </p:txBody>
      </p:sp>
    </p:spTree>
    <p:extLst>
      <p:ext uri="{BB962C8B-B14F-4D97-AF65-F5344CB8AC3E}">
        <p14:creationId xmlns:p14="http://schemas.microsoft.com/office/powerpoint/2010/main" val="406697614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28DC4-DB7E-2528-7B2A-C4E988735F40}"/>
              </a:ext>
            </a:extLst>
          </p:cNvPr>
          <p:cNvSpPr>
            <a:spLocks noGrp="1"/>
          </p:cNvSpPr>
          <p:nvPr>
            <p:ph type="title"/>
          </p:nvPr>
        </p:nvSpPr>
        <p:spPr/>
        <p:txBody>
          <a:bodyPr/>
          <a:lstStyle/>
          <a:p>
            <a:r>
              <a:rPr lang="en-US" dirty="0"/>
              <a:t>Border</a:t>
            </a:r>
            <a:endParaRPr lang="en-IN" dirty="0"/>
          </a:p>
        </p:txBody>
      </p:sp>
      <p:sp>
        <p:nvSpPr>
          <p:cNvPr id="3" name="Content Placeholder 2">
            <a:extLst>
              <a:ext uri="{FF2B5EF4-FFF2-40B4-BE49-F238E27FC236}">
                <a16:creationId xmlns:a16="http://schemas.microsoft.com/office/drawing/2014/main" id="{3EB6FA8E-FBF9-24B2-8D74-7A255FE2E092}"/>
              </a:ext>
            </a:extLst>
          </p:cNvPr>
          <p:cNvSpPr>
            <a:spLocks noGrp="1"/>
          </p:cNvSpPr>
          <p:nvPr>
            <p:ph idx="1"/>
          </p:nvPr>
        </p:nvSpPr>
        <p:spPr/>
        <p:txBody>
          <a:bodyPr>
            <a:noAutofit/>
          </a:bodyPr>
          <a:lstStyle/>
          <a:p>
            <a:r>
              <a:rPr lang="en-US" b="1" dirty="0"/>
              <a:t>Outset-</a:t>
            </a:r>
            <a:r>
              <a:rPr lang="en-US" dirty="0"/>
              <a:t> Defines a 3D outset border. The effect depends on the border-color value</a:t>
            </a:r>
          </a:p>
          <a:p>
            <a:r>
              <a:rPr lang="en-US" b="1" dirty="0"/>
              <a:t>None-</a:t>
            </a:r>
            <a:r>
              <a:rPr lang="en-US" dirty="0"/>
              <a:t> Defines no border</a:t>
            </a:r>
          </a:p>
          <a:p>
            <a:r>
              <a:rPr lang="en-US" b="1" dirty="0"/>
              <a:t>Hidden-</a:t>
            </a:r>
            <a:r>
              <a:rPr lang="en-US" dirty="0"/>
              <a:t> Defines a hidden border</a:t>
            </a:r>
          </a:p>
          <a:p>
            <a:pPr marL="0" indent="0">
              <a:lnSpc>
                <a:spcPct val="100000"/>
              </a:lnSpc>
              <a:buNone/>
            </a:pPr>
            <a:r>
              <a:rPr lang="en-US" dirty="0">
                <a:ea typeface="Cambria" panose="02040503050406030204" pitchFamily="18" charset="0"/>
              </a:rPr>
              <a:t>&lt;style&gt;</a:t>
            </a:r>
          </a:p>
          <a:p>
            <a:pPr marL="0" indent="0">
              <a:lnSpc>
                <a:spcPct val="100000"/>
              </a:lnSpc>
              <a:buNone/>
            </a:pPr>
            <a:r>
              <a:rPr lang="en-IN" dirty="0" err="1">
                <a:ea typeface="Cambria" panose="02040503050406030204" pitchFamily="18" charset="0"/>
              </a:rPr>
              <a:t>p.dotted</a:t>
            </a:r>
            <a:r>
              <a:rPr lang="en-IN" dirty="0">
                <a:ea typeface="Cambria" panose="02040503050406030204" pitchFamily="18" charset="0"/>
              </a:rPr>
              <a:t> {border-style: dotted;}</a:t>
            </a:r>
          </a:p>
          <a:p>
            <a:pPr marL="0" indent="0">
              <a:lnSpc>
                <a:spcPct val="100000"/>
              </a:lnSpc>
              <a:buNone/>
            </a:pPr>
            <a:r>
              <a:rPr lang="en-IN" dirty="0" err="1">
                <a:ea typeface="Cambria" panose="02040503050406030204" pitchFamily="18" charset="0"/>
              </a:rPr>
              <a:t>p.dashed</a:t>
            </a:r>
            <a:r>
              <a:rPr lang="en-IN" dirty="0">
                <a:ea typeface="Cambria" panose="02040503050406030204" pitchFamily="18" charset="0"/>
              </a:rPr>
              <a:t> {border-style: dashed;}</a:t>
            </a:r>
          </a:p>
          <a:p>
            <a:pPr marL="0" indent="0">
              <a:lnSpc>
                <a:spcPct val="100000"/>
              </a:lnSpc>
              <a:buNone/>
            </a:pPr>
            <a:r>
              <a:rPr lang="en-IN" dirty="0" err="1">
                <a:ea typeface="Cambria" panose="02040503050406030204" pitchFamily="18" charset="0"/>
              </a:rPr>
              <a:t>p.solid</a:t>
            </a:r>
            <a:r>
              <a:rPr lang="en-IN" dirty="0">
                <a:ea typeface="Cambria" panose="02040503050406030204" pitchFamily="18" charset="0"/>
              </a:rPr>
              <a:t> {border-style: solid;}</a:t>
            </a:r>
          </a:p>
          <a:p>
            <a:pPr marL="0" indent="0">
              <a:lnSpc>
                <a:spcPct val="100000"/>
              </a:lnSpc>
              <a:buNone/>
            </a:pPr>
            <a:r>
              <a:rPr lang="en-IN" dirty="0" err="1">
                <a:ea typeface="Cambria" panose="02040503050406030204" pitchFamily="18" charset="0"/>
              </a:rPr>
              <a:t>p.double</a:t>
            </a:r>
            <a:r>
              <a:rPr lang="en-IN" dirty="0">
                <a:ea typeface="Cambria" panose="02040503050406030204" pitchFamily="18" charset="0"/>
              </a:rPr>
              <a:t> {border-style: double;}</a:t>
            </a:r>
          </a:p>
          <a:p>
            <a:pPr marL="0" indent="0">
              <a:lnSpc>
                <a:spcPct val="100000"/>
              </a:lnSpc>
              <a:buNone/>
            </a:pPr>
            <a:r>
              <a:rPr lang="en-IN" dirty="0" err="1">
                <a:ea typeface="Cambria" panose="02040503050406030204" pitchFamily="18" charset="0"/>
              </a:rPr>
              <a:t>p.groove</a:t>
            </a:r>
            <a:r>
              <a:rPr lang="en-IN" dirty="0">
                <a:ea typeface="Cambria" panose="02040503050406030204" pitchFamily="18" charset="0"/>
              </a:rPr>
              <a:t> {border-style: groove;}</a:t>
            </a:r>
          </a:p>
          <a:p>
            <a:pPr marL="0" indent="0">
              <a:lnSpc>
                <a:spcPct val="100000"/>
              </a:lnSpc>
              <a:buNone/>
            </a:pPr>
            <a:r>
              <a:rPr lang="en-IN" dirty="0" err="1">
                <a:ea typeface="Cambria" panose="02040503050406030204" pitchFamily="18" charset="0"/>
              </a:rPr>
              <a:t>p.ridge</a:t>
            </a:r>
            <a:r>
              <a:rPr lang="en-IN" dirty="0">
                <a:ea typeface="Cambria" panose="02040503050406030204" pitchFamily="18" charset="0"/>
              </a:rPr>
              <a:t> {border-style: ridge;}</a:t>
            </a:r>
          </a:p>
          <a:p>
            <a:pPr marL="0" indent="0">
              <a:lnSpc>
                <a:spcPct val="100000"/>
              </a:lnSpc>
              <a:buNone/>
            </a:pPr>
            <a:r>
              <a:rPr lang="en-IN" dirty="0" err="1">
                <a:ea typeface="Cambria" panose="02040503050406030204" pitchFamily="18" charset="0"/>
              </a:rPr>
              <a:t>p.inset</a:t>
            </a:r>
            <a:r>
              <a:rPr lang="en-IN" dirty="0">
                <a:ea typeface="Cambria" panose="02040503050406030204" pitchFamily="18" charset="0"/>
              </a:rPr>
              <a:t> {border-style: inset;}</a:t>
            </a:r>
          </a:p>
          <a:p>
            <a:pPr marL="0" indent="0">
              <a:lnSpc>
                <a:spcPct val="100000"/>
              </a:lnSpc>
              <a:buNone/>
            </a:pPr>
            <a:r>
              <a:rPr lang="en-IN" dirty="0" err="1">
                <a:ea typeface="Cambria" panose="02040503050406030204" pitchFamily="18" charset="0"/>
              </a:rPr>
              <a:t>p.outset</a:t>
            </a:r>
            <a:r>
              <a:rPr lang="en-IN" dirty="0">
                <a:ea typeface="Cambria" panose="02040503050406030204" pitchFamily="18" charset="0"/>
              </a:rPr>
              <a:t> {border-style: outset;}</a:t>
            </a:r>
          </a:p>
          <a:p>
            <a:endParaRPr lang="en-IN" dirty="0"/>
          </a:p>
        </p:txBody>
      </p:sp>
      <p:sp>
        <p:nvSpPr>
          <p:cNvPr id="5" name="TextBox 4">
            <a:extLst>
              <a:ext uri="{FF2B5EF4-FFF2-40B4-BE49-F238E27FC236}">
                <a16:creationId xmlns:a16="http://schemas.microsoft.com/office/drawing/2014/main" id="{7D7C5FFB-9173-653D-DBE3-20EAC0DA4C56}"/>
              </a:ext>
            </a:extLst>
          </p:cNvPr>
          <p:cNvSpPr txBox="1"/>
          <p:nvPr/>
        </p:nvSpPr>
        <p:spPr>
          <a:xfrm>
            <a:off x="4734939" y="5559157"/>
            <a:ext cx="6096000" cy="1200329"/>
          </a:xfrm>
          <a:prstGeom prst="rect">
            <a:avLst/>
          </a:prstGeom>
          <a:noFill/>
        </p:spPr>
        <p:txBody>
          <a:bodyPr wrap="square">
            <a:spAutoFit/>
          </a:bodyPr>
          <a:lstStyle/>
          <a:p>
            <a:pPr marL="0" indent="0">
              <a:lnSpc>
                <a:spcPct val="100000"/>
              </a:lnSpc>
              <a:buNone/>
            </a:pPr>
            <a:r>
              <a:rPr lang="en-IN" dirty="0" err="1">
                <a:latin typeface="Proxima Nova" panose="020B0604020202020204"/>
                <a:ea typeface="Cambria" panose="02040503050406030204" pitchFamily="18" charset="0"/>
              </a:rPr>
              <a:t>p.none</a:t>
            </a:r>
            <a:r>
              <a:rPr lang="en-IN" dirty="0">
                <a:latin typeface="Proxima Nova" panose="020B0604020202020204"/>
                <a:ea typeface="Cambria" panose="02040503050406030204" pitchFamily="18" charset="0"/>
              </a:rPr>
              <a:t> {border-style: none;}</a:t>
            </a:r>
          </a:p>
          <a:p>
            <a:pPr marL="0" indent="0">
              <a:lnSpc>
                <a:spcPct val="100000"/>
              </a:lnSpc>
              <a:buNone/>
            </a:pPr>
            <a:r>
              <a:rPr lang="en-IN" dirty="0" err="1">
                <a:latin typeface="Proxima Nova" panose="020B0604020202020204"/>
                <a:ea typeface="Cambria" panose="02040503050406030204" pitchFamily="18" charset="0"/>
              </a:rPr>
              <a:t>p.hidden</a:t>
            </a:r>
            <a:r>
              <a:rPr lang="en-IN" dirty="0">
                <a:latin typeface="Proxima Nova" panose="020B0604020202020204"/>
                <a:ea typeface="Cambria" panose="02040503050406030204" pitchFamily="18" charset="0"/>
              </a:rPr>
              <a:t> {border-style: hidden;}</a:t>
            </a:r>
          </a:p>
          <a:p>
            <a:pPr marL="0" indent="0">
              <a:lnSpc>
                <a:spcPct val="100000"/>
              </a:lnSpc>
              <a:buNone/>
            </a:pPr>
            <a:r>
              <a:rPr lang="en-IN" dirty="0" err="1">
                <a:latin typeface="Proxima Nova" panose="020B0604020202020204"/>
                <a:ea typeface="Cambria" panose="02040503050406030204" pitchFamily="18" charset="0"/>
              </a:rPr>
              <a:t>p.mix</a:t>
            </a:r>
            <a:r>
              <a:rPr lang="en-IN" dirty="0">
                <a:latin typeface="Proxima Nova" panose="020B0604020202020204"/>
                <a:ea typeface="Cambria" panose="02040503050406030204" pitchFamily="18" charset="0"/>
              </a:rPr>
              <a:t> {border-style: dotted dashed solid double;}</a:t>
            </a:r>
          </a:p>
          <a:p>
            <a:pPr marL="0" indent="0">
              <a:lnSpc>
                <a:spcPct val="100000"/>
              </a:lnSpc>
              <a:buNone/>
            </a:pPr>
            <a:r>
              <a:rPr lang="en-US" dirty="0">
                <a:latin typeface="Proxima Nova" panose="020B0604020202020204"/>
                <a:ea typeface="Cambria" panose="02040503050406030204" pitchFamily="18" charset="0"/>
              </a:rPr>
              <a:t>&lt;/style&gt;</a:t>
            </a:r>
          </a:p>
        </p:txBody>
      </p:sp>
      <p:pic>
        <p:nvPicPr>
          <p:cNvPr id="6" name="Picture 5">
            <a:extLst>
              <a:ext uri="{FF2B5EF4-FFF2-40B4-BE49-F238E27FC236}">
                <a16:creationId xmlns:a16="http://schemas.microsoft.com/office/drawing/2014/main" id="{B5E0D8E9-1471-59A6-9A16-7328CCB404D3}"/>
              </a:ext>
            </a:extLst>
          </p:cNvPr>
          <p:cNvPicPr>
            <a:picLocks noChangeAspect="1"/>
          </p:cNvPicPr>
          <p:nvPr/>
        </p:nvPicPr>
        <p:blipFill>
          <a:blip r:embed="rId2"/>
          <a:stretch>
            <a:fillRect/>
          </a:stretch>
        </p:blipFill>
        <p:spPr>
          <a:xfrm>
            <a:off x="4629150" y="1895564"/>
            <a:ext cx="7088367" cy="3324136"/>
          </a:xfrm>
          <a:prstGeom prst="rect">
            <a:avLst/>
          </a:prstGeom>
          <a:ln w="19050">
            <a:solidFill>
              <a:schemeClr val="tx1"/>
            </a:solidFill>
          </a:ln>
        </p:spPr>
      </p:pic>
    </p:spTree>
    <p:extLst>
      <p:ext uri="{BB962C8B-B14F-4D97-AF65-F5344CB8AC3E}">
        <p14:creationId xmlns:p14="http://schemas.microsoft.com/office/powerpoint/2010/main" val="26568034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C79A5-869B-F844-7255-DAE643B98AB8}"/>
              </a:ext>
            </a:extLst>
          </p:cNvPr>
          <p:cNvSpPr>
            <a:spLocks noGrp="1"/>
          </p:cNvSpPr>
          <p:nvPr>
            <p:ph type="title"/>
          </p:nvPr>
        </p:nvSpPr>
        <p:spPr/>
        <p:txBody>
          <a:bodyPr/>
          <a:lstStyle/>
          <a:p>
            <a:r>
              <a:rPr lang="en-IN" dirty="0"/>
              <a:t>Border Width</a:t>
            </a:r>
          </a:p>
        </p:txBody>
      </p:sp>
      <p:sp>
        <p:nvSpPr>
          <p:cNvPr id="3" name="Content Placeholder 2">
            <a:extLst>
              <a:ext uri="{FF2B5EF4-FFF2-40B4-BE49-F238E27FC236}">
                <a16:creationId xmlns:a16="http://schemas.microsoft.com/office/drawing/2014/main" id="{041F6C66-6A5B-73F2-AA43-64342C85DB8C}"/>
              </a:ext>
            </a:extLst>
          </p:cNvPr>
          <p:cNvSpPr>
            <a:spLocks noGrp="1"/>
          </p:cNvSpPr>
          <p:nvPr>
            <p:ph idx="1"/>
          </p:nvPr>
        </p:nvSpPr>
        <p:spPr/>
        <p:txBody>
          <a:bodyPr>
            <a:noAutofit/>
          </a:bodyPr>
          <a:lstStyle/>
          <a:p>
            <a:pPr algn="l"/>
            <a:r>
              <a:rPr lang="en-IN" dirty="0"/>
              <a:t>The CSS border-width </a:t>
            </a:r>
            <a:r>
              <a:rPr lang="en-US" dirty="0"/>
              <a:t>property specifies the width of the four borders.</a:t>
            </a:r>
          </a:p>
          <a:p>
            <a:pPr algn="l"/>
            <a:r>
              <a:rPr lang="en-US" dirty="0"/>
              <a:t>The width can be set as a specific size (in </a:t>
            </a:r>
            <a:r>
              <a:rPr lang="en-US" dirty="0" err="1"/>
              <a:t>px</a:t>
            </a:r>
            <a:r>
              <a:rPr lang="en-US" dirty="0"/>
              <a:t>, pt, cm, </a:t>
            </a:r>
            <a:r>
              <a:rPr lang="en-US" dirty="0" err="1"/>
              <a:t>em</a:t>
            </a:r>
            <a:r>
              <a:rPr lang="en-US" dirty="0"/>
              <a:t>, </a:t>
            </a:r>
            <a:r>
              <a:rPr lang="en-US" dirty="0" err="1"/>
              <a:t>etc</a:t>
            </a:r>
            <a:r>
              <a:rPr lang="en-US" dirty="0"/>
              <a:t>) or by using one of the three pre-defined values: </a:t>
            </a:r>
            <a:r>
              <a:rPr lang="en-US" b="1" dirty="0"/>
              <a:t>thin, medium, or thick:</a:t>
            </a:r>
          </a:p>
          <a:p>
            <a:pPr marL="0" lvl="3" indent="0">
              <a:buNone/>
            </a:pPr>
            <a:r>
              <a:rPr lang="en-IN" dirty="0">
                <a:ea typeface="Cambria" panose="02040503050406030204" pitchFamily="18" charset="0"/>
              </a:rPr>
              <a:t>p.one {</a:t>
            </a:r>
          </a:p>
          <a:p>
            <a:pPr marL="0" lvl="3" indent="0">
              <a:buNone/>
            </a:pPr>
            <a:r>
              <a:rPr lang="en-IN" dirty="0">
                <a:ea typeface="Cambria" panose="02040503050406030204" pitchFamily="18" charset="0"/>
              </a:rPr>
              <a:t>  border-style: solid;</a:t>
            </a:r>
          </a:p>
          <a:p>
            <a:pPr marL="0" lvl="3" indent="0">
              <a:buNone/>
            </a:pPr>
            <a:r>
              <a:rPr lang="en-IN" dirty="0">
                <a:ea typeface="Cambria" panose="02040503050406030204" pitchFamily="18" charset="0"/>
              </a:rPr>
              <a:t>  border-width: 5px;</a:t>
            </a:r>
          </a:p>
          <a:p>
            <a:pPr marL="0" lvl="3" indent="0">
              <a:buNone/>
            </a:pPr>
            <a:r>
              <a:rPr lang="en-IN" dirty="0">
                <a:ea typeface="Cambria" panose="02040503050406030204" pitchFamily="18" charset="0"/>
              </a:rPr>
              <a:t>}</a:t>
            </a:r>
          </a:p>
          <a:p>
            <a:pPr marL="0" lvl="3" indent="0">
              <a:buNone/>
            </a:pPr>
            <a:r>
              <a:rPr lang="en-IN" dirty="0" err="1">
                <a:ea typeface="Cambria" panose="02040503050406030204" pitchFamily="18" charset="0"/>
              </a:rPr>
              <a:t>p.two</a:t>
            </a:r>
            <a:r>
              <a:rPr lang="en-IN" dirty="0">
                <a:ea typeface="Cambria" panose="02040503050406030204" pitchFamily="18" charset="0"/>
              </a:rPr>
              <a:t> {</a:t>
            </a:r>
          </a:p>
          <a:p>
            <a:pPr marL="0" lvl="3" indent="0">
              <a:buNone/>
            </a:pPr>
            <a:r>
              <a:rPr lang="en-IN" dirty="0">
                <a:ea typeface="Cambria" panose="02040503050406030204" pitchFamily="18" charset="0"/>
              </a:rPr>
              <a:t>  border-style: solid;</a:t>
            </a:r>
          </a:p>
          <a:p>
            <a:pPr marL="0" lvl="3" indent="0">
              <a:buNone/>
            </a:pPr>
            <a:r>
              <a:rPr lang="en-IN" dirty="0">
                <a:ea typeface="Cambria" panose="02040503050406030204" pitchFamily="18" charset="0"/>
              </a:rPr>
              <a:t>  border-width: medium;</a:t>
            </a:r>
          </a:p>
          <a:p>
            <a:pPr marL="0" lvl="3" indent="0">
              <a:buNone/>
            </a:pPr>
            <a:r>
              <a:rPr lang="en-IN" dirty="0">
                <a:ea typeface="Cambria" panose="02040503050406030204" pitchFamily="18" charset="0"/>
              </a:rPr>
              <a:t>}</a:t>
            </a:r>
          </a:p>
          <a:p>
            <a:pPr lvl="3"/>
            <a:endParaRPr lang="en-IN" dirty="0"/>
          </a:p>
        </p:txBody>
      </p:sp>
      <p:sp>
        <p:nvSpPr>
          <p:cNvPr id="5" name="TextBox 4">
            <a:extLst>
              <a:ext uri="{FF2B5EF4-FFF2-40B4-BE49-F238E27FC236}">
                <a16:creationId xmlns:a16="http://schemas.microsoft.com/office/drawing/2014/main" id="{45D79C29-9676-74CA-555A-D38A26286D6F}"/>
              </a:ext>
            </a:extLst>
          </p:cNvPr>
          <p:cNvSpPr txBox="1"/>
          <p:nvPr/>
        </p:nvSpPr>
        <p:spPr>
          <a:xfrm>
            <a:off x="4267200" y="2333685"/>
            <a:ext cx="6096000" cy="4524315"/>
          </a:xfrm>
          <a:prstGeom prst="rect">
            <a:avLst/>
          </a:prstGeom>
          <a:noFill/>
        </p:spPr>
        <p:txBody>
          <a:bodyPr wrap="square">
            <a:spAutoFit/>
          </a:bodyPr>
          <a:lstStyle/>
          <a:p>
            <a:pPr marL="0" lvl="3" indent="0">
              <a:buNone/>
            </a:pPr>
            <a:r>
              <a:rPr lang="en-IN" dirty="0" err="1">
                <a:ea typeface="Cambria" panose="02040503050406030204" pitchFamily="18" charset="0"/>
              </a:rPr>
              <a:t>p.three</a:t>
            </a:r>
            <a:r>
              <a:rPr lang="en-IN" dirty="0">
                <a:ea typeface="Cambria" panose="02040503050406030204" pitchFamily="18" charset="0"/>
              </a:rPr>
              <a:t> {</a:t>
            </a:r>
          </a:p>
          <a:p>
            <a:pPr marL="0" lvl="3" indent="0">
              <a:buNone/>
            </a:pPr>
            <a:r>
              <a:rPr lang="en-IN" dirty="0">
                <a:ea typeface="Cambria" panose="02040503050406030204" pitchFamily="18" charset="0"/>
              </a:rPr>
              <a:t>  border-style: dotted;</a:t>
            </a:r>
          </a:p>
          <a:p>
            <a:pPr marL="0" lvl="3" indent="0">
              <a:buNone/>
            </a:pPr>
            <a:r>
              <a:rPr lang="en-IN" dirty="0">
                <a:ea typeface="Cambria" panose="02040503050406030204" pitchFamily="18" charset="0"/>
              </a:rPr>
              <a:t>  border-width: 2px;</a:t>
            </a:r>
          </a:p>
          <a:p>
            <a:pPr marL="0" lvl="3" indent="0">
              <a:buNone/>
            </a:pPr>
            <a:r>
              <a:rPr lang="en-IN" dirty="0">
                <a:ea typeface="Cambria" panose="02040503050406030204" pitchFamily="18" charset="0"/>
              </a:rPr>
              <a:t>}</a:t>
            </a:r>
          </a:p>
          <a:p>
            <a:pPr marL="0" lvl="3" indent="0">
              <a:buNone/>
            </a:pPr>
            <a:r>
              <a:rPr lang="en-IN" dirty="0" err="1">
                <a:ea typeface="Cambria" panose="02040503050406030204" pitchFamily="18" charset="0"/>
              </a:rPr>
              <a:t>p.four</a:t>
            </a:r>
            <a:r>
              <a:rPr lang="en-IN" dirty="0">
                <a:ea typeface="Cambria" panose="02040503050406030204" pitchFamily="18" charset="0"/>
              </a:rPr>
              <a:t> {</a:t>
            </a:r>
          </a:p>
          <a:p>
            <a:pPr marL="0" lvl="3" indent="0">
              <a:buNone/>
            </a:pPr>
            <a:r>
              <a:rPr lang="en-IN" dirty="0">
                <a:ea typeface="Cambria" panose="02040503050406030204" pitchFamily="18" charset="0"/>
              </a:rPr>
              <a:t>  border-style: dotted;</a:t>
            </a:r>
          </a:p>
          <a:p>
            <a:pPr marL="0" lvl="3" indent="0">
              <a:buNone/>
            </a:pPr>
            <a:r>
              <a:rPr lang="en-IN" dirty="0">
                <a:ea typeface="Cambria" panose="02040503050406030204" pitchFamily="18" charset="0"/>
              </a:rPr>
              <a:t>  border-width: thick;</a:t>
            </a:r>
          </a:p>
          <a:p>
            <a:pPr marL="0" lvl="3" indent="0">
              <a:buNone/>
            </a:pPr>
            <a:r>
              <a:rPr lang="en-IN" dirty="0">
                <a:ea typeface="Cambria" panose="02040503050406030204" pitchFamily="18" charset="0"/>
              </a:rPr>
              <a:t>}</a:t>
            </a:r>
          </a:p>
          <a:p>
            <a:pPr marL="0" lvl="3" indent="0">
              <a:buNone/>
            </a:pPr>
            <a:r>
              <a:rPr lang="en-IN" dirty="0" err="1">
                <a:ea typeface="Cambria" panose="02040503050406030204" pitchFamily="18" charset="0"/>
              </a:rPr>
              <a:t>p.five</a:t>
            </a:r>
            <a:r>
              <a:rPr lang="en-IN" dirty="0">
                <a:ea typeface="Cambria" panose="02040503050406030204" pitchFamily="18" charset="0"/>
              </a:rPr>
              <a:t> {</a:t>
            </a:r>
          </a:p>
          <a:p>
            <a:pPr marL="0" lvl="3" indent="0">
              <a:buNone/>
            </a:pPr>
            <a:r>
              <a:rPr lang="en-IN" dirty="0">
                <a:ea typeface="Cambria" panose="02040503050406030204" pitchFamily="18" charset="0"/>
              </a:rPr>
              <a:t>  border-style: double;</a:t>
            </a:r>
          </a:p>
          <a:p>
            <a:pPr marL="0" lvl="3" indent="0">
              <a:buNone/>
            </a:pPr>
            <a:r>
              <a:rPr lang="en-IN" dirty="0">
                <a:ea typeface="Cambria" panose="02040503050406030204" pitchFamily="18" charset="0"/>
              </a:rPr>
              <a:t>  border-width: 15px;</a:t>
            </a:r>
          </a:p>
          <a:p>
            <a:pPr marL="0" lvl="3" indent="0">
              <a:buNone/>
            </a:pPr>
            <a:r>
              <a:rPr lang="en-IN" dirty="0">
                <a:ea typeface="Cambria" panose="02040503050406030204" pitchFamily="18" charset="0"/>
              </a:rPr>
              <a:t>}</a:t>
            </a:r>
          </a:p>
          <a:p>
            <a:pPr marL="0" lvl="3" indent="0">
              <a:buNone/>
            </a:pPr>
            <a:r>
              <a:rPr lang="en-IN" dirty="0" err="1">
                <a:ea typeface="Cambria" panose="02040503050406030204" pitchFamily="18" charset="0"/>
              </a:rPr>
              <a:t>p.six</a:t>
            </a:r>
            <a:r>
              <a:rPr lang="en-IN" dirty="0">
                <a:ea typeface="Cambria" panose="02040503050406030204" pitchFamily="18" charset="0"/>
              </a:rPr>
              <a:t> {</a:t>
            </a:r>
          </a:p>
          <a:p>
            <a:pPr marL="0" lvl="3" indent="0">
              <a:buNone/>
            </a:pPr>
            <a:r>
              <a:rPr lang="en-IN" dirty="0">
                <a:ea typeface="Cambria" panose="02040503050406030204" pitchFamily="18" charset="0"/>
              </a:rPr>
              <a:t>  border-style: double;</a:t>
            </a:r>
          </a:p>
          <a:p>
            <a:pPr marL="0" lvl="3" indent="0">
              <a:buNone/>
            </a:pPr>
            <a:r>
              <a:rPr lang="en-IN" dirty="0">
                <a:ea typeface="Cambria" panose="02040503050406030204" pitchFamily="18" charset="0"/>
              </a:rPr>
              <a:t>  border-width: thick;</a:t>
            </a:r>
          </a:p>
          <a:p>
            <a:pPr marL="0" lvl="3" indent="0">
              <a:buNone/>
            </a:pPr>
            <a:r>
              <a:rPr lang="en-IN" dirty="0">
                <a:ea typeface="Cambria" panose="02040503050406030204" pitchFamily="18" charset="0"/>
              </a:rPr>
              <a:t>}</a:t>
            </a:r>
            <a:endParaRPr lang="en-US" dirty="0">
              <a:ea typeface="Cambria" panose="02040503050406030204" pitchFamily="18" charset="0"/>
            </a:endParaRPr>
          </a:p>
        </p:txBody>
      </p:sp>
      <p:pic>
        <p:nvPicPr>
          <p:cNvPr id="6" name="Picture 5">
            <a:extLst>
              <a:ext uri="{FF2B5EF4-FFF2-40B4-BE49-F238E27FC236}">
                <a16:creationId xmlns:a16="http://schemas.microsoft.com/office/drawing/2014/main" id="{B644D9BA-AC0F-9930-3139-958F08FD646E}"/>
              </a:ext>
            </a:extLst>
          </p:cNvPr>
          <p:cNvPicPr>
            <a:picLocks noChangeAspect="1"/>
          </p:cNvPicPr>
          <p:nvPr/>
        </p:nvPicPr>
        <p:blipFill>
          <a:blip r:embed="rId2"/>
          <a:stretch>
            <a:fillRect/>
          </a:stretch>
        </p:blipFill>
        <p:spPr>
          <a:xfrm>
            <a:off x="6934199" y="2495549"/>
            <a:ext cx="4783318" cy="3629026"/>
          </a:xfrm>
          <a:prstGeom prst="rect">
            <a:avLst/>
          </a:prstGeom>
          <a:ln w="19050">
            <a:solidFill>
              <a:schemeClr val="tx1"/>
            </a:solidFill>
          </a:ln>
        </p:spPr>
      </p:pic>
    </p:spTree>
    <p:extLst>
      <p:ext uri="{BB962C8B-B14F-4D97-AF65-F5344CB8AC3E}">
        <p14:creationId xmlns:p14="http://schemas.microsoft.com/office/powerpoint/2010/main" val="163342602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BE6E-1232-157F-B2A8-C94BE2A9C47B}"/>
              </a:ext>
            </a:extLst>
          </p:cNvPr>
          <p:cNvSpPr>
            <a:spLocks noGrp="1"/>
          </p:cNvSpPr>
          <p:nvPr>
            <p:ph type="title"/>
          </p:nvPr>
        </p:nvSpPr>
        <p:spPr/>
        <p:txBody>
          <a:bodyPr/>
          <a:lstStyle/>
          <a:p>
            <a:r>
              <a:rPr lang="en-IN" dirty="0"/>
              <a:t>Rounded Borders</a:t>
            </a:r>
          </a:p>
        </p:txBody>
      </p:sp>
      <p:sp>
        <p:nvSpPr>
          <p:cNvPr id="3" name="Content Placeholder 2">
            <a:extLst>
              <a:ext uri="{FF2B5EF4-FFF2-40B4-BE49-F238E27FC236}">
                <a16:creationId xmlns:a16="http://schemas.microsoft.com/office/drawing/2014/main" id="{5A29E7F4-34C2-BF2C-F237-ACC2DBE0EE81}"/>
              </a:ext>
            </a:extLst>
          </p:cNvPr>
          <p:cNvSpPr>
            <a:spLocks noGrp="1"/>
          </p:cNvSpPr>
          <p:nvPr>
            <p:ph idx="1"/>
          </p:nvPr>
        </p:nvSpPr>
        <p:spPr/>
        <p:txBody>
          <a:bodyPr>
            <a:noAutofit/>
          </a:bodyPr>
          <a:lstStyle/>
          <a:p>
            <a:r>
              <a:rPr lang="en-US" dirty="0"/>
              <a:t>The border-radius property is used to add rounded borders to an element.</a:t>
            </a:r>
          </a:p>
          <a:p>
            <a:pPr marL="0" lvl="3" indent="0">
              <a:lnSpc>
                <a:spcPct val="100000"/>
              </a:lnSpc>
              <a:buNone/>
            </a:pPr>
            <a:r>
              <a:rPr lang="en-US" dirty="0" err="1">
                <a:ea typeface="Cambria" panose="02040503050406030204" pitchFamily="18" charset="0"/>
              </a:rPr>
              <a:t>p.normal</a:t>
            </a:r>
            <a:r>
              <a:rPr lang="en-US" dirty="0">
                <a:ea typeface="Cambria" panose="02040503050406030204" pitchFamily="18" charset="0"/>
              </a:rPr>
              <a:t> {</a:t>
            </a:r>
          </a:p>
          <a:p>
            <a:pPr marL="0" lvl="3" indent="0">
              <a:lnSpc>
                <a:spcPct val="100000"/>
              </a:lnSpc>
              <a:buNone/>
            </a:pPr>
            <a:r>
              <a:rPr lang="en-US" dirty="0">
                <a:ea typeface="Cambria" panose="02040503050406030204" pitchFamily="18" charset="0"/>
              </a:rPr>
              <a:t>  border: 2px solid red;</a:t>
            </a:r>
          </a:p>
          <a:p>
            <a:pPr marL="0" lvl="3" indent="0">
              <a:lnSpc>
                <a:spcPct val="100000"/>
              </a:lnSpc>
              <a:buNone/>
            </a:pPr>
            <a:r>
              <a:rPr lang="en-US" dirty="0">
                <a:ea typeface="Cambria" panose="02040503050406030204" pitchFamily="18" charset="0"/>
              </a:rPr>
              <a:t>  padding: 5px;</a:t>
            </a:r>
          </a:p>
          <a:p>
            <a:pPr marL="0" lvl="3" indent="0">
              <a:lnSpc>
                <a:spcPct val="100000"/>
              </a:lnSpc>
              <a:buNone/>
            </a:pPr>
            <a:r>
              <a:rPr lang="en-US" dirty="0">
                <a:ea typeface="Cambria" panose="02040503050406030204" pitchFamily="18" charset="0"/>
              </a:rPr>
              <a:t>}</a:t>
            </a:r>
          </a:p>
          <a:p>
            <a:pPr marL="0" lvl="3" indent="0">
              <a:lnSpc>
                <a:spcPct val="100000"/>
              </a:lnSpc>
              <a:buNone/>
            </a:pPr>
            <a:r>
              <a:rPr lang="en-US" dirty="0">
                <a:ea typeface="Cambria" panose="02040503050406030204" pitchFamily="18" charset="0"/>
              </a:rPr>
              <a:t>p.round1 {</a:t>
            </a:r>
          </a:p>
          <a:p>
            <a:pPr marL="0" lvl="3" indent="0">
              <a:lnSpc>
                <a:spcPct val="100000"/>
              </a:lnSpc>
              <a:buNone/>
            </a:pPr>
            <a:r>
              <a:rPr lang="en-US" dirty="0">
                <a:ea typeface="Cambria" panose="02040503050406030204" pitchFamily="18" charset="0"/>
              </a:rPr>
              <a:t>  border: 2px solid red;</a:t>
            </a:r>
          </a:p>
          <a:p>
            <a:pPr marL="0" lvl="3" indent="0">
              <a:lnSpc>
                <a:spcPct val="100000"/>
              </a:lnSpc>
              <a:buNone/>
            </a:pPr>
            <a:r>
              <a:rPr lang="en-US" dirty="0">
                <a:ea typeface="Cambria" panose="02040503050406030204" pitchFamily="18" charset="0"/>
              </a:rPr>
              <a:t>  border-radius: 5px;</a:t>
            </a:r>
          </a:p>
          <a:p>
            <a:pPr marL="0" lvl="3" indent="0">
              <a:lnSpc>
                <a:spcPct val="100000"/>
              </a:lnSpc>
              <a:buNone/>
            </a:pPr>
            <a:r>
              <a:rPr lang="en-US" dirty="0">
                <a:ea typeface="Cambria" panose="02040503050406030204" pitchFamily="18" charset="0"/>
              </a:rPr>
              <a:t>  padding: 5px;</a:t>
            </a:r>
          </a:p>
          <a:p>
            <a:pPr marL="0" lvl="3" indent="0">
              <a:lnSpc>
                <a:spcPct val="100000"/>
              </a:lnSpc>
              <a:buNone/>
            </a:pPr>
            <a:r>
              <a:rPr lang="en-US" dirty="0">
                <a:ea typeface="Cambria" panose="02040503050406030204" pitchFamily="18" charset="0"/>
              </a:rPr>
              <a:t>}</a:t>
            </a:r>
          </a:p>
          <a:p>
            <a:pPr marL="0" lvl="3" indent="0">
              <a:lnSpc>
                <a:spcPct val="100000"/>
              </a:lnSpc>
              <a:buNone/>
            </a:pPr>
            <a:r>
              <a:rPr lang="en-US" dirty="0">
                <a:ea typeface="Cambria" panose="02040503050406030204" pitchFamily="18" charset="0"/>
              </a:rPr>
              <a:t>p.round2 {</a:t>
            </a:r>
          </a:p>
          <a:p>
            <a:pPr marL="0" lvl="3" indent="0">
              <a:lnSpc>
                <a:spcPct val="100000"/>
              </a:lnSpc>
              <a:buNone/>
            </a:pPr>
            <a:r>
              <a:rPr lang="en-US" dirty="0">
                <a:ea typeface="Cambria" panose="02040503050406030204" pitchFamily="18" charset="0"/>
              </a:rPr>
              <a:t>  border: 2px solid red;</a:t>
            </a:r>
          </a:p>
          <a:p>
            <a:pPr marL="0" lvl="3" indent="0">
              <a:lnSpc>
                <a:spcPct val="100000"/>
              </a:lnSpc>
              <a:buNone/>
            </a:pPr>
            <a:r>
              <a:rPr lang="en-US" dirty="0">
                <a:ea typeface="Cambria" panose="02040503050406030204" pitchFamily="18" charset="0"/>
              </a:rPr>
              <a:t>  border-radius: 8px;</a:t>
            </a:r>
          </a:p>
          <a:p>
            <a:pPr marL="0" lvl="3" indent="0">
              <a:lnSpc>
                <a:spcPct val="100000"/>
              </a:lnSpc>
              <a:buNone/>
            </a:pPr>
            <a:r>
              <a:rPr lang="en-US" dirty="0">
                <a:ea typeface="Cambria" panose="02040503050406030204" pitchFamily="18" charset="0"/>
              </a:rPr>
              <a:t>  padding: 5px;</a:t>
            </a:r>
          </a:p>
          <a:p>
            <a:pPr marL="0" lvl="3" indent="0">
              <a:lnSpc>
                <a:spcPct val="100000"/>
              </a:lnSpc>
              <a:buNone/>
            </a:pPr>
            <a:r>
              <a:rPr lang="en-US" dirty="0">
                <a:ea typeface="Cambria" panose="02040503050406030204" pitchFamily="18" charset="0"/>
              </a:rPr>
              <a:t>}</a:t>
            </a:r>
          </a:p>
          <a:p>
            <a:endParaRPr lang="en-IN" dirty="0"/>
          </a:p>
        </p:txBody>
      </p:sp>
      <p:sp>
        <p:nvSpPr>
          <p:cNvPr id="5" name="TextBox 4">
            <a:extLst>
              <a:ext uri="{FF2B5EF4-FFF2-40B4-BE49-F238E27FC236}">
                <a16:creationId xmlns:a16="http://schemas.microsoft.com/office/drawing/2014/main" id="{B3860EC6-DBDD-C9BF-D5F4-F1227937086D}"/>
              </a:ext>
            </a:extLst>
          </p:cNvPr>
          <p:cNvSpPr txBox="1"/>
          <p:nvPr/>
        </p:nvSpPr>
        <p:spPr>
          <a:xfrm>
            <a:off x="3924300" y="1951672"/>
            <a:ext cx="6096000" cy="1477328"/>
          </a:xfrm>
          <a:prstGeom prst="rect">
            <a:avLst/>
          </a:prstGeom>
          <a:noFill/>
        </p:spPr>
        <p:txBody>
          <a:bodyPr wrap="square">
            <a:spAutoFit/>
          </a:bodyPr>
          <a:lstStyle/>
          <a:p>
            <a:pPr marL="0" lvl="2" indent="0">
              <a:lnSpc>
                <a:spcPct val="100000"/>
              </a:lnSpc>
              <a:buNone/>
            </a:pPr>
            <a:r>
              <a:rPr lang="en-US" dirty="0">
                <a:latin typeface="Proxima Nova" panose="020B0604020202020204"/>
                <a:ea typeface="Cambria" panose="02040503050406030204" pitchFamily="18" charset="0"/>
              </a:rPr>
              <a:t>p.round3 {</a:t>
            </a:r>
          </a:p>
          <a:p>
            <a:pPr marL="0" lvl="2" indent="0">
              <a:lnSpc>
                <a:spcPct val="100000"/>
              </a:lnSpc>
              <a:buNone/>
            </a:pPr>
            <a:r>
              <a:rPr lang="en-US" dirty="0">
                <a:latin typeface="Proxima Nova" panose="020B0604020202020204"/>
                <a:ea typeface="Cambria" panose="02040503050406030204" pitchFamily="18" charset="0"/>
              </a:rPr>
              <a:t>  border: 2px solid red;</a:t>
            </a:r>
          </a:p>
          <a:p>
            <a:pPr marL="0" lvl="2" indent="0">
              <a:lnSpc>
                <a:spcPct val="100000"/>
              </a:lnSpc>
              <a:buNone/>
            </a:pPr>
            <a:r>
              <a:rPr lang="en-US" dirty="0">
                <a:latin typeface="Proxima Nova" panose="020B0604020202020204"/>
                <a:ea typeface="Cambria" panose="02040503050406030204" pitchFamily="18" charset="0"/>
              </a:rPr>
              <a:t>  border-radius: 12px;</a:t>
            </a:r>
          </a:p>
          <a:p>
            <a:pPr marL="0" lvl="2" indent="0">
              <a:lnSpc>
                <a:spcPct val="100000"/>
              </a:lnSpc>
              <a:buNone/>
            </a:pPr>
            <a:r>
              <a:rPr lang="en-US" dirty="0">
                <a:latin typeface="Proxima Nova" panose="020B0604020202020204"/>
                <a:ea typeface="Cambria" panose="02040503050406030204" pitchFamily="18" charset="0"/>
              </a:rPr>
              <a:t>  padding: 5px;</a:t>
            </a:r>
          </a:p>
          <a:p>
            <a:pPr marL="0" lvl="2" indent="0">
              <a:lnSpc>
                <a:spcPct val="100000"/>
              </a:lnSpc>
              <a:buNone/>
            </a:pPr>
            <a:r>
              <a:rPr lang="en-US" dirty="0">
                <a:latin typeface="Proxima Nova" panose="020B0604020202020204"/>
                <a:ea typeface="Cambria" panose="02040503050406030204" pitchFamily="18" charset="0"/>
              </a:rPr>
              <a:t>}</a:t>
            </a:r>
          </a:p>
        </p:txBody>
      </p:sp>
      <p:pic>
        <p:nvPicPr>
          <p:cNvPr id="6" name="Picture 5">
            <a:extLst>
              <a:ext uri="{FF2B5EF4-FFF2-40B4-BE49-F238E27FC236}">
                <a16:creationId xmlns:a16="http://schemas.microsoft.com/office/drawing/2014/main" id="{F85F12E9-27C2-7300-8746-1AD0BA97D923}"/>
              </a:ext>
            </a:extLst>
          </p:cNvPr>
          <p:cNvPicPr>
            <a:picLocks noChangeAspect="1"/>
          </p:cNvPicPr>
          <p:nvPr/>
        </p:nvPicPr>
        <p:blipFill>
          <a:blip r:embed="rId2"/>
          <a:stretch>
            <a:fillRect/>
          </a:stretch>
        </p:blipFill>
        <p:spPr>
          <a:xfrm>
            <a:off x="4029075" y="3634264"/>
            <a:ext cx="6629400" cy="2652712"/>
          </a:xfrm>
          <a:prstGeom prst="rect">
            <a:avLst/>
          </a:prstGeom>
          <a:ln w="19050">
            <a:solidFill>
              <a:schemeClr val="tx1"/>
            </a:solidFill>
          </a:ln>
        </p:spPr>
      </p:pic>
    </p:spTree>
    <p:extLst>
      <p:ext uri="{BB962C8B-B14F-4D97-AF65-F5344CB8AC3E}">
        <p14:creationId xmlns:p14="http://schemas.microsoft.com/office/powerpoint/2010/main" val="3066343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B9BEF-169D-66BA-6B40-0F7AE841D40B}"/>
              </a:ext>
            </a:extLst>
          </p:cNvPr>
          <p:cNvSpPr>
            <a:spLocks noGrp="1"/>
          </p:cNvSpPr>
          <p:nvPr>
            <p:ph type="title"/>
          </p:nvPr>
        </p:nvSpPr>
        <p:spPr/>
        <p:txBody>
          <a:bodyPr/>
          <a:lstStyle/>
          <a:p>
            <a:r>
              <a:rPr lang="en-US" dirty="0"/>
              <a:t>Border-color</a:t>
            </a:r>
            <a:endParaRPr lang="en-IN" dirty="0"/>
          </a:p>
        </p:txBody>
      </p:sp>
      <p:sp>
        <p:nvSpPr>
          <p:cNvPr id="3" name="Content Placeholder 2">
            <a:extLst>
              <a:ext uri="{FF2B5EF4-FFF2-40B4-BE49-F238E27FC236}">
                <a16:creationId xmlns:a16="http://schemas.microsoft.com/office/drawing/2014/main" id="{044B5BB0-CB4E-E0C4-DB38-E8D0BE6BE797}"/>
              </a:ext>
            </a:extLst>
          </p:cNvPr>
          <p:cNvSpPr>
            <a:spLocks noGrp="1"/>
          </p:cNvSpPr>
          <p:nvPr>
            <p:ph idx="1"/>
          </p:nvPr>
        </p:nvSpPr>
        <p:spPr/>
        <p:txBody>
          <a:bodyPr>
            <a:noAutofit/>
          </a:bodyPr>
          <a:lstStyle/>
          <a:p>
            <a:pPr marL="182880" lvl="0" indent="-182880" algn="l">
              <a:lnSpc>
                <a:spcPct val="90000"/>
              </a:lnSpc>
              <a:spcBef>
                <a:spcPts val="1200"/>
              </a:spcBef>
              <a:buClr>
                <a:srgbClr val="40BAD2"/>
              </a:buClr>
              <a:buFont typeface="Wingdings 2" pitchFamily="18" charset="2"/>
              <a:buChar char=""/>
            </a:pPr>
            <a:r>
              <a:rPr lang="en-IN" dirty="0"/>
              <a:t>The border-</a:t>
            </a:r>
            <a:r>
              <a:rPr lang="en-IN" dirty="0" err="1"/>
              <a:t>color</a:t>
            </a:r>
            <a:r>
              <a:rPr lang="en-IN" dirty="0"/>
              <a:t> </a:t>
            </a:r>
            <a:r>
              <a:rPr lang="en-US" dirty="0"/>
              <a:t>property is used to set the color of the borders.</a:t>
            </a:r>
          </a:p>
          <a:p>
            <a:pPr marL="0" lvl="0" indent="0" algn="l">
              <a:lnSpc>
                <a:spcPct val="100000"/>
              </a:lnSpc>
              <a:spcBef>
                <a:spcPts val="1200"/>
              </a:spcBef>
              <a:buClr>
                <a:srgbClr val="40BAD2"/>
              </a:buClr>
              <a:buNone/>
            </a:pPr>
            <a:r>
              <a:rPr lang="en-IN" dirty="0"/>
              <a:t>p.one {</a:t>
            </a:r>
            <a:br>
              <a:rPr lang="en-IN" dirty="0"/>
            </a:br>
            <a:r>
              <a:rPr lang="en-IN" dirty="0"/>
              <a:t>  border-style: solid;</a:t>
            </a:r>
            <a:br>
              <a:rPr lang="en-IN" dirty="0"/>
            </a:br>
            <a:r>
              <a:rPr lang="en-IN" dirty="0"/>
              <a:t>  border-</a:t>
            </a:r>
            <a:r>
              <a:rPr lang="en-IN" dirty="0" err="1"/>
              <a:t>color</a:t>
            </a:r>
            <a:r>
              <a:rPr lang="en-IN" dirty="0"/>
              <a:t>: red;</a:t>
            </a:r>
            <a:br>
              <a:rPr lang="en-IN" dirty="0"/>
            </a:br>
            <a:r>
              <a:rPr lang="en-IN" dirty="0"/>
              <a:t>}</a:t>
            </a:r>
            <a:br>
              <a:rPr lang="en-IN" dirty="0"/>
            </a:br>
            <a:br>
              <a:rPr lang="en-IN" dirty="0"/>
            </a:br>
            <a:r>
              <a:rPr lang="en-IN" dirty="0" err="1"/>
              <a:t>p.two</a:t>
            </a:r>
            <a:r>
              <a:rPr lang="en-IN" dirty="0"/>
              <a:t> {</a:t>
            </a:r>
            <a:br>
              <a:rPr lang="en-IN" dirty="0"/>
            </a:br>
            <a:r>
              <a:rPr lang="en-IN" dirty="0"/>
              <a:t>  border-style: solid;</a:t>
            </a:r>
            <a:br>
              <a:rPr lang="en-IN" dirty="0"/>
            </a:br>
            <a:r>
              <a:rPr lang="en-IN" dirty="0"/>
              <a:t>  border-</a:t>
            </a:r>
            <a:r>
              <a:rPr lang="en-IN" dirty="0" err="1"/>
              <a:t>color</a:t>
            </a:r>
            <a:r>
              <a:rPr lang="en-IN" dirty="0"/>
              <a:t>: green;</a:t>
            </a:r>
            <a:br>
              <a:rPr lang="en-IN" dirty="0"/>
            </a:br>
            <a:r>
              <a:rPr lang="en-IN" dirty="0"/>
              <a:t>}</a:t>
            </a:r>
            <a:br>
              <a:rPr lang="en-IN" dirty="0"/>
            </a:br>
            <a:br>
              <a:rPr lang="en-IN" dirty="0"/>
            </a:br>
            <a:r>
              <a:rPr lang="en-IN" dirty="0" err="1"/>
              <a:t>p.three</a:t>
            </a:r>
            <a:r>
              <a:rPr lang="en-IN" dirty="0"/>
              <a:t> {</a:t>
            </a:r>
            <a:br>
              <a:rPr lang="en-IN" dirty="0"/>
            </a:br>
            <a:r>
              <a:rPr lang="en-IN" dirty="0"/>
              <a:t>  border-style: dotted;</a:t>
            </a:r>
            <a:br>
              <a:rPr lang="en-IN" dirty="0"/>
            </a:br>
            <a:r>
              <a:rPr lang="en-IN" dirty="0"/>
              <a:t>  border-</a:t>
            </a:r>
            <a:r>
              <a:rPr lang="en-IN" dirty="0" err="1"/>
              <a:t>color</a:t>
            </a:r>
            <a:r>
              <a:rPr lang="en-IN" dirty="0"/>
              <a:t>: blue;</a:t>
            </a:r>
            <a:br>
              <a:rPr lang="en-IN" dirty="0"/>
            </a:br>
            <a:r>
              <a:rPr lang="en-IN" dirty="0"/>
              <a:t>}</a:t>
            </a:r>
          </a:p>
          <a:p>
            <a:r>
              <a:rPr lang="en-US" dirty="0"/>
              <a:t>The border-color property sets the color of an element's four borders. This property can have from one to four values.</a:t>
            </a:r>
          </a:p>
          <a:p>
            <a:endParaRPr lang="en-IN" dirty="0"/>
          </a:p>
        </p:txBody>
      </p:sp>
    </p:spTree>
    <p:extLst>
      <p:ext uri="{BB962C8B-B14F-4D97-AF65-F5344CB8AC3E}">
        <p14:creationId xmlns:p14="http://schemas.microsoft.com/office/powerpoint/2010/main" val="63231019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48752-FFFA-4C1F-9DCC-CD5A3C16A057}"/>
              </a:ext>
            </a:extLst>
          </p:cNvPr>
          <p:cNvSpPr>
            <a:spLocks noGrp="1"/>
          </p:cNvSpPr>
          <p:nvPr>
            <p:ph type="title"/>
          </p:nvPr>
        </p:nvSpPr>
        <p:spPr/>
        <p:txBody>
          <a:bodyPr/>
          <a:lstStyle/>
          <a:p>
            <a:r>
              <a:rPr lang="en-US" dirty="0"/>
              <a:t>Border-color</a:t>
            </a:r>
            <a:endParaRPr lang="en-IN" dirty="0"/>
          </a:p>
        </p:txBody>
      </p:sp>
      <p:sp>
        <p:nvSpPr>
          <p:cNvPr id="3" name="Content Placeholder 2">
            <a:extLst>
              <a:ext uri="{FF2B5EF4-FFF2-40B4-BE49-F238E27FC236}">
                <a16:creationId xmlns:a16="http://schemas.microsoft.com/office/drawing/2014/main" id="{729767E1-02EE-30FF-4D90-78C464D4AAF5}"/>
              </a:ext>
            </a:extLst>
          </p:cNvPr>
          <p:cNvSpPr>
            <a:spLocks noGrp="1"/>
          </p:cNvSpPr>
          <p:nvPr>
            <p:ph idx="1"/>
          </p:nvPr>
        </p:nvSpPr>
        <p:spPr>
          <a:xfrm>
            <a:off x="448951" y="1091406"/>
            <a:ext cx="11294097" cy="4351338"/>
          </a:xfrm>
        </p:spPr>
        <p:txBody>
          <a:bodyPr>
            <a:noAutofit/>
          </a:bodyPr>
          <a:lstStyle/>
          <a:p>
            <a:r>
              <a:rPr lang="en-US" dirty="0"/>
              <a:t>If the border-color property has four values:</a:t>
            </a:r>
          </a:p>
          <a:p>
            <a:r>
              <a:rPr lang="en-US" dirty="0"/>
              <a:t>    border-color: red green blue pink;</a:t>
            </a:r>
          </a:p>
          <a:p>
            <a:r>
              <a:rPr lang="en-US" dirty="0"/>
              <a:t>        top border is red</a:t>
            </a:r>
          </a:p>
          <a:p>
            <a:r>
              <a:rPr lang="en-US" dirty="0"/>
              <a:t>        right border is green</a:t>
            </a:r>
          </a:p>
          <a:p>
            <a:r>
              <a:rPr lang="en-US" dirty="0"/>
              <a:t>        bottom border is blue</a:t>
            </a:r>
          </a:p>
          <a:p>
            <a:r>
              <a:rPr lang="en-US" dirty="0"/>
              <a:t>        left border is pink</a:t>
            </a:r>
          </a:p>
          <a:p>
            <a:r>
              <a:rPr lang="en-US" dirty="0"/>
              <a:t>If the border-color property has three values:</a:t>
            </a:r>
          </a:p>
          <a:p>
            <a:r>
              <a:rPr lang="en-US" dirty="0"/>
              <a:t>    border-color: red green blue;</a:t>
            </a:r>
          </a:p>
          <a:p>
            <a:pPr lvl="1"/>
            <a:r>
              <a:rPr lang="en-US" dirty="0"/>
              <a:t>        top border is red</a:t>
            </a:r>
          </a:p>
          <a:p>
            <a:pPr lvl="1"/>
            <a:r>
              <a:rPr lang="en-US" dirty="0"/>
              <a:t>        right and left borders are green</a:t>
            </a:r>
          </a:p>
          <a:p>
            <a:pPr lvl="1"/>
            <a:r>
              <a:rPr lang="en-US" dirty="0"/>
              <a:t>        bottom border is blue</a:t>
            </a:r>
          </a:p>
          <a:p>
            <a:endParaRPr lang="en-US" dirty="0"/>
          </a:p>
          <a:p>
            <a:endParaRPr lang="en-IN" dirty="0"/>
          </a:p>
        </p:txBody>
      </p:sp>
    </p:spTree>
    <p:extLst>
      <p:ext uri="{BB962C8B-B14F-4D97-AF65-F5344CB8AC3E}">
        <p14:creationId xmlns:p14="http://schemas.microsoft.com/office/powerpoint/2010/main" val="113283882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2FF18-64D1-E443-35E7-AC0377AD9550}"/>
              </a:ext>
            </a:extLst>
          </p:cNvPr>
          <p:cNvSpPr>
            <a:spLocks noGrp="1"/>
          </p:cNvSpPr>
          <p:nvPr>
            <p:ph type="title"/>
          </p:nvPr>
        </p:nvSpPr>
        <p:spPr/>
        <p:txBody>
          <a:bodyPr/>
          <a:lstStyle/>
          <a:p>
            <a:r>
              <a:rPr lang="en-US" dirty="0"/>
              <a:t>Border-color</a:t>
            </a:r>
            <a:endParaRPr lang="en-IN" dirty="0"/>
          </a:p>
        </p:txBody>
      </p:sp>
      <p:sp>
        <p:nvSpPr>
          <p:cNvPr id="3" name="Content Placeholder 2">
            <a:extLst>
              <a:ext uri="{FF2B5EF4-FFF2-40B4-BE49-F238E27FC236}">
                <a16:creationId xmlns:a16="http://schemas.microsoft.com/office/drawing/2014/main" id="{537A91CD-93C7-C068-74E3-674C07D34107}"/>
              </a:ext>
            </a:extLst>
          </p:cNvPr>
          <p:cNvSpPr>
            <a:spLocks noGrp="1"/>
          </p:cNvSpPr>
          <p:nvPr>
            <p:ph idx="1"/>
          </p:nvPr>
        </p:nvSpPr>
        <p:spPr/>
        <p:txBody>
          <a:bodyPr/>
          <a:lstStyle/>
          <a:p>
            <a:r>
              <a:rPr lang="en-US" dirty="0"/>
              <a:t>If the border-color property has two values:</a:t>
            </a:r>
          </a:p>
          <a:p>
            <a:r>
              <a:rPr lang="en-US" dirty="0"/>
              <a:t>    border-color: red green;</a:t>
            </a:r>
          </a:p>
          <a:p>
            <a:pPr lvl="1"/>
            <a:r>
              <a:rPr lang="en-US" dirty="0"/>
              <a:t>  top and bottom borders are red</a:t>
            </a:r>
          </a:p>
          <a:p>
            <a:pPr lvl="1"/>
            <a:r>
              <a:rPr lang="en-US" dirty="0"/>
              <a:t>  right and left borders are green</a:t>
            </a:r>
          </a:p>
          <a:p>
            <a:r>
              <a:rPr lang="en-US" dirty="0"/>
              <a:t>If the border-color property has one value:</a:t>
            </a:r>
          </a:p>
          <a:p>
            <a:pPr marL="792163" lvl="1" indent="-342900"/>
            <a:r>
              <a:rPr lang="en-US" dirty="0"/>
              <a:t>    border-color: red;</a:t>
            </a:r>
          </a:p>
          <a:p>
            <a:pPr marL="792163" lvl="1" indent="-342900"/>
            <a:r>
              <a:rPr lang="en-US" dirty="0"/>
              <a:t>    all four borders are red</a:t>
            </a:r>
          </a:p>
          <a:p>
            <a:endParaRPr lang="en-US" dirty="0"/>
          </a:p>
          <a:p>
            <a:endParaRPr lang="en-IN" dirty="0"/>
          </a:p>
        </p:txBody>
      </p:sp>
    </p:spTree>
    <p:extLst>
      <p:ext uri="{BB962C8B-B14F-4D97-AF65-F5344CB8AC3E}">
        <p14:creationId xmlns:p14="http://schemas.microsoft.com/office/powerpoint/2010/main" val="15754877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3E97-6FB1-7191-3D87-4B2F7FA2226D}"/>
              </a:ext>
            </a:extLst>
          </p:cNvPr>
          <p:cNvSpPr>
            <a:spLocks noGrp="1"/>
          </p:cNvSpPr>
          <p:nvPr>
            <p:ph type="title"/>
          </p:nvPr>
        </p:nvSpPr>
        <p:spPr/>
        <p:txBody>
          <a:bodyPr/>
          <a:lstStyle/>
          <a:p>
            <a:r>
              <a:rPr lang="en-IN" dirty="0"/>
              <a:t>Margins</a:t>
            </a:r>
          </a:p>
        </p:txBody>
      </p:sp>
      <p:sp>
        <p:nvSpPr>
          <p:cNvPr id="3" name="Content Placeholder 2">
            <a:extLst>
              <a:ext uri="{FF2B5EF4-FFF2-40B4-BE49-F238E27FC236}">
                <a16:creationId xmlns:a16="http://schemas.microsoft.com/office/drawing/2014/main" id="{F4DB7A7D-CE81-F6B3-24B1-4DFA3C8DADA1}"/>
              </a:ext>
            </a:extLst>
          </p:cNvPr>
          <p:cNvSpPr>
            <a:spLocks noGrp="1"/>
          </p:cNvSpPr>
          <p:nvPr>
            <p:ph idx="1"/>
          </p:nvPr>
        </p:nvSpPr>
        <p:spPr>
          <a:xfrm>
            <a:off x="423420" y="1253330"/>
            <a:ext cx="11294097" cy="5242719"/>
          </a:xfrm>
        </p:spPr>
        <p:txBody>
          <a:bodyPr>
            <a:noAutofit/>
          </a:bodyPr>
          <a:lstStyle/>
          <a:p>
            <a:r>
              <a:rPr lang="en-US" dirty="0">
                <a:solidFill>
                  <a:schemeClr val="tx1"/>
                </a:solidFill>
              </a:rPr>
              <a:t>Margins are used to create space around elements, outside of any defined borders.</a:t>
            </a:r>
          </a:p>
          <a:p>
            <a:r>
              <a:rPr lang="en-US" dirty="0">
                <a:solidFill>
                  <a:schemeClr val="tx1"/>
                </a:solidFill>
              </a:rPr>
              <a:t>With CSS, you have full control over the margins. There are properties for setting the margin for each side of an element (top, right, bottom, and left).</a:t>
            </a:r>
          </a:p>
          <a:p>
            <a:r>
              <a:rPr lang="en-US" b="1" dirty="0">
                <a:solidFill>
                  <a:schemeClr val="tx1"/>
                </a:solidFill>
              </a:rPr>
              <a:t>Margin - Individual Sides:</a:t>
            </a:r>
          </a:p>
          <a:p>
            <a:r>
              <a:rPr lang="en-US" dirty="0">
                <a:solidFill>
                  <a:schemeClr val="tx1"/>
                </a:solidFill>
              </a:rPr>
              <a:t>CSS has properties for specifying the margin for each side of an element:</a:t>
            </a:r>
          </a:p>
          <a:p>
            <a:r>
              <a:rPr lang="en-US" dirty="0">
                <a:solidFill>
                  <a:schemeClr val="tx1"/>
                </a:solidFill>
              </a:rPr>
              <a:t>    margin-top</a:t>
            </a:r>
          </a:p>
          <a:p>
            <a:r>
              <a:rPr lang="en-US" dirty="0">
                <a:solidFill>
                  <a:schemeClr val="tx1"/>
                </a:solidFill>
              </a:rPr>
              <a:t>    margin-right</a:t>
            </a:r>
          </a:p>
          <a:p>
            <a:r>
              <a:rPr lang="en-US" dirty="0">
                <a:solidFill>
                  <a:schemeClr val="tx1"/>
                </a:solidFill>
              </a:rPr>
              <a:t>    margin-bottom</a:t>
            </a:r>
          </a:p>
          <a:p>
            <a:r>
              <a:rPr lang="en-US" dirty="0">
                <a:solidFill>
                  <a:schemeClr val="tx1"/>
                </a:solidFill>
              </a:rPr>
              <a:t>    margin-left</a:t>
            </a:r>
          </a:p>
          <a:p>
            <a:endParaRPr lang="en-IN" dirty="0"/>
          </a:p>
        </p:txBody>
      </p:sp>
    </p:spTree>
    <p:extLst>
      <p:ext uri="{BB962C8B-B14F-4D97-AF65-F5344CB8AC3E}">
        <p14:creationId xmlns:p14="http://schemas.microsoft.com/office/powerpoint/2010/main" val="14997447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46C10-33D3-E159-59B7-A96F17B1FDF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A914410-3EBC-5EC1-477F-C56653C04EED}"/>
              </a:ext>
            </a:extLst>
          </p:cNvPr>
          <p:cNvSpPr>
            <a:spLocks noGrp="1"/>
          </p:cNvSpPr>
          <p:nvPr>
            <p:ph idx="1"/>
          </p:nvPr>
        </p:nvSpPr>
        <p:spPr>
          <a:xfrm>
            <a:off x="423420" y="1253330"/>
            <a:ext cx="11294097" cy="5204619"/>
          </a:xfrm>
        </p:spPr>
        <p:txBody>
          <a:bodyPr>
            <a:noAutofit/>
          </a:bodyPr>
          <a:lstStyle/>
          <a:p>
            <a:pPr>
              <a:lnSpc>
                <a:spcPct val="100000"/>
              </a:lnSpc>
            </a:pPr>
            <a:r>
              <a:rPr lang="en-US" dirty="0">
                <a:solidFill>
                  <a:schemeClr val="tx1"/>
                </a:solidFill>
              </a:rPr>
              <a:t>All the margin properties can have the following values:</a:t>
            </a:r>
          </a:p>
          <a:p>
            <a:pPr>
              <a:lnSpc>
                <a:spcPct val="100000"/>
              </a:lnSpc>
            </a:pPr>
            <a:r>
              <a:rPr lang="en-US" dirty="0">
                <a:solidFill>
                  <a:schemeClr val="tx1"/>
                </a:solidFill>
              </a:rPr>
              <a:t>    </a:t>
            </a:r>
            <a:r>
              <a:rPr lang="en-US" b="1" dirty="0">
                <a:solidFill>
                  <a:schemeClr val="tx1"/>
                </a:solidFill>
              </a:rPr>
              <a:t>auto</a:t>
            </a:r>
            <a:r>
              <a:rPr lang="en-US" dirty="0">
                <a:solidFill>
                  <a:schemeClr val="tx1"/>
                </a:solidFill>
              </a:rPr>
              <a:t> - the browser calculates the margin</a:t>
            </a:r>
          </a:p>
          <a:p>
            <a:pPr>
              <a:lnSpc>
                <a:spcPct val="100000"/>
              </a:lnSpc>
            </a:pPr>
            <a:r>
              <a:rPr lang="en-US" dirty="0">
                <a:solidFill>
                  <a:schemeClr val="tx1"/>
                </a:solidFill>
              </a:rPr>
              <a:t>    </a:t>
            </a:r>
            <a:r>
              <a:rPr lang="en-US" b="1" dirty="0">
                <a:solidFill>
                  <a:schemeClr val="tx1"/>
                </a:solidFill>
              </a:rPr>
              <a:t>length</a:t>
            </a:r>
            <a:r>
              <a:rPr lang="en-US" dirty="0">
                <a:solidFill>
                  <a:schemeClr val="tx1"/>
                </a:solidFill>
              </a:rPr>
              <a:t> - specifies a margin in </a:t>
            </a:r>
            <a:r>
              <a:rPr lang="en-US" dirty="0" err="1">
                <a:solidFill>
                  <a:schemeClr val="tx1"/>
                </a:solidFill>
              </a:rPr>
              <a:t>px</a:t>
            </a:r>
            <a:r>
              <a:rPr lang="en-US" dirty="0">
                <a:solidFill>
                  <a:schemeClr val="tx1"/>
                </a:solidFill>
              </a:rPr>
              <a:t>, pt, cm, etc.</a:t>
            </a:r>
          </a:p>
          <a:p>
            <a:pPr>
              <a:lnSpc>
                <a:spcPct val="100000"/>
              </a:lnSpc>
            </a:pPr>
            <a:r>
              <a:rPr lang="en-US" dirty="0">
                <a:solidFill>
                  <a:schemeClr val="tx1"/>
                </a:solidFill>
              </a:rPr>
              <a:t>    </a:t>
            </a:r>
            <a:r>
              <a:rPr lang="en-US" b="1" dirty="0">
                <a:solidFill>
                  <a:schemeClr val="tx1"/>
                </a:solidFill>
              </a:rPr>
              <a:t>%</a:t>
            </a:r>
            <a:r>
              <a:rPr lang="en-US" dirty="0">
                <a:solidFill>
                  <a:schemeClr val="tx1"/>
                </a:solidFill>
              </a:rPr>
              <a:t> - specifies a margin in % of the width of the containing element</a:t>
            </a:r>
          </a:p>
          <a:p>
            <a:pPr>
              <a:lnSpc>
                <a:spcPct val="100000"/>
              </a:lnSpc>
            </a:pPr>
            <a:r>
              <a:rPr lang="en-US" dirty="0">
                <a:solidFill>
                  <a:schemeClr val="tx1"/>
                </a:solidFill>
              </a:rPr>
              <a:t>    </a:t>
            </a:r>
            <a:r>
              <a:rPr lang="en-US" b="1" dirty="0">
                <a:solidFill>
                  <a:schemeClr val="tx1"/>
                </a:solidFill>
              </a:rPr>
              <a:t>inherit</a:t>
            </a:r>
            <a:r>
              <a:rPr lang="en-US" dirty="0">
                <a:solidFill>
                  <a:schemeClr val="tx1"/>
                </a:solidFill>
              </a:rPr>
              <a:t> - specifies that the margin should be inherited from the parent element.</a:t>
            </a:r>
          </a:p>
          <a:p>
            <a:pPr>
              <a:lnSpc>
                <a:spcPct val="100000"/>
              </a:lnSpc>
            </a:pPr>
            <a:r>
              <a:rPr lang="en-US" b="1" dirty="0">
                <a:solidFill>
                  <a:schemeClr val="tx1"/>
                </a:solidFill>
              </a:rPr>
              <a:t>Margin - Shorthand Property:</a:t>
            </a:r>
            <a:endParaRPr lang="en-US" dirty="0">
              <a:solidFill>
                <a:schemeClr val="tx1"/>
              </a:solidFill>
            </a:endParaRPr>
          </a:p>
          <a:p>
            <a:pPr>
              <a:lnSpc>
                <a:spcPct val="100000"/>
              </a:lnSpc>
            </a:pPr>
            <a:r>
              <a:rPr lang="en-US" dirty="0">
                <a:solidFill>
                  <a:schemeClr val="tx1"/>
                </a:solidFill>
              </a:rPr>
              <a:t>To shorten the code, it is possible to specify all the margin properties in one property.</a:t>
            </a:r>
          </a:p>
          <a:p>
            <a:pPr>
              <a:lnSpc>
                <a:spcPct val="100000"/>
              </a:lnSpc>
            </a:pPr>
            <a:r>
              <a:rPr lang="en-US" dirty="0">
                <a:solidFill>
                  <a:schemeClr val="tx1"/>
                </a:solidFill>
              </a:rPr>
              <a:t>If the margin property has four values:</a:t>
            </a:r>
          </a:p>
          <a:p>
            <a:pPr>
              <a:lnSpc>
                <a:spcPct val="100000"/>
              </a:lnSpc>
            </a:pPr>
            <a:r>
              <a:rPr lang="en-US" dirty="0">
                <a:solidFill>
                  <a:schemeClr val="tx1"/>
                </a:solidFill>
              </a:rPr>
              <a:t>    </a:t>
            </a:r>
            <a:r>
              <a:rPr lang="en-US" b="1" dirty="0">
                <a:solidFill>
                  <a:schemeClr val="tx1"/>
                </a:solidFill>
              </a:rPr>
              <a:t>margin: 25px 50px 75px 100px;</a:t>
            </a:r>
          </a:p>
          <a:p>
            <a:pPr>
              <a:lnSpc>
                <a:spcPct val="100000"/>
              </a:lnSpc>
            </a:pPr>
            <a:r>
              <a:rPr lang="en-US" dirty="0">
                <a:solidFill>
                  <a:schemeClr val="tx1"/>
                </a:solidFill>
              </a:rPr>
              <a:t>        top margin is 25px</a:t>
            </a:r>
          </a:p>
          <a:p>
            <a:pPr>
              <a:lnSpc>
                <a:spcPct val="100000"/>
              </a:lnSpc>
            </a:pPr>
            <a:r>
              <a:rPr lang="en-US" dirty="0">
                <a:solidFill>
                  <a:schemeClr val="tx1"/>
                </a:solidFill>
              </a:rPr>
              <a:t>        right margin is 50px</a:t>
            </a:r>
          </a:p>
          <a:p>
            <a:pPr>
              <a:lnSpc>
                <a:spcPct val="100000"/>
              </a:lnSpc>
            </a:pPr>
            <a:r>
              <a:rPr lang="en-US" dirty="0">
                <a:solidFill>
                  <a:schemeClr val="tx1"/>
                </a:solidFill>
              </a:rPr>
              <a:t>        bottom margin is 75px</a:t>
            </a:r>
          </a:p>
          <a:p>
            <a:pPr>
              <a:lnSpc>
                <a:spcPct val="100000"/>
              </a:lnSpc>
            </a:pPr>
            <a:r>
              <a:rPr lang="en-US" dirty="0">
                <a:solidFill>
                  <a:schemeClr val="tx1"/>
                </a:solidFill>
              </a:rPr>
              <a:t>        left margin is 100px</a:t>
            </a:r>
          </a:p>
          <a:p>
            <a:pPr>
              <a:lnSpc>
                <a:spcPct val="100000"/>
              </a:lnSpc>
            </a:pPr>
            <a:endParaRPr lang="en-US" dirty="0">
              <a:solidFill>
                <a:schemeClr val="tx1"/>
              </a:solidFill>
            </a:endParaRPr>
          </a:p>
          <a:p>
            <a:pPr>
              <a:lnSpc>
                <a:spcPct val="100000"/>
              </a:lnSpc>
            </a:pPr>
            <a:endParaRPr lang="en-US" dirty="0">
              <a:solidFill>
                <a:schemeClr val="tx1"/>
              </a:solidFill>
            </a:endParaRPr>
          </a:p>
          <a:p>
            <a:pPr>
              <a:lnSpc>
                <a:spcPct val="100000"/>
              </a:lnSpc>
            </a:pPr>
            <a:endParaRPr lang="en-US" dirty="0">
              <a:solidFill>
                <a:schemeClr val="tx1"/>
              </a:solidFill>
            </a:endParaRPr>
          </a:p>
          <a:p>
            <a:pPr>
              <a:lnSpc>
                <a:spcPct val="100000"/>
              </a:lnSpc>
            </a:pPr>
            <a:endParaRPr lang="en-IN" dirty="0"/>
          </a:p>
        </p:txBody>
      </p:sp>
    </p:spTree>
    <p:extLst>
      <p:ext uri="{BB962C8B-B14F-4D97-AF65-F5344CB8AC3E}">
        <p14:creationId xmlns:p14="http://schemas.microsoft.com/office/powerpoint/2010/main" val="294122508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4F07F-09FF-C327-737A-FFA1DADF37E1}"/>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AF1D19CA-7805-DE09-A0A9-9AC8D4B43621}"/>
              </a:ext>
            </a:extLst>
          </p:cNvPr>
          <p:cNvSpPr>
            <a:spLocks noGrp="1"/>
          </p:cNvSpPr>
          <p:nvPr>
            <p:ph idx="1"/>
          </p:nvPr>
        </p:nvSpPr>
        <p:spPr/>
        <p:txBody>
          <a:bodyPr>
            <a:noAutofit/>
          </a:bodyPr>
          <a:lstStyle/>
          <a:p>
            <a:pPr marL="0" indent="0">
              <a:lnSpc>
                <a:spcPct val="100000"/>
              </a:lnSpc>
              <a:buNone/>
            </a:pPr>
            <a:r>
              <a:rPr lang="en-US" dirty="0">
                <a:ea typeface="Cambria" panose="02040503050406030204" pitchFamily="18" charset="0"/>
              </a:rPr>
              <a:t>&lt;style&gt;</a:t>
            </a:r>
          </a:p>
          <a:p>
            <a:pPr marL="1371600" lvl="3" indent="0">
              <a:lnSpc>
                <a:spcPct val="100000"/>
              </a:lnSpc>
              <a:buNone/>
            </a:pPr>
            <a:r>
              <a:rPr lang="en-US" dirty="0">
                <a:ea typeface="Cambria" panose="02040503050406030204" pitchFamily="18" charset="0"/>
              </a:rPr>
              <a:t>div {</a:t>
            </a:r>
          </a:p>
          <a:p>
            <a:pPr marL="1371600" lvl="3" indent="0">
              <a:lnSpc>
                <a:spcPct val="100000"/>
              </a:lnSpc>
              <a:buNone/>
            </a:pPr>
            <a:r>
              <a:rPr lang="en-US" dirty="0">
                <a:ea typeface="Cambria" panose="02040503050406030204" pitchFamily="18" charset="0"/>
              </a:rPr>
              <a:t>  border: 1px solid black;</a:t>
            </a:r>
          </a:p>
          <a:p>
            <a:pPr marL="1371600" lvl="3" indent="0">
              <a:lnSpc>
                <a:spcPct val="100000"/>
              </a:lnSpc>
              <a:buNone/>
            </a:pPr>
            <a:r>
              <a:rPr lang="en-US" dirty="0">
                <a:ea typeface="Cambria" panose="02040503050406030204" pitchFamily="18" charset="0"/>
              </a:rPr>
              <a:t>  margin-top: 100px;</a:t>
            </a:r>
          </a:p>
          <a:p>
            <a:pPr marL="1371600" lvl="3" indent="0">
              <a:lnSpc>
                <a:spcPct val="100000"/>
              </a:lnSpc>
              <a:buNone/>
            </a:pPr>
            <a:r>
              <a:rPr lang="en-US" dirty="0">
                <a:ea typeface="Cambria" panose="02040503050406030204" pitchFamily="18" charset="0"/>
              </a:rPr>
              <a:t>  margin-bottom: 100px;</a:t>
            </a:r>
          </a:p>
          <a:p>
            <a:pPr marL="1371600" lvl="3" indent="0">
              <a:lnSpc>
                <a:spcPct val="100000"/>
              </a:lnSpc>
              <a:buNone/>
            </a:pPr>
            <a:r>
              <a:rPr lang="en-US" dirty="0">
                <a:ea typeface="Cambria" panose="02040503050406030204" pitchFamily="18" charset="0"/>
              </a:rPr>
              <a:t>  margin-right: 150px;</a:t>
            </a:r>
          </a:p>
          <a:p>
            <a:pPr marL="1371600" lvl="3" indent="0">
              <a:lnSpc>
                <a:spcPct val="100000"/>
              </a:lnSpc>
              <a:buNone/>
            </a:pPr>
            <a:r>
              <a:rPr lang="en-US" dirty="0">
                <a:ea typeface="Cambria" panose="02040503050406030204" pitchFamily="18" charset="0"/>
              </a:rPr>
              <a:t>  margin-left: 80px;</a:t>
            </a:r>
          </a:p>
          <a:p>
            <a:pPr marL="1371600" lvl="3" indent="0">
              <a:lnSpc>
                <a:spcPct val="100000"/>
              </a:lnSpc>
              <a:buNone/>
            </a:pPr>
            <a:r>
              <a:rPr lang="en-US" dirty="0">
                <a:ea typeface="Cambria" panose="02040503050406030204" pitchFamily="18" charset="0"/>
              </a:rPr>
              <a:t>  background-color: </a:t>
            </a:r>
            <a:r>
              <a:rPr lang="en-US" dirty="0" err="1">
                <a:ea typeface="Cambria" panose="02040503050406030204" pitchFamily="18" charset="0"/>
              </a:rPr>
              <a:t>lightblue</a:t>
            </a:r>
            <a:r>
              <a:rPr lang="en-US" dirty="0">
                <a:ea typeface="Cambria" panose="02040503050406030204" pitchFamily="18" charset="0"/>
              </a:rPr>
              <a:t>;</a:t>
            </a:r>
          </a:p>
          <a:p>
            <a:pPr marL="1371600" lvl="3" indent="0">
              <a:lnSpc>
                <a:spcPct val="100000"/>
              </a:lnSpc>
              <a:buNone/>
            </a:pPr>
            <a:r>
              <a:rPr lang="en-US" dirty="0">
                <a:ea typeface="Cambria" panose="02040503050406030204" pitchFamily="18" charset="0"/>
              </a:rPr>
              <a:t>}</a:t>
            </a:r>
          </a:p>
          <a:p>
            <a:pPr marL="0" indent="0">
              <a:lnSpc>
                <a:spcPct val="100000"/>
              </a:lnSpc>
              <a:buNone/>
            </a:pPr>
            <a:r>
              <a:rPr lang="en-US" dirty="0">
                <a:ea typeface="Cambria" panose="02040503050406030204" pitchFamily="18" charset="0"/>
              </a:rPr>
              <a:t>&lt;/style&gt;</a:t>
            </a:r>
          </a:p>
          <a:p>
            <a:pPr marL="0" indent="0">
              <a:lnSpc>
                <a:spcPct val="100000"/>
              </a:lnSpc>
              <a:buNone/>
            </a:pPr>
            <a:r>
              <a:rPr lang="en-US" dirty="0">
                <a:ea typeface="Cambria" panose="02040503050406030204" pitchFamily="18" charset="0"/>
              </a:rPr>
              <a:t>&lt;body&gt;</a:t>
            </a:r>
          </a:p>
          <a:p>
            <a:pPr marL="914400" lvl="2" indent="0">
              <a:lnSpc>
                <a:spcPct val="100000"/>
              </a:lnSpc>
              <a:buNone/>
            </a:pPr>
            <a:r>
              <a:rPr lang="en-US" dirty="0">
                <a:ea typeface="Cambria" panose="02040503050406030204" pitchFamily="18" charset="0"/>
              </a:rPr>
              <a:t>&lt;div&gt;This div element has a top margin of 100px, a right margin of 150px, a bottom margin of 100px, and a left margin of 80px.&lt;/div&gt;</a:t>
            </a:r>
          </a:p>
          <a:p>
            <a:pPr marL="0" indent="0">
              <a:lnSpc>
                <a:spcPct val="100000"/>
              </a:lnSpc>
              <a:buNone/>
            </a:pPr>
            <a:r>
              <a:rPr lang="en-US" dirty="0">
                <a:ea typeface="Cambria" panose="02040503050406030204" pitchFamily="18" charset="0"/>
              </a:rPr>
              <a:t>&lt;/body&gt;</a:t>
            </a:r>
          </a:p>
          <a:p>
            <a:pPr marL="0" indent="0">
              <a:buNone/>
            </a:pPr>
            <a:endParaRPr lang="en-IN" dirty="0"/>
          </a:p>
        </p:txBody>
      </p:sp>
      <p:pic>
        <p:nvPicPr>
          <p:cNvPr id="4" name="Picture 3">
            <a:extLst>
              <a:ext uri="{FF2B5EF4-FFF2-40B4-BE49-F238E27FC236}">
                <a16:creationId xmlns:a16="http://schemas.microsoft.com/office/drawing/2014/main" id="{E92FDDA0-A4B2-3366-C47B-2EE7030AD6C3}"/>
              </a:ext>
            </a:extLst>
          </p:cNvPr>
          <p:cNvPicPr>
            <a:picLocks noChangeAspect="1"/>
          </p:cNvPicPr>
          <p:nvPr/>
        </p:nvPicPr>
        <p:blipFill>
          <a:blip r:embed="rId2"/>
          <a:stretch>
            <a:fillRect/>
          </a:stretch>
        </p:blipFill>
        <p:spPr>
          <a:xfrm>
            <a:off x="4944367" y="1581442"/>
            <a:ext cx="6773150" cy="2885201"/>
          </a:xfrm>
          <a:prstGeom prst="rect">
            <a:avLst/>
          </a:prstGeom>
          <a:ln w="19050">
            <a:solidFill>
              <a:schemeClr val="tx1"/>
            </a:solidFill>
          </a:ln>
        </p:spPr>
      </p:pic>
    </p:spTree>
    <p:extLst>
      <p:ext uri="{BB962C8B-B14F-4D97-AF65-F5344CB8AC3E}">
        <p14:creationId xmlns:p14="http://schemas.microsoft.com/office/powerpoint/2010/main" val="34573068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281B2-E825-78D3-E35E-40925C7FA019}"/>
              </a:ext>
            </a:extLst>
          </p:cNvPr>
          <p:cNvSpPr>
            <a:spLocks noGrp="1"/>
          </p:cNvSpPr>
          <p:nvPr>
            <p:ph type="title"/>
          </p:nvPr>
        </p:nvSpPr>
        <p:spPr/>
        <p:txBody>
          <a:bodyPr/>
          <a:lstStyle/>
          <a:p>
            <a:r>
              <a:rPr lang="en-US" dirty="0"/>
              <a:t>The auto Value</a:t>
            </a:r>
            <a:br>
              <a:rPr lang="en-US" dirty="0"/>
            </a:br>
            <a:endParaRPr lang="en-IN" dirty="0"/>
          </a:p>
        </p:txBody>
      </p:sp>
      <p:sp>
        <p:nvSpPr>
          <p:cNvPr id="3" name="Content Placeholder 2">
            <a:extLst>
              <a:ext uri="{FF2B5EF4-FFF2-40B4-BE49-F238E27FC236}">
                <a16:creationId xmlns:a16="http://schemas.microsoft.com/office/drawing/2014/main" id="{A3A74FE0-D7F6-60BE-691D-4129F602250B}"/>
              </a:ext>
            </a:extLst>
          </p:cNvPr>
          <p:cNvSpPr>
            <a:spLocks noGrp="1"/>
          </p:cNvSpPr>
          <p:nvPr>
            <p:ph idx="1"/>
          </p:nvPr>
        </p:nvSpPr>
        <p:spPr/>
        <p:txBody>
          <a:bodyPr>
            <a:noAutofit/>
          </a:bodyPr>
          <a:lstStyle/>
          <a:p>
            <a:r>
              <a:rPr lang="en-US" dirty="0"/>
              <a:t>You can set the margin property to auto to horizontally center the element within its container.</a:t>
            </a:r>
          </a:p>
          <a:p>
            <a:r>
              <a:rPr lang="en-US" dirty="0"/>
              <a:t>The element will then take up the specified width, and the remaining space will be split equally between the left and right margins.</a:t>
            </a:r>
          </a:p>
          <a:p>
            <a:pPr marL="0" indent="0">
              <a:lnSpc>
                <a:spcPct val="100000"/>
              </a:lnSpc>
              <a:buNone/>
            </a:pPr>
            <a:r>
              <a:rPr lang="en-US" dirty="0">
                <a:ea typeface="Cambria" panose="02040503050406030204" pitchFamily="18" charset="0"/>
              </a:rPr>
              <a:t>&lt;style&gt;</a:t>
            </a:r>
          </a:p>
          <a:p>
            <a:pPr marL="0" indent="0">
              <a:lnSpc>
                <a:spcPct val="100000"/>
              </a:lnSpc>
              <a:buNone/>
            </a:pPr>
            <a:r>
              <a:rPr lang="en-US" dirty="0">
                <a:ea typeface="Cambria" panose="02040503050406030204" pitchFamily="18" charset="0"/>
              </a:rPr>
              <a:t>div {</a:t>
            </a:r>
          </a:p>
          <a:p>
            <a:pPr marL="0" indent="0">
              <a:lnSpc>
                <a:spcPct val="100000"/>
              </a:lnSpc>
              <a:buNone/>
            </a:pPr>
            <a:r>
              <a:rPr lang="en-US" dirty="0">
                <a:ea typeface="Cambria" panose="02040503050406030204" pitchFamily="18" charset="0"/>
              </a:rPr>
              <a:t>  width: 300px;</a:t>
            </a:r>
          </a:p>
          <a:p>
            <a:pPr marL="0" indent="0">
              <a:lnSpc>
                <a:spcPct val="100000"/>
              </a:lnSpc>
              <a:buNone/>
            </a:pPr>
            <a:r>
              <a:rPr lang="en-US" dirty="0">
                <a:ea typeface="Cambria" panose="02040503050406030204" pitchFamily="18" charset="0"/>
              </a:rPr>
              <a:t>  margin: auto;</a:t>
            </a:r>
          </a:p>
          <a:p>
            <a:pPr marL="0" indent="0">
              <a:lnSpc>
                <a:spcPct val="100000"/>
              </a:lnSpc>
              <a:buNone/>
            </a:pPr>
            <a:r>
              <a:rPr lang="en-US" dirty="0">
                <a:ea typeface="Cambria" panose="02040503050406030204" pitchFamily="18" charset="0"/>
              </a:rPr>
              <a:t>border: 1px solid red;</a:t>
            </a:r>
          </a:p>
          <a:p>
            <a:pPr marL="0" indent="0">
              <a:lnSpc>
                <a:spcPct val="100000"/>
              </a:lnSpc>
              <a:buNone/>
            </a:pPr>
            <a:r>
              <a:rPr lang="en-US" dirty="0">
                <a:ea typeface="Cambria" panose="02040503050406030204" pitchFamily="18" charset="0"/>
              </a:rPr>
              <a:t>}</a:t>
            </a:r>
          </a:p>
          <a:p>
            <a:pPr marL="0" indent="0">
              <a:lnSpc>
                <a:spcPct val="100000"/>
              </a:lnSpc>
              <a:buNone/>
            </a:pPr>
            <a:r>
              <a:rPr lang="en-US" dirty="0">
                <a:ea typeface="Cambria" panose="02040503050406030204" pitchFamily="18" charset="0"/>
              </a:rPr>
              <a:t>&lt;/style&gt;</a:t>
            </a:r>
          </a:p>
          <a:p>
            <a:endParaRPr lang="en-IN" dirty="0"/>
          </a:p>
        </p:txBody>
      </p:sp>
      <p:pic>
        <p:nvPicPr>
          <p:cNvPr id="4" name="Picture 3">
            <a:extLst>
              <a:ext uri="{FF2B5EF4-FFF2-40B4-BE49-F238E27FC236}">
                <a16:creationId xmlns:a16="http://schemas.microsoft.com/office/drawing/2014/main" id="{CF01CDC9-7192-A9C2-14BD-CE220307A066}"/>
              </a:ext>
            </a:extLst>
          </p:cNvPr>
          <p:cNvPicPr>
            <a:picLocks noChangeAspect="1"/>
          </p:cNvPicPr>
          <p:nvPr/>
        </p:nvPicPr>
        <p:blipFill>
          <a:blip r:embed="rId2"/>
          <a:stretch>
            <a:fillRect/>
          </a:stretch>
        </p:blipFill>
        <p:spPr>
          <a:xfrm>
            <a:off x="2449692" y="5121275"/>
            <a:ext cx="8753475" cy="1228725"/>
          </a:xfrm>
          <a:prstGeom prst="rect">
            <a:avLst/>
          </a:prstGeom>
          <a:ln w="19050">
            <a:solidFill>
              <a:schemeClr val="tx1"/>
            </a:solidFill>
          </a:ln>
        </p:spPr>
      </p:pic>
    </p:spTree>
    <p:extLst>
      <p:ext uri="{BB962C8B-B14F-4D97-AF65-F5344CB8AC3E}">
        <p14:creationId xmlns:p14="http://schemas.microsoft.com/office/powerpoint/2010/main" val="403558314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A9D3-5057-B739-CB18-0C75B1520555}"/>
              </a:ext>
            </a:extLst>
          </p:cNvPr>
          <p:cNvSpPr>
            <a:spLocks noGrp="1"/>
          </p:cNvSpPr>
          <p:nvPr>
            <p:ph type="title"/>
          </p:nvPr>
        </p:nvSpPr>
        <p:spPr/>
        <p:txBody>
          <a:bodyPr/>
          <a:lstStyle/>
          <a:p>
            <a:r>
              <a:rPr lang="en-US" dirty="0"/>
              <a:t>The inherit Value</a:t>
            </a:r>
            <a:endParaRPr lang="en-IN" dirty="0"/>
          </a:p>
        </p:txBody>
      </p:sp>
      <p:sp>
        <p:nvSpPr>
          <p:cNvPr id="3" name="Content Placeholder 2">
            <a:extLst>
              <a:ext uri="{FF2B5EF4-FFF2-40B4-BE49-F238E27FC236}">
                <a16:creationId xmlns:a16="http://schemas.microsoft.com/office/drawing/2014/main" id="{CB6E55DF-C8AD-784E-B62B-30794D92E024}"/>
              </a:ext>
            </a:extLst>
          </p:cNvPr>
          <p:cNvSpPr>
            <a:spLocks noGrp="1"/>
          </p:cNvSpPr>
          <p:nvPr>
            <p:ph idx="1"/>
          </p:nvPr>
        </p:nvSpPr>
        <p:spPr/>
        <p:txBody>
          <a:bodyPr>
            <a:noAutofit/>
          </a:bodyPr>
          <a:lstStyle/>
          <a:p>
            <a:r>
              <a:rPr lang="en-US" dirty="0"/>
              <a:t>This example lets the left margin of the &lt;p class="ex1"&gt; element be inherited from the parent element (&lt;div&gt;):</a:t>
            </a:r>
          </a:p>
          <a:p>
            <a:pPr marL="0" indent="0">
              <a:buNone/>
            </a:pPr>
            <a:r>
              <a:rPr lang="en-US" dirty="0">
                <a:ea typeface="Cambria" panose="02040503050406030204" pitchFamily="18" charset="0"/>
              </a:rPr>
              <a:t>&lt;style&gt;</a:t>
            </a:r>
          </a:p>
          <a:p>
            <a:pPr marL="1371600" lvl="3" indent="0">
              <a:buNone/>
            </a:pPr>
            <a:r>
              <a:rPr lang="en-US" dirty="0">
                <a:ea typeface="Cambria" panose="02040503050406030204" pitchFamily="18" charset="0"/>
              </a:rPr>
              <a:t>div {</a:t>
            </a:r>
          </a:p>
          <a:p>
            <a:pPr marL="1371600" lvl="3" indent="0">
              <a:buNone/>
            </a:pPr>
            <a:r>
              <a:rPr lang="en-US" dirty="0">
                <a:ea typeface="Cambria" panose="02040503050406030204" pitchFamily="18" charset="0"/>
              </a:rPr>
              <a:t>  border: 1px solid red;</a:t>
            </a:r>
          </a:p>
          <a:p>
            <a:pPr marL="1371600" lvl="3" indent="0">
              <a:buNone/>
            </a:pPr>
            <a:r>
              <a:rPr lang="en-US" dirty="0">
                <a:ea typeface="Cambria" panose="02040503050406030204" pitchFamily="18" charset="0"/>
              </a:rPr>
              <a:t>  margin-left: 100px;</a:t>
            </a:r>
          </a:p>
          <a:p>
            <a:pPr marL="1371600" lvl="3" indent="0">
              <a:buNone/>
            </a:pPr>
            <a:r>
              <a:rPr lang="en-US" dirty="0">
                <a:ea typeface="Cambria" panose="02040503050406030204" pitchFamily="18" charset="0"/>
              </a:rPr>
              <a:t>}</a:t>
            </a:r>
          </a:p>
          <a:p>
            <a:pPr marL="1371600" lvl="3" indent="0">
              <a:buNone/>
            </a:pPr>
            <a:r>
              <a:rPr lang="en-US" dirty="0">
                <a:ea typeface="Cambria" panose="02040503050406030204" pitchFamily="18" charset="0"/>
              </a:rPr>
              <a:t>p.ex1 {</a:t>
            </a:r>
          </a:p>
          <a:p>
            <a:pPr marL="1371600" lvl="3" indent="0">
              <a:buNone/>
            </a:pPr>
            <a:r>
              <a:rPr lang="en-US" dirty="0">
                <a:ea typeface="Cambria" panose="02040503050406030204" pitchFamily="18" charset="0"/>
              </a:rPr>
              <a:t>  margin-left: inherit;</a:t>
            </a:r>
          </a:p>
          <a:p>
            <a:pPr marL="1371600" lvl="3" indent="0">
              <a:buNone/>
            </a:pPr>
            <a:r>
              <a:rPr lang="en-US" dirty="0">
                <a:ea typeface="Cambria" panose="02040503050406030204" pitchFamily="18" charset="0"/>
              </a:rPr>
              <a:t>}</a:t>
            </a:r>
          </a:p>
          <a:p>
            <a:pPr marL="0" indent="0">
              <a:buNone/>
            </a:pPr>
            <a:r>
              <a:rPr lang="en-US" dirty="0">
                <a:ea typeface="Cambria" panose="02040503050406030204" pitchFamily="18" charset="0"/>
              </a:rPr>
              <a:t>&lt;/style&gt;</a:t>
            </a:r>
          </a:p>
          <a:p>
            <a:pPr marL="0" indent="0">
              <a:buNone/>
            </a:pPr>
            <a:endParaRPr lang="en-IN" dirty="0"/>
          </a:p>
        </p:txBody>
      </p:sp>
      <p:pic>
        <p:nvPicPr>
          <p:cNvPr id="4" name="Picture 3">
            <a:extLst>
              <a:ext uri="{FF2B5EF4-FFF2-40B4-BE49-F238E27FC236}">
                <a16:creationId xmlns:a16="http://schemas.microsoft.com/office/drawing/2014/main" id="{4074EA62-22B4-ADAD-CD28-9C4D8A53922E}"/>
              </a:ext>
            </a:extLst>
          </p:cNvPr>
          <p:cNvPicPr>
            <a:picLocks noChangeAspect="1"/>
          </p:cNvPicPr>
          <p:nvPr/>
        </p:nvPicPr>
        <p:blipFill>
          <a:blip r:embed="rId2"/>
          <a:stretch>
            <a:fillRect/>
          </a:stretch>
        </p:blipFill>
        <p:spPr>
          <a:xfrm>
            <a:off x="4727994" y="4043362"/>
            <a:ext cx="6960948" cy="1171575"/>
          </a:xfrm>
          <a:prstGeom prst="rect">
            <a:avLst/>
          </a:prstGeom>
          <a:ln w="19050">
            <a:solidFill>
              <a:schemeClr val="tx1"/>
            </a:solidFill>
          </a:ln>
        </p:spPr>
      </p:pic>
    </p:spTree>
    <p:extLst>
      <p:ext uri="{BB962C8B-B14F-4D97-AF65-F5344CB8AC3E}">
        <p14:creationId xmlns:p14="http://schemas.microsoft.com/office/powerpoint/2010/main" val="19299148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DD46C-8D3E-AC44-F02C-16B6FFAFC524}"/>
              </a:ext>
            </a:extLst>
          </p:cNvPr>
          <p:cNvSpPr>
            <a:spLocks noGrp="1"/>
          </p:cNvSpPr>
          <p:nvPr>
            <p:ph type="title"/>
          </p:nvPr>
        </p:nvSpPr>
        <p:spPr/>
        <p:txBody>
          <a:bodyPr/>
          <a:lstStyle/>
          <a:p>
            <a:r>
              <a:rPr lang="en-US" dirty="0"/>
              <a:t>CSS PADDINGS</a:t>
            </a:r>
            <a:endParaRPr lang="en-IN" dirty="0"/>
          </a:p>
        </p:txBody>
      </p:sp>
      <p:sp>
        <p:nvSpPr>
          <p:cNvPr id="3" name="Content Placeholder 2">
            <a:extLst>
              <a:ext uri="{FF2B5EF4-FFF2-40B4-BE49-F238E27FC236}">
                <a16:creationId xmlns:a16="http://schemas.microsoft.com/office/drawing/2014/main" id="{D3CABF6B-B3CD-47FF-E332-C4DC2C83834B}"/>
              </a:ext>
            </a:extLst>
          </p:cNvPr>
          <p:cNvSpPr>
            <a:spLocks noGrp="1"/>
          </p:cNvSpPr>
          <p:nvPr>
            <p:ph idx="1"/>
          </p:nvPr>
        </p:nvSpPr>
        <p:spPr>
          <a:xfrm>
            <a:off x="423420" y="1253331"/>
            <a:ext cx="11294097" cy="5156994"/>
          </a:xfrm>
        </p:spPr>
        <p:txBody>
          <a:bodyPr>
            <a:normAutofit/>
          </a:bodyPr>
          <a:lstStyle/>
          <a:p>
            <a:r>
              <a:rPr lang="en-US" dirty="0"/>
              <a:t>The CSS padding properties are used to generate space around an element's content, inside of any defined borders.</a:t>
            </a:r>
          </a:p>
          <a:p>
            <a:r>
              <a:rPr lang="en-US" dirty="0"/>
              <a:t>With CSS, you have full control over the padding. There are properties for setting the padding for each side of an element (top, right, bottom, and left).</a:t>
            </a:r>
          </a:p>
          <a:p>
            <a:r>
              <a:rPr lang="en-US" dirty="0"/>
              <a:t>Padding - Individual Sides</a:t>
            </a:r>
          </a:p>
          <a:p>
            <a:r>
              <a:rPr lang="en-US" dirty="0"/>
              <a:t>CSS has properties for specifying the padding for each side of an element:</a:t>
            </a:r>
          </a:p>
          <a:p>
            <a:r>
              <a:rPr lang="en-US" dirty="0"/>
              <a:t>    padding-top</a:t>
            </a:r>
          </a:p>
          <a:p>
            <a:r>
              <a:rPr lang="en-US" dirty="0"/>
              <a:t>    padding-right</a:t>
            </a:r>
          </a:p>
          <a:p>
            <a:r>
              <a:rPr lang="en-US" dirty="0"/>
              <a:t>    padding-bottom</a:t>
            </a:r>
          </a:p>
          <a:p>
            <a:r>
              <a:rPr lang="en-US" dirty="0"/>
              <a:t>    padding-left</a:t>
            </a:r>
          </a:p>
          <a:p>
            <a:endParaRPr lang="en-US" dirty="0"/>
          </a:p>
          <a:p>
            <a:endParaRPr lang="en-IN" dirty="0"/>
          </a:p>
        </p:txBody>
      </p:sp>
    </p:spTree>
    <p:extLst>
      <p:ext uri="{BB962C8B-B14F-4D97-AF65-F5344CB8AC3E}">
        <p14:creationId xmlns:p14="http://schemas.microsoft.com/office/powerpoint/2010/main" val="19220335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C9F-2AD0-FD3C-6558-E199622225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89E968B-2273-E6CB-92DD-B13E03EF3143}"/>
              </a:ext>
            </a:extLst>
          </p:cNvPr>
          <p:cNvSpPr>
            <a:spLocks noGrp="1"/>
          </p:cNvSpPr>
          <p:nvPr>
            <p:ph idx="1"/>
          </p:nvPr>
        </p:nvSpPr>
        <p:spPr/>
        <p:txBody>
          <a:bodyPr>
            <a:noAutofit/>
          </a:bodyPr>
          <a:lstStyle/>
          <a:p>
            <a:r>
              <a:rPr lang="en-US" b="1" dirty="0"/>
              <a:t>length</a:t>
            </a:r>
            <a:r>
              <a:rPr lang="en-US" dirty="0"/>
              <a:t> - specifies a padding in </a:t>
            </a:r>
            <a:r>
              <a:rPr lang="en-US" dirty="0" err="1"/>
              <a:t>px</a:t>
            </a:r>
            <a:r>
              <a:rPr lang="en-US" dirty="0"/>
              <a:t>, pt, cm, etc.</a:t>
            </a:r>
          </a:p>
          <a:p>
            <a:r>
              <a:rPr lang="en-US" b="1" dirty="0"/>
              <a:t>%</a:t>
            </a:r>
            <a:r>
              <a:rPr lang="en-US" dirty="0"/>
              <a:t> - specifies a padding in % of the width of the containing element</a:t>
            </a:r>
          </a:p>
          <a:p>
            <a:r>
              <a:rPr lang="en-US" b="1" dirty="0"/>
              <a:t>inherit</a:t>
            </a:r>
            <a:r>
              <a:rPr lang="en-US" dirty="0"/>
              <a:t> - specifies that the padding should be inherited from the parent element</a:t>
            </a:r>
          </a:p>
          <a:p>
            <a:r>
              <a:rPr lang="en-US" b="1" dirty="0"/>
              <a:t>Note: Negative values are not allowed</a:t>
            </a:r>
            <a:r>
              <a:rPr lang="en-US" dirty="0"/>
              <a:t>.</a:t>
            </a:r>
          </a:p>
          <a:p>
            <a:pPr marL="0" indent="0">
              <a:lnSpc>
                <a:spcPct val="100000"/>
              </a:lnSpc>
              <a:buNone/>
            </a:pPr>
            <a:r>
              <a:rPr lang="en-US" dirty="0">
                <a:ea typeface="Cambria" panose="02040503050406030204" pitchFamily="18" charset="0"/>
              </a:rPr>
              <a:t>&lt;style&gt;</a:t>
            </a:r>
          </a:p>
          <a:p>
            <a:pPr marL="0" indent="0">
              <a:lnSpc>
                <a:spcPct val="100000"/>
              </a:lnSpc>
              <a:buNone/>
            </a:pPr>
            <a:r>
              <a:rPr lang="en-US" dirty="0">
                <a:ea typeface="Cambria" panose="02040503050406030204" pitchFamily="18" charset="0"/>
              </a:rPr>
              <a:t>div {</a:t>
            </a:r>
          </a:p>
          <a:p>
            <a:pPr marL="0" indent="0">
              <a:lnSpc>
                <a:spcPct val="100000"/>
              </a:lnSpc>
              <a:buNone/>
            </a:pPr>
            <a:r>
              <a:rPr lang="en-US" dirty="0">
                <a:ea typeface="Cambria" panose="02040503050406030204" pitchFamily="18" charset="0"/>
              </a:rPr>
              <a:t>border: 1px solid black;</a:t>
            </a:r>
          </a:p>
          <a:p>
            <a:pPr marL="0" indent="0">
              <a:lnSpc>
                <a:spcPct val="100000"/>
              </a:lnSpc>
              <a:buNone/>
            </a:pPr>
            <a:r>
              <a:rPr lang="en-US" dirty="0">
                <a:ea typeface="Cambria" panose="02040503050406030204" pitchFamily="18" charset="0"/>
              </a:rPr>
              <a:t>background-color: </a:t>
            </a:r>
            <a:r>
              <a:rPr lang="en-US" dirty="0" err="1">
                <a:ea typeface="Cambria" panose="02040503050406030204" pitchFamily="18" charset="0"/>
              </a:rPr>
              <a:t>lightblue</a:t>
            </a:r>
            <a:r>
              <a:rPr lang="en-US" dirty="0">
                <a:ea typeface="Cambria" panose="02040503050406030204" pitchFamily="18" charset="0"/>
              </a:rPr>
              <a:t>;</a:t>
            </a:r>
          </a:p>
          <a:p>
            <a:pPr marL="0" indent="0">
              <a:lnSpc>
                <a:spcPct val="100000"/>
              </a:lnSpc>
              <a:buNone/>
            </a:pPr>
            <a:r>
              <a:rPr lang="en-US" dirty="0">
                <a:ea typeface="Cambria" panose="02040503050406030204" pitchFamily="18" charset="0"/>
              </a:rPr>
              <a:t> padding-top: 50px;</a:t>
            </a:r>
          </a:p>
          <a:p>
            <a:pPr marL="0" indent="0">
              <a:lnSpc>
                <a:spcPct val="100000"/>
              </a:lnSpc>
              <a:buNone/>
            </a:pPr>
            <a:r>
              <a:rPr lang="en-US" dirty="0">
                <a:ea typeface="Cambria" panose="02040503050406030204" pitchFamily="18" charset="0"/>
              </a:rPr>
              <a:t>padding-right: 30px;</a:t>
            </a:r>
          </a:p>
          <a:p>
            <a:pPr marL="0" indent="0">
              <a:lnSpc>
                <a:spcPct val="100000"/>
              </a:lnSpc>
              <a:buNone/>
            </a:pPr>
            <a:r>
              <a:rPr lang="en-US" dirty="0">
                <a:ea typeface="Cambria" panose="02040503050406030204" pitchFamily="18" charset="0"/>
              </a:rPr>
              <a:t> padding-bottom: 50px;</a:t>
            </a:r>
          </a:p>
          <a:p>
            <a:pPr marL="0" indent="0">
              <a:lnSpc>
                <a:spcPct val="100000"/>
              </a:lnSpc>
              <a:buNone/>
            </a:pPr>
            <a:r>
              <a:rPr lang="en-US" dirty="0">
                <a:ea typeface="Cambria" panose="02040503050406030204" pitchFamily="18" charset="0"/>
              </a:rPr>
              <a:t>padding-left: 80px; } &lt;/style&gt;</a:t>
            </a:r>
          </a:p>
          <a:p>
            <a:pPr marL="0" indent="0">
              <a:lnSpc>
                <a:spcPct val="100000"/>
              </a:lnSpc>
              <a:buNone/>
            </a:pPr>
            <a:endParaRPr lang="en-US" dirty="0">
              <a:ea typeface="Cambria" panose="02040503050406030204" pitchFamily="18" charset="0"/>
            </a:endParaRPr>
          </a:p>
          <a:p>
            <a:pPr marL="0" indent="0">
              <a:lnSpc>
                <a:spcPct val="100000"/>
              </a:lnSpc>
              <a:buNone/>
            </a:pPr>
            <a:r>
              <a:rPr lang="en-US" dirty="0">
                <a:ea typeface="Cambria" panose="02040503050406030204" pitchFamily="18" charset="0"/>
              </a:rPr>
              <a:t>		</a:t>
            </a:r>
            <a:endParaRPr lang="en-US" dirty="0"/>
          </a:p>
          <a:p>
            <a:endParaRPr lang="en-IN" dirty="0"/>
          </a:p>
        </p:txBody>
      </p:sp>
      <p:pic>
        <p:nvPicPr>
          <p:cNvPr id="4" name="Picture 3">
            <a:extLst>
              <a:ext uri="{FF2B5EF4-FFF2-40B4-BE49-F238E27FC236}">
                <a16:creationId xmlns:a16="http://schemas.microsoft.com/office/drawing/2014/main" id="{ED6AA538-CFE4-9CD5-81A9-8D3447DD4451}"/>
              </a:ext>
            </a:extLst>
          </p:cNvPr>
          <p:cNvPicPr>
            <a:picLocks noChangeAspect="1"/>
          </p:cNvPicPr>
          <p:nvPr/>
        </p:nvPicPr>
        <p:blipFill>
          <a:blip r:embed="rId2"/>
          <a:stretch>
            <a:fillRect/>
          </a:stretch>
        </p:blipFill>
        <p:spPr>
          <a:xfrm>
            <a:off x="4873760" y="4030189"/>
            <a:ext cx="5515380" cy="2047875"/>
          </a:xfrm>
          <a:prstGeom prst="rect">
            <a:avLst/>
          </a:prstGeom>
          <a:ln w="19050">
            <a:solidFill>
              <a:schemeClr val="tx1"/>
            </a:solidFill>
          </a:ln>
        </p:spPr>
      </p:pic>
    </p:spTree>
    <p:extLst>
      <p:ext uri="{BB962C8B-B14F-4D97-AF65-F5344CB8AC3E}">
        <p14:creationId xmlns:p14="http://schemas.microsoft.com/office/powerpoint/2010/main" val="23662160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0D6AF-6580-2AF4-54F1-009AA828817F}"/>
              </a:ext>
            </a:extLst>
          </p:cNvPr>
          <p:cNvSpPr>
            <a:spLocks noGrp="1"/>
          </p:cNvSpPr>
          <p:nvPr>
            <p:ph type="title"/>
          </p:nvPr>
        </p:nvSpPr>
        <p:spPr/>
        <p:txBody>
          <a:bodyPr/>
          <a:lstStyle/>
          <a:p>
            <a:r>
              <a:rPr lang="en-US" dirty="0"/>
              <a:t>Padding - Shorthand Property</a:t>
            </a:r>
            <a:br>
              <a:rPr lang="en-US" dirty="0"/>
            </a:br>
            <a:endParaRPr lang="en-IN" dirty="0"/>
          </a:p>
        </p:txBody>
      </p:sp>
      <p:sp>
        <p:nvSpPr>
          <p:cNvPr id="3" name="Content Placeholder 2">
            <a:extLst>
              <a:ext uri="{FF2B5EF4-FFF2-40B4-BE49-F238E27FC236}">
                <a16:creationId xmlns:a16="http://schemas.microsoft.com/office/drawing/2014/main" id="{DF7F49C7-0B48-F0DA-51D1-EB3895636989}"/>
              </a:ext>
            </a:extLst>
          </p:cNvPr>
          <p:cNvSpPr>
            <a:spLocks noGrp="1"/>
          </p:cNvSpPr>
          <p:nvPr>
            <p:ph idx="1"/>
          </p:nvPr>
        </p:nvSpPr>
        <p:spPr>
          <a:xfrm>
            <a:off x="423420" y="1253331"/>
            <a:ext cx="11294097" cy="5156994"/>
          </a:xfrm>
        </p:spPr>
        <p:txBody>
          <a:bodyPr>
            <a:noAutofit/>
          </a:bodyPr>
          <a:lstStyle/>
          <a:p>
            <a:r>
              <a:rPr lang="en-US" dirty="0"/>
              <a:t>To shorten the code, it is possible to specify all the padding properties in one property.</a:t>
            </a:r>
          </a:p>
          <a:p>
            <a:pPr>
              <a:lnSpc>
                <a:spcPct val="100000"/>
              </a:lnSpc>
            </a:pPr>
            <a:r>
              <a:rPr lang="en-US" dirty="0"/>
              <a:t>   padding-top</a:t>
            </a:r>
          </a:p>
          <a:p>
            <a:pPr>
              <a:lnSpc>
                <a:spcPct val="100000"/>
              </a:lnSpc>
            </a:pPr>
            <a:r>
              <a:rPr lang="en-US" dirty="0"/>
              <a:t>    padding-right</a:t>
            </a:r>
          </a:p>
          <a:p>
            <a:pPr>
              <a:lnSpc>
                <a:spcPct val="100000"/>
              </a:lnSpc>
            </a:pPr>
            <a:r>
              <a:rPr lang="en-US" dirty="0"/>
              <a:t>    padding-bottom</a:t>
            </a:r>
          </a:p>
          <a:p>
            <a:pPr>
              <a:lnSpc>
                <a:spcPct val="100000"/>
              </a:lnSpc>
            </a:pPr>
            <a:r>
              <a:rPr lang="en-US" dirty="0"/>
              <a:t>    padding-left</a:t>
            </a:r>
          </a:p>
          <a:p>
            <a:r>
              <a:rPr lang="en-US" dirty="0"/>
              <a:t>If the padding property has four values:</a:t>
            </a:r>
          </a:p>
          <a:p>
            <a:r>
              <a:rPr lang="en-US" b="1" dirty="0"/>
              <a:t>    padding: 25px 50px 75px 100px;</a:t>
            </a:r>
          </a:p>
          <a:p>
            <a:pPr>
              <a:lnSpc>
                <a:spcPct val="100000"/>
              </a:lnSpc>
            </a:pPr>
            <a:r>
              <a:rPr lang="en-US" dirty="0"/>
              <a:t>        top padding is 25px</a:t>
            </a:r>
          </a:p>
          <a:p>
            <a:pPr>
              <a:lnSpc>
                <a:spcPct val="100000"/>
              </a:lnSpc>
            </a:pPr>
            <a:r>
              <a:rPr lang="en-US" dirty="0"/>
              <a:t>        right padding is 50px</a:t>
            </a:r>
          </a:p>
          <a:p>
            <a:pPr>
              <a:lnSpc>
                <a:spcPct val="100000"/>
              </a:lnSpc>
            </a:pPr>
            <a:r>
              <a:rPr lang="en-US" dirty="0"/>
              <a:t>        bottom padding is 75px</a:t>
            </a:r>
          </a:p>
          <a:p>
            <a:pPr>
              <a:lnSpc>
                <a:spcPct val="100000"/>
              </a:lnSpc>
            </a:pPr>
            <a:r>
              <a:rPr lang="en-US" dirty="0"/>
              <a:t>        left padding is 100px</a:t>
            </a:r>
          </a:p>
          <a:p>
            <a:endParaRPr lang="en-US" dirty="0"/>
          </a:p>
          <a:p>
            <a:endParaRPr lang="en-IN" dirty="0"/>
          </a:p>
        </p:txBody>
      </p:sp>
    </p:spTree>
    <p:extLst>
      <p:ext uri="{BB962C8B-B14F-4D97-AF65-F5344CB8AC3E}">
        <p14:creationId xmlns:p14="http://schemas.microsoft.com/office/powerpoint/2010/main" val="268810186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C1793-BC34-385D-BD3B-266765779B74}"/>
              </a:ext>
            </a:extLst>
          </p:cNvPr>
          <p:cNvSpPr>
            <a:spLocks noGrp="1"/>
          </p:cNvSpPr>
          <p:nvPr>
            <p:ph type="title"/>
          </p:nvPr>
        </p:nvSpPr>
        <p:spPr/>
        <p:txBody>
          <a:bodyPr/>
          <a:lstStyle/>
          <a:p>
            <a:r>
              <a:rPr lang="en-US" dirty="0"/>
              <a:t>Padding - Shorthand Property</a:t>
            </a:r>
            <a:br>
              <a:rPr lang="en-US" dirty="0"/>
            </a:br>
            <a:endParaRPr lang="en-IN" dirty="0"/>
          </a:p>
        </p:txBody>
      </p:sp>
      <p:sp>
        <p:nvSpPr>
          <p:cNvPr id="3" name="Content Placeholder 2">
            <a:extLst>
              <a:ext uri="{FF2B5EF4-FFF2-40B4-BE49-F238E27FC236}">
                <a16:creationId xmlns:a16="http://schemas.microsoft.com/office/drawing/2014/main" id="{CFBFDAF5-DF47-8190-0C7E-38B9C915F48F}"/>
              </a:ext>
            </a:extLst>
          </p:cNvPr>
          <p:cNvSpPr>
            <a:spLocks noGrp="1"/>
          </p:cNvSpPr>
          <p:nvPr>
            <p:ph idx="1"/>
          </p:nvPr>
        </p:nvSpPr>
        <p:spPr/>
        <p:txBody>
          <a:bodyPr>
            <a:noAutofit/>
          </a:bodyPr>
          <a:lstStyle/>
          <a:p>
            <a:r>
              <a:rPr lang="en-US" dirty="0"/>
              <a:t>If the padding property has three values:</a:t>
            </a:r>
          </a:p>
          <a:p>
            <a:r>
              <a:rPr lang="en-US" dirty="0"/>
              <a:t>    </a:t>
            </a:r>
            <a:r>
              <a:rPr lang="en-US" b="1" dirty="0"/>
              <a:t>padding: 25px 50px 75px;</a:t>
            </a:r>
          </a:p>
          <a:p>
            <a:r>
              <a:rPr lang="en-US" dirty="0"/>
              <a:t>        top padding is 25px</a:t>
            </a:r>
          </a:p>
          <a:p>
            <a:r>
              <a:rPr lang="en-US" dirty="0"/>
              <a:t>        right and left paddings are 50px</a:t>
            </a:r>
          </a:p>
          <a:p>
            <a:r>
              <a:rPr lang="en-US" dirty="0"/>
              <a:t>        bottom padding is 75px</a:t>
            </a:r>
          </a:p>
          <a:p>
            <a:r>
              <a:rPr lang="en-US" dirty="0"/>
              <a:t>If the padding property has two values:</a:t>
            </a:r>
          </a:p>
          <a:p>
            <a:r>
              <a:rPr lang="en-US" b="1" dirty="0"/>
              <a:t>    padding: 25px 50px;</a:t>
            </a:r>
          </a:p>
          <a:p>
            <a:r>
              <a:rPr lang="en-US" dirty="0"/>
              <a:t>        top and bottom paddings are 25px</a:t>
            </a:r>
          </a:p>
          <a:p>
            <a:r>
              <a:rPr lang="en-US" dirty="0"/>
              <a:t>        right and left paddings are 50px</a:t>
            </a:r>
          </a:p>
          <a:p>
            <a:endParaRPr lang="en-IN" dirty="0"/>
          </a:p>
        </p:txBody>
      </p:sp>
    </p:spTree>
    <p:extLst>
      <p:ext uri="{BB962C8B-B14F-4D97-AF65-F5344CB8AC3E}">
        <p14:creationId xmlns:p14="http://schemas.microsoft.com/office/powerpoint/2010/main" val="88455287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4AC08-672C-0AC7-F31A-027C24E3270F}"/>
              </a:ext>
            </a:extLst>
          </p:cNvPr>
          <p:cNvSpPr>
            <a:spLocks noGrp="1"/>
          </p:cNvSpPr>
          <p:nvPr>
            <p:ph type="title"/>
          </p:nvPr>
        </p:nvSpPr>
        <p:spPr/>
        <p:txBody>
          <a:bodyPr/>
          <a:lstStyle/>
          <a:p>
            <a:r>
              <a:rPr lang="en-US" dirty="0"/>
              <a:t>Padding - Shorthand Property</a:t>
            </a:r>
            <a:br>
              <a:rPr lang="en-US" dirty="0"/>
            </a:br>
            <a:endParaRPr lang="en-IN" dirty="0"/>
          </a:p>
        </p:txBody>
      </p:sp>
      <p:sp>
        <p:nvSpPr>
          <p:cNvPr id="3" name="Content Placeholder 2">
            <a:extLst>
              <a:ext uri="{FF2B5EF4-FFF2-40B4-BE49-F238E27FC236}">
                <a16:creationId xmlns:a16="http://schemas.microsoft.com/office/drawing/2014/main" id="{858B2EBD-82E0-FC01-A137-3DAB7D5D36CF}"/>
              </a:ext>
            </a:extLst>
          </p:cNvPr>
          <p:cNvSpPr>
            <a:spLocks noGrp="1"/>
          </p:cNvSpPr>
          <p:nvPr>
            <p:ph idx="1"/>
          </p:nvPr>
        </p:nvSpPr>
        <p:spPr/>
        <p:txBody>
          <a:bodyPr/>
          <a:lstStyle/>
          <a:p>
            <a:r>
              <a:rPr lang="en-US" dirty="0"/>
              <a:t>If the padding property has one value:</a:t>
            </a:r>
          </a:p>
          <a:p>
            <a:r>
              <a:rPr lang="en-US" dirty="0"/>
              <a:t>    </a:t>
            </a:r>
            <a:r>
              <a:rPr lang="en-US" b="1" dirty="0"/>
              <a:t>padding: 25px;</a:t>
            </a:r>
          </a:p>
          <a:p>
            <a:r>
              <a:rPr lang="en-US" dirty="0"/>
              <a:t>        all four paddings are 25px</a:t>
            </a:r>
          </a:p>
          <a:p>
            <a:r>
              <a:rPr lang="en-US" dirty="0"/>
              <a:t>div {</a:t>
            </a:r>
          </a:p>
          <a:p>
            <a:r>
              <a:rPr lang="en-US" dirty="0"/>
              <a:t>  padding: 25px;</a:t>
            </a:r>
          </a:p>
          <a:p>
            <a:r>
              <a:rPr lang="en-US" dirty="0"/>
              <a:t>}</a:t>
            </a:r>
          </a:p>
          <a:p>
            <a:endParaRPr lang="en-IN" dirty="0"/>
          </a:p>
        </p:txBody>
      </p:sp>
    </p:spTree>
    <p:extLst>
      <p:ext uri="{BB962C8B-B14F-4D97-AF65-F5344CB8AC3E}">
        <p14:creationId xmlns:p14="http://schemas.microsoft.com/office/powerpoint/2010/main" val="238275914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DF1F7-0216-4BF7-CB5A-63237209A411}"/>
              </a:ext>
            </a:extLst>
          </p:cNvPr>
          <p:cNvSpPr>
            <a:spLocks noGrp="1"/>
          </p:cNvSpPr>
          <p:nvPr>
            <p:ph type="title"/>
          </p:nvPr>
        </p:nvSpPr>
        <p:spPr/>
        <p:txBody>
          <a:bodyPr/>
          <a:lstStyle/>
          <a:p>
            <a:r>
              <a:rPr lang="en-IN" dirty="0"/>
              <a:t>Box Model</a:t>
            </a:r>
          </a:p>
        </p:txBody>
      </p:sp>
      <p:sp>
        <p:nvSpPr>
          <p:cNvPr id="3" name="Content Placeholder 2">
            <a:extLst>
              <a:ext uri="{FF2B5EF4-FFF2-40B4-BE49-F238E27FC236}">
                <a16:creationId xmlns:a16="http://schemas.microsoft.com/office/drawing/2014/main" id="{FBEEC1C9-45F6-0E0E-0E10-8CAB11F8CB1F}"/>
              </a:ext>
            </a:extLst>
          </p:cNvPr>
          <p:cNvSpPr>
            <a:spLocks noGrp="1"/>
          </p:cNvSpPr>
          <p:nvPr>
            <p:ph idx="1"/>
          </p:nvPr>
        </p:nvSpPr>
        <p:spPr/>
        <p:txBody>
          <a:bodyPr/>
          <a:lstStyle/>
          <a:p>
            <a:r>
              <a:rPr lang="en-US" dirty="0">
                <a:solidFill>
                  <a:schemeClr val="tx1"/>
                </a:solidFill>
              </a:rPr>
              <a:t>All HTML elements can be considered as boxes. In CSS, the term "box model" is used when talking about design and layout.</a:t>
            </a:r>
          </a:p>
          <a:p>
            <a:r>
              <a:rPr lang="en-US" dirty="0">
                <a:solidFill>
                  <a:schemeClr val="tx1"/>
                </a:solidFill>
              </a:rPr>
              <a:t>The CSS box model is essentially a box that wraps around every HTML element. It consists of: margins, borders, padding, and the actual content.</a:t>
            </a:r>
          </a:p>
          <a:p>
            <a:endParaRPr lang="en-US" dirty="0"/>
          </a:p>
          <a:p>
            <a:endParaRPr lang="en-IN" dirty="0"/>
          </a:p>
        </p:txBody>
      </p:sp>
      <p:pic>
        <p:nvPicPr>
          <p:cNvPr id="4" name="Content Placeholder 4">
            <a:extLst>
              <a:ext uri="{FF2B5EF4-FFF2-40B4-BE49-F238E27FC236}">
                <a16:creationId xmlns:a16="http://schemas.microsoft.com/office/drawing/2014/main" id="{E13FB097-392F-5C44-8E74-388BE48430CB}"/>
              </a:ext>
            </a:extLst>
          </p:cNvPr>
          <p:cNvPicPr>
            <a:picLocks noChangeAspect="1"/>
          </p:cNvPicPr>
          <p:nvPr/>
        </p:nvPicPr>
        <p:blipFill>
          <a:blip r:embed="rId2"/>
          <a:stretch>
            <a:fillRect/>
          </a:stretch>
        </p:blipFill>
        <p:spPr>
          <a:xfrm>
            <a:off x="952264" y="3275316"/>
            <a:ext cx="7315200" cy="2922688"/>
          </a:xfrm>
          <a:prstGeom prst="rect">
            <a:avLst/>
          </a:prstGeom>
        </p:spPr>
      </p:pic>
    </p:spTree>
    <p:extLst>
      <p:ext uri="{BB962C8B-B14F-4D97-AF65-F5344CB8AC3E}">
        <p14:creationId xmlns:p14="http://schemas.microsoft.com/office/powerpoint/2010/main" val="372515145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C43FC-08E1-86F1-D79A-BF0BBE1AA657}"/>
              </a:ext>
            </a:extLst>
          </p:cNvPr>
          <p:cNvSpPr>
            <a:spLocks noGrp="1"/>
          </p:cNvSpPr>
          <p:nvPr>
            <p:ph type="title"/>
          </p:nvPr>
        </p:nvSpPr>
        <p:spPr/>
        <p:txBody>
          <a:bodyPr/>
          <a:lstStyle/>
          <a:p>
            <a:r>
              <a:rPr lang="en-IN" dirty="0"/>
              <a:t>Box Model</a:t>
            </a:r>
          </a:p>
        </p:txBody>
      </p:sp>
      <p:sp>
        <p:nvSpPr>
          <p:cNvPr id="3" name="Content Placeholder 2">
            <a:extLst>
              <a:ext uri="{FF2B5EF4-FFF2-40B4-BE49-F238E27FC236}">
                <a16:creationId xmlns:a16="http://schemas.microsoft.com/office/drawing/2014/main" id="{DA7B8969-B71B-9F81-075F-E272882AC5AD}"/>
              </a:ext>
            </a:extLst>
          </p:cNvPr>
          <p:cNvSpPr>
            <a:spLocks noGrp="1"/>
          </p:cNvSpPr>
          <p:nvPr>
            <p:ph idx="1"/>
          </p:nvPr>
        </p:nvSpPr>
        <p:spPr/>
        <p:txBody>
          <a:bodyPr/>
          <a:lstStyle/>
          <a:p>
            <a:pPr>
              <a:buFont typeface="Arial" panose="020B0604020202020204" pitchFamily="34" charset="0"/>
              <a:buChar char="•"/>
            </a:pPr>
            <a:r>
              <a:rPr lang="en-US" b="1" dirty="0">
                <a:solidFill>
                  <a:srgbClr val="000000"/>
                </a:solidFill>
              </a:rPr>
              <a:t>Content</a:t>
            </a:r>
            <a:r>
              <a:rPr lang="en-US" dirty="0">
                <a:solidFill>
                  <a:srgbClr val="000000"/>
                </a:solidFill>
              </a:rPr>
              <a:t> - The content of the box, where text and images appear</a:t>
            </a:r>
          </a:p>
          <a:p>
            <a:pPr>
              <a:buFont typeface="Arial" panose="020B0604020202020204" pitchFamily="34" charset="0"/>
              <a:buChar char="•"/>
            </a:pPr>
            <a:r>
              <a:rPr lang="en-US" b="1" dirty="0">
                <a:solidFill>
                  <a:srgbClr val="000000"/>
                </a:solidFill>
              </a:rPr>
              <a:t>Padding</a:t>
            </a:r>
            <a:r>
              <a:rPr lang="en-US" dirty="0">
                <a:solidFill>
                  <a:srgbClr val="000000"/>
                </a:solidFill>
              </a:rPr>
              <a:t> - Clears an area around the content. The padding is transparent</a:t>
            </a:r>
          </a:p>
          <a:p>
            <a:pPr>
              <a:buFont typeface="Arial" panose="020B0604020202020204" pitchFamily="34" charset="0"/>
              <a:buChar char="•"/>
            </a:pPr>
            <a:r>
              <a:rPr lang="en-US" b="1" dirty="0">
                <a:solidFill>
                  <a:srgbClr val="000000"/>
                </a:solidFill>
              </a:rPr>
              <a:t>Border</a:t>
            </a:r>
            <a:r>
              <a:rPr lang="en-US" dirty="0">
                <a:solidFill>
                  <a:srgbClr val="000000"/>
                </a:solidFill>
              </a:rPr>
              <a:t> - A border that goes around the padding and content</a:t>
            </a:r>
          </a:p>
          <a:p>
            <a:pPr>
              <a:buFont typeface="Arial" panose="020B0604020202020204" pitchFamily="34" charset="0"/>
              <a:buChar char="•"/>
            </a:pPr>
            <a:r>
              <a:rPr lang="en-US" b="1" dirty="0">
                <a:solidFill>
                  <a:srgbClr val="000000"/>
                </a:solidFill>
              </a:rPr>
              <a:t>Margin</a:t>
            </a:r>
            <a:r>
              <a:rPr lang="en-US" dirty="0">
                <a:solidFill>
                  <a:srgbClr val="000000"/>
                </a:solidFill>
              </a:rPr>
              <a:t> - Clears an area outside the border. The margin is transparent</a:t>
            </a:r>
          </a:p>
          <a:p>
            <a:r>
              <a:rPr lang="en-US" dirty="0">
                <a:solidFill>
                  <a:srgbClr val="000000"/>
                </a:solidFill>
              </a:rPr>
              <a:t>The box model allows us to add a border around elements, and to define space between elements. </a:t>
            </a:r>
          </a:p>
          <a:p>
            <a:endParaRPr lang="en-IN" dirty="0"/>
          </a:p>
          <a:p>
            <a:endParaRPr lang="en-US" dirty="0"/>
          </a:p>
          <a:p>
            <a:endParaRPr lang="en-IN" dirty="0"/>
          </a:p>
        </p:txBody>
      </p:sp>
      <p:pic>
        <p:nvPicPr>
          <p:cNvPr id="4" name="Picture 3">
            <a:extLst>
              <a:ext uri="{FF2B5EF4-FFF2-40B4-BE49-F238E27FC236}">
                <a16:creationId xmlns:a16="http://schemas.microsoft.com/office/drawing/2014/main" id="{5C52B748-721A-DD60-300F-0EFB55AB3B50}"/>
              </a:ext>
            </a:extLst>
          </p:cNvPr>
          <p:cNvPicPr>
            <a:picLocks noChangeAspect="1"/>
          </p:cNvPicPr>
          <p:nvPr/>
        </p:nvPicPr>
        <p:blipFill>
          <a:blip r:embed="rId2"/>
          <a:stretch>
            <a:fillRect/>
          </a:stretch>
        </p:blipFill>
        <p:spPr>
          <a:xfrm>
            <a:off x="2657474" y="3879343"/>
            <a:ext cx="5132463" cy="2827051"/>
          </a:xfrm>
          <a:prstGeom prst="rect">
            <a:avLst/>
          </a:prstGeom>
          <a:ln w="19050">
            <a:solidFill>
              <a:schemeClr val="tx1"/>
            </a:solidFill>
          </a:ln>
        </p:spPr>
      </p:pic>
    </p:spTree>
    <p:extLst>
      <p:ext uri="{BB962C8B-B14F-4D97-AF65-F5344CB8AC3E}">
        <p14:creationId xmlns:p14="http://schemas.microsoft.com/office/powerpoint/2010/main" val="23994707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79CBB-A0CD-69CA-AD4E-083EC8DF3888}"/>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0085E75F-62CA-BEB0-027B-5A713155A05E}"/>
              </a:ext>
            </a:extLst>
          </p:cNvPr>
          <p:cNvSpPr>
            <a:spLocks noGrp="1"/>
          </p:cNvSpPr>
          <p:nvPr>
            <p:ph idx="1"/>
          </p:nvPr>
        </p:nvSpPr>
        <p:spPr/>
        <p:txBody>
          <a:bodyPr>
            <a:noAutofit/>
          </a:bodyPr>
          <a:lstStyle/>
          <a:p>
            <a:pPr marL="0" indent="0">
              <a:lnSpc>
                <a:spcPct val="120000"/>
              </a:lnSpc>
              <a:buNone/>
            </a:pPr>
            <a:r>
              <a:rPr lang="en-US" dirty="0">
                <a:ea typeface="Cambria" panose="02040503050406030204" pitchFamily="18" charset="0"/>
              </a:rPr>
              <a:t>&lt;!DOCTYPE html&gt;</a:t>
            </a:r>
          </a:p>
          <a:p>
            <a:pPr marL="0" indent="0">
              <a:lnSpc>
                <a:spcPct val="120000"/>
              </a:lnSpc>
              <a:buNone/>
            </a:pPr>
            <a:r>
              <a:rPr lang="en-US" dirty="0">
                <a:ea typeface="Cambria" panose="02040503050406030204" pitchFamily="18" charset="0"/>
              </a:rPr>
              <a:t>&lt;html&gt;</a:t>
            </a:r>
          </a:p>
          <a:p>
            <a:pPr marL="0" indent="0">
              <a:lnSpc>
                <a:spcPct val="120000"/>
              </a:lnSpc>
              <a:buNone/>
            </a:pPr>
            <a:r>
              <a:rPr lang="en-US" dirty="0">
                <a:ea typeface="Cambria" panose="02040503050406030204" pitchFamily="18" charset="0"/>
              </a:rPr>
              <a:t>	&lt;head&gt;</a:t>
            </a:r>
          </a:p>
          <a:p>
            <a:pPr marL="0" indent="0">
              <a:lnSpc>
                <a:spcPct val="120000"/>
              </a:lnSpc>
              <a:buNone/>
            </a:pPr>
            <a:r>
              <a:rPr lang="en-US" dirty="0">
                <a:ea typeface="Cambria" panose="02040503050406030204" pitchFamily="18" charset="0"/>
              </a:rPr>
              <a:t>		&lt;style&gt;</a:t>
            </a:r>
          </a:p>
          <a:p>
            <a:pPr marL="1371600" lvl="3" indent="0">
              <a:lnSpc>
                <a:spcPct val="120000"/>
              </a:lnSpc>
              <a:buNone/>
            </a:pPr>
            <a:r>
              <a:rPr lang="en-US" dirty="0">
                <a:ea typeface="Cambria" panose="02040503050406030204" pitchFamily="18" charset="0"/>
              </a:rPr>
              <a:t>div {</a:t>
            </a:r>
          </a:p>
          <a:p>
            <a:pPr marL="1371600" lvl="3" indent="0">
              <a:lnSpc>
                <a:spcPct val="120000"/>
              </a:lnSpc>
              <a:buNone/>
            </a:pPr>
            <a:r>
              <a:rPr lang="en-US" dirty="0">
                <a:ea typeface="Cambria" panose="02040503050406030204" pitchFamily="18" charset="0"/>
              </a:rPr>
              <a:t>  background-color: </a:t>
            </a:r>
            <a:r>
              <a:rPr lang="en-US" dirty="0" err="1">
                <a:ea typeface="Cambria" panose="02040503050406030204" pitchFamily="18" charset="0"/>
              </a:rPr>
              <a:t>lightgrey</a:t>
            </a:r>
            <a:r>
              <a:rPr lang="en-US" dirty="0">
                <a:ea typeface="Cambria" panose="02040503050406030204" pitchFamily="18" charset="0"/>
              </a:rPr>
              <a:t>;</a:t>
            </a:r>
          </a:p>
          <a:p>
            <a:pPr marL="1371600" lvl="3" indent="0">
              <a:lnSpc>
                <a:spcPct val="120000"/>
              </a:lnSpc>
              <a:buNone/>
            </a:pPr>
            <a:r>
              <a:rPr lang="en-US" dirty="0">
                <a:ea typeface="Cambria" panose="02040503050406030204" pitchFamily="18" charset="0"/>
              </a:rPr>
              <a:t>  width: 300px;</a:t>
            </a:r>
          </a:p>
          <a:p>
            <a:pPr marL="1371600" lvl="3" indent="0">
              <a:lnSpc>
                <a:spcPct val="120000"/>
              </a:lnSpc>
              <a:buNone/>
            </a:pPr>
            <a:r>
              <a:rPr lang="en-US" dirty="0">
                <a:ea typeface="Cambria" panose="02040503050406030204" pitchFamily="18" charset="0"/>
              </a:rPr>
              <a:t>  border: 15px solid green;</a:t>
            </a:r>
          </a:p>
          <a:p>
            <a:pPr marL="1371600" lvl="3" indent="0">
              <a:lnSpc>
                <a:spcPct val="120000"/>
              </a:lnSpc>
              <a:buNone/>
            </a:pPr>
            <a:r>
              <a:rPr lang="en-US" dirty="0">
                <a:ea typeface="Cambria" panose="02040503050406030204" pitchFamily="18" charset="0"/>
              </a:rPr>
              <a:t>  padding: 50px;</a:t>
            </a:r>
          </a:p>
          <a:p>
            <a:pPr marL="1371600" lvl="3" indent="0">
              <a:lnSpc>
                <a:spcPct val="120000"/>
              </a:lnSpc>
              <a:buNone/>
            </a:pPr>
            <a:r>
              <a:rPr lang="en-US" dirty="0">
                <a:ea typeface="Cambria" panose="02040503050406030204" pitchFamily="18" charset="0"/>
              </a:rPr>
              <a:t>  margin: 20px;</a:t>
            </a:r>
          </a:p>
          <a:p>
            <a:pPr marL="1371600" lvl="3" indent="0">
              <a:lnSpc>
                <a:spcPct val="120000"/>
              </a:lnSpc>
              <a:buNone/>
            </a:pPr>
            <a:r>
              <a:rPr lang="en-US" dirty="0">
                <a:ea typeface="Cambria" panose="02040503050406030204" pitchFamily="18" charset="0"/>
              </a:rPr>
              <a:t>}</a:t>
            </a:r>
          </a:p>
          <a:p>
            <a:pPr marL="0" indent="0">
              <a:lnSpc>
                <a:spcPct val="120000"/>
              </a:lnSpc>
              <a:buNone/>
            </a:pPr>
            <a:r>
              <a:rPr lang="en-US" dirty="0">
                <a:ea typeface="Cambria" panose="02040503050406030204" pitchFamily="18" charset="0"/>
              </a:rPr>
              <a:t>		&lt;/style&gt;</a:t>
            </a:r>
          </a:p>
          <a:p>
            <a:pPr marL="0" indent="0">
              <a:lnSpc>
                <a:spcPct val="120000"/>
              </a:lnSpc>
              <a:buNone/>
            </a:pPr>
            <a:r>
              <a:rPr lang="en-US" dirty="0">
                <a:ea typeface="Cambria" panose="02040503050406030204" pitchFamily="18" charset="0"/>
              </a:rPr>
              <a:t>	&lt;/head&gt;</a:t>
            </a:r>
          </a:p>
          <a:p>
            <a:pPr marL="0" indent="0">
              <a:lnSpc>
                <a:spcPct val="120000"/>
              </a:lnSpc>
              <a:buNone/>
            </a:pPr>
            <a:r>
              <a:rPr lang="en-US" dirty="0">
                <a:ea typeface="Cambria" panose="02040503050406030204" pitchFamily="18" charset="0"/>
              </a:rPr>
              <a:t>	</a:t>
            </a:r>
            <a:endParaRPr lang="en-IN" dirty="0"/>
          </a:p>
        </p:txBody>
      </p:sp>
      <p:sp>
        <p:nvSpPr>
          <p:cNvPr id="5" name="TextBox 4">
            <a:extLst>
              <a:ext uri="{FF2B5EF4-FFF2-40B4-BE49-F238E27FC236}">
                <a16:creationId xmlns:a16="http://schemas.microsoft.com/office/drawing/2014/main" id="{06171AA8-7850-CC2E-8EC4-801DA5D0C712}"/>
              </a:ext>
            </a:extLst>
          </p:cNvPr>
          <p:cNvSpPr txBox="1"/>
          <p:nvPr/>
        </p:nvSpPr>
        <p:spPr>
          <a:xfrm>
            <a:off x="5229225" y="1247470"/>
            <a:ext cx="6096000" cy="4710264"/>
          </a:xfrm>
          <a:prstGeom prst="rect">
            <a:avLst/>
          </a:prstGeom>
          <a:noFill/>
        </p:spPr>
        <p:txBody>
          <a:bodyPr wrap="square">
            <a:spAutoFit/>
          </a:bodyPr>
          <a:lstStyle/>
          <a:p>
            <a:pPr marL="0" indent="0">
              <a:lnSpc>
                <a:spcPct val="120000"/>
              </a:lnSpc>
              <a:buNone/>
            </a:pPr>
            <a:r>
              <a:rPr lang="en-US" dirty="0">
                <a:latin typeface="Proxima Nova" panose="020B0604020202020204"/>
                <a:ea typeface="Cambria" panose="02040503050406030204" pitchFamily="18" charset="0"/>
              </a:rPr>
              <a:t>&lt;body&gt;</a:t>
            </a:r>
          </a:p>
          <a:p>
            <a:pPr marL="914400" lvl="2" indent="0">
              <a:lnSpc>
                <a:spcPct val="120000"/>
              </a:lnSpc>
              <a:buNone/>
            </a:pPr>
            <a:r>
              <a:rPr lang="en-US" dirty="0">
                <a:latin typeface="Proxima Nova" panose="020B0604020202020204"/>
                <a:ea typeface="Cambria" panose="02040503050406030204" pitchFamily="18" charset="0"/>
              </a:rPr>
              <a:t>&lt;div&gt;This text is the content of the box. We have added a 50px padding, 20px margin and a 15px green border. Ut </a:t>
            </a:r>
            <a:r>
              <a:rPr lang="en-US" dirty="0" err="1">
                <a:latin typeface="Proxima Nova" panose="020B0604020202020204"/>
                <a:ea typeface="Cambria" panose="02040503050406030204" pitchFamily="18" charset="0"/>
              </a:rPr>
              <a:t>enim</a:t>
            </a:r>
            <a:r>
              <a:rPr lang="en-US" dirty="0">
                <a:latin typeface="Proxima Nova" panose="020B0604020202020204"/>
                <a:ea typeface="Cambria" panose="02040503050406030204" pitchFamily="18" charset="0"/>
              </a:rPr>
              <a:t> ad minim </a:t>
            </a:r>
            <a:r>
              <a:rPr lang="en-US" dirty="0" err="1">
                <a:latin typeface="Proxima Nova" panose="020B0604020202020204"/>
                <a:ea typeface="Cambria" panose="02040503050406030204" pitchFamily="18" charset="0"/>
              </a:rPr>
              <a:t>veniam</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quis</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nostrud</a:t>
            </a:r>
            <a:r>
              <a:rPr lang="en-US" dirty="0">
                <a:latin typeface="Proxima Nova" panose="020B0604020202020204"/>
                <a:ea typeface="Cambria" panose="02040503050406030204" pitchFamily="18" charset="0"/>
              </a:rPr>
              <a:t> exercitation </a:t>
            </a:r>
            <a:r>
              <a:rPr lang="en-US" dirty="0" err="1">
                <a:latin typeface="Proxima Nova" panose="020B0604020202020204"/>
                <a:ea typeface="Cambria" panose="02040503050406030204" pitchFamily="18" charset="0"/>
              </a:rPr>
              <a:t>ullamco</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laboris</a:t>
            </a:r>
            <a:r>
              <a:rPr lang="en-US" dirty="0">
                <a:latin typeface="Proxima Nova" panose="020B0604020202020204"/>
                <a:ea typeface="Cambria" panose="02040503050406030204" pitchFamily="18" charset="0"/>
              </a:rPr>
              <a:t> nisi </a:t>
            </a:r>
            <a:r>
              <a:rPr lang="en-US" dirty="0" err="1">
                <a:latin typeface="Proxima Nova" panose="020B0604020202020204"/>
                <a:ea typeface="Cambria" panose="02040503050406030204" pitchFamily="18" charset="0"/>
              </a:rPr>
              <a:t>ut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aliquip</a:t>
            </a:r>
            <a:r>
              <a:rPr lang="en-US" dirty="0">
                <a:latin typeface="Proxima Nova" panose="020B0604020202020204"/>
                <a:ea typeface="Cambria" panose="02040503050406030204" pitchFamily="18" charset="0"/>
              </a:rPr>
              <a:t> ex </a:t>
            </a:r>
            <a:r>
              <a:rPr lang="en-US" dirty="0" err="1">
                <a:latin typeface="Proxima Nova" panose="020B0604020202020204"/>
                <a:ea typeface="Cambria" panose="02040503050406030204" pitchFamily="18" charset="0"/>
              </a:rPr>
              <a:t>ea</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commodo</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consequat</a:t>
            </a:r>
            <a:r>
              <a:rPr lang="en-US" dirty="0">
                <a:latin typeface="Proxima Nova" panose="020B0604020202020204"/>
                <a:ea typeface="Cambria" panose="02040503050406030204" pitchFamily="18" charset="0"/>
              </a:rPr>
              <a:t>. Duis </a:t>
            </a:r>
            <a:r>
              <a:rPr lang="en-US" dirty="0" err="1">
                <a:latin typeface="Proxima Nova" panose="020B0604020202020204"/>
                <a:ea typeface="Cambria" panose="02040503050406030204" pitchFamily="18" charset="0"/>
              </a:rPr>
              <a:t>aute</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irure</a:t>
            </a:r>
            <a:r>
              <a:rPr lang="en-US" dirty="0">
                <a:latin typeface="Proxima Nova" panose="020B0604020202020204"/>
                <a:ea typeface="Cambria" panose="02040503050406030204" pitchFamily="18" charset="0"/>
              </a:rPr>
              <a:t> dolor in </a:t>
            </a:r>
            <a:r>
              <a:rPr lang="en-US" dirty="0" err="1">
                <a:latin typeface="Proxima Nova" panose="020B0604020202020204"/>
                <a:ea typeface="Cambria" panose="02040503050406030204" pitchFamily="18" charset="0"/>
              </a:rPr>
              <a:t>reprehenderit</a:t>
            </a:r>
            <a:r>
              <a:rPr lang="en-US" dirty="0">
                <a:latin typeface="Proxima Nova" panose="020B0604020202020204"/>
                <a:ea typeface="Cambria" panose="02040503050406030204" pitchFamily="18" charset="0"/>
              </a:rPr>
              <a:t> in </a:t>
            </a:r>
            <a:r>
              <a:rPr lang="en-US" dirty="0" err="1">
                <a:latin typeface="Proxima Nova" panose="020B0604020202020204"/>
                <a:ea typeface="Cambria" panose="02040503050406030204" pitchFamily="18" charset="0"/>
              </a:rPr>
              <a:t>voluptate</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velit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esse</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cillum</a:t>
            </a:r>
            <a:r>
              <a:rPr lang="en-US" dirty="0">
                <a:latin typeface="Proxima Nova" panose="020B0604020202020204"/>
                <a:ea typeface="Cambria" panose="02040503050406030204" pitchFamily="18" charset="0"/>
              </a:rPr>
              <a:t> dolore </a:t>
            </a:r>
            <a:r>
              <a:rPr lang="en-US" dirty="0" err="1">
                <a:latin typeface="Proxima Nova" panose="020B0604020202020204"/>
                <a:ea typeface="Cambria" panose="02040503050406030204" pitchFamily="18" charset="0"/>
              </a:rPr>
              <a:t>eu</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fugiat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nulla</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pariatur</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Excepteur</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sint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occaecat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cupidatat</a:t>
            </a:r>
            <a:r>
              <a:rPr lang="en-US" dirty="0">
                <a:latin typeface="Proxima Nova" panose="020B0604020202020204"/>
                <a:ea typeface="Cambria" panose="02040503050406030204" pitchFamily="18" charset="0"/>
              </a:rPr>
              <a:t> non </a:t>
            </a:r>
            <a:r>
              <a:rPr lang="en-US" dirty="0" err="1">
                <a:latin typeface="Proxima Nova" panose="020B0604020202020204"/>
                <a:ea typeface="Cambria" panose="02040503050406030204" pitchFamily="18" charset="0"/>
              </a:rPr>
              <a:t>proident</a:t>
            </a:r>
            <a:r>
              <a:rPr lang="en-US" dirty="0">
                <a:latin typeface="Proxima Nova" panose="020B0604020202020204"/>
                <a:ea typeface="Cambria" panose="02040503050406030204" pitchFamily="18" charset="0"/>
              </a:rPr>
              <a:t>, sunt in culpa qui </a:t>
            </a:r>
            <a:r>
              <a:rPr lang="en-US" dirty="0" err="1">
                <a:latin typeface="Proxima Nova" panose="020B0604020202020204"/>
                <a:ea typeface="Cambria" panose="02040503050406030204" pitchFamily="18" charset="0"/>
              </a:rPr>
              <a:t>officia</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deserunt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mollit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anim</a:t>
            </a:r>
            <a:r>
              <a:rPr lang="en-US" dirty="0">
                <a:latin typeface="Proxima Nova" panose="020B0604020202020204"/>
                <a:ea typeface="Cambria" panose="02040503050406030204" pitchFamily="18" charset="0"/>
              </a:rPr>
              <a:t> id </a:t>
            </a:r>
            <a:r>
              <a:rPr lang="en-US" dirty="0" err="1">
                <a:latin typeface="Proxima Nova" panose="020B0604020202020204"/>
                <a:ea typeface="Cambria" panose="02040503050406030204" pitchFamily="18" charset="0"/>
              </a:rPr>
              <a:t>est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laborum</a:t>
            </a:r>
            <a:r>
              <a:rPr lang="en-US" dirty="0">
                <a:latin typeface="Proxima Nova" panose="020B0604020202020204"/>
                <a:ea typeface="Cambria" panose="02040503050406030204" pitchFamily="18" charset="0"/>
              </a:rPr>
              <a:t>.&lt;/div&gt;</a:t>
            </a:r>
          </a:p>
          <a:p>
            <a:pPr marL="914400" lvl="2" indent="0">
              <a:lnSpc>
                <a:spcPct val="120000"/>
              </a:lnSpc>
              <a:buNone/>
            </a:pPr>
            <a:endParaRPr lang="en-US" dirty="0">
              <a:latin typeface="Proxima Nova" panose="020B0604020202020204"/>
              <a:ea typeface="Cambria" panose="02040503050406030204" pitchFamily="18" charset="0"/>
            </a:endParaRPr>
          </a:p>
          <a:p>
            <a:pPr marL="0" indent="0">
              <a:lnSpc>
                <a:spcPct val="120000"/>
              </a:lnSpc>
              <a:buNone/>
            </a:pPr>
            <a:r>
              <a:rPr lang="en-US" dirty="0">
                <a:latin typeface="Proxima Nova" panose="020B0604020202020204"/>
                <a:ea typeface="Cambria" panose="02040503050406030204" pitchFamily="18" charset="0"/>
              </a:rPr>
              <a:t>	&lt;/body&gt;</a:t>
            </a:r>
          </a:p>
          <a:p>
            <a:pPr marL="0" indent="0">
              <a:lnSpc>
                <a:spcPct val="120000"/>
              </a:lnSpc>
              <a:buNone/>
            </a:pPr>
            <a:r>
              <a:rPr lang="en-US" dirty="0">
                <a:latin typeface="Proxima Nova" panose="020B0604020202020204"/>
                <a:ea typeface="Cambria" panose="02040503050406030204" pitchFamily="18" charset="0"/>
              </a:rPr>
              <a:t>&lt;/html&gt;</a:t>
            </a:r>
          </a:p>
        </p:txBody>
      </p:sp>
    </p:spTree>
    <p:extLst>
      <p:ext uri="{BB962C8B-B14F-4D97-AF65-F5344CB8AC3E}">
        <p14:creationId xmlns:p14="http://schemas.microsoft.com/office/powerpoint/2010/main" val="123680597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A99C7-2094-D828-5998-7D3D44A08AE3}"/>
              </a:ext>
            </a:extLst>
          </p:cNvPr>
          <p:cNvSpPr>
            <a:spLocks noGrp="1"/>
          </p:cNvSpPr>
          <p:nvPr>
            <p:ph type="title"/>
          </p:nvPr>
        </p:nvSpPr>
        <p:spPr/>
        <p:txBody>
          <a:bodyPr/>
          <a:lstStyle/>
          <a:p>
            <a:r>
              <a:rPr lang="en-US" dirty="0"/>
              <a:t>Width and Height of an Element</a:t>
            </a:r>
            <a:br>
              <a:rPr lang="en-US" dirty="0"/>
            </a:br>
            <a:endParaRPr lang="en-IN" dirty="0"/>
          </a:p>
        </p:txBody>
      </p:sp>
      <p:sp>
        <p:nvSpPr>
          <p:cNvPr id="3" name="Content Placeholder 2">
            <a:extLst>
              <a:ext uri="{FF2B5EF4-FFF2-40B4-BE49-F238E27FC236}">
                <a16:creationId xmlns:a16="http://schemas.microsoft.com/office/drawing/2014/main" id="{456FFF72-6F39-1E4B-8990-482CD3EA0724}"/>
              </a:ext>
            </a:extLst>
          </p:cNvPr>
          <p:cNvSpPr>
            <a:spLocks noGrp="1"/>
          </p:cNvSpPr>
          <p:nvPr>
            <p:ph idx="1"/>
          </p:nvPr>
        </p:nvSpPr>
        <p:spPr>
          <a:xfrm>
            <a:off x="423420" y="1253330"/>
            <a:ext cx="11294097" cy="5090319"/>
          </a:xfrm>
        </p:spPr>
        <p:txBody>
          <a:bodyPr>
            <a:noAutofit/>
          </a:bodyPr>
          <a:lstStyle/>
          <a:p>
            <a:r>
              <a:rPr lang="en-US" dirty="0"/>
              <a:t>In order to set the width and height of an element correctly in all browsers, you need to know how the box model works.</a:t>
            </a:r>
          </a:p>
          <a:p>
            <a:r>
              <a:rPr lang="en-US" dirty="0"/>
              <a:t>Important: When you set the width and height properties of an element with CSS, you just set the width and height of the content area. To calculate the full size of an element, you must also add padding, borders and margins.</a:t>
            </a:r>
          </a:p>
          <a:p>
            <a:r>
              <a:rPr lang="en-US" dirty="0"/>
              <a:t>div {</a:t>
            </a:r>
          </a:p>
          <a:p>
            <a:r>
              <a:rPr lang="en-US" dirty="0"/>
              <a:t>  width: 320px;</a:t>
            </a:r>
          </a:p>
          <a:p>
            <a:r>
              <a:rPr lang="en-US" dirty="0"/>
              <a:t>  padding: 10px;</a:t>
            </a:r>
          </a:p>
          <a:p>
            <a:r>
              <a:rPr lang="en-US" dirty="0"/>
              <a:t>  border: 5px solid gray;</a:t>
            </a:r>
          </a:p>
          <a:p>
            <a:r>
              <a:rPr lang="en-US" dirty="0"/>
              <a:t>  margin: 0;</a:t>
            </a:r>
          </a:p>
          <a:p>
            <a:r>
              <a:rPr lang="en-US" dirty="0"/>
              <a:t>}</a:t>
            </a:r>
            <a:endParaRPr lang="en-IN" dirty="0"/>
          </a:p>
        </p:txBody>
      </p:sp>
    </p:spTree>
    <p:extLst>
      <p:ext uri="{BB962C8B-B14F-4D97-AF65-F5344CB8AC3E}">
        <p14:creationId xmlns:p14="http://schemas.microsoft.com/office/powerpoint/2010/main" val="15191549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AFF8F-212E-F4CD-4A54-A104C40F0E23}"/>
              </a:ext>
            </a:extLst>
          </p:cNvPr>
          <p:cNvSpPr>
            <a:spLocks noGrp="1"/>
          </p:cNvSpPr>
          <p:nvPr>
            <p:ph type="title"/>
          </p:nvPr>
        </p:nvSpPr>
        <p:spPr/>
        <p:txBody>
          <a:bodyPr/>
          <a:lstStyle/>
          <a:p>
            <a:r>
              <a:rPr lang="en-US" dirty="0"/>
              <a:t>Width and Height of an Element</a:t>
            </a:r>
            <a:br>
              <a:rPr lang="en-US" dirty="0"/>
            </a:br>
            <a:endParaRPr lang="en-IN" dirty="0"/>
          </a:p>
        </p:txBody>
      </p:sp>
      <p:sp>
        <p:nvSpPr>
          <p:cNvPr id="3" name="Content Placeholder 2">
            <a:extLst>
              <a:ext uri="{FF2B5EF4-FFF2-40B4-BE49-F238E27FC236}">
                <a16:creationId xmlns:a16="http://schemas.microsoft.com/office/drawing/2014/main" id="{B3033857-E0BD-44B5-1ECF-EC356C0E2F5C}"/>
              </a:ext>
            </a:extLst>
          </p:cNvPr>
          <p:cNvSpPr>
            <a:spLocks noGrp="1"/>
          </p:cNvSpPr>
          <p:nvPr>
            <p:ph idx="1"/>
          </p:nvPr>
        </p:nvSpPr>
        <p:spPr/>
        <p:txBody>
          <a:bodyPr/>
          <a:lstStyle/>
          <a:p>
            <a:r>
              <a:rPr lang="en-US" dirty="0"/>
              <a:t>Here is the calculation:</a:t>
            </a:r>
          </a:p>
          <a:p>
            <a:r>
              <a:rPr lang="en-US" dirty="0"/>
              <a:t>320px (width)+ 20px (left + right padding)+ 10px (left + right border)+ 0px (left + right margin)= 350px </a:t>
            </a:r>
          </a:p>
          <a:p>
            <a:r>
              <a:rPr lang="en-US" dirty="0"/>
              <a:t>The total width of an element should be calculated like this:</a:t>
            </a:r>
          </a:p>
          <a:p>
            <a:r>
              <a:rPr lang="en-US" dirty="0"/>
              <a:t>Total element width = width + left padding + right padding + left border + right border + left margin + right margin</a:t>
            </a:r>
          </a:p>
          <a:p>
            <a:r>
              <a:rPr lang="en-US" dirty="0"/>
              <a:t>The total height of an element should be calculated like this:</a:t>
            </a:r>
          </a:p>
          <a:p>
            <a:r>
              <a:rPr lang="en-US" dirty="0"/>
              <a:t>Total element height = height + top padding + bottom padding + top border + bottom border + top margin + bottom margin</a:t>
            </a:r>
          </a:p>
          <a:p>
            <a:endParaRPr lang="en-US" dirty="0"/>
          </a:p>
          <a:p>
            <a:endParaRPr lang="en-US" dirty="0"/>
          </a:p>
          <a:p>
            <a:endParaRPr lang="en-IN" dirty="0"/>
          </a:p>
        </p:txBody>
      </p:sp>
    </p:spTree>
    <p:extLst>
      <p:ext uri="{BB962C8B-B14F-4D97-AF65-F5344CB8AC3E}">
        <p14:creationId xmlns:p14="http://schemas.microsoft.com/office/powerpoint/2010/main" val="29835428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08397-D767-ED63-4DD7-9F1C2CCE5FC8}"/>
              </a:ext>
            </a:extLst>
          </p:cNvPr>
          <p:cNvSpPr>
            <a:spLocks noGrp="1"/>
          </p:cNvSpPr>
          <p:nvPr>
            <p:ph type="title"/>
          </p:nvPr>
        </p:nvSpPr>
        <p:spPr/>
        <p:txBody>
          <a:bodyPr/>
          <a:lstStyle/>
          <a:p>
            <a:r>
              <a:rPr lang="en-US" dirty="0"/>
              <a:t>CSS Text Effects</a:t>
            </a:r>
            <a:br>
              <a:rPr lang="en-US" dirty="0"/>
            </a:br>
            <a:endParaRPr lang="en-IN" dirty="0"/>
          </a:p>
        </p:txBody>
      </p:sp>
      <p:sp>
        <p:nvSpPr>
          <p:cNvPr id="3" name="Content Placeholder 2">
            <a:extLst>
              <a:ext uri="{FF2B5EF4-FFF2-40B4-BE49-F238E27FC236}">
                <a16:creationId xmlns:a16="http://schemas.microsoft.com/office/drawing/2014/main" id="{93AEC8BE-3B4A-43C4-A748-80649979C647}"/>
              </a:ext>
            </a:extLst>
          </p:cNvPr>
          <p:cNvSpPr>
            <a:spLocks noGrp="1"/>
          </p:cNvSpPr>
          <p:nvPr>
            <p:ph idx="1"/>
          </p:nvPr>
        </p:nvSpPr>
        <p:spPr>
          <a:xfrm>
            <a:off x="423420" y="1139031"/>
            <a:ext cx="11294097" cy="4351338"/>
          </a:xfrm>
        </p:spPr>
        <p:txBody>
          <a:bodyPr/>
          <a:lstStyle/>
          <a:p>
            <a:r>
              <a:rPr lang="en-US" dirty="0"/>
              <a:t>Text Overflow,</a:t>
            </a:r>
          </a:p>
          <a:p>
            <a:r>
              <a:rPr lang="en-US" dirty="0"/>
              <a:t>Word Wrap,</a:t>
            </a:r>
          </a:p>
          <a:p>
            <a:r>
              <a:rPr lang="en-US" dirty="0"/>
              <a:t>Line Breaking Rules,</a:t>
            </a:r>
          </a:p>
          <a:p>
            <a:r>
              <a:rPr lang="en-US" dirty="0"/>
              <a:t>Writing Modes</a:t>
            </a:r>
          </a:p>
          <a:p>
            <a:r>
              <a:rPr lang="en-US" b="1" dirty="0"/>
              <a:t>CSS Text Overflow:</a:t>
            </a:r>
          </a:p>
          <a:p>
            <a:r>
              <a:rPr lang="en-US" dirty="0"/>
              <a:t>The CSS text-overflow property specifies how overflowed content that is not displayed should be signaled to the user.</a:t>
            </a:r>
          </a:p>
          <a:p>
            <a:r>
              <a:rPr lang="en-US" dirty="0"/>
              <a:t>It can be clipped:</a:t>
            </a:r>
          </a:p>
          <a:p>
            <a:endParaRPr lang="en-US" dirty="0"/>
          </a:p>
          <a:p>
            <a:endParaRPr lang="en-IN" dirty="0"/>
          </a:p>
        </p:txBody>
      </p:sp>
      <p:pic>
        <p:nvPicPr>
          <p:cNvPr id="4" name="Picture 3">
            <a:extLst>
              <a:ext uri="{FF2B5EF4-FFF2-40B4-BE49-F238E27FC236}">
                <a16:creationId xmlns:a16="http://schemas.microsoft.com/office/drawing/2014/main" id="{94162D89-6854-D622-6C15-3C9744BEA41C}"/>
              </a:ext>
            </a:extLst>
          </p:cNvPr>
          <p:cNvPicPr>
            <a:picLocks noChangeAspect="1"/>
          </p:cNvPicPr>
          <p:nvPr/>
        </p:nvPicPr>
        <p:blipFill>
          <a:blip r:embed="rId2"/>
          <a:stretch>
            <a:fillRect/>
          </a:stretch>
        </p:blipFill>
        <p:spPr>
          <a:xfrm>
            <a:off x="474483" y="5238750"/>
            <a:ext cx="6296025" cy="1619250"/>
          </a:xfrm>
          <a:prstGeom prst="rect">
            <a:avLst/>
          </a:prstGeom>
        </p:spPr>
      </p:pic>
    </p:spTree>
    <p:extLst>
      <p:ext uri="{BB962C8B-B14F-4D97-AF65-F5344CB8AC3E}">
        <p14:creationId xmlns:p14="http://schemas.microsoft.com/office/powerpoint/2010/main" val="198552660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62AB6-103C-C003-AE9D-5691CD95DA86}"/>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AF7F9488-33B1-2F48-7795-EF2ED7E41341}"/>
              </a:ext>
            </a:extLst>
          </p:cNvPr>
          <p:cNvSpPr>
            <a:spLocks noGrp="1"/>
          </p:cNvSpPr>
          <p:nvPr>
            <p:ph idx="1"/>
          </p:nvPr>
        </p:nvSpPr>
        <p:spPr>
          <a:xfrm>
            <a:off x="423420" y="1253331"/>
            <a:ext cx="11294097" cy="5468144"/>
          </a:xfrm>
        </p:spPr>
        <p:txBody>
          <a:bodyPr>
            <a:noAutofit/>
          </a:bodyPr>
          <a:lstStyle/>
          <a:p>
            <a:pPr marL="180975" indent="0">
              <a:lnSpc>
                <a:spcPct val="100000"/>
              </a:lnSpc>
              <a:buNone/>
            </a:pPr>
            <a:r>
              <a:rPr lang="en-US" dirty="0">
                <a:ea typeface="Cambria" panose="02040503050406030204" pitchFamily="18" charset="0"/>
              </a:rPr>
              <a:t>&lt;style&gt; </a:t>
            </a:r>
          </a:p>
          <a:p>
            <a:pPr marL="180975" lvl="3" indent="0">
              <a:lnSpc>
                <a:spcPct val="100000"/>
              </a:lnSpc>
              <a:buNone/>
            </a:pPr>
            <a:r>
              <a:rPr lang="en-US" dirty="0">
                <a:ea typeface="Cambria" panose="02040503050406030204" pitchFamily="18" charset="0"/>
              </a:rPr>
              <a:t>p.test1 {</a:t>
            </a:r>
          </a:p>
          <a:p>
            <a:pPr marL="180975" lvl="3" indent="0">
              <a:lnSpc>
                <a:spcPct val="100000"/>
              </a:lnSpc>
              <a:buNone/>
            </a:pPr>
            <a:r>
              <a:rPr lang="en-US" dirty="0">
                <a:ea typeface="Cambria" panose="02040503050406030204" pitchFamily="18" charset="0"/>
              </a:rPr>
              <a:t>  white-space: </a:t>
            </a:r>
            <a:r>
              <a:rPr lang="en-US" dirty="0" err="1">
                <a:ea typeface="Cambria" panose="02040503050406030204" pitchFamily="18" charset="0"/>
              </a:rPr>
              <a:t>nowrap</a:t>
            </a:r>
            <a:r>
              <a:rPr lang="en-US" dirty="0">
                <a:ea typeface="Cambria" panose="02040503050406030204" pitchFamily="18" charset="0"/>
              </a:rPr>
              <a:t>; </a:t>
            </a:r>
          </a:p>
          <a:p>
            <a:pPr marL="180975" lvl="3" indent="0">
              <a:lnSpc>
                <a:spcPct val="100000"/>
              </a:lnSpc>
              <a:buNone/>
            </a:pPr>
            <a:r>
              <a:rPr lang="en-US" dirty="0">
                <a:ea typeface="Cambria" panose="02040503050406030204" pitchFamily="18" charset="0"/>
              </a:rPr>
              <a:t>  width: 200px; </a:t>
            </a:r>
          </a:p>
          <a:p>
            <a:pPr marL="180975" lvl="3" indent="0">
              <a:lnSpc>
                <a:spcPct val="100000"/>
              </a:lnSpc>
              <a:buNone/>
            </a:pPr>
            <a:r>
              <a:rPr lang="en-US" dirty="0">
                <a:ea typeface="Cambria" panose="02040503050406030204" pitchFamily="18" charset="0"/>
              </a:rPr>
              <a:t>  border: 1px solid #000000;</a:t>
            </a:r>
          </a:p>
          <a:p>
            <a:pPr marL="180975" lvl="3" indent="0">
              <a:lnSpc>
                <a:spcPct val="100000"/>
              </a:lnSpc>
              <a:buNone/>
            </a:pPr>
            <a:r>
              <a:rPr lang="en-US" dirty="0">
                <a:ea typeface="Cambria" panose="02040503050406030204" pitchFamily="18" charset="0"/>
              </a:rPr>
              <a:t>  overflow: hidden;</a:t>
            </a:r>
          </a:p>
          <a:p>
            <a:pPr marL="180975" lvl="3" indent="0">
              <a:lnSpc>
                <a:spcPct val="100000"/>
              </a:lnSpc>
              <a:buNone/>
            </a:pPr>
            <a:r>
              <a:rPr lang="en-US" dirty="0">
                <a:ea typeface="Cambria" panose="02040503050406030204" pitchFamily="18" charset="0"/>
              </a:rPr>
              <a:t>  text-overflow: clip;</a:t>
            </a:r>
          </a:p>
          <a:p>
            <a:pPr marL="180975" lvl="3" indent="0">
              <a:lnSpc>
                <a:spcPct val="100000"/>
              </a:lnSpc>
              <a:buNone/>
            </a:pPr>
            <a:r>
              <a:rPr lang="en-US" dirty="0">
                <a:ea typeface="Cambria" panose="02040503050406030204" pitchFamily="18" charset="0"/>
              </a:rPr>
              <a:t>}</a:t>
            </a:r>
          </a:p>
          <a:p>
            <a:pPr marL="180975" lvl="3" indent="0">
              <a:lnSpc>
                <a:spcPct val="100000"/>
              </a:lnSpc>
              <a:buNone/>
            </a:pPr>
            <a:r>
              <a:rPr lang="en-US" dirty="0">
                <a:ea typeface="Cambria" panose="02040503050406030204" pitchFamily="18" charset="0"/>
              </a:rPr>
              <a:t>p.test2 {</a:t>
            </a:r>
          </a:p>
          <a:p>
            <a:pPr marL="180975" lvl="3" indent="0">
              <a:lnSpc>
                <a:spcPct val="100000"/>
              </a:lnSpc>
              <a:buNone/>
            </a:pPr>
            <a:r>
              <a:rPr lang="en-US" dirty="0">
                <a:ea typeface="Cambria" panose="02040503050406030204" pitchFamily="18" charset="0"/>
              </a:rPr>
              <a:t>  white-space: </a:t>
            </a:r>
            <a:r>
              <a:rPr lang="en-US" dirty="0" err="1">
                <a:ea typeface="Cambria" panose="02040503050406030204" pitchFamily="18" charset="0"/>
              </a:rPr>
              <a:t>nowrap</a:t>
            </a:r>
            <a:r>
              <a:rPr lang="en-US" dirty="0">
                <a:ea typeface="Cambria" panose="02040503050406030204" pitchFamily="18" charset="0"/>
              </a:rPr>
              <a:t>; </a:t>
            </a:r>
          </a:p>
          <a:p>
            <a:pPr marL="180975" lvl="3" indent="0">
              <a:lnSpc>
                <a:spcPct val="100000"/>
              </a:lnSpc>
              <a:buNone/>
            </a:pPr>
            <a:r>
              <a:rPr lang="en-US" dirty="0">
                <a:ea typeface="Cambria" panose="02040503050406030204" pitchFamily="18" charset="0"/>
              </a:rPr>
              <a:t>  width: 200px; </a:t>
            </a:r>
          </a:p>
          <a:p>
            <a:pPr marL="180975" lvl="3" indent="0">
              <a:lnSpc>
                <a:spcPct val="100000"/>
              </a:lnSpc>
              <a:buNone/>
            </a:pPr>
            <a:r>
              <a:rPr lang="en-US" dirty="0">
                <a:ea typeface="Cambria" panose="02040503050406030204" pitchFamily="18" charset="0"/>
              </a:rPr>
              <a:t>  border: 1px solid #000000;</a:t>
            </a:r>
          </a:p>
          <a:p>
            <a:pPr marL="180975" lvl="3" indent="0">
              <a:lnSpc>
                <a:spcPct val="100000"/>
              </a:lnSpc>
              <a:buNone/>
            </a:pPr>
            <a:r>
              <a:rPr lang="en-US" dirty="0">
                <a:ea typeface="Cambria" panose="02040503050406030204" pitchFamily="18" charset="0"/>
              </a:rPr>
              <a:t>  overflow: hidden;</a:t>
            </a:r>
          </a:p>
          <a:p>
            <a:pPr marL="180975" lvl="3" indent="0">
              <a:lnSpc>
                <a:spcPct val="100000"/>
              </a:lnSpc>
              <a:buNone/>
            </a:pPr>
            <a:r>
              <a:rPr lang="en-US" dirty="0">
                <a:ea typeface="Cambria" panose="02040503050406030204" pitchFamily="18" charset="0"/>
              </a:rPr>
              <a:t>  text-overflow: ellipsis;</a:t>
            </a:r>
          </a:p>
          <a:p>
            <a:pPr marL="180975" lvl="3" indent="0">
              <a:lnSpc>
                <a:spcPct val="100000"/>
              </a:lnSpc>
              <a:buNone/>
            </a:pPr>
            <a:r>
              <a:rPr lang="en-US" dirty="0">
                <a:ea typeface="Cambria" panose="02040503050406030204" pitchFamily="18" charset="0"/>
              </a:rPr>
              <a:t>}</a:t>
            </a:r>
          </a:p>
          <a:p>
            <a:pPr marL="180975" lvl="1" indent="0">
              <a:lnSpc>
                <a:spcPct val="100000"/>
              </a:lnSpc>
              <a:buNone/>
            </a:pPr>
            <a:r>
              <a:rPr lang="en-US" dirty="0">
                <a:ea typeface="Cambria" panose="02040503050406030204" pitchFamily="18" charset="0"/>
              </a:rPr>
              <a:t>&lt;/style&gt;</a:t>
            </a:r>
          </a:p>
          <a:p>
            <a:pPr marL="180975" indent="0">
              <a:lnSpc>
                <a:spcPct val="100000"/>
              </a:lnSpc>
              <a:buNone/>
            </a:pPr>
            <a:endParaRPr lang="en-IN" dirty="0"/>
          </a:p>
        </p:txBody>
      </p:sp>
      <p:sp>
        <p:nvSpPr>
          <p:cNvPr id="5" name="TextBox 4">
            <a:extLst>
              <a:ext uri="{FF2B5EF4-FFF2-40B4-BE49-F238E27FC236}">
                <a16:creationId xmlns:a16="http://schemas.microsoft.com/office/drawing/2014/main" id="{1DB6EB6C-5680-B7AF-6688-93B246061E23}"/>
              </a:ext>
            </a:extLst>
          </p:cNvPr>
          <p:cNvSpPr txBox="1"/>
          <p:nvPr/>
        </p:nvSpPr>
        <p:spPr>
          <a:xfrm>
            <a:off x="4800600" y="1334333"/>
            <a:ext cx="6096000" cy="4247317"/>
          </a:xfrm>
          <a:prstGeom prst="rect">
            <a:avLst/>
          </a:prstGeom>
          <a:noFill/>
        </p:spPr>
        <p:txBody>
          <a:bodyPr wrap="square">
            <a:spAutoFit/>
          </a:bodyPr>
          <a:lstStyle/>
          <a:p>
            <a:r>
              <a:rPr lang="en-US" dirty="0">
                <a:latin typeface="Proxima Nova" panose="020B0604020202020204"/>
                <a:ea typeface="Cambria" panose="02040503050406030204" pitchFamily="18" charset="0"/>
              </a:rPr>
              <a:t>&lt;body&gt;</a:t>
            </a:r>
          </a:p>
          <a:p>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&lt;h1&gt;The text-overflow Property&lt;/h1&gt;</a:t>
            </a:r>
          </a:p>
          <a:p>
            <a:pPr lvl="2"/>
            <a:r>
              <a:rPr lang="en-US" dirty="0">
                <a:latin typeface="Proxima Nova" panose="020B0604020202020204"/>
                <a:ea typeface="Cambria" panose="02040503050406030204" pitchFamily="18" charset="0"/>
              </a:rPr>
              <a:t>&lt;p&gt;The following two paragraphs contains a long text that will not fit in the box.&lt;/p&gt;</a:t>
            </a:r>
          </a:p>
          <a:p>
            <a:pPr lvl="2"/>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&lt;h2&gt;text-overflow: clip:&lt;/h2&gt;</a:t>
            </a:r>
          </a:p>
          <a:p>
            <a:pPr lvl="2"/>
            <a:r>
              <a:rPr lang="en-US" dirty="0">
                <a:latin typeface="Proxima Nova" panose="020B0604020202020204"/>
                <a:ea typeface="Cambria" panose="02040503050406030204" pitchFamily="18" charset="0"/>
              </a:rPr>
              <a:t>&lt;p class="test1"&gt;This is some long text that will not fit in the box&lt;/p&gt;</a:t>
            </a:r>
          </a:p>
          <a:p>
            <a:pPr lvl="2"/>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&lt;h2&gt;text-overflow: ellipsis:&lt;/h2&gt;</a:t>
            </a:r>
          </a:p>
          <a:p>
            <a:pPr lvl="2"/>
            <a:r>
              <a:rPr lang="en-US" dirty="0">
                <a:latin typeface="Proxima Nova" panose="020B0604020202020204"/>
                <a:ea typeface="Cambria" panose="02040503050406030204" pitchFamily="18" charset="0"/>
              </a:rPr>
              <a:t>&lt;p class="test2"&gt;This is some long text that will not fit in the box&lt;/p&gt;</a:t>
            </a:r>
          </a:p>
          <a:p>
            <a:endParaRPr lang="en-US" dirty="0">
              <a:latin typeface="Proxima Nova" panose="020B0604020202020204"/>
              <a:ea typeface="Cambria" panose="02040503050406030204" pitchFamily="18" charset="0"/>
            </a:endParaRPr>
          </a:p>
          <a:p>
            <a:r>
              <a:rPr lang="en-US" dirty="0">
                <a:latin typeface="Proxima Nova" panose="020B0604020202020204"/>
                <a:ea typeface="Cambria" panose="02040503050406030204" pitchFamily="18" charset="0"/>
              </a:rPr>
              <a:t>	&lt;/body&gt;</a:t>
            </a:r>
          </a:p>
        </p:txBody>
      </p:sp>
    </p:spTree>
    <p:extLst>
      <p:ext uri="{BB962C8B-B14F-4D97-AF65-F5344CB8AC3E}">
        <p14:creationId xmlns:p14="http://schemas.microsoft.com/office/powerpoint/2010/main" val="201518541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A1615-D952-774F-D04C-AABB84047252}"/>
              </a:ext>
            </a:extLst>
          </p:cNvPr>
          <p:cNvSpPr>
            <a:spLocks noGrp="1"/>
          </p:cNvSpPr>
          <p:nvPr>
            <p:ph type="title"/>
          </p:nvPr>
        </p:nvSpPr>
        <p:spPr/>
        <p:txBody>
          <a:bodyPr/>
          <a:lstStyle/>
          <a:p>
            <a:r>
              <a:rPr lang="en-US" dirty="0"/>
              <a:t>Output</a:t>
            </a:r>
            <a:endParaRPr lang="en-IN" dirty="0"/>
          </a:p>
        </p:txBody>
      </p:sp>
      <p:pic>
        <p:nvPicPr>
          <p:cNvPr id="4" name="Picture 3">
            <a:extLst>
              <a:ext uri="{FF2B5EF4-FFF2-40B4-BE49-F238E27FC236}">
                <a16:creationId xmlns:a16="http://schemas.microsoft.com/office/drawing/2014/main" id="{36B23280-615E-7FF9-0DFE-0493961B4F95}"/>
              </a:ext>
            </a:extLst>
          </p:cNvPr>
          <p:cNvPicPr>
            <a:picLocks noChangeAspect="1"/>
          </p:cNvPicPr>
          <p:nvPr/>
        </p:nvPicPr>
        <p:blipFill>
          <a:blip r:embed="rId2"/>
          <a:stretch>
            <a:fillRect/>
          </a:stretch>
        </p:blipFill>
        <p:spPr>
          <a:xfrm>
            <a:off x="1586824" y="1449419"/>
            <a:ext cx="8540885" cy="4585580"/>
          </a:xfrm>
          <a:prstGeom prst="rect">
            <a:avLst/>
          </a:prstGeom>
          <a:ln w="19050">
            <a:solidFill>
              <a:schemeClr val="tx1"/>
            </a:solidFill>
          </a:ln>
        </p:spPr>
      </p:pic>
    </p:spTree>
    <p:extLst>
      <p:ext uri="{BB962C8B-B14F-4D97-AF65-F5344CB8AC3E}">
        <p14:creationId xmlns:p14="http://schemas.microsoft.com/office/powerpoint/2010/main" val="14827980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7F4B3-99A2-51A6-A79A-C60D3F47BA49}"/>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C2CED14B-E2B4-DD32-B2D6-5B8501B22F41}"/>
              </a:ext>
            </a:extLst>
          </p:cNvPr>
          <p:cNvSpPr>
            <a:spLocks noGrp="1"/>
          </p:cNvSpPr>
          <p:nvPr>
            <p:ph idx="1"/>
          </p:nvPr>
        </p:nvSpPr>
        <p:spPr>
          <a:xfrm>
            <a:off x="423420" y="1253331"/>
            <a:ext cx="11294097" cy="5468144"/>
          </a:xfrm>
        </p:spPr>
        <p:txBody>
          <a:bodyPr>
            <a:noAutofit/>
          </a:bodyPr>
          <a:lstStyle/>
          <a:p>
            <a:pPr marL="38100" lvl="3" indent="0">
              <a:lnSpc>
                <a:spcPct val="100000"/>
              </a:lnSpc>
              <a:buNone/>
            </a:pPr>
            <a:r>
              <a:rPr lang="en-US" dirty="0" err="1">
                <a:ea typeface="Cambria" panose="02040503050406030204" pitchFamily="18" charset="0"/>
              </a:rPr>
              <a:t>div.test</a:t>
            </a:r>
            <a:r>
              <a:rPr lang="en-US" dirty="0">
                <a:ea typeface="Cambria" panose="02040503050406030204" pitchFamily="18" charset="0"/>
              </a:rPr>
              <a:t> {</a:t>
            </a:r>
          </a:p>
          <a:p>
            <a:pPr marL="38100" lvl="3" indent="0">
              <a:lnSpc>
                <a:spcPct val="100000"/>
              </a:lnSpc>
              <a:buNone/>
            </a:pPr>
            <a:r>
              <a:rPr lang="en-US" dirty="0">
                <a:ea typeface="Cambria" panose="02040503050406030204" pitchFamily="18" charset="0"/>
              </a:rPr>
              <a:t>  white-space: </a:t>
            </a:r>
            <a:r>
              <a:rPr lang="en-US" dirty="0" err="1">
                <a:ea typeface="Cambria" panose="02040503050406030204" pitchFamily="18" charset="0"/>
              </a:rPr>
              <a:t>nowrap</a:t>
            </a:r>
            <a:r>
              <a:rPr lang="en-US" dirty="0">
                <a:ea typeface="Cambria" panose="02040503050406030204" pitchFamily="18" charset="0"/>
              </a:rPr>
              <a:t>; </a:t>
            </a:r>
          </a:p>
          <a:p>
            <a:pPr marL="38100" lvl="3" indent="0">
              <a:lnSpc>
                <a:spcPct val="100000"/>
              </a:lnSpc>
              <a:buNone/>
            </a:pPr>
            <a:r>
              <a:rPr lang="en-US" dirty="0">
                <a:ea typeface="Cambria" panose="02040503050406030204" pitchFamily="18" charset="0"/>
              </a:rPr>
              <a:t>  width: 200px; </a:t>
            </a:r>
          </a:p>
          <a:p>
            <a:pPr marL="38100" lvl="3" indent="0">
              <a:lnSpc>
                <a:spcPct val="100000"/>
              </a:lnSpc>
              <a:buNone/>
            </a:pPr>
            <a:r>
              <a:rPr lang="en-US" dirty="0">
                <a:ea typeface="Cambria" panose="02040503050406030204" pitchFamily="18" charset="0"/>
              </a:rPr>
              <a:t>  overflow: hidden; </a:t>
            </a:r>
          </a:p>
          <a:p>
            <a:pPr marL="38100" lvl="3" indent="0">
              <a:lnSpc>
                <a:spcPct val="100000"/>
              </a:lnSpc>
              <a:buNone/>
            </a:pPr>
            <a:r>
              <a:rPr lang="en-US" dirty="0">
                <a:ea typeface="Cambria" panose="02040503050406030204" pitchFamily="18" charset="0"/>
              </a:rPr>
              <a:t>  border: 1px solid #000000;</a:t>
            </a:r>
          </a:p>
          <a:p>
            <a:pPr marL="38100" lvl="3" indent="0">
              <a:lnSpc>
                <a:spcPct val="100000"/>
              </a:lnSpc>
              <a:buNone/>
            </a:pPr>
            <a:r>
              <a:rPr lang="en-US" dirty="0">
                <a:ea typeface="Cambria" panose="02040503050406030204" pitchFamily="18" charset="0"/>
              </a:rPr>
              <a:t>}</a:t>
            </a:r>
          </a:p>
          <a:p>
            <a:pPr marL="38100" lvl="3" indent="0">
              <a:lnSpc>
                <a:spcPct val="100000"/>
              </a:lnSpc>
              <a:buNone/>
            </a:pPr>
            <a:r>
              <a:rPr lang="en-US" dirty="0" err="1">
                <a:ea typeface="Cambria" panose="02040503050406030204" pitchFamily="18" charset="0"/>
              </a:rPr>
              <a:t>div.test:hover</a:t>
            </a:r>
            <a:r>
              <a:rPr lang="en-US" dirty="0">
                <a:ea typeface="Cambria" panose="02040503050406030204" pitchFamily="18" charset="0"/>
              </a:rPr>
              <a:t> {</a:t>
            </a:r>
          </a:p>
          <a:p>
            <a:pPr marL="38100" lvl="3" indent="0">
              <a:lnSpc>
                <a:spcPct val="100000"/>
              </a:lnSpc>
              <a:buNone/>
            </a:pPr>
            <a:r>
              <a:rPr lang="en-US" dirty="0">
                <a:ea typeface="Cambria" panose="02040503050406030204" pitchFamily="18" charset="0"/>
              </a:rPr>
              <a:t>  overflow: visible;</a:t>
            </a:r>
          </a:p>
          <a:p>
            <a:pPr marL="38100" lvl="3" indent="0">
              <a:lnSpc>
                <a:spcPct val="100000"/>
              </a:lnSpc>
              <a:buNone/>
            </a:pPr>
            <a:r>
              <a:rPr lang="en-US" dirty="0">
                <a:ea typeface="Cambria" panose="02040503050406030204" pitchFamily="18" charset="0"/>
              </a:rPr>
              <a:t>}</a:t>
            </a:r>
          </a:p>
          <a:p>
            <a:pPr marL="0" indent="0">
              <a:lnSpc>
                <a:spcPct val="100000"/>
              </a:lnSpc>
              <a:buNone/>
            </a:pPr>
            <a:r>
              <a:rPr lang="en-US" dirty="0">
                <a:ea typeface="Cambria" panose="02040503050406030204" pitchFamily="18" charset="0"/>
              </a:rPr>
              <a:t>&lt;body&gt;</a:t>
            </a:r>
          </a:p>
          <a:p>
            <a:pPr marL="914400" lvl="2" indent="0">
              <a:lnSpc>
                <a:spcPct val="100000"/>
              </a:lnSpc>
              <a:buNone/>
            </a:pPr>
            <a:r>
              <a:rPr lang="en-US" dirty="0">
                <a:ea typeface="Cambria" panose="02040503050406030204" pitchFamily="18" charset="0"/>
              </a:rPr>
              <a:t>&lt;p&gt;Hover over the two </a:t>
            </a:r>
            <a:r>
              <a:rPr lang="en-US" dirty="0" err="1">
                <a:ea typeface="Cambria" panose="02040503050406030204" pitchFamily="18" charset="0"/>
              </a:rPr>
              <a:t>divs</a:t>
            </a:r>
            <a:r>
              <a:rPr lang="en-US" dirty="0">
                <a:ea typeface="Cambria" panose="02040503050406030204" pitchFamily="18" charset="0"/>
              </a:rPr>
              <a:t> below, to see the entire text.&lt;/p&gt;</a:t>
            </a:r>
          </a:p>
          <a:p>
            <a:pPr marL="914400" lvl="2" indent="0">
              <a:lnSpc>
                <a:spcPct val="100000"/>
              </a:lnSpc>
              <a:buNone/>
            </a:pPr>
            <a:r>
              <a:rPr lang="en-US" dirty="0">
                <a:ea typeface="Cambria" panose="02040503050406030204" pitchFamily="18" charset="0"/>
              </a:rPr>
              <a:t>&lt;div class="test" style="</a:t>
            </a:r>
            <a:r>
              <a:rPr lang="en-US" dirty="0" err="1">
                <a:ea typeface="Cambria" panose="02040503050406030204" pitchFamily="18" charset="0"/>
              </a:rPr>
              <a:t>text-overflow:ellipsis</a:t>
            </a:r>
            <a:r>
              <a:rPr lang="en-US" dirty="0">
                <a:ea typeface="Cambria" panose="02040503050406030204" pitchFamily="18" charset="0"/>
              </a:rPr>
              <a:t>;"&gt;This is some long text that will not fit in the box&lt;/div&gt;</a:t>
            </a:r>
          </a:p>
          <a:p>
            <a:pPr marL="914400" lvl="2" indent="0">
              <a:lnSpc>
                <a:spcPct val="100000"/>
              </a:lnSpc>
              <a:buNone/>
            </a:pPr>
            <a:r>
              <a:rPr lang="en-US" dirty="0">
                <a:ea typeface="Cambria" panose="02040503050406030204" pitchFamily="18" charset="0"/>
              </a:rPr>
              <a:t>&lt;</a:t>
            </a:r>
            <a:r>
              <a:rPr lang="en-US" dirty="0" err="1">
                <a:ea typeface="Cambria" panose="02040503050406030204" pitchFamily="18" charset="0"/>
              </a:rPr>
              <a:t>br</a:t>
            </a:r>
            <a:r>
              <a:rPr lang="en-US" dirty="0">
                <a:ea typeface="Cambria" panose="02040503050406030204" pitchFamily="18" charset="0"/>
              </a:rPr>
              <a:t>&gt;</a:t>
            </a:r>
          </a:p>
          <a:p>
            <a:pPr marL="914400" lvl="2" indent="0">
              <a:lnSpc>
                <a:spcPct val="100000"/>
              </a:lnSpc>
              <a:buNone/>
            </a:pPr>
            <a:r>
              <a:rPr lang="en-US" dirty="0">
                <a:ea typeface="Cambria" panose="02040503050406030204" pitchFamily="18" charset="0"/>
              </a:rPr>
              <a:t>&lt;div class="test" style="</a:t>
            </a:r>
            <a:r>
              <a:rPr lang="en-US" dirty="0" err="1">
                <a:ea typeface="Cambria" panose="02040503050406030204" pitchFamily="18" charset="0"/>
              </a:rPr>
              <a:t>text-overflow:clip</a:t>
            </a:r>
            <a:r>
              <a:rPr lang="en-US" dirty="0">
                <a:ea typeface="Cambria" panose="02040503050406030204" pitchFamily="18" charset="0"/>
              </a:rPr>
              <a:t>;"&gt;This is some long text that will not fit in the box&lt;/div&gt;</a:t>
            </a:r>
          </a:p>
          <a:p>
            <a:pPr marL="0" indent="0">
              <a:lnSpc>
                <a:spcPct val="100000"/>
              </a:lnSpc>
              <a:buNone/>
            </a:pPr>
            <a:r>
              <a:rPr lang="en-US" dirty="0">
                <a:ea typeface="Cambria" panose="02040503050406030204" pitchFamily="18" charset="0"/>
              </a:rPr>
              <a:t>&lt;/body&gt;</a:t>
            </a:r>
          </a:p>
          <a:p>
            <a:pPr marL="38100" lvl="3" indent="0">
              <a:lnSpc>
                <a:spcPct val="100000"/>
              </a:lnSpc>
              <a:buNone/>
            </a:pPr>
            <a:endParaRPr lang="en-IN" dirty="0"/>
          </a:p>
        </p:txBody>
      </p:sp>
      <p:pic>
        <p:nvPicPr>
          <p:cNvPr id="4" name="Picture 3">
            <a:extLst>
              <a:ext uri="{FF2B5EF4-FFF2-40B4-BE49-F238E27FC236}">
                <a16:creationId xmlns:a16="http://schemas.microsoft.com/office/drawing/2014/main" id="{F3F13BF6-D91E-8F69-81EC-2C4858FF65BD}"/>
              </a:ext>
            </a:extLst>
          </p:cNvPr>
          <p:cNvPicPr>
            <a:picLocks noChangeAspect="1"/>
          </p:cNvPicPr>
          <p:nvPr/>
        </p:nvPicPr>
        <p:blipFill rotWithShape="1">
          <a:blip r:embed="rId2">
            <a:extLst>
              <a:ext uri="{28A0092B-C50C-407E-A947-70E740481C1C}">
                <a14:useLocalDpi xmlns:a14="http://schemas.microsoft.com/office/drawing/2010/main" val="0"/>
              </a:ext>
            </a:extLst>
          </a:blip>
          <a:srcRect l="50387" t="34730" r="-580" b="41715"/>
          <a:stretch/>
        </p:blipFill>
        <p:spPr>
          <a:xfrm>
            <a:off x="5009744" y="2023352"/>
            <a:ext cx="5048655" cy="1332691"/>
          </a:xfrm>
          <a:prstGeom prst="rect">
            <a:avLst/>
          </a:prstGeom>
          <a:ln w="19050">
            <a:solidFill>
              <a:schemeClr val="tx1"/>
            </a:solidFill>
          </a:ln>
        </p:spPr>
      </p:pic>
    </p:spTree>
    <p:extLst>
      <p:ext uri="{BB962C8B-B14F-4D97-AF65-F5344CB8AC3E}">
        <p14:creationId xmlns:p14="http://schemas.microsoft.com/office/powerpoint/2010/main" val="230481103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DFBD-5689-9997-890B-4C2F16897373}"/>
              </a:ext>
            </a:extLst>
          </p:cNvPr>
          <p:cNvSpPr>
            <a:spLocks noGrp="1"/>
          </p:cNvSpPr>
          <p:nvPr>
            <p:ph type="title"/>
          </p:nvPr>
        </p:nvSpPr>
        <p:spPr/>
        <p:txBody>
          <a:bodyPr/>
          <a:lstStyle/>
          <a:p>
            <a:r>
              <a:rPr lang="en-US" dirty="0"/>
              <a:t>CSS Word Wrapping</a:t>
            </a:r>
            <a:br>
              <a:rPr lang="en-US" dirty="0"/>
            </a:br>
            <a:endParaRPr lang="en-IN" dirty="0"/>
          </a:p>
        </p:txBody>
      </p:sp>
      <p:sp>
        <p:nvSpPr>
          <p:cNvPr id="3" name="Content Placeholder 2">
            <a:extLst>
              <a:ext uri="{FF2B5EF4-FFF2-40B4-BE49-F238E27FC236}">
                <a16:creationId xmlns:a16="http://schemas.microsoft.com/office/drawing/2014/main" id="{BBF62EC9-1E8C-3E06-2FE6-60D2A4DA9361}"/>
              </a:ext>
            </a:extLst>
          </p:cNvPr>
          <p:cNvSpPr>
            <a:spLocks noGrp="1"/>
          </p:cNvSpPr>
          <p:nvPr>
            <p:ph idx="1"/>
          </p:nvPr>
        </p:nvSpPr>
        <p:spPr/>
        <p:txBody>
          <a:bodyPr/>
          <a:lstStyle/>
          <a:p>
            <a:r>
              <a:rPr lang="en-US" dirty="0"/>
              <a:t>The CSS word-wrap property allows long words to be able to be broken and wrap onto the next line. </a:t>
            </a:r>
          </a:p>
          <a:p>
            <a:r>
              <a:rPr lang="en-US" dirty="0"/>
              <a:t>If a word is too long to fit within an area, it expands outside:</a:t>
            </a:r>
          </a:p>
          <a:p>
            <a:endParaRPr lang="en-US" dirty="0"/>
          </a:p>
          <a:p>
            <a:endParaRPr lang="en-US" dirty="0"/>
          </a:p>
          <a:p>
            <a:endParaRPr lang="en-US" dirty="0"/>
          </a:p>
          <a:p>
            <a:endParaRPr lang="en-US" dirty="0"/>
          </a:p>
          <a:p>
            <a:r>
              <a:rPr lang="en-US" dirty="0"/>
              <a:t>The word-wrap property allows you to force the text to wrap - even if it means splitting it in the middle of a word:</a:t>
            </a:r>
          </a:p>
          <a:p>
            <a:endParaRPr lang="en-US" dirty="0"/>
          </a:p>
          <a:p>
            <a:endParaRPr lang="en-US" dirty="0"/>
          </a:p>
          <a:p>
            <a:endParaRPr lang="en-US" dirty="0"/>
          </a:p>
          <a:p>
            <a:endParaRPr lang="en-US" dirty="0"/>
          </a:p>
          <a:p>
            <a:endParaRPr lang="en-US" dirty="0"/>
          </a:p>
          <a:p>
            <a:endParaRPr lang="en-IN" dirty="0"/>
          </a:p>
        </p:txBody>
      </p:sp>
      <p:pic>
        <p:nvPicPr>
          <p:cNvPr id="4" name="Picture 3">
            <a:extLst>
              <a:ext uri="{FF2B5EF4-FFF2-40B4-BE49-F238E27FC236}">
                <a16:creationId xmlns:a16="http://schemas.microsoft.com/office/drawing/2014/main" id="{BBF54499-1428-9C5D-7D18-697C2D5FA1D5}"/>
              </a:ext>
            </a:extLst>
          </p:cNvPr>
          <p:cNvPicPr>
            <a:picLocks noChangeAspect="1"/>
          </p:cNvPicPr>
          <p:nvPr/>
        </p:nvPicPr>
        <p:blipFill>
          <a:blip r:embed="rId2"/>
          <a:stretch>
            <a:fillRect/>
          </a:stretch>
        </p:blipFill>
        <p:spPr>
          <a:xfrm>
            <a:off x="597031" y="2247900"/>
            <a:ext cx="4876800" cy="1962150"/>
          </a:xfrm>
          <a:prstGeom prst="rect">
            <a:avLst/>
          </a:prstGeom>
        </p:spPr>
      </p:pic>
      <p:pic>
        <p:nvPicPr>
          <p:cNvPr id="5" name="Picture 4">
            <a:extLst>
              <a:ext uri="{FF2B5EF4-FFF2-40B4-BE49-F238E27FC236}">
                <a16:creationId xmlns:a16="http://schemas.microsoft.com/office/drawing/2014/main" id="{D35E4711-107A-FC6C-CE04-2C66EDCDFA17}"/>
              </a:ext>
            </a:extLst>
          </p:cNvPr>
          <p:cNvPicPr>
            <a:picLocks noChangeAspect="1"/>
          </p:cNvPicPr>
          <p:nvPr/>
        </p:nvPicPr>
        <p:blipFill>
          <a:blip r:embed="rId3"/>
          <a:stretch>
            <a:fillRect/>
          </a:stretch>
        </p:blipFill>
        <p:spPr>
          <a:xfrm>
            <a:off x="1858061" y="4899819"/>
            <a:ext cx="2180342" cy="1797050"/>
          </a:xfrm>
          <a:prstGeom prst="rect">
            <a:avLst/>
          </a:prstGeom>
        </p:spPr>
      </p:pic>
    </p:spTree>
    <p:extLst>
      <p:ext uri="{BB962C8B-B14F-4D97-AF65-F5344CB8AC3E}">
        <p14:creationId xmlns:p14="http://schemas.microsoft.com/office/powerpoint/2010/main" val="14806564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2DEDC-D723-D1DB-64D2-D2BFF161F2E3}"/>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45641BB8-1601-5A09-4206-F08F6EDCF8CD}"/>
              </a:ext>
            </a:extLst>
          </p:cNvPr>
          <p:cNvSpPr>
            <a:spLocks noGrp="1"/>
          </p:cNvSpPr>
          <p:nvPr>
            <p:ph idx="1"/>
          </p:nvPr>
        </p:nvSpPr>
        <p:spPr/>
        <p:txBody>
          <a:bodyPr>
            <a:noAutofit/>
          </a:bodyPr>
          <a:lstStyle/>
          <a:p>
            <a:pPr marL="0" indent="0">
              <a:lnSpc>
                <a:spcPct val="120000"/>
              </a:lnSpc>
              <a:buNone/>
            </a:pPr>
            <a:r>
              <a:rPr lang="en-US" dirty="0">
                <a:ea typeface="Cambria" panose="02040503050406030204" pitchFamily="18" charset="0"/>
              </a:rPr>
              <a:t>&lt;style&gt; </a:t>
            </a:r>
          </a:p>
          <a:p>
            <a:pPr marL="1371600" lvl="3" indent="0">
              <a:lnSpc>
                <a:spcPct val="120000"/>
              </a:lnSpc>
              <a:buNone/>
            </a:pPr>
            <a:r>
              <a:rPr lang="en-US" dirty="0" err="1">
                <a:ea typeface="Cambria" panose="02040503050406030204" pitchFamily="18" charset="0"/>
              </a:rPr>
              <a:t>p.test</a:t>
            </a:r>
            <a:r>
              <a:rPr lang="en-US" dirty="0">
                <a:ea typeface="Cambria" panose="02040503050406030204" pitchFamily="18" charset="0"/>
              </a:rPr>
              <a:t> {</a:t>
            </a:r>
          </a:p>
          <a:p>
            <a:pPr marL="1371600" lvl="3" indent="0">
              <a:lnSpc>
                <a:spcPct val="120000"/>
              </a:lnSpc>
              <a:buNone/>
            </a:pPr>
            <a:r>
              <a:rPr lang="en-US" dirty="0">
                <a:ea typeface="Cambria" panose="02040503050406030204" pitchFamily="18" charset="0"/>
              </a:rPr>
              <a:t>  width: 11em; </a:t>
            </a:r>
          </a:p>
          <a:p>
            <a:pPr marL="1371600" lvl="3" indent="0">
              <a:lnSpc>
                <a:spcPct val="120000"/>
              </a:lnSpc>
              <a:buNone/>
            </a:pPr>
            <a:r>
              <a:rPr lang="en-US" dirty="0">
                <a:ea typeface="Cambria" panose="02040503050406030204" pitchFamily="18" charset="0"/>
              </a:rPr>
              <a:t>  border: 1px solid #000000;</a:t>
            </a:r>
          </a:p>
          <a:p>
            <a:pPr marL="1371600" lvl="3" indent="0">
              <a:lnSpc>
                <a:spcPct val="120000"/>
              </a:lnSpc>
              <a:buNone/>
            </a:pPr>
            <a:r>
              <a:rPr lang="en-US" dirty="0">
                <a:ea typeface="Cambria" panose="02040503050406030204" pitchFamily="18" charset="0"/>
              </a:rPr>
              <a:t>  word-wrap: break-word;</a:t>
            </a:r>
          </a:p>
          <a:p>
            <a:pPr marL="1371600" lvl="3" indent="0">
              <a:lnSpc>
                <a:spcPct val="120000"/>
              </a:lnSpc>
              <a:buNone/>
            </a:pPr>
            <a:r>
              <a:rPr lang="en-US" dirty="0">
                <a:ea typeface="Cambria" panose="02040503050406030204" pitchFamily="18" charset="0"/>
              </a:rPr>
              <a:t>}</a:t>
            </a:r>
          </a:p>
          <a:p>
            <a:pPr marL="0" indent="0">
              <a:lnSpc>
                <a:spcPct val="120000"/>
              </a:lnSpc>
              <a:buNone/>
            </a:pPr>
            <a:r>
              <a:rPr lang="en-US" dirty="0">
                <a:ea typeface="Cambria" panose="02040503050406030204" pitchFamily="18" charset="0"/>
              </a:rPr>
              <a:t>&lt;/style&gt;</a:t>
            </a:r>
          </a:p>
          <a:p>
            <a:pPr marL="0" indent="0">
              <a:lnSpc>
                <a:spcPct val="120000"/>
              </a:lnSpc>
              <a:buNone/>
            </a:pPr>
            <a:r>
              <a:rPr lang="en-US" dirty="0"/>
              <a:t>&lt;body&gt;</a:t>
            </a:r>
          </a:p>
          <a:p>
            <a:pPr marL="0" indent="0">
              <a:lnSpc>
                <a:spcPct val="120000"/>
              </a:lnSpc>
              <a:buNone/>
            </a:pPr>
            <a:r>
              <a:rPr lang="en-US" dirty="0"/>
              <a:t>&lt;h1&gt;The word-wrap Property&lt;/h1&gt;</a:t>
            </a:r>
          </a:p>
          <a:p>
            <a:pPr marL="0" indent="0">
              <a:lnSpc>
                <a:spcPct val="120000"/>
              </a:lnSpc>
              <a:buNone/>
            </a:pPr>
            <a:r>
              <a:rPr lang="en-US" dirty="0"/>
              <a:t>&lt;p class="test"&gt;This paragraph contains a very long word: </a:t>
            </a:r>
            <a:r>
              <a:rPr lang="en-US" dirty="0" err="1"/>
              <a:t>thisisaveryveryveryveryveryverylongword</a:t>
            </a:r>
            <a:r>
              <a:rPr lang="en-US" dirty="0"/>
              <a:t>. The long word will break and wrap to the next line.&lt;/p&gt;</a:t>
            </a:r>
          </a:p>
          <a:p>
            <a:pPr marL="0" indent="0">
              <a:lnSpc>
                <a:spcPct val="120000"/>
              </a:lnSpc>
              <a:buNone/>
            </a:pPr>
            <a:r>
              <a:rPr lang="en-US" dirty="0"/>
              <a:t>&lt;/body&gt;</a:t>
            </a:r>
          </a:p>
          <a:p>
            <a:pPr marL="0" indent="0">
              <a:lnSpc>
                <a:spcPct val="120000"/>
              </a:lnSpc>
              <a:buNone/>
            </a:pPr>
            <a:endParaRPr lang="en-IN" dirty="0"/>
          </a:p>
        </p:txBody>
      </p:sp>
      <p:pic>
        <p:nvPicPr>
          <p:cNvPr id="4" name="Picture 3">
            <a:extLst>
              <a:ext uri="{FF2B5EF4-FFF2-40B4-BE49-F238E27FC236}">
                <a16:creationId xmlns:a16="http://schemas.microsoft.com/office/drawing/2014/main" id="{CE4B0615-D4F9-6CB1-4FD6-F5E726B8CFDE}"/>
              </a:ext>
            </a:extLst>
          </p:cNvPr>
          <p:cNvPicPr>
            <a:picLocks noChangeAspect="1"/>
          </p:cNvPicPr>
          <p:nvPr/>
        </p:nvPicPr>
        <p:blipFill>
          <a:blip r:embed="rId2"/>
          <a:stretch>
            <a:fillRect/>
          </a:stretch>
        </p:blipFill>
        <p:spPr>
          <a:xfrm>
            <a:off x="5943600" y="1657350"/>
            <a:ext cx="5086350" cy="2590800"/>
          </a:xfrm>
          <a:prstGeom prst="rect">
            <a:avLst/>
          </a:prstGeom>
          <a:ln w="19050">
            <a:solidFill>
              <a:schemeClr val="tx1"/>
            </a:solidFill>
          </a:ln>
        </p:spPr>
      </p:pic>
    </p:spTree>
    <p:extLst>
      <p:ext uri="{BB962C8B-B14F-4D97-AF65-F5344CB8AC3E}">
        <p14:creationId xmlns:p14="http://schemas.microsoft.com/office/powerpoint/2010/main" val="125744517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DFBC5-60E5-1984-BEA5-606908EF9823}"/>
              </a:ext>
            </a:extLst>
          </p:cNvPr>
          <p:cNvSpPr>
            <a:spLocks noGrp="1"/>
          </p:cNvSpPr>
          <p:nvPr>
            <p:ph type="title"/>
          </p:nvPr>
        </p:nvSpPr>
        <p:spPr/>
        <p:txBody>
          <a:bodyPr/>
          <a:lstStyle/>
          <a:p>
            <a:r>
              <a:rPr lang="en-US" dirty="0"/>
              <a:t>CSS Word Breaking</a:t>
            </a:r>
            <a:br>
              <a:rPr lang="en-US" dirty="0"/>
            </a:br>
            <a:endParaRPr lang="en-IN" dirty="0"/>
          </a:p>
        </p:txBody>
      </p:sp>
      <p:sp>
        <p:nvSpPr>
          <p:cNvPr id="3" name="Content Placeholder 2">
            <a:extLst>
              <a:ext uri="{FF2B5EF4-FFF2-40B4-BE49-F238E27FC236}">
                <a16:creationId xmlns:a16="http://schemas.microsoft.com/office/drawing/2014/main" id="{658D1B37-7EC5-1D23-60B5-8A40B885C1C1}"/>
              </a:ext>
            </a:extLst>
          </p:cNvPr>
          <p:cNvSpPr>
            <a:spLocks noGrp="1"/>
          </p:cNvSpPr>
          <p:nvPr>
            <p:ph idx="1"/>
          </p:nvPr>
        </p:nvSpPr>
        <p:spPr/>
        <p:txBody>
          <a:bodyPr/>
          <a:lstStyle/>
          <a:p>
            <a:r>
              <a:rPr lang="en-US" dirty="0"/>
              <a:t>The CSS word-break property specifies line breaking rules.</a:t>
            </a:r>
          </a:p>
          <a:p>
            <a:endParaRPr lang="en-US" dirty="0"/>
          </a:p>
          <a:p>
            <a:endParaRPr lang="en-IN" dirty="0"/>
          </a:p>
        </p:txBody>
      </p:sp>
      <p:pic>
        <p:nvPicPr>
          <p:cNvPr id="4" name="Picture 3">
            <a:extLst>
              <a:ext uri="{FF2B5EF4-FFF2-40B4-BE49-F238E27FC236}">
                <a16:creationId xmlns:a16="http://schemas.microsoft.com/office/drawing/2014/main" id="{6CC572E0-3300-8E76-104A-671ABA6BCB50}"/>
              </a:ext>
            </a:extLst>
          </p:cNvPr>
          <p:cNvPicPr>
            <a:picLocks noChangeAspect="1"/>
          </p:cNvPicPr>
          <p:nvPr/>
        </p:nvPicPr>
        <p:blipFill>
          <a:blip r:embed="rId2"/>
          <a:stretch>
            <a:fillRect/>
          </a:stretch>
        </p:blipFill>
        <p:spPr>
          <a:xfrm>
            <a:off x="423420" y="1643062"/>
            <a:ext cx="2771775" cy="3571875"/>
          </a:xfrm>
          <a:prstGeom prst="rect">
            <a:avLst/>
          </a:prstGeom>
        </p:spPr>
      </p:pic>
    </p:spTree>
    <p:extLst>
      <p:ext uri="{BB962C8B-B14F-4D97-AF65-F5344CB8AC3E}">
        <p14:creationId xmlns:p14="http://schemas.microsoft.com/office/powerpoint/2010/main" val="121733850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1F94D-DECA-5000-F388-ED0338CEE463}"/>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BA4BEBB1-45FF-4FEF-4EF7-02CDC3525E73}"/>
              </a:ext>
            </a:extLst>
          </p:cNvPr>
          <p:cNvSpPr txBox="1"/>
          <p:nvPr/>
        </p:nvSpPr>
        <p:spPr>
          <a:xfrm>
            <a:off x="285750" y="1185119"/>
            <a:ext cx="6096000" cy="5078313"/>
          </a:xfrm>
          <a:prstGeom prst="rect">
            <a:avLst/>
          </a:prstGeom>
          <a:noFill/>
        </p:spPr>
        <p:txBody>
          <a:bodyPr wrap="square">
            <a:spAutoFit/>
          </a:bodyPr>
          <a:lstStyle/>
          <a:p>
            <a:r>
              <a:rPr lang="en-US" dirty="0">
                <a:latin typeface="Proxima Nova" panose="020B0604020202020204"/>
                <a:ea typeface="Cambria" panose="02040503050406030204" pitchFamily="18" charset="0"/>
              </a:rPr>
              <a:t>&lt;style&gt; </a:t>
            </a:r>
          </a:p>
          <a:p>
            <a:pPr lvl="3"/>
            <a:r>
              <a:rPr lang="en-US" dirty="0">
                <a:latin typeface="Proxima Nova" panose="020B0604020202020204"/>
                <a:ea typeface="Cambria" panose="02040503050406030204" pitchFamily="18" charset="0"/>
              </a:rPr>
              <a:t>p.test1 {</a:t>
            </a:r>
          </a:p>
          <a:p>
            <a:pPr lvl="3"/>
            <a:r>
              <a:rPr lang="en-US" dirty="0">
                <a:latin typeface="Proxima Nova" panose="020B0604020202020204"/>
                <a:ea typeface="Cambria" panose="02040503050406030204" pitchFamily="18" charset="0"/>
              </a:rPr>
              <a:t>  width: 140px; </a:t>
            </a:r>
          </a:p>
          <a:p>
            <a:pPr lvl="3"/>
            <a:r>
              <a:rPr lang="en-US" dirty="0">
                <a:latin typeface="Proxima Nova" panose="020B0604020202020204"/>
                <a:ea typeface="Cambria" panose="02040503050406030204" pitchFamily="18" charset="0"/>
              </a:rPr>
              <a:t>  border: 1px solid #000000;</a:t>
            </a:r>
          </a:p>
          <a:p>
            <a:pPr lvl="3"/>
            <a:r>
              <a:rPr lang="en-US" dirty="0">
                <a:latin typeface="Proxima Nova" panose="020B0604020202020204"/>
                <a:ea typeface="Cambria" panose="02040503050406030204" pitchFamily="18" charset="0"/>
              </a:rPr>
              <a:t>  word-break: keep-all;</a:t>
            </a:r>
          </a:p>
          <a:p>
            <a:pPr lvl="3"/>
            <a:r>
              <a:rPr lang="en-US" dirty="0">
                <a:latin typeface="Proxima Nova" panose="020B0604020202020204"/>
                <a:ea typeface="Cambria" panose="02040503050406030204" pitchFamily="18" charset="0"/>
              </a:rPr>
              <a:t>}s</a:t>
            </a:r>
          </a:p>
          <a:p>
            <a:pPr lvl="3"/>
            <a:r>
              <a:rPr lang="en-US" dirty="0">
                <a:latin typeface="Proxima Nova" panose="020B0604020202020204"/>
                <a:ea typeface="Cambria" panose="02040503050406030204" pitchFamily="18" charset="0"/>
              </a:rPr>
              <a:t>  width: 140px; </a:t>
            </a:r>
          </a:p>
          <a:p>
            <a:pPr lvl="3"/>
            <a:r>
              <a:rPr lang="en-US" dirty="0">
                <a:latin typeface="Proxima Nova" panose="020B0604020202020204"/>
                <a:ea typeface="Cambria" panose="02040503050406030204" pitchFamily="18" charset="0"/>
              </a:rPr>
              <a:t>  border: 1px solid #000000;</a:t>
            </a:r>
          </a:p>
          <a:p>
            <a:pPr lvl="3"/>
            <a:r>
              <a:rPr lang="en-US" dirty="0">
                <a:latin typeface="Proxima Nova" panose="020B0604020202020204"/>
                <a:ea typeface="Cambria" panose="02040503050406030204" pitchFamily="18" charset="0"/>
              </a:rPr>
              <a:t>  word-break: break-all;</a:t>
            </a:r>
          </a:p>
          <a:p>
            <a:pPr lvl="3"/>
            <a:r>
              <a:rPr lang="en-US" dirty="0">
                <a:latin typeface="Proxima Nova" panose="020B0604020202020204"/>
                <a:ea typeface="Cambria" panose="02040503050406030204" pitchFamily="18" charset="0"/>
              </a:rPr>
              <a:t>}</a:t>
            </a:r>
          </a:p>
          <a:p>
            <a:r>
              <a:rPr lang="en-US" dirty="0">
                <a:latin typeface="Proxima Nova" panose="020B0604020202020204"/>
                <a:ea typeface="Cambria" panose="02040503050406030204" pitchFamily="18" charset="0"/>
              </a:rPr>
              <a:t>&lt;/style&gt;</a:t>
            </a:r>
          </a:p>
          <a:p>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&lt;h1&gt;The word-break Property&lt;/h1&gt;</a:t>
            </a:r>
          </a:p>
          <a:p>
            <a:pPr lvl="2"/>
            <a:r>
              <a:rPr lang="en-US" dirty="0">
                <a:latin typeface="Proxima Nova" panose="020B0604020202020204"/>
                <a:ea typeface="Cambria" panose="02040503050406030204" pitchFamily="18" charset="0"/>
              </a:rPr>
              <a:t>&lt;p class="test1"&gt;This paragraph contains some text. This line will-break-at-hyphens.&lt;/p&gt;</a:t>
            </a:r>
          </a:p>
          <a:p>
            <a:pPr lvl="2"/>
            <a:r>
              <a:rPr lang="en-US" dirty="0">
                <a:latin typeface="Proxima Nova" panose="020B0604020202020204"/>
                <a:ea typeface="Cambria" panose="02040503050406030204" pitchFamily="18" charset="0"/>
              </a:rPr>
              <a:t>&lt;p class="test2"&gt;This paragraph contains some text. The lines will break at any character.&lt;/p&gt;</a:t>
            </a:r>
          </a:p>
          <a:p>
            <a:pPr marL="180975" lvl="2"/>
            <a:r>
              <a:rPr lang="en-US" dirty="0">
                <a:latin typeface="Proxima Nova" panose="020B0604020202020204"/>
                <a:ea typeface="Cambria" panose="02040503050406030204" pitchFamily="18" charset="0"/>
              </a:rPr>
              <a:t>&lt;/body&gt;</a:t>
            </a:r>
          </a:p>
        </p:txBody>
      </p:sp>
      <p:pic>
        <p:nvPicPr>
          <p:cNvPr id="6" name="Picture 5">
            <a:extLst>
              <a:ext uri="{FF2B5EF4-FFF2-40B4-BE49-F238E27FC236}">
                <a16:creationId xmlns:a16="http://schemas.microsoft.com/office/drawing/2014/main" id="{7ED76070-C187-DD6C-A8E4-BD6EDD4C118E}"/>
              </a:ext>
            </a:extLst>
          </p:cNvPr>
          <p:cNvPicPr>
            <a:picLocks noChangeAspect="1"/>
          </p:cNvPicPr>
          <p:nvPr/>
        </p:nvPicPr>
        <p:blipFill>
          <a:blip r:embed="rId2"/>
          <a:stretch>
            <a:fillRect/>
          </a:stretch>
        </p:blipFill>
        <p:spPr>
          <a:xfrm>
            <a:off x="6008451" y="1362176"/>
            <a:ext cx="5638800" cy="3438525"/>
          </a:xfrm>
          <a:prstGeom prst="rect">
            <a:avLst/>
          </a:prstGeom>
          <a:ln w="19050">
            <a:solidFill>
              <a:schemeClr val="tx1"/>
            </a:solidFill>
          </a:ln>
        </p:spPr>
      </p:pic>
    </p:spTree>
    <p:extLst>
      <p:ext uri="{BB962C8B-B14F-4D97-AF65-F5344CB8AC3E}">
        <p14:creationId xmlns:p14="http://schemas.microsoft.com/office/powerpoint/2010/main" val="298956787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593A7-13B6-B7C9-3960-4DEDA122BA61}"/>
              </a:ext>
            </a:extLst>
          </p:cNvPr>
          <p:cNvSpPr>
            <a:spLocks noGrp="1"/>
          </p:cNvSpPr>
          <p:nvPr>
            <p:ph type="title"/>
          </p:nvPr>
        </p:nvSpPr>
        <p:spPr/>
        <p:txBody>
          <a:bodyPr/>
          <a:lstStyle/>
          <a:p>
            <a:r>
              <a:rPr lang="en-US" dirty="0"/>
              <a:t>CSS Writing Mode</a:t>
            </a:r>
            <a:br>
              <a:rPr lang="en-US" dirty="0"/>
            </a:br>
            <a:endParaRPr lang="en-IN" dirty="0"/>
          </a:p>
        </p:txBody>
      </p:sp>
      <p:sp>
        <p:nvSpPr>
          <p:cNvPr id="3" name="Content Placeholder 2">
            <a:extLst>
              <a:ext uri="{FF2B5EF4-FFF2-40B4-BE49-F238E27FC236}">
                <a16:creationId xmlns:a16="http://schemas.microsoft.com/office/drawing/2014/main" id="{83F71BB0-F242-9AF1-60CA-C8B5C3C76915}"/>
              </a:ext>
            </a:extLst>
          </p:cNvPr>
          <p:cNvSpPr>
            <a:spLocks noGrp="1"/>
          </p:cNvSpPr>
          <p:nvPr>
            <p:ph idx="1"/>
          </p:nvPr>
        </p:nvSpPr>
        <p:spPr/>
        <p:txBody>
          <a:bodyPr>
            <a:noAutofit/>
          </a:bodyPr>
          <a:lstStyle/>
          <a:p>
            <a:r>
              <a:rPr lang="en-US" dirty="0"/>
              <a:t>The CSS writing-mode property specifies whether lines of text are laid out horizontally or vertically.</a:t>
            </a:r>
          </a:p>
          <a:p>
            <a:endParaRPr lang="en-US" dirty="0"/>
          </a:p>
          <a:p>
            <a:endParaRPr lang="en-IN" dirty="0"/>
          </a:p>
          <a:p>
            <a:endParaRPr lang="en-IN" dirty="0"/>
          </a:p>
          <a:p>
            <a:pPr marL="0" indent="0">
              <a:lnSpc>
                <a:spcPct val="100000"/>
              </a:lnSpc>
              <a:buNone/>
            </a:pPr>
            <a:r>
              <a:rPr lang="en-US" dirty="0">
                <a:ea typeface="Cambria" panose="02040503050406030204" pitchFamily="18" charset="0"/>
              </a:rPr>
              <a:t>&lt;head&gt;</a:t>
            </a:r>
          </a:p>
          <a:p>
            <a:pPr marL="0" indent="0">
              <a:lnSpc>
                <a:spcPct val="100000"/>
              </a:lnSpc>
              <a:buNone/>
            </a:pPr>
            <a:r>
              <a:rPr lang="en-US" dirty="0">
                <a:ea typeface="Cambria" panose="02040503050406030204" pitchFamily="18" charset="0"/>
              </a:rPr>
              <a:t>	&lt;style&gt; </a:t>
            </a:r>
          </a:p>
          <a:p>
            <a:pPr marL="1371600" lvl="3" indent="0">
              <a:lnSpc>
                <a:spcPct val="100000"/>
              </a:lnSpc>
              <a:buNone/>
            </a:pPr>
            <a:r>
              <a:rPr lang="en-US" dirty="0">
                <a:ea typeface="Cambria" panose="02040503050406030204" pitchFamily="18" charset="0"/>
              </a:rPr>
              <a:t>p.test1 {</a:t>
            </a:r>
          </a:p>
          <a:p>
            <a:pPr marL="1371600" lvl="3" indent="0">
              <a:lnSpc>
                <a:spcPct val="100000"/>
              </a:lnSpc>
              <a:buNone/>
            </a:pPr>
            <a:r>
              <a:rPr lang="en-US" dirty="0">
                <a:ea typeface="Cambria" panose="02040503050406030204" pitchFamily="18" charset="0"/>
              </a:rPr>
              <a:t>  writing-mode: horizontal-tb; </a:t>
            </a:r>
          </a:p>
          <a:p>
            <a:pPr marL="1371600" lvl="3" indent="0">
              <a:lnSpc>
                <a:spcPct val="100000"/>
              </a:lnSpc>
              <a:buNone/>
            </a:pPr>
            <a:r>
              <a:rPr lang="en-US" dirty="0">
                <a:ea typeface="Cambria" panose="02040503050406030204" pitchFamily="18" charset="0"/>
              </a:rPr>
              <a:t>}</a:t>
            </a:r>
          </a:p>
          <a:p>
            <a:pPr marL="1371600" lvl="3" indent="0">
              <a:lnSpc>
                <a:spcPct val="100000"/>
              </a:lnSpc>
              <a:buNone/>
            </a:pPr>
            <a:r>
              <a:rPr lang="en-US" dirty="0">
                <a:ea typeface="Cambria" panose="02040503050406030204" pitchFamily="18" charset="0"/>
              </a:rPr>
              <a:t>span.test2 {</a:t>
            </a:r>
          </a:p>
          <a:p>
            <a:pPr marL="1371600" lvl="3" indent="0">
              <a:lnSpc>
                <a:spcPct val="100000"/>
              </a:lnSpc>
              <a:buNone/>
            </a:pPr>
            <a:r>
              <a:rPr lang="en-US" dirty="0">
                <a:ea typeface="Cambria" panose="02040503050406030204" pitchFamily="18" charset="0"/>
              </a:rPr>
              <a:t>  writing-mode: vertical-</a:t>
            </a:r>
            <a:r>
              <a:rPr lang="en-US" dirty="0" err="1">
                <a:ea typeface="Cambria" panose="02040503050406030204" pitchFamily="18" charset="0"/>
              </a:rPr>
              <a:t>rl</a:t>
            </a:r>
            <a:r>
              <a:rPr lang="en-US" dirty="0">
                <a:ea typeface="Cambria" panose="02040503050406030204" pitchFamily="18" charset="0"/>
              </a:rPr>
              <a:t>; </a:t>
            </a:r>
          </a:p>
          <a:p>
            <a:pPr marL="1371600" lvl="3" indent="0">
              <a:lnSpc>
                <a:spcPct val="100000"/>
              </a:lnSpc>
              <a:buNone/>
            </a:pPr>
            <a:r>
              <a:rPr lang="en-US" dirty="0">
                <a:ea typeface="Cambria" panose="02040503050406030204" pitchFamily="18" charset="0"/>
              </a:rPr>
              <a:t>}</a:t>
            </a:r>
          </a:p>
          <a:p>
            <a:endParaRPr lang="en-IN" dirty="0"/>
          </a:p>
        </p:txBody>
      </p:sp>
      <p:pic>
        <p:nvPicPr>
          <p:cNvPr id="4" name="Picture 3">
            <a:extLst>
              <a:ext uri="{FF2B5EF4-FFF2-40B4-BE49-F238E27FC236}">
                <a16:creationId xmlns:a16="http://schemas.microsoft.com/office/drawing/2014/main" id="{EBF4F8C2-1DC7-B8C0-894C-BFA78011607D}"/>
              </a:ext>
            </a:extLst>
          </p:cNvPr>
          <p:cNvPicPr>
            <a:picLocks noChangeAspect="1"/>
          </p:cNvPicPr>
          <p:nvPr/>
        </p:nvPicPr>
        <p:blipFill>
          <a:blip r:embed="rId2"/>
          <a:stretch>
            <a:fillRect/>
          </a:stretch>
        </p:blipFill>
        <p:spPr>
          <a:xfrm>
            <a:off x="918554" y="1882707"/>
            <a:ext cx="5972175" cy="1447800"/>
          </a:xfrm>
          <a:prstGeom prst="rect">
            <a:avLst/>
          </a:prstGeom>
        </p:spPr>
      </p:pic>
      <p:sp>
        <p:nvSpPr>
          <p:cNvPr id="6" name="TextBox 5">
            <a:extLst>
              <a:ext uri="{FF2B5EF4-FFF2-40B4-BE49-F238E27FC236}">
                <a16:creationId xmlns:a16="http://schemas.microsoft.com/office/drawing/2014/main" id="{388522EA-8A5E-DB15-B11B-F57A82D8A838}"/>
              </a:ext>
            </a:extLst>
          </p:cNvPr>
          <p:cNvSpPr txBox="1"/>
          <p:nvPr/>
        </p:nvSpPr>
        <p:spPr>
          <a:xfrm>
            <a:off x="4867275" y="3149590"/>
            <a:ext cx="6096000" cy="3693319"/>
          </a:xfrm>
          <a:prstGeom prst="rect">
            <a:avLst/>
          </a:prstGeom>
          <a:noFill/>
        </p:spPr>
        <p:txBody>
          <a:bodyPr wrap="square">
            <a:spAutoFit/>
          </a:bodyPr>
          <a:lstStyle/>
          <a:p>
            <a:pPr marL="1371600" lvl="3" indent="0">
              <a:lnSpc>
                <a:spcPct val="100000"/>
              </a:lnSpc>
              <a:buNone/>
            </a:pPr>
            <a:r>
              <a:rPr lang="en-US" dirty="0">
                <a:latin typeface="Proxima Nova" panose="020B0604020202020204"/>
                <a:ea typeface="Cambria" panose="02040503050406030204" pitchFamily="18" charset="0"/>
              </a:rPr>
              <a:t>p.test2 {</a:t>
            </a:r>
          </a:p>
          <a:p>
            <a:pPr marL="1371600" lvl="3" indent="0">
              <a:lnSpc>
                <a:spcPct val="100000"/>
              </a:lnSpc>
              <a:buNone/>
            </a:pPr>
            <a:r>
              <a:rPr lang="en-US" dirty="0">
                <a:latin typeface="Proxima Nova" panose="020B0604020202020204"/>
                <a:ea typeface="Cambria" panose="02040503050406030204" pitchFamily="18" charset="0"/>
              </a:rPr>
              <a:t>  writing-mode: vertical-</a:t>
            </a:r>
            <a:r>
              <a:rPr lang="en-US" dirty="0" err="1">
                <a:latin typeface="Proxima Nova" panose="020B0604020202020204"/>
                <a:ea typeface="Cambria" panose="02040503050406030204" pitchFamily="18" charset="0"/>
              </a:rPr>
              <a:t>rl</a:t>
            </a:r>
            <a:r>
              <a:rPr lang="en-US" dirty="0">
                <a:latin typeface="Proxima Nova" panose="020B0604020202020204"/>
                <a:ea typeface="Cambria" panose="02040503050406030204" pitchFamily="18" charset="0"/>
              </a:rPr>
              <a:t>; </a:t>
            </a:r>
          </a:p>
          <a:p>
            <a:pPr marL="1371600" lvl="3" indent="0">
              <a:lnSpc>
                <a:spcPct val="100000"/>
              </a:lnSpc>
              <a:buNone/>
            </a:pPr>
            <a:r>
              <a:rPr lang="en-US" dirty="0">
                <a:latin typeface="Proxima Nova" panose="020B0604020202020204"/>
                <a:ea typeface="Cambria" panose="02040503050406030204" pitchFamily="18" charset="0"/>
              </a:rPr>
              <a:t>}</a:t>
            </a:r>
          </a:p>
          <a:p>
            <a:pPr marL="0" indent="0">
              <a:lnSpc>
                <a:spcPct val="100000"/>
              </a:lnSpc>
              <a:buNone/>
            </a:pPr>
            <a:r>
              <a:rPr lang="en-US" dirty="0">
                <a:latin typeface="Proxima Nova" panose="020B0604020202020204"/>
                <a:ea typeface="Cambria" panose="02040503050406030204" pitchFamily="18" charset="0"/>
              </a:rPr>
              <a:t>	&lt;/style&gt;</a:t>
            </a:r>
          </a:p>
          <a:p>
            <a:pPr marL="457200" lvl="1" indent="0">
              <a:lnSpc>
                <a:spcPct val="100000"/>
              </a:lnSpc>
              <a:buNone/>
            </a:pPr>
            <a:r>
              <a:rPr lang="en-US" dirty="0">
                <a:latin typeface="Proxima Nova" panose="020B0604020202020204"/>
                <a:ea typeface="Cambria" panose="02040503050406030204" pitchFamily="18" charset="0"/>
              </a:rPr>
              <a:t>&lt;/head&gt;</a:t>
            </a:r>
          </a:p>
          <a:p>
            <a:pPr marL="457200" lvl="1" indent="0">
              <a:lnSpc>
                <a:spcPct val="100000"/>
              </a:lnSpc>
              <a:buNone/>
            </a:pPr>
            <a:r>
              <a:rPr lang="en-US" dirty="0">
                <a:latin typeface="Proxima Nova" panose="020B0604020202020204"/>
                <a:ea typeface="Cambria" panose="02040503050406030204" pitchFamily="18" charset="0"/>
              </a:rPr>
              <a:t>&lt;body&gt;</a:t>
            </a:r>
          </a:p>
          <a:p>
            <a:pPr marL="914400" lvl="2" indent="0">
              <a:lnSpc>
                <a:spcPct val="100000"/>
              </a:lnSpc>
              <a:buNone/>
            </a:pPr>
            <a:r>
              <a:rPr lang="en-US" dirty="0">
                <a:latin typeface="Proxima Nova" panose="020B0604020202020204"/>
                <a:ea typeface="Cambria" panose="02040503050406030204" pitchFamily="18" charset="0"/>
              </a:rPr>
              <a:t>&lt;p class="test1"&gt;Some text with default writing-mode.&lt;/p&gt;</a:t>
            </a:r>
          </a:p>
          <a:p>
            <a:pPr marL="914400" lvl="2" indent="0">
              <a:lnSpc>
                <a:spcPct val="100000"/>
              </a:lnSpc>
              <a:buNone/>
            </a:pPr>
            <a:r>
              <a:rPr lang="en-US" dirty="0">
                <a:latin typeface="Proxima Nova" panose="020B0604020202020204"/>
                <a:ea typeface="Cambria" panose="02040503050406030204" pitchFamily="18" charset="0"/>
              </a:rPr>
              <a:t>&lt;p&gt;Some text with a span element with a &lt;span class="test2"&gt;vertical-</a:t>
            </a:r>
            <a:r>
              <a:rPr lang="en-US" dirty="0" err="1">
                <a:latin typeface="Proxima Nova" panose="020B0604020202020204"/>
                <a:ea typeface="Cambria" panose="02040503050406030204" pitchFamily="18" charset="0"/>
              </a:rPr>
              <a:t>rl</a:t>
            </a:r>
            <a:r>
              <a:rPr lang="en-US" dirty="0">
                <a:latin typeface="Proxima Nova" panose="020B0604020202020204"/>
                <a:ea typeface="Cambria" panose="02040503050406030204" pitchFamily="18" charset="0"/>
              </a:rPr>
              <a:t>&lt;/span&gt; writing-mode.&lt;/p&gt;</a:t>
            </a:r>
          </a:p>
          <a:p>
            <a:pPr marL="914400" lvl="2" indent="0">
              <a:lnSpc>
                <a:spcPct val="100000"/>
              </a:lnSpc>
              <a:buNone/>
            </a:pPr>
            <a:r>
              <a:rPr lang="en-US" dirty="0">
                <a:latin typeface="Proxima Nova" panose="020B0604020202020204"/>
                <a:ea typeface="Cambria" panose="02040503050406030204" pitchFamily="18" charset="0"/>
              </a:rPr>
              <a:t>&lt;p class="test2"&gt;Some text with writing-mode: vertical-</a:t>
            </a:r>
            <a:r>
              <a:rPr lang="en-US" dirty="0" err="1">
                <a:latin typeface="Proxima Nova" panose="020B0604020202020204"/>
                <a:ea typeface="Cambria" panose="02040503050406030204" pitchFamily="18" charset="0"/>
              </a:rPr>
              <a:t>rl</a:t>
            </a:r>
            <a:r>
              <a:rPr lang="en-US" dirty="0">
                <a:latin typeface="Proxima Nova" panose="020B0604020202020204"/>
                <a:ea typeface="Cambria" panose="02040503050406030204" pitchFamily="18" charset="0"/>
              </a:rPr>
              <a:t>.&lt;/p&gt;</a:t>
            </a:r>
          </a:p>
        </p:txBody>
      </p:sp>
    </p:spTree>
    <p:extLst>
      <p:ext uri="{BB962C8B-B14F-4D97-AF65-F5344CB8AC3E}">
        <p14:creationId xmlns:p14="http://schemas.microsoft.com/office/powerpoint/2010/main" val="21131564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BCAA9-EF29-F91C-C783-863DE0FA3695}"/>
              </a:ext>
            </a:extLst>
          </p:cNvPr>
          <p:cNvSpPr>
            <a:spLocks noGrp="1"/>
          </p:cNvSpPr>
          <p:nvPr>
            <p:ph type="title"/>
          </p:nvPr>
        </p:nvSpPr>
        <p:spPr/>
        <p:txBody>
          <a:bodyPr/>
          <a:lstStyle/>
          <a:p>
            <a:r>
              <a:rPr lang="en-US" dirty="0"/>
              <a:t>Output</a:t>
            </a:r>
            <a:endParaRPr lang="en-IN" dirty="0"/>
          </a:p>
        </p:txBody>
      </p:sp>
      <p:pic>
        <p:nvPicPr>
          <p:cNvPr id="4" name="Picture 3">
            <a:extLst>
              <a:ext uri="{FF2B5EF4-FFF2-40B4-BE49-F238E27FC236}">
                <a16:creationId xmlns:a16="http://schemas.microsoft.com/office/drawing/2014/main" id="{B7222B3E-0EAA-AFA5-8025-0CBC5193D2F7}"/>
              </a:ext>
            </a:extLst>
          </p:cNvPr>
          <p:cNvPicPr>
            <a:picLocks noChangeAspect="1"/>
          </p:cNvPicPr>
          <p:nvPr/>
        </p:nvPicPr>
        <p:blipFill>
          <a:blip r:embed="rId2"/>
          <a:stretch>
            <a:fillRect/>
          </a:stretch>
        </p:blipFill>
        <p:spPr>
          <a:xfrm>
            <a:off x="2337070" y="1781683"/>
            <a:ext cx="5505450" cy="3560628"/>
          </a:xfrm>
          <a:prstGeom prst="rect">
            <a:avLst/>
          </a:prstGeom>
          <a:ln w="19050">
            <a:solidFill>
              <a:schemeClr val="tx1"/>
            </a:solidFill>
          </a:ln>
        </p:spPr>
      </p:pic>
    </p:spTree>
    <p:extLst>
      <p:ext uri="{BB962C8B-B14F-4D97-AF65-F5344CB8AC3E}">
        <p14:creationId xmlns:p14="http://schemas.microsoft.com/office/powerpoint/2010/main" val="229306034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7160-6D68-5140-1BAD-B4F0D5E8C48D}"/>
              </a:ext>
            </a:extLst>
          </p:cNvPr>
          <p:cNvSpPr>
            <a:spLocks noGrp="1"/>
          </p:cNvSpPr>
          <p:nvPr>
            <p:ph type="title"/>
          </p:nvPr>
        </p:nvSpPr>
        <p:spPr/>
        <p:txBody>
          <a:bodyPr/>
          <a:lstStyle/>
          <a:p>
            <a:r>
              <a:rPr lang="en-US" dirty="0"/>
              <a:t>CSS 2D Transforms</a:t>
            </a:r>
            <a:br>
              <a:rPr lang="en-US" dirty="0"/>
            </a:br>
            <a:endParaRPr lang="en-IN" dirty="0"/>
          </a:p>
        </p:txBody>
      </p:sp>
      <p:sp>
        <p:nvSpPr>
          <p:cNvPr id="3" name="Content Placeholder 2">
            <a:extLst>
              <a:ext uri="{FF2B5EF4-FFF2-40B4-BE49-F238E27FC236}">
                <a16:creationId xmlns:a16="http://schemas.microsoft.com/office/drawing/2014/main" id="{B3CF3552-30E0-3FC8-A95D-5956010EE78F}"/>
              </a:ext>
            </a:extLst>
          </p:cNvPr>
          <p:cNvSpPr>
            <a:spLocks noGrp="1"/>
          </p:cNvSpPr>
          <p:nvPr>
            <p:ph idx="1"/>
          </p:nvPr>
        </p:nvSpPr>
        <p:spPr/>
        <p:txBody>
          <a:bodyPr>
            <a:noAutofit/>
          </a:bodyPr>
          <a:lstStyle/>
          <a:p>
            <a:r>
              <a:rPr lang="en-US" dirty="0"/>
              <a:t>CSS transforms allow you to move, rotate, scale, and skew elements.</a:t>
            </a:r>
            <a:endParaRPr lang="en-US" b="1" dirty="0"/>
          </a:p>
          <a:p>
            <a:r>
              <a:rPr lang="en-US" b="1" dirty="0"/>
              <a:t>CSS 2D Transforms Methods</a:t>
            </a:r>
            <a:endParaRPr lang="en-US" dirty="0"/>
          </a:p>
          <a:p>
            <a:r>
              <a:rPr lang="en-US" dirty="0"/>
              <a:t>With the CSS transform property you can use the following 2D transformation methods:</a:t>
            </a:r>
          </a:p>
          <a:p>
            <a:pPr>
              <a:lnSpc>
                <a:spcPct val="100000"/>
              </a:lnSpc>
            </a:pPr>
            <a:r>
              <a:rPr lang="en-US" dirty="0"/>
              <a:t>    translate()</a:t>
            </a:r>
          </a:p>
          <a:p>
            <a:pPr>
              <a:lnSpc>
                <a:spcPct val="100000"/>
              </a:lnSpc>
            </a:pPr>
            <a:r>
              <a:rPr lang="en-US" dirty="0"/>
              <a:t>    rotate()</a:t>
            </a:r>
          </a:p>
          <a:p>
            <a:pPr>
              <a:lnSpc>
                <a:spcPct val="100000"/>
              </a:lnSpc>
            </a:pPr>
            <a:r>
              <a:rPr lang="en-US" dirty="0"/>
              <a:t>    </a:t>
            </a:r>
            <a:r>
              <a:rPr lang="en-US" dirty="0" err="1"/>
              <a:t>scaleX</a:t>
            </a:r>
            <a:r>
              <a:rPr lang="en-US" dirty="0"/>
              <a:t>()</a:t>
            </a:r>
          </a:p>
          <a:p>
            <a:pPr>
              <a:lnSpc>
                <a:spcPct val="100000"/>
              </a:lnSpc>
            </a:pPr>
            <a:r>
              <a:rPr lang="en-US" dirty="0"/>
              <a:t>    </a:t>
            </a:r>
            <a:r>
              <a:rPr lang="en-US" dirty="0" err="1"/>
              <a:t>scaleY</a:t>
            </a:r>
            <a:r>
              <a:rPr lang="en-US" dirty="0"/>
              <a:t>()</a:t>
            </a:r>
          </a:p>
          <a:p>
            <a:pPr>
              <a:lnSpc>
                <a:spcPct val="100000"/>
              </a:lnSpc>
            </a:pPr>
            <a:r>
              <a:rPr lang="en-US" dirty="0"/>
              <a:t>    scale()</a:t>
            </a:r>
          </a:p>
          <a:p>
            <a:pPr>
              <a:lnSpc>
                <a:spcPct val="100000"/>
              </a:lnSpc>
            </a:pPr>
            <a:r>
              <a:rPr lang="en-US" dirty="0"/>
              <a:t>    </a:t>
            </a:r>
            <a:r>
              <a:rPr lang="en-US" dirty="0" err="1"/>
              <a:t>skewX</a:t>
            </a:r>
            <a:r>
              <a:rPr lang="en-US" dirty="0"/>
              <a:t>()</a:t>
            </a:r>
          </a:p>
          <a:p>
            <a:pPr>
              <a:lnSpc>
                <a:spcPct val="100000"/>
              </a:lnSpc>
            </a:pPr>
            <a:r>
              <a:rPr lang="en-US" dirty="0"/>
              <a:t>    </a:t>
            </a:r>
            <a:r>
              <a:rPr lang="en-US" dirty="0" err="1"/>
              <a:t>skewY</a:t>
            </a:r>
            <a:r>
              <a:rPr lang="en-US" dirty="0"/>
              <a:t>()</a:t>
            </a:r>
          </a:p>
          <a:p>
            <a:pPr>
              <a:lnSpc>
                <a:spcPct val="100000"/>
              </a:lnSpc>
            </a:pPr>
            <a:r>
              <a:rPr lang="en-US" dirty="0"/>
              <a:t>    skew()</a:t>
            </a:r>
          </a:p>
          <a:p>
            <a:pPr>
              <a:lnSpc>
                <a:spcPct val="100000"/>
              </a:lnSpc>
            </a:pPr>
            <a:r>
              <a:rPr lang="en-US" dirty="0"/>
              <a:t>    matrix()</a:t>
            </a:r>
          </a:p>
          <a:p>
            <a:endParaRPr lang="en-US" dirty="0"/>
          </a:p>
          <a:p>
            <a:endParaRPr lang="en-IN" dirty="0"/>
          </a:p>
        </p:txBody>
      </p:sp>
    </p:spTree>
    <p:extLst>
      <p:ext uri="{BB962C8B-B14F-4D97-AF65-F5344CB8AC3E}">
        <p14:creationId xmlns:p14="http://schemas.microsoft.com/office/powerpoint/2010/main" val="22844365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C959B-1244-E541-88AA-3015E96231FF}"/>
              </a:ext>
            </a:extLst>
          </p:cNvPr>
          <p:cNvSpPr>
            <a:spLocks noGrp="1"/>
          </p:cNvSpPr>
          <p:nvPr>
            <p:ph type="title"/>
          </p:nvPr>
        </p:nvSpPr>
        <p:spPr/>
        <p:txBody>
          <a:bodyPr/>
          <a:lstStyle/>
          <a:p>
            <a:r>
              <a:rPr lang="en-US" dirty="0"/>
              <a:t>The translate() Method</a:t>
            </a:r>
            <a:br>
              <a:rPr lang="en-US" dirty="0"/>
            </a:br>
            <a:endParaRPr lang="en-IN" dirty="0"/>
          </a:p>
        </p:txBody>
      </p:sp>
      <p:sp>
        <p:nvSpPr>
          <p:cNvPr id="3" name="Content Placeholder 2">
            <a:extLst>
              <a:ext uri="{FF2B5EF4-FFF2-40B4-BE49-F238E27FC236}">
                <a16:creationId xmlns:a16="http://schemas.microsoft.com/office/drawing/2014/main" id="{27AC15C2-A17F-E574-F2D5-4E32EFF49C4A}"/>
              </a:ext>
            </a:extLst>
          </p:cNvPr>
          <p:cNvSpPr>
            <a:spLocks noGrp="1"/>
          </p:cNvSpPr>
          <p:nvPr>
            <p:ph idx="1"/>
          </p:nvPr>
        </p:nvSpPr>
        <p:spPr/>
        <p:txBody>
          <a:bodyPr>
            <a:normAutofit lnSpcReduction="10000"/>
          </a:bodyPr>
          <a:lstStyle/>
          <a:p>
            <a:r>
              <a:rPr lang="en-US" dirty="0"/>
              <a:t>The translate() method moves an element from its current position (according to the parameters given for the X-axis and the Y-axis).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The following example moves the &lt;div&gt; element 50 pixels to the right, and 100 pixels down from its current position</a:t>
            </a:r>
          </a:p>
          <a:p>
            <a:endParaRPr lang="en-IN" dirty="0"/>
          </a:p>
        </p:txBody>
      </p:sp>
      <p:pic>
        <p:nvPicPr>
          <p:cNvPr id="4" name="Picture 3">
            <a:extLst>
              <a:ext uri="{FF2B5EF4-FFF2-40B4-BE49-F238E27FC236}">
                <a16:creationId xmlns:a16="http://schemas.microsoft.com/office/drawing/2014/main" id="{68B8463C-4603-1C91-FBCB-078EC34F99F2}"/>
              </a:ext>
            </a:extLst>
          </p:cNvPr>
          <p:cNvPicPr>
            <a:picLocks noChangeAspect="1"/>
          </p:cNvPicPr>
          <p:nvPr/>
        </p:nvPicPr>
        <p:blipFill>
          <a:blip r:embed="rId2"/>
          <a:stretch>
            <a:fillRect/>
          </a:stretch>
        </p:blipFill>
        <p:spPr>
          <a:xfrm>
            <a:off x="1046736" y="2300276"/>
            <a:ext cx="2457450" cy="1962150"/>
          </a:xfrm>
          <a:prstGeom prst="rect">
            <a:avLst/>
          </a:prstGeom>
        </p:spPr>
      </p:pic>
    </p:spTree>
    <p:extLst>
      <p:ext uri="{BB962C8B-B14F-4D97-AF65-F5344CB8AC3E}">
        <p14:creationId xmlns:p14="http://schemas.microsoft.com/office/powerpoint/2010/main" val="77163915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74ED3-4C06-7177-9958-3274C2CB9448}"/>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6BEBD713-F414-8D6B-B239-32D8033F9AE7}"/>
              </a:ext>
            </a:extLst>
          </p:cNvPr>
          <p:cNvSpPr txBox="1"/>
          <p:nvPr/>
        </p:nvSpPr>
        <p:spPr>
          <a:xfrm>
            <a:off x="695325" y="1013218"/>
            <a:ext cx="6096000" cy="6186309"/>
          </a:xfrm>
          <a:prstGeom prst="rect">
            <a:avLst/>
          </a:prstGeom>
          <a:noFill/>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 </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background-color: yellow;</a:t>
            </a:r>
          </a:p>
          <a:p>
            <a:pPr lvl="3"/>
            <a:r>
              <a:rPr lang="en-US" dirty="0">
                <a:latin typeface="Proxima Nova" panose="020B0604020202020204"/>
                <a:ea typeface="Cambria" panose="02040503050406030204" pitchFamily="18" charset="0"/>
              </a:rPr>
              <a:t>  border: 1px solid black;</a:t>
            </a:r>
          </a:p>
          <a:p>
            <a:pPr lvl="3"/>
            <a:r>
              <a:rPr lang="en-US" dirty="0">
                <a:latin typeface="Proxima Nova" panose="020B0604020202020204"/>
                <a:ea typeface="Cambria" panose="02040503050406030204" pitchFamily="18" charset="0"/>
              </a:rPr>
              <a:t>  transform: translate(50px,100px);</a:t>
            </a:r>
          </a:p>
          <a:p>
            <a:pPr lvl="3"/>
            <a:r>
              <a:rPr lang="en-US" dirty="0">
                <a:latin typeface="Proxima Nova" panose="020B0604020202020204"/>
                <a:ea typeface="Cambria" panose="02040503050406030204" pitchFamily="18" charset="0"/>
              </a:rPr>
              <a:t>}</a:t>
            </a:r>
          </a:p>
          <a:p>
            <a:pPr lvl="2"/>
            <a:r>
              <a:rPr lang="en-US" dirty="0">
                <a:latin typeface="Proxima Nova" panose="020B0604020202020204"/>
                <a:ea typeface="Cambria" panose="02040503050406030204" pitchFamily="18" charset="0"/>
              </a:rPr>
              <a:t>&lt;/style&gt;</a:t>
            </a:r>
          </a:p>
          <a:p>
            <a:pPr lvl="1"/>
            <a:r>
              <a:rPr lang="en-US" dirty="0">
                <a:latin typeface="Proxima Nova" panose="020B0604020202020204"/>
                <a:ea typeface="Cambria" panose="02040503050406030204" pitchFamily="18" charset="0"/>
              </a:rPr>
              <a:t>&lt;/head&gt;</a:t>
            </a:r>
          </a:p>
          <a:p>
            <a:pPr lvl="1"/>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This div element is moved 50 pixels to the right, and 100 pixels down from its current position.</a:t>
            </a:r>
          </a:p>
          <a:p>
            <a:pPr lvl="2"/>
            <a:r>
              <a:rPr lang="en-US" dirty="0">
                <a:latin typeface="Proxima Nova" panose="020B0604020202020204"/>
                <a:ea typeface="Cambria" panose="02040503050406030204" pitchFamily="18" charset="0"/>
              </a:rPr>
              <a:t>&lt;/div&gt;</a:t>
            </a: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a:p>
            <a:endParaRPr lang="en-US" dirty="0">
              <a:latin typeface="Proxima Nova" panose="020B0604020202020204"/>
            </a:endParaRPr>
          </a:p>
          <a:p>
            <a:endParaRPr lang="en-US" dirty="0">
              <a:latin typeface="Proxima Nova" panose="020B0604020202020204"/>
            </a:endParaRPr>
          </a:p>
        </p:txBody>
      </p:sp>
      <p:pic>
        <p:nvPicPr>
          <p:cNvPr id="6" name="Picture 5">
            <a:extLst>
              <a:ext uri="{FF2B5EF4-FFF2-40B4-BE49-F238E27FC236}">
                <a16:creationId xmlns:a16="http://schemas.microsoft.com/office/drawing/2014/main" id="{3B29A224-052D-B3A3-A28D-ABB7B0A9F108}"/>
              </a:ext>
            </a:extLst>
          </p:cNvPr>
          <p:cNvPicPr>
            <a:picLocks noChangeAspect="1"/>
          </p:cNvPicPr>
          <p:nvPr/>
        </p:nvPicPr>
        <p:blipFill>
          <a:blip r:embed="rId2"/>
          <a:stretch>
            <a:fillRect/>
          </a:stretch>
        </p:blipFill>
        <p:spPr>
          <a:xfrm>
            <a:off x="6580455" y="1269054"/>
            <a:ext cx="4800093" cy="3752850"/>
          </a:xfrm>
          <a:prstGeom prst="rect">
            <a:avLst/>
          </a:prstGeom>
          <a:ln w="19050">
            <a:solidFill>
              <a:schemeClr val="tx1"/>
            </a:solidFill>
          </a:ln>
        </p:spPr>
      </p:pic>
    </p:spTree>
    <p:extLst>
      <p:ext uri="{BB962C8B-B14F-4D97-AF65-F5344CB8AC3E}">
        <p14:creationId xmlns:p14="http://schemas.microsoft.com/office/powerpoint/2010/main" val="278645054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rotate() Method</a:t>
            </a:r>
          </a:p>
        </p:txBody>
      </p:sp>
      <p:sp>
        <p:nvSpPr>
          <p:cNvPr id="3" name="Content Placeholder 2"/>
          <p:cNvSpPr>
            <a:spLocks noGrp="1"/>
          </p:cNvSpPr>
          <p:nvPr>
            <p:ph idx="1"/>
          </p:nvPr>
        </p:nvSpPr>
        <p:spPr/>
        <p:txBody>
          <a:bodyPr/>
          <a:lstStyle/>
          <a:p>
            <a:r>
              <a:rPr lang="en-US" dirty="0"/>
              <a:t>The rotate() method rotates an element clockwise or counter-clockwise according to a given degree.</a:t>
            </a:r>
          </a:p>
          <a:p>
            <a:endParaRPr lang="en-US" dirty="0"/>
          </a:p>
          <a:p>
            <a:endParaRPr lang="en-US" dirty="0"/>
          </a:p>
          <a:p>
            <a:endParaRPr lang="en-US" dirty="0"/>
          </a:p>
          <a:p>
            <a:endParaRPr lang="en-US" dirty="0"/>
          </a:p>
          <a:p>
            <a:endParaRPr lang="en-US" dirty="0"/>
          </a:p>
          <a:p>
            <a:r>
              <a:rPr lang="en-US" dirty="0"/>
              <a:t>The following example rotates the &lt;div&gt; element clockwise with 20 degrees.</a:t>
            </a:r>
          </a:p>
          <a:p>
            <a:r>
              <a:rPr lang="en-US" dirty="0"/>
              <a:t>Using negative values will rotate the element counter-clockwise.</a:t>
            </a:r>
          </a:p>
        </p:txBody>
      </p:sp>
      <p:sp>
        <p:nvSpPr>
          <p:cNvPr id="4" name="Slide Number Placeholder 3"/>
          <p:cNvSpPr>
            <a:spLocks noGrp="1"/>
          </p:cNvSpPr>
          <p:nvPr>
            <p:ph type="sldNum" sz="quarter" idx="12"/>
          </p:nvPr>
        </p:nvSpPr>
        <p:spPr/>
        <p:txBody>
          <a:bodyPr/>
          <a:lstStyle/>
          <a:p>
            <a:fld id="{9C11CE39-2868-44A2-A0C6-827D458F7A8B}" type="slidenum">
              <a:rPr lang="en-IN" smtClean="0"/>
              <a:pPr/>
              <a:t>116</a:t>
            </a:fld>
            <a:endParaRPr lang="en-IN" dirty="0"/>
          </a:p>
        </p:txBody>
      </p:sp>
      <p:pic>
        <p:nvPicPr>
          <p:cNvPr id="5" name="Picture 4"/>
          <p:cNvPicPr>
            <a:picLocks noChangeAspect="1"/>
          </p:cNvPicPr>
          <p:nvPr/>
        </p:nvPicPr>
        <p:blipFill>
          <a:blip r:embed="rId2"/>
          <a:stretch>
            <a:fillRect/>
          </a:stretch>
        </p:blipFill>
        <p:spPr>
          <a:xfrm>
            <a:off x="4123413" y="2042707"/>
            <a:ext cx="2486025" cy="1819275"/>
          </a:xfrm>
          <a:prstGeom prst="rect">
            <a:avLst/>
          </a:prstGeom>
        </p:spPr>
      </p:pic>
    </p:spTree>
    <p:extLst>
      <p:ext uri="{BB962C8B-B14F-4D97-AF65-F5344CB8AC3E}">
        <p14:creationId xmlns:p14="http://schemas.microsoft.com/office/powerpoint/2010/main" val="41052312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117</a:t>
            </a:fld>
            <a:endParaRPr lang="en-IN" dirty="0"/>
          </a:p>
        </p:txBody>
      </p:sp>
      <p:sp>
        <p:nvSpPr>
          <p:cNvPr id="5" name="Rectangle 4"/>
          <p:cNvSpPr/>
          <p:nvPr/>
        </p:nvSpPr>
        <p:spPr>
          <a:xfrm>
            <a:off x="519822" y="1154222"/>
            <a:ext cx="8424153" cy="6186309"/>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 </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background-color: yellow;</a:t>
            </a:r>
          </a:p>
          <a:p>
            <a:pPr lvl="3"/>
            <a:r>
              <a:rPr lang="en-US" dirty="0">
                <a:latin typeface="Proxima Nova" panose="020B0604020202020204"/>
                <a:ea typeface="Cambria" panose="02040503050406030204" pitchFamily="18" charset="0"/>
              </a:rPr>
              <a:t>  border: 1px solid black;</a:t>
            </a:r>
          </a:p>
          <a:p>
            <a:pPr lvl="3"/>
            <a:r>
              <a:rPr lang="en-US" dirty="0">
                <a:latin typeface="Proxima Nova" panose="020B0604020202020204"/>
                <a:ea typeface="Cambria" panose="02040503050406030204" pitchFamily="18" charset="0"/>
              </a:rPr>
              <a:t>}</a:t>
            </a:r>
          </a:p>
          <a:p>
            <a:pPr lvl="3"/>
            <a:r>
              <a:rPr lang="en-US" dirty="0" err="1">
                <a:latin typeface="Proxima Nova" panose="020B0604020202020204"/>
                <a:ea typeface="Cambria" panose="02040503050406030204" pitchFamily="18" charset="0"/>
              </a:rPr>
              <a:t>div#myDiv</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transform: rotate(20deg);</a:t>
            </a:r>
          </a:p>
          <a:p>
            <a:pPr lvl="3"/>
            <a:r>
              <a:rPr lang="en-US" dirty="0">
                <a:latin typeface="Proxima Nova" panose="020B0604020202020204"/>
                <a:ea typeface="Cambria" panose="02040503050406030204" pitchFamily="18" charset="0"/>
              </a:rPr>
              <a:t>}&lt;/style&gt;</a:t>
            </a:r>
          </a:p>
          <a:p>
            <a:pPr lvl="1"/>
            <a:r>
              <a:rPr lang="en-US" dirty="0">
                <a:latin typeface="Proxima Nova" panose="020B0604020202020204"/>
                <a:ea typeface="Cambria" panose="02040503050406030204" pitchFamily="18" charset="0"/>
              </a:rPr>
              <a:t>&lt;/head&gt;</a:t>
            </a:r>
          </a:p>
          <a:p>
            <a:pPr lvl="1"/>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	This a normal div element.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&lt;div id="</a:t>
            </a:r>
            <a:r>
              <a:rPr lang="en-US" dirty="0" err="1">
                <a:latin typeface="Proxima Nova" panose="020B0604020202020204"/>
                <a:ea typeface="Cambria" panose="02040503050406030204" pitchFamily="18" charset="0"/>
              </a:rPr>
              <a:t>myDiv</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	This div element is rotated clockwise 20 degrees.</a:t>
            </a:r>
          </a:p>
          <a:p>
            <a:endParaRPr lang="en-US" dirty="0">
              <a:latin typeface="Proxima Nova" panose="020B0604020202020204"/>
            </a:endParaRPr>
          </a:p>
          <a:p>
            <a:endParaRPr lang="en-US" dirty="0">
              <a:latin typeface="Proxima Nova" panose="020B0604020202020204"/>
            </a:endParaRPr>
          </a:p>
        </p:txBody>
      </p:sp>
      <p:pic>
        <p:nvPicPr>
          <p:cNvPr id="2" name="Picture 1"/>
          <p:cNvPicPr>
            <a:picLocks noChangeAspect="1"/>
          </p:cNvPicPr>
          <p:nvPr/>
        </p:nvPicPr>
        <p:blipFill>
          <a:blip r:embed="rId2"/>
          <a:stretch>
            <a:fillRect/>
          </a:stretch>
        </p:blipFill>
        <p:spPr>
          <a:xfrm>
            <a:off x="5948362" y="1416016"/>
            <a:ext cx="5324475" cy="3743325"/>
          </a:xfrm>
          <a:prstGeom prst="rect">
            <a:avLst/>
          </a:prstGeom>
          <a:ln w="19050">
            <a:solidFill>
              <a:schemeClr val="tx1"/>
            </a:solidFill>
          </a:ln>
        </p:spPr>
      </p:pic>
      <p:sp>
        <p:nvSpPr>
          <p:cNvPr id="6" name="TextBox 5">
            <a:extLst>
              <a:ext uri="{FF2B5EF4-FFF2-40B4-BE49-F238E27FC236}">
                <a16:creationId xmlns:a16="http://schemas.microsoft.com/office/drawing/2014/main" id="{7899185E-2F9D-1EBB-39B8-ACFF387F9ADF}"/>
              </a:ext>
            </a:extLst>
          </p:cNvPr>
          <p:cNvSpPr txBox="1"/>
          <p:nvPr/>
        </p:nvSpPr>
        <p:spPr>
          <a:xfrm>
            <a:off x="7715250" y="5737294"/>
            <a:ext cx="6096000" cy="923330"/>
          </a:xfrm>
          <a:prstGeom prst="rect">
            <a:avLst/>
          </a:prstGeom>
          <a:noFill/>
        </p:spPr>
        <p:txBody>
          <a:bodyPr wrap="square">
            <a:spAutoFit/>
          </a:bodyPr>
          <a:lstStyle/>
          <a:p>
            <a:pPr lvl="2"/>
            <a:r>
              <a:rPr lang="en-US" dirty="0">
                <a:latin typeface="Proxima Nova" panose="020B0604020202020204"/>
                <a:ea typeface="Cambria" panose="02040503050406030204" pitchFamily="18" charset="0"/>
              </a:rPr>
              <a:t>&lt;/div&gt;</a:t>
            </a: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sp>
        <p:nvSpPr>
          <p:cNvPr id="7" name="Title 1">
            <a:extLst>
              <a:ext uri="{FF2B5EF4-FFF2-40B4-BE49-F238E27FC236}">
                <a16:creationId xmlns:a16="http://schemas.microsoft.com/office/drawing/2014/main" id="{4E40A10E-EFC7-14E6-2614-DA06B2CD9EB9}"/>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94754107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scale() Method</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The scale() method increases or decreases the size of an element (according to the parameters given for the width and height).</a:t>
            </a:r>
          </a:p>
          <a:p>
            <a:endParaRPr lang="en-US" dirty="0"/>
          </a:p>
          <a:p>
            <a:endParaRPr lang="en-US" dirty="0"/>
          </a:p>
          <a:p>
            <a:endParaRPr lang="en-US" dirty="0"/>
          </a:p>
          <a:p>
            <a:endParaRPr lang="en-US" dirty="0"/>
          </a:p>
          <a:p>
            <a:endParaRPr lang="en-US" dirty="0"/>
          </a:p>
          <a:p>
            <a:r>
              <a:rPr lang="en-US" dirty="0"/>
              <a:t>The following example increases the &lt;div&gt; element to be two times of its original width, and three times of its original height: </a:t>
            </a:r>
          </a:p>
        </p:txBody>
      </p:sp>
      <p:sp>
        <p:nvSpPr>
          <p:cNvPr id="4" name="Slide Number Placeholder 3"/>
          <p:cNvSpPr>
            <a:spLocks noGrp="1"/>
          </p:cNvSpPr>
          <p:nvPr>
            <p:ph type="sldNum" sz="quarter" idx="12"/>
          </p:nvPr>
        </p:nvSpPr>
        <p:spPr/>
        <p:txBody>
          <a:bodyPr/>
          <a:lstStyle/>
          <a:p>
            <a:fld id="{9C11CE39-2868-44A2-A0C6-827D458F7A8B}" type="slidenum">
              <a:rPr lang="en-IN" smtClean="0"/>
              <a:pPr/>
              <a:t>118</a:t>
            </a:fld>
            <a:endParaRPr lang="en-IN" dirty="0"/>
          </a:p>
        </p:txBody>
      </p:sp>
      <p:pic>
        <p:nvPicPr>
          <p:cNvPr id="5" name="Picture 4"/>
          <p:cNvPicPr>
            <a:picLocks noChangeAspect="1"/>
          </p:cNvPicPr>
          <p:nvPr/>
        </p:nvPicPr>
        <p:blipFill>
          <a:blip r:embed="rId2"/>
          <a:stretch>
            <a:fillRect/>
          </a:stretch>
        </p:blipFill>
        <p:spPr>
          <a:xfrm>
            <a:off x="4552950" y="2319337"/>
            <a:ext cx="3086100" cy="2219325"/>
          </a:xfrm>
          <a:prstGeom prst="rect">
            <a:avLst/>
          </a:prstGeom>
        </p:spPr>
      </p:pic>
    </p:spTree>
    <p:extLst>
      <p:ext uri="{BB962C8B-B14F-4D97-AF65-F5344CB8AC3E}">
        <p14:creationId xmlns:p14="http://schemas.microsoft.com/office/powerpoint/2010/main" val="243396829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119</a:t>
            </a:fld>
            <a:endParaRPr lang="en-IN" dirty="0"/>
          </a:p>
        </p:txBody>
      </p:sp>
      <p:sp>
        <p:nvSpPr>
          <p:cNvPr id="5" name="Rectangle 4"/>
          <p:cNvSpPr/>
          <p:nvPr/>
        </p:nvSpPr>
        <p:spPr>
          <a:xfrm>
            <a:off x="519822" y="1154222"/>
            <a:ext cx="8424153" cy="5909310"/>
          </a:xfrm>
          <a:prstGeom prst="rect">
            <a:avLst/>
          </a:prstGeom>
        </p:spPr>
        <p:txBody>
          <a:bodyPr wrap="square">
            <a:spAutoFit/>
          </a:bodyPr>
          <a:lstStyle/>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 </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margin: 150px;</a:t>
            </a:r>
          </a:p>
          <a:p>
            <a:pPr lvl="3"/>
            <a:r>
              <a:rPr lang="en-US" dirty="0">
                <a:latin typeface="Proxima Nova" panose="020B0604020202020204"/>
                <a:ea typeface="Cambria" panose="02040503050406030204" pitchFamily="18" charset="0"/>
              </a:rPr>
              <a:t>  width: 200px;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background-color: yellow;</a:t>
            </a:r>
          </a:p>
          <a:p>
            <a:pPr lvl="3"/>
            <a:r>
              <a:rPr lang="en-US" dirty="0">
                <a:latin typeface="Proxima Nova" panose="020B0604020202020204"/>
                <a:ea typeface="Cambria" panose="02040503050406030204" pitchFamily="18" charset="0"/>
              </a:rPr>
              <a:t>  border: 1px solid black;</a:t>
            </a:r>
          </a:p>
          <a:p>
            <a:pPr lvl="3"/>
            <a:r>
              <a:rPr lang="en-US" dirty="0">
                <a:latin typeface="Proxima Nova" panose="020B0604020202020204"/>
                <a:ea typeface="Cambria" panose="02040503050406030204" pitchFamily="18" charset="0"/>
              </a:rPr>
              <a:t>  transform: scale(2,3);</a:t>
            </a:r>
          </a:p>
          <a:p>
            <a:pPr lvl="3"/>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&lt;/style&gt;</a:t>
            </a:r>
          </a:p>
          <a:p>
            <a:pPr lvl="1"/>
            <a:r>
              <a:rPr lang="en-US" dirty="0">
                <a:latin typeface="Proxima Nova" panose="020B0604020202020204"/>
                <a:ea typeface="Cambria" panose="02040503050406030204" pitchFamily="18" charset="0"/>
              </a:rPr>
              <a:t>&lt;/head&gt;</a:t>
            </a:r>
          </a:p>
          <a:p>
            <a:pPr lvl="1"/>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This div element is two times of its original width, and three times of its original height.</a:t>
            </a:r>
          </a:p>
          <a:p>
            <a:pPr lvl="2"/>
            <a:r>
              <a:rPr lang="en-US" dirty="0">
                <a:latin typeface="Proxima Nova" panose="020B0604020202020204"/>
                <a:ea typeface="Cambria" panose="02040503050406030204" pitchFamily="18" charset="0"/>
              </a:rPr>
              <a:t>&lt;/div&gt;</a:t>
            </a:r>
          </a:p>
          <a:p>
            <a:pPr marL="690563" lvl="2"/>
            <a:r>
              <a:rPr lang="en-US" dirty="0">
                <a:latin typeface="Proxima Nova" panose="020B0604020202020204"/>
                <a:ea typeface="Cambria" panose="02040503050406030204" pitchFamily="18" charset="0"/>
              </a:rPr>
              <a:t>&lt;/body&gt;</a:t>
            </a:r>
          </a:p>
          <a:p>
            <a:r>
              <a:rPr lang="en-US" dirty="0">
                <a:latin typeface="Proxima Nova" panose="020B0604020202020204"/>
                <a:ea typeface="Cambria" panose="02040503050406030204" pitchFamily="18" charset="0"/>
              </a:rPr>
              <a:t>&lt;/html&gt;</a:t>
            </a:r>
          </a:p>
          <a:p>
            <a:endParaRPr lang="en-US" dirty="0">
              <a:latin typeface="Proxima Nova" panose="020B0604020202020204"/>
            </a:endParaRPr>
          </a:p>
        </p:txBody>
      </p:sp>
      <p:pic>
        <p:nvPicPr>
          <p:cNvPr id="3" name="Picture 2"/>
          <p:cNvPicPr>
            <a:picLocks noChangeAspect="1"/>
          </p:cNvPicPr>
          <p:nvPr/>
        </p:nvPicPr>
        <p:blipFill>
          <a:blip r:embed="rId2"/>
          <a:stretch>
            <a:fillRect/>
          </a:stretch>
        </p:blipFill>
        <p:spPr>
          <a:xfrm>
            <a:off x="5791200" y="1423583"/>
            <a:ext cx="5294684" cy="3325340"/>
          </a:xfrm>
          <a:prstGeom prst="rect">
            <a:avLst/>
          </a:prstGeom>
          <a:ln w="19050">
            <a:solidFill>
              <a:schemeClr val="tx1"/>
            </a:solidFill>
          </a:ln>
        </p:spPr>
      </p:pic>
      <p:sp>
        <p:nvSpPr>
          <p:cNvPr id="2" name="Title 1">
            <a:extLst>
              <a:ext uri="{FF2B5EF4-FFF2-40B4-BE49-F238E27FC236}">
                <a16:creationId xmlns:a16="http://schemas.microsoft.com/office/drawing/2014/main" id="{B7245256-D868-EE87-DEA3-438B89B94F54}"/>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353751454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t>scaleX</a:t>
            </a:r>
            <a:r>
              <a:rPr lang="en-US" dirty="0"/>
              <a:t>() Method</a:t>
            </a:r>
            <a:br>
              <a:rPr lang="en-US" dirty="0"/>
            </a:br>
            <a:endParaRPr lang="en-US" dirty="0"/>
          </a:p>
        </p:txBody>
      </p:sp>
      <p:sp>
        <p:nvSpPr>
          <p:cNvPr id="3" name="Content Placeholder 2"/>
          <p:cNvSpPr>
            <a:spLocks noGrp="1"/>
          </p:cNvSpPr>
          <p:nvPr>
            <p:ph idx="1"/>
          </p:nvPr>
        </p:nvSpPr>
        <p:spPr/>
        <p:txBody>
          <a:bodyPr>
            <a:noAutofit/>
          </a:bodyPr>
          <a:lstStyle/>
          <a:p>
            <a:r>
              <a:rPr lang="en-US" dirty="0"/>
              <a:t>The </a:t>
            </a:r>
            <a:r>
              <a:rPr lang="en-US" dirty="0" err="1"/>
              <a:t>scaleX</a:t>
            </a:r>
            <a:r>
              <a:rPr lang="en-US" dirty="0"/>
              <a:t>() method increases or decreases the width of an element.</a:t>
            </a:r>
          </a:p>
          <a:p>
            <a:r>
              <a:rPr lang="en-US" dirty="0"/>
              <a:t>The following example increases the &lt;div&gt; element to be two times of its original width.</a:t>
            </a:r>
          </a:p>
          <a:p>
            <a:pPr>
              <a:lnSpc>
                <a:spcPct val="100000"/>
              </a:lnSpc>
            </a:pPr>
            <a:r>
              <a:rPr lang="en-US" dirty="0"/>
              <a:t>div {</a:t>
            </a:r>
          </a:p>
          <a:p>
            <a:pPr>
              <a:lnSpc>
                <a:spcPct val="100000"/>
              </a:lnSpc>
            </a:pPr>
            <a:r>
              <a:rPr lang="en-US" dirty="0"/>
              <a:t>  transform: </a:t>
            </a:r>
            <a:r>
              <a:rPr lang="en-US" dirty="0" err="1"/>
              <a:t>scaleX</a:t>
            </a:r>
            <a:r>
              <a:rPr lang="en-US" dirty="0"/>
              <a:t>(2);</a:t>
            </a:r>
          </a:p>
          <a:p>
            <a:pPr>
              <a:lnSpc>
                <a:spcPct val="100000"/>
              </a:lnSpc>
            </a:pPr>
            <a:r>
              <a:rPr lang="en-US" dirty="0"/>
              <a:t>}</a:t>
            </a:r>
          </a:p>
          <a:p>
            <a:r>
              <a:rPr lang="en-US" b="1" dirty="0"/>
              <a:t>The </a:t>
            </a:r>
            <a:r>
              <a:rPr lang="en-US" b="1" dirty="0" err="1"/>
              <a:t>scaleY</a:t>
            </a:r>
            <a:r>
              <a:rPr lang="en-US" b="1" dirty="0"/>
              <a:t>() method :</a:t>
            </a:r>
          </a:p>
          <a:p>
            <a:r>
              <a:rPr lang="en-US" dirty="0"/>
              <a:t>The </a:t>
            </a:r>
            <a:r>
              <a:rPr lang="en-US" dirty="0" err="1"/>
              <a:t>scaleY</a:t>
            </a:r>
            <a:r>
              <a:rPr lang="en-US" dirty="0"/>
              <a:t>() method  increases or decreases the height of an element.</a:t>
            </a:r>
          </a:p>
          <a:p>
            <a:r>
              <a:rPr lang="en-US" dirty="0"/>
              <a:t>The following example increases the &lt;div&gt; element to be three times of its original height:</a:t>
            </a:r>
          </a:p>
          <a:p>
            <a:pPr>
              <a:lnSpc>
                <a:spcPct val="100000"/>
              </a:lnSpc>
            </a:pPr>
            <a:r>
              <a:rPr lang="en-US" dirty="0"/>
              <a:t>div {</a:t>
            </a:r>
          </a:p>
          <a:p>
            <a:pPr>
              <a:lnSpc>
                <a:spcPct val="100000"/>
              </a:lnSpc>
            </a:pPr>
            <a:r>
              <a:rPr lang="en-US" dirty="0"/>
              <a:t>  transform: </a:t>
            </a:r>
            <a:r>
              <a:rPr lang="en-US" dirty="0" err="1"/>
              <a:t>scaleY</a:t>
            </a:r>
            <a:r>
              <a:rPr lang="en-US" dirty="0"/>
              <a:t>(3);</a:t>
            </a:r>
          </a:p>
          <a:p>
            <a:pPr>
              <a:lnSpc>
                <a:spcPct val="100000"/>
              </a:lnSpc>
            </a:pPr>
            <a:r>
              <a:rPr lang="en-US" dirty="0"/>
              <a:t>}</a:t>
            </a:r>
          </a:p>
          <a:p>
            <a:pPr marL="0" indent="0">
              <a:lnSpc>
                <a:spcPct val="100000"/>
              </a:lnSpc>
              <a:buNone/>
            </a:pPr>
            <a:br>
              <a:rPr lang="en-US" dirty="0"/>
            </a:br>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120</a:t>
            </a:fld>
            <a:endParaRPr lang="en-IN" dirty="0"/>
          </a:p>
        </p:txBody>
      </p:sp>
    </p:spTree>
    <p:extLst>
      <p:ext uri="{BB962C8B-B14F-4D97-AF65-F5344CB8AC3E}">
        <p14:creationId xmlns:p14="http://schemas.microsoft.com/office/powerpoint/2010/main" val="121470082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t>skewX</a:t>
            </a:r>
            <a:r>
              <a:rPr lang="en-US" dirty="0"/>
              <a:t>() Method</a:t>
            </a:r>
            <a:br>
              <a:rPr lang="en-US" dirty="0"/>
            </a:br>
            <a:endParaRPr lang="en-US" dirty="0"/>
          </a:p>
        </p:txBody>
      </p:sp>
      <p:sp>
        <p:nvSpPr>
          <p:cNvPr id="3" name="Content Placeholder 2"/>
          <p:cNvSpPr>
            <a:spLocks noGrp="1"/>
          </p:cNvSpPr>
          <p:nvPr>
            <p:ph idx="1"/>
          </p:nvPr>
        </p:nvSpPr>
        <p:spPr/>
        <p:txBody>
          <a:bodyPr>
            <a:noAutofit/>
          </a:bodyPr>
          <a:lstStyle/>
          <a:p>
            <a:r>
              <a:rPr lang="en-US" dirty="0"/>
              <a:t>The </a:t>
            </a:r>
            <a:r>
              <a:rPr lang="en-US" dirty="0" err="1"/>
              <a:t>skewX</a:t>
            </a:r>
            <a:r>
              <a:rPr lang="en-US" dirty="0"/>
              <a:t>() method skews an element along the X-axis by the given angle.</a:t>
            </a:r>
          </a:p>
          <a:p>
            <a:r>
              <a:rPr lang="en-US" dirty="0"/>
              <a:t>The following example skews the &lt;div&gt; element 20 degrees along the X-axis.</a:t>
            </a:r>
          </a:p>
          <a:p>
            <a:r>
              <a:rPr lang="en-US" b="1" dirty="0"/>
              <a:t>The </a:t>
            </a:r>
            <a:r>
              <a:rPr lang="en-US" b="1" dirty="0" err="1"/>
              <a:t>skewY</a:t>
            </a:r>
            <a:r>
              <a:rPr lang="en-US" b="1" dirty="0"/>
              <a:t>() Method:</a:t>
            </a:r>
            <a:endParaRPr lang="en-US" dirty="0"/>
          </a:p>
          <a:p>
            <a:r>
              <a:rPr lang="en-US" dirty="0"/>
              <a:t>The </a:t>
            </a:r>
            <a:r>
              <a:rPr lang="en-US" dirty="0" err="1"/>
              <a:t>skewY</a:t>
            </a:r>
            <a:r>
              <a:rPr lang="en-US" dirty="0"/>
              <a:t>() method skews an element along the Y-axis by the given angle.</a:t>
            </a:r>
          </a:p>
          <a:p>
            <a:r>
              <a:rPr lang="en-US" dirty="0"/>
              <a:t>The following example skews the &lt;div&gt; element 20 degrees along the Y-axis.</a:t>
            </a:r>
          </a:p>
          <a:p>
            <a:r>
              <a:rPr lang="en-US" dirty="0"/>
              <a:t>The skew() method skews an element along the X and Y-axis by the given angles.</a:t>
            </a:r>
          </a:p>
          <a:p>
            <a:r>
              <a:rPr lang="en-US" b="1" dirty="0"/>
              <a:t>The skew() Method</a:t>
            </a:r>
          </a:p>
          <a:p>
            <a:r>
              <a:rPr lang="en-US" dirty="0"/>
              <a:t>The following example skews the &lt;div&gt; element 20 degrees along the X-axis, and 10 degrees along the Y-axis.</a:t>
            </a:r>
          </a:p>
          <a:p>
            <a:r>
              <a:rPr lang="en-US" dirty="0"/>
              <a:t>If the second parameter is not specified, it has a zero value. So, the following example skews the &lt;div&gt; element 20 degrees along the X-axis</a:t>
            </a:r>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121</a:t>
            </a:fld>
            <a:endParaRPr lang="en-IN" dirty="0"/>
          </a:p>
        </p:txBody>
      </p:sp>
    </p:spTree>
    <p:extLst>
      <p:ext uri="{BB962C8B-B14F-4D97-AF65-F5344CB8AC3E}">
        <p14:creationId xmlns:p14="http://schemas.microsoft.com/office/powerpoint/2010/main" val="37968559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122</a:t>
            </a:fld>
            <a:endParaRPr lang="en-IN" dirty="0"/>
          </a:p>
        </p:txBody>
      </p:sp>
      <p:sp>
        <p:nvSpPr>
          <p:cNvPr id="5" name="Rectangle 4"/>
          <p:cNvSpPr/>
          <p:nvPr/>
        </p:nvSpPr>
        <p:spPr>
          <a:xfrm>
            <a:off x="374312" y="1095375"/>
            <a:ext cx="10107039" cy="5355312"/>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background-color: yellow;</a:t>
            </a:r>
          </a:p>
          <a:p>
            <a:pPr lvl="3"/>
            <a:r>
              <a:rPr lang="en-US" dirty="0">
                <a:latin typeface="Proxima Nova" panose="020B0604020202020204"/>
                <a:ea typeface="Cambria" panose="02040503050406030204" pitchFamily="18" charset="0"/>
              </a:rPr>
              <a:t>  border: 1px solid black;</a:t>
            </a:r>
          </a:p>
          <a:p>
            <a:pPr lvl="3"/>
            <a:r>
              <a:rPr lang="en-US" dirty="0">
                <a:latin typeface="Proxima Nova" panose="020B0604020202020204"/>
                <a:ea typeface="Cambria" panose="02040503050406030204" pitchFamily="18" charset="0"/>
              </a:rPr>
              <a:t>}</a:t>
            </a:r>
          </a:p>
          <a:p>
            <a:pPr lvl="3"/>
            <a:r>
              <a:rPr lang="en-US" dirty="0" err="1">
                <a:latin typeface="Proxima Nova" panose="020B0604020202020204"/>
                <a:ea typeface="Cambria" panose="02040503050406030204" pitchFamily="18" charset="0"/>
              </a:rPr>
              <a:t>div#myDiv</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transform: </a:t>
            </a:r>
            <a:r>
              <a:rPr lang="en-US" dirty="0" err="1">
                <a:latin typeface="Proxima Nova" panose="020B0604020202020204"/>
                <a:ea typeface="Cambria" panose="02040503050406030204" pitchFamily="18" charset="0"/>
              </a:rPr>
              <a:t>skewX</a:t>
            </a:r>
            <a:r>
              <a:rPr lang="en-US" dirty="0">
                <a:latin typeface="Proxima Nova" panose="020B0604020202020204"/>
                <a:ea typeface="Cambria" panose="02040503050406030204" pitchFamily="18" charset="0"/>
              </a:rPr>
              <a:t>(20deg);</a:t>
            </a:r>
          </a:p>
          <a:p>
            <a:pPr lvl="3"/>
            <a:r>
              <a:rPr lang="en-US" dirty="0">
                <a:latin typeface="Proxima Nova" panose="020B0604020202020204"/>
                <a:ea typeface="Cambria" panose="02040503050406030204" pitchFamily="18" charset="0"/>
              </a:rPr>
              <a:t>}</a:t>
            </a:r>
          </a:p>
          <a:p>
            <a:pPr lvl="2"/>
            <a:r>
              <a:rPr lang="en-US" dirty="0">
                <a:latin typeface="Proxima Nova" panose="020B0604020202020204"/>
                <a:ea typeface="Cambria" panose="02040503050406030204" pitchFamily="18" charset="0"/>
              </a:rPr>
              <a:t>&lt;/style&gt;</a:t>
            </a:r>
          </a:p>
          <a:p>
            <a:pPr lvl="1"/>
            <a:r>
              <a:rPr lang="en-US" dirty="0">
                <a:latin typeface="Proxima Nova" panose="020B0604020202020204"/>
                <a:ea typeface="Cambria" panose="02040503050406030204" pitchFamily="18" charset="0"/>
              </a:rPr>
              <a:t>&lt;/head&gt;</a:t>
            </a:r>
          </a:p>
          <a:p>
            <a:pPr lvl="1"/>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This a normal div element.</a:t>
            </a:r>
          </a:p>
          <a:p>
            <a:pPr lvl="2"/>
            <a:r>
              <a:rPr lang="en-US" dirty="0">
                <a:latin typeface="Proxima Nova" panose="020B0604020202020204"/>
                <a:ea typeface="Cambria" panose="02040503050406030204" pitchFamily="18" charset="0"/>
              </a:rPr>
              <a:t>&lt;/div&gt;</a:t>
            </a:r>
          </a:p>
        </p:txBody>
      </p:sp>
      <p:pic>
        <p:nvPicPr>
          <p:cNvPr id="6" name="Picture 5"/>
          <p:cNvPicPr>
            <a:picLocks noChangeAspect="1"/>
          </p:cNvPicPr>
          <p:nvPr/>
        </p:nvPicPr>
        <p:blipFill>
          <a:blip r:embed="rId2"/>
          <a:stretch>
            <a:fillRect/>
          </a:stretch>
        </p:blipFill>
        <p:spPr>
          <a:xfrm>
            <a:off x="5783600" y="3203743"/>
            <a:ext cx="5133975" cy="3057525"/>
          </a:xfrm>
          <a:prstGeom prst="rect">
            <a:avLst/>
          </a:prstGeom>
          <a:ln w="19050">
            <a:solidFill>
              <a:schemeClr val="tx1"/>
            </a:solidFill>
          </a:ln>
        </p:spPr>
      </p:pic>
      <p:sp>
        <p:nvSpPr>
          <p:cNvPr id="3" name="TextBox 2">
            <a:extLst>
              <a:ext uri="{FF2B5EF4-FFF2-40B4-BE49-F238E27FC236}">
                <a16:creationId xmlns:a16="http://schemas.microsoft.com/office/drawing/2014/main" id="{FF2583E6-FA36-779F-B83C-E48ECE7FF346}"/>
              </a:ext>
            </a:extLst>
          </p:cNvPr>
          <p:cNvSpPr txBox="1"/>
          <p:nvPr/>
        </p:nvSpPr>
        <p:spPr>
          <a:xfrm>
            <a:off x="5562600" y="1272396"/>
            <a:ext cx="6096000" cy="1754326"/>
          </a:xfrm>
          <a:prstGeom prst="rect">
            <a:avLst/>
          </a:prstGeom>
          <a:noFill/>
        </p:spPr>
        <p:txBody>
          <a:bodyPr wrap="square">
            <a:spAutoFit/>
          </a:bodyPr>
          <a:lstStyle/>
          <a:p>
            <a:pPr lvl="2"/>
            <a:r>
              <a:rPr lang="en-US" dirty="0">
                <a:latin typeface="Proxima Nova" panose="020B0604020202020204"/>
                <a:ea typeface="Cambria" panose="02040503050406030204" pitchFamily="18" charset="0"/>
              </a:rPr>
              <a:t>&lt;div id="</a:t>
            </a:r>
            <a:r>
              <a:rPr lang="en-US" dirty="0" err="1">
                <a:latin typeface="Proxima Nova" panose="020B0604020202020204"/>
                <a:ea typeface="Cambria" panose="02040503050406030204" pitchFamily="18" charset="0"/>
              </a:rPr>
              <a:t>myDiv</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This div element is skewed 20 degrees along the X-axis.</a:t>
            </a:r>
          </a:p>
          <a:p>
            <a:pPr lvl="2"/>
            <a:r>
              <a:rPr lang="en-US" dirty="0">
                <a:latin typeface="Proxima Nova" panose="020B0604020202020204"/>
                <a:ea typeface="Cambria" panose="02040503050406030204" pitchFamily="18" charset="0"/>
              </a:rPr>
              <a:t>&lt;/div&gt;</a:t>
            </a: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sp>
        <p:nvSpPr>
          <p:cNvPr id="7" name="Title 1">
            <a:extLst>
              <a:ext uri="{FF2B5EF4-FFF2-40B4-BE49-F238E27FC236}">
                <a16:creationId xmlns:a16="http://schemas.microsoft.com/office/drawing/2014/main" id="{A0DFC6C2-8AFA-4222-2955-0487A78AD07E}"/>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330142593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123</a:t>
            </a:fld>
            <a:endParaRPr lang="en-IN" dirty="0"/>
          </a:p>
        </p:txBody>
      </p:sp>
      <p:sp>
        <p:nvSpPr>
          <p:cNvPr id="5" name="Rectangle 4"/>
          <p:cNvSpPr/>
          <p:nvPr/>
        </p:nvSpPr>
        <p:spPr>
          <a:xfrm>
            <a:off x="354853" y="1001038"/>
            <a:ext cx="10107039" cy="5355312"/>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background-color: yellow;</a:t>
            </a:r>
          </a:p>
          <a:p>
            <a:pPr lvl="3"/>
            <a:r>
              <a:rPr lang="en-US" dirty="0">
                <a:latin typeface="Proxima Nova" panose="020B0604020202020204"/>
                <a:ea typeface="Cambria" panose="02040503050406030204" pitchFamily="18" charset="0"/>
              </a:rPr>
              <a:t>  border: 1px solid black;</a:t>
            </a:r>
          </a:p>
          <a:p>
            <a:pPr lvl="3"/>
            <a:r>
              <a:rPr lang="en-US" dirty="0">
                <a:latin typeface="Proxima Nova" panose="020B0604020202020204"/>
                <a:ea typeface="Cambria" panose="02040503050406030204" pitchFamily="18" charset="0"/>
              </a:rPr>
              <a:t>}</a:t>
            </a:r>
          </a:p>
          <a:p>
            <a:pPr lvl="3"/>
            <a:r>
              <a:rPr lang="en-US" dirty="0" err="1">
                <a:latin typeface="Proxima Nova" panose="020B0604020202020204"/>
                <a:ea typeface="Cambria" panose="02040503050406030204" pitchFamily="18" charset="0"/>
              </a:rPr>
              <a:t>div#myDiv</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transform: </a:t>
            </a:r>
            <a:r>
              <a:rPr lang="en-US" dirty="0" err="1">
                <a:latin typeface="Proxima Nova" panose="020B0604020202020204"/>
                <a:ea typeface="Cambria" panose="02040503050406030204" pitchFamily="18" charset="0"/>
              </a:rPr>
              <a:t>skewY</a:t>
            </a:r>
            <a:r>
              <a:rPr lang="en-US" dirty="0">
                <a:latin typeface="Proxima Nova" panose="020B0604020202020204"/>
                <a:ea typeface="Cambria" panose="02040503050406030204" pitchFamily="18" charset="0"/>
              </a:rPr>
              <a:t>(20deg);</a:t>
            </a:r>
          </a:p>
          <a:p>
            <a:pPr lvl="3"/>
            <a:r>
              <a:rPr lang="en-US" dirty="0">
                <a:latin typeface="Proxima Nova" panose="020B0604020202020204"/>
                <a:ea typeface="Cambria" panose="02040503050406030204" pitchFamily="18" charset="0"/>
              </a:rPr>
              <a:t>}</a:t>
            </a:r>
          </a:p>
          <a:p>
            <a:pPr lvl="2"/>
            <a:r>
              <a:rPr lang="en-US" dirty="0">
                <a:latin typeface="Proxima Nova" panose="020B0604020202020204"/>
                <a:ea typeface="Cambria" panose="02040503050406030204" pitchFamily="18" charset="0"/>
              </a:rPr>
              <a:t>&lt;/style&gt;</a:t>
            </a:r>
          </a:p>
          <a:p>
            <a:pPr lvl="1"/>
            <a:r>
              <a:rPr lang="en-US" dirty="0">
                <a:latin typeface="Proxima Nova" panose="020B0604020202020204"/>
                <a:ea typeface="Cambria" panose="02040503050406030204" pitchFamily="18" charset="0"/>
              </a:rPr>
              <a:t>&lt;/head&gt;</a:t>
            </a:r>
          </a:p>
          <a:p>
            <a:pPr lvl="1"/>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This a normal div element.</a:t>
            </a:r>
          </a:p>
          <a:p>
            <a:pPr lvl="2"/>
            <a:r>
              <a:rPr lang="en-US" dirty="0">
                <a:latin typeface="Proxima Nova" panose="020B0604020202020204"/>
                <a:ea typeface="Cambria" panose="02040503050406030204" pitchFamily="18" charset="0"/>
              </a:rPr>
              <a:t>&lt;/div&gt;</a:t>
            </a:r>
          </a:p>
        </p:txBody>
      </p:sp>
      <p:pic>
        <p:nvPicPr>
          <p:cNvPr id="2" name="Picture 1"/>
          <p:cNvPicPr>
            <a:picLocks noChangeAspect="1"/>
          </p:cNvPicPr>
          <p:nvPr/>
        </p:nvPicPr>
        <p:blipFill>
          <a:blip r:embed="rId2"/>
          <a:stretch>
            <a:fillRect/>
          </a:stretch>
        </p:blipFill>
        <p:spPr>
          <a:xfrm>
            <a:off x="5614987" y="2838450"/>
            <a:ext cx="5991225" cy="3517900"/>
          </a:xfrm>
          <a:prstGeom prst="rect">
            <a:avLst/>
          </a:prstGeom>
          <a:ln w="19050">
            <a:solidFill>
              <a:schemeClr val="tx1"/>
            </a:solidFill>
          </a:ln>
        </p:spPr>
      </p:pic>
      <p:sp>
        <p:nvSpPr>
          <p:cNvPr id="6" name="TextBox 5">
            <a:extLst>
              <a:ext uri="{FF2B5EF4-FFF2-40B4-BE49-F238E27FC236}">
                <a16:creationId xmlns:a16="http://schemas.microsoft.com/office/drawing/2014/main" id="{EDA54C06-310E-6BF7-0643-F77239E1C3C4}"/>
              </a:ext>
            </a:extLst>
          </p:cNvPr>
          <p:cNvSpPr txBox="1"/>
          <p:nvPr/>
        </p:nvSpPr>
        <p:spPr>
          <a:xfrm>
            <a:off x="5257800" y="966381"/>
            <a:ext cx="6096000" cy="1754326"/>
          </a:xfrm>
          <a:prstGeom prst="rect">
            <a:avLst/>
          </a:prstGeom>
          <a:noFill/>
        </p:spPr>
        <p:txBody>
          <a:bodyPr wrap="square">
            <a:spAutoFit/>
          </a:bodyPr>
          <a:lstStyle/>
          <a:p>
            <a:pPr lvl="2"/>
            <a:r>
              <a:rPr lang="en-US" dirty="0">
                <a:latin typeface="Proxima Nova" panose="020B0604020202020204"/>
                <a:ea typeface="Cambria" panose="02040503050406030204" pitchFamily="18" charset="0"/>
              </a:rPr>
              <a:t>&lt;div id="</a:t>
            </a:r>
            <a:r>
              <a:rPr lang="en-US" dirty="0" err="1">
                <a:latin typeface="Proxima Nova" panose="020B0604020202020204"/>
                <a:ea typeface="Cambria" panose="02040503050406030204" pitchFamily="18" charset="0"/>
              </a:rPr>
              <a:t>myDiv</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This div element is skewed 20 degrees along the X-axis.</a:t>
            </a:r>
          </a:p>
          <a:p>
            <a:pPr lvl="2"/>
            <a:r>
              <a:rPr lang="en-US" dirty="0">
                <a:latin typeface="Proxima Nova" panose="020B0604020202020204"/>
                <a:ea typeface="Cambria" panose="02040503050406030204" pitchFamily="18" charset="0"/>
              </a:rPr>
              <a:t>&lt;/div&gt;</a:t>
            </a: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sp>
        <p:nvSpPr>
          <p:cNvPr id="7" name="Title 1">
            <a:extLst>
              <a:ext uri="{FF2B5EF4-FFF2-40B4-BE49-F238E27FC236}">
                <a16:creationId xmlns:a16="http://schemas.microsoft.com/office/drawing/2014/main" id="{4239EE31-C487-E388-1B1C-F41D26D0E695}"/>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38485587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124</a:t>
            </a:fld>
            <a:endParaRPr lang="en-IN" dirty="0"/>
          </a:p>
        </p:txBody>
      </p:sp>
      <p:sp>
        <p:nvSpPr>
          <p:cNvPr id="5" name="Rectangle 4"/>
          <p:cNvSpPr/>
          <p:nvPr/>
        </p:nvSpPr>
        <p:spPr>
          <a:xfrm>
            <a:off x="231437" y="1001038"/>
            <a:ext cx="10107039" cy="5355312"/>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background-color: yellow;</a:t>
            </a:r>
          </a:p>
          <a:p>
            <a:pPr lvl="3"/>
            <a:r>
              <a:rPr lang="en-US" dirty="0">
                <a:latin typeface="Proxima Nova" panose="020B0604020202020204"/>
                <a:ea typeface="Cambria" panose="02040503050406030204" pitchFamily="18" charset="0"/>
              </a:rPr>
              <a:t>  border: 1px solid black;</a:t>
            </a:r>
          </a:p>
          <a:p>
            <a:pPr lvl="3"/>
            <a:r>
              <a:rPr lang="en-US" dirty="0">
                <a:latin typeface="Proxima Nova" panose="020B0604020202020204"/>
                <a:ea typeface="Cambria" panose="02040503050406030204" pitchFamily="18" charset="0"/>
              </a:rPr>
              <a:t>}</a:t>
            </a:r>
          </a:p>
          <a:p>
            <a:pPr lvl="3"/>
            <a:r>
              <a:rPr lang="en-US" dirty="0" err="1">
                <a:latin typeface="Proxima Nova" panose="020B0604020202020204"/>
                <a:ea typeface="Cambria" panose="02040503050406030204" pitchFamily="18" charset="0"/>
              </a:rPr>
              <a:t>div#myDiv</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transform: skew(20deg,10deg);</a:t>
            </a:r>
          </a:p>
          <a:p>
            <a:pPr lvl="3"/>
            <a:r>
              <a:rPr lang="en-US" dirty="0">
                <a:latin typeface="Proxima Nova" panose="020B0604020202020204"/>
                <a:ea typeface="Cambria" panose="02040503050406030204" pitchFamily="18" charset="0"/>
              </a:rPr>
              <a:t>}</a:t>
            </a:r>
          </a:p>
          <a:p>
            <a:pPr lvl="2"/>
            <a:r>
              <a:rPr lang="en-US" dirty="0">
                <a:latin typeface="Proxima Nova" panose="020B0604020202020204"/>
                <a:ea typeface="Cambria" panose="02040503050406030204" pitchFamily="18" charset="0"/>
              </a:rPr>
              <a:t>&lt;/style&gt;</a:t>
            </a:r>
          </a:p>
          <a:p>
            <a:pPr lvl="1"/>
            <a:r>
              <a:rPr lang="en-US" dirty="0">
                <a:latin typeface="Proxima Nova" panose="020B0604020202020204"/>
                <a:ea typeface="Cambria" panose="02040503050406030204" pitchFamily="18" charset="0"/>
              </a:rPr>
              <a:t>&lt;/head&gt;</a:t>
            </a:r>
          </a:p>
          <a:p>
            <a:pPr lvl="1"/>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This a normal div element.</a:t>
            </a:r>
          </a:p>
          <a:p>
            <a:pPr lvl="2"/>
            <a:r>
              <a:rPr lang="en-US" dirty="0">
                <a:latin typeface="Proxima Nova" panose="020B0604020202020204"/>
                <a:ea typeface="Cambria" panose="02040503050406030204" pitchFamily="18" charset="0"/>
              </a:rPr>
              <a:t>&lt;/div&gt;</a:t>
            </a:r>
          </a:p>
        </p:txBody>
      </p:sp>
      <p:pic>
        <p:nvPicPr>
          <p:cNvPr id="3" name="Picture 2"/>
          <p:cNvPicPr>
            <a:picLocks noChangeAspect="1"/>
          </p:cNvPicPr>
          <p:nvPr/>
        </p:nvPicPr>
        <p:blipFill>
          <a:blip r:embed="rId2"/>
          <a:stretch>
            <a:fillRect/>
          </a:stretch>
        </p:blipFill>
        <p:spPr>
          <a:xfrm>
            <a:off x="5709326" y="2752927"/>
            <a:ext cx="5257800" cy="3676650"/>
          </a:xfrm>
          <a:prstGeom prst="rect">
            <a:avLst/>
          </a:prstGeom>
          <a:ln w="19050">
            <a:solidFill>
              <a:schemeClr val="tx1"/>
            </a:solidFill>
          </a:ln>
        </p:spPr>
      </p:pic>
      <p:sp>
        <p:nvSpPr>
          <p:cNvPr id="6" name="TextBox 5">
            <a:extLst>
              <a:ext uri="{FF2B5EF4-FFF2-40B4-BE49-F238E27FC236}">
                <a16:creationId xmlns:a16="http://schemas.microsoft.com/office/drawing/2014/main" id="{63944998-ADFA-7CC5-3FFD-C1DB9D6D2710}"/>
              </a:ext>
            </a:extLst>
          </p:cNvPr>
          <p:cNvSpPr txBox="1"/>
          <p:nvPr/>
        </p:nvSpPr>
        <p:spPr>
          <a:xfrm>
            <a:off x="5290226" y="973605"/>
            <a:ext cx="6096000" cy="1754326"/>
          </a:xfrm>
          <a:prstGeom prst="rect">
            <a:avLst/>
          </a:prstGeom>
          <a:noFill/>
        </p:spPr>
        <p:txBody>
          <a:bodyPr wrap="square">
            <a:spAutoFit/>
          </a:bodyPr>
          <a:lstStyle/>
          <a:p>
            <a:pPr lvl="2"/>
            <a:r>
              <a:rPr lang="en-US" dirty="0">
                <a:latin typeface="Proxima Nova" panose="020B0604020202020204"/>
                <a:ea typeface="Cambria" panose="02040503050406030204" pitchFamily="18" charset="0"/>
              </a:rPr>
              <a:t>&lt;div id="</a:t>
            </a:r>
            <a:r>
              <a:rPr lang="en-US" dirty="0" err="1">
                <a:latin typeface="Proxima Nova" panose="020B0604020202020204"/>
                <a:ea typeface="Cambria" panose="02040503050406030204" pitchFamily="18" charset="0"/>
              </a:rPr>
              <a:t>myDiv</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This div element is skewed 20 degrees along the X-axis and 10 degrees along Y axis.</a:t>
            </a:r>
          </a:p>
          <a:p>
            <a:pPr lvl="2"/>
            <a:r>
              <a:rPr lang="en-US" dirty="0">
                <a:latin typeface="Proxima Nova" panose="020B0604020202020204"/>
                <a:ea typeface="Cambria" panose="02040503050406030204" pitchFamily="18" charset="0"/>
              </a:rPr>
              <a:t>&lt;/div&gt;</a:t>
            </a: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sp>
        <p:nvSpPr>
          <p:cNvPr id="7" name="Title 1">
            <a:extLst>
              <a:ext uri="{FF2B5EF4-FFF2-40B4-BE49-F238E27FC236}">
                <a16:creationId xmlns:a16="http://schemas.microsoft.com/office/drawing/2014/main" id="{D848CC67-38B1-1BF0-CECA-7F4CB4CC2480}"/>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378935572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7" end="1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The matrix() Method</a:t>
            </a:r>
            <a:br>
              <a:rPr lang="en-US" dirty="0"/>
            </a:br>
            <a:endParaRPr lang="en-US" dirty="0"/>
          </a:p>
        </p:txBody>
      </p:sp>
      <p:sp>
        <p:nvSpPr>
          <p:cNvPr id="4" name="Content Placeholder 3"/>
          <p:cNvSpPr>
            <a:spLocks noGrp="1"/>
          </p:cNvSpPr>
          <p:nvPr>
            <p:ph idx="1"/>
          </p:nvPr>
        </p:nvSpPr>
        <p:spPr/>
        <p:txBody>
          <a:bodyPr>
            <a:normAutofit fontScale="92500" lnSpcReduction="10000"/>
          </a:bodyPr>
          <a:lstStyle/>
          <a:p>
            <a:r>
              <a:rPr lang="en-US" dirty="0"/>
              <a:t>The matrix() method combines all the 2D transform methods into one.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The matrix() method take six parameters, containing mathematic functions, which allows you to rotate, scale, move (translate), and skew elements.</a:t>
            </a:r>
          </a:p>
          <a:p>
            <a:r>
              <a:rPr lang="en-US" dirty="0"/>
              <a:t>The parameters are as follow: matrix(</a:t>
            </a:r>
            <a:r>
              <a:rPr lang="en-US" dirty="0" err="1"/>
              <a:t>scaleX</a:t>
            </a:r>
            <a:r>
              <a:rPr lang="en-US" dirty="0"/>
              <a:t>(), </a:t>
            </a:r>
            <a:r>
              <a:rPr lang="en-US" dirty="0" err="1"/>
              <a:t>skewY</a:t>
            </a:r>
            <a:r>
              <a:rPr lang="en-US" dirty="0"/>
              <a:t>(), </a:t>
            </a:r>
            <a:r>
              <a:rPr lang="en-US" dirty="0" err="1"/>
              <a:t>skewX</a:t>
            </a:r>
            <a:r>
              <a:rPr lang="en-US" dirty="0"/>
              <a:t>(), </a:t>
            </a:r>
            <a:r>
              <a:rPr lang="en-US" dirty="0" err="1"/>
              <a:t>scaleY</a:t>
            </a:r>
            <a:r>
              <a:rPr lang="en-US" dirty="0"/>
              <a:t>(), </a:t>
            </a:r>
            <a:r>
              <a:rPr lang="en-US" dirty="0" err="1"/>
              <a:t>translateX</a:t>
            </a:r>
            <a:r>
              <a:rPr lang="en-US" dirty="0"/>
              <a:t>(), </a:t>
            </a:r>
            <a:r>
              <a:rPr lang="en-US" dirty="0" err="1"/>
              <a:t>translateY</a:t>
            </a:r>
            <a:r>
              <a:rPr lang="en-US" dirty="0"/>
              <a:t>())</a:t>
            </a:r>
          </a:p>
        </p:txBody>
      </p:sp>
      <p:sp>
        <p:nvSpPr>
          <p:cNvPr id="2" name="Slide Number Placeholder 1"/>
          <p:cNvSpPr>
            <a:spLocks noGrp="1"/>
          </p:cNvSpPr>
          <p:nvPr>
            <p:ph type="sldNum" sz="quarter" idx="12"/>
          </p:nvPr>
        </p:nvSpPr>
        <p:spPr/>
        <p:txBody>
          <a:bodyPr/>
          <a:lstStyle/>
          <a:p>
            <a:fld id="{9C11CE39-2868-44A2-A0C6-827D458F7A8B}" type="slidenum">
              <a:rPr lang="en-IN" smtClean="0"/>
              <a:pPr/>
              <a:t>125</a:t>
            </a:fld>
            <a:endParaRPr lang="en-IN"/>
          </a:p>
        </p:txBody>
      </p:sp>
      <p:pic>
        <p:nvPicPr>
          <p:cNvPr id="5" name="Picture 4"/>
          <p:cNvPicPr>
            <a:picLocks noChangeAspect="1"/>
          </p:cNvPicPr>
          <p:nvPr/>
        </p:nvPicPr>
        <p:blipFill>
          <a:blip r:embed="rId2"/>
          <a:stretch>
            <a:fillRect/>
          </a:stretch>
        </p:blipFill>
        <p:spPr>
          <a:xfrm>
            <a:off x="4095041" y="1765975"/>
            <a:ext cx="2562225" cy="1866900"/>
          </a:xfrm>
          <a:prstGeom prst="rect">
            <a:avLst/>
          </a:prstGeom>
        </p:spPr>
      </p:pic>
    </p:spTree>
    <p:extLst>
      <p:ext uri="{BB962C8B-B14F-4D97-AF65-F5344CB8AC3E}">
        <p14:creationId xmlns:p14="http://schemas.microsoft.com/office/powerpoint/2010/main" val="30146760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126</a:t>
            </a:fld>
            <a:endParaRPr lang="en-IN" dirty="0"/>
          </a:p>
        </p:txBody>
      </p:sp>
      <p:sp>
        <p:nvSpPr>
          <p:cNvPr id="5" name="Rectangle 4"/>
          <p:cNvSpPr/>
          <p:nvPr/>
        </p:nvSpPr>
        <p:spPr>
          <a:xfrm>
            <a:off x="307637" y="1183600"/>
            <a:ext cx="10107039" cy="5355312"/>
          </a:xfrm>
          <a:prstGeom prst="rect">
            <a:avLst/>
          </a:prstGeom>
        </p:spPr>
        <p:txBody>
          <a:bodyPr wrap="square">
            <a:spAutoFit/>
          </a:bodyPr>
          <a:lstStyle/>
          <a:p>
            <a:r>
              <a:rPr lang="en-US" dirty="0">
                <a:latin typeface="Proxima Nova"/>
                <a:ea typeface="Cambria" panose="02040503050406030204" pitchFamily="18" charset="0"/>
              </a:rPr>
              <a:t>&lt;!DOCTYPE html&gt;</a:t>
            </a:r>
          </a:p>
          <a:p>
            <a:r>
              <a:rPr lang="en-US" dirty="0">
                <a:latin typeface="Proxima Nova"/>
                <a:ea typeface="Cambria" panose="02040503050406030204" pitchFamily="18" charset="0"/>
              </a:rPr>
              <a:t>&lt;html&gt;</a:t>
            </a:r>
          </a:p>
          <a:p>
            <a:r>
              <a:rPr lang="en-US" dirty="0">
                <a:latin typeface="Proxima Nova"/>
                <a:ea typeface="Cambria" panose="02040503050406030204" pitchFamily="18" charset="0"/>
              </a:rPr>
              <a:t>	&lt;head&gt;</a:t>
            </a:r>
          </a:p>
          <a:p>
            <a:pPr lvl="2"/>
            <a:r>
              <a:rPr lang="en-US" dirty="0">
                <a:latin typeface="Proxima Nova"/>
                <a:ea typeface="Cambria" panose="02040503050406030204" pitchFamily="18" charset="0"/>
              </a:rPr>
              <a:t>&lt;style&gt;</a:t>
            </a:r>
          </a:p>
          <a:p>
            <a:pPr lvl="3"/>
            <a:r>
              <a:rPr lang="en-US" dirty="0">
                <a:latin typeface="Proxima Nova"/>
                <a:ea typeface="Cambria" panose="02040503050406030204" pitchFamily="18" charset="0"/>
              </a:rPr>
              <a:t>div {</a:t>
            </a:r>
          </a:p>
          <a:p>
            <a:pPr lvl="3"/>
            <a:r>
              <a:rPr lang="en-US" dirty="0">
                <a:latin typeface="Proxima Nova"/>
                <a:ea typeface="Cambria" panose="02040503050406030204" pitchFamily="18" charset="0"/>
              </a:rPr>
              <a:t>  width: 300px;</a:t>
            </a:r>
          </a:p>
          <a:p>
            <a:pPr lvl="3"/>
            <a:r>
              <a:rPr lang="en-US" dirty="0">
                <a:latin typeface="Proxima Nova"/>
                <a:ea typeface="Cambria" panose="02040503050406030204" pitchFamily="18" charset="0"/>
              </a:rPr>
              <a:t>  height: 100px;</a:t>
            </a:r>
          </a:p>
          <a:p>
            <a:pPr lvl="3"/>
            <a:r>
              <a:rPr lang="en-US" dirty="0">
                <a:latin typeface="Proxima Nova"/>
                <a:ea typeface="Cambria" panose="02040503050406030204" pitchFamily="18" charset="0"/>
              </a:rPr>
              <a:t>  background-color: yellow;</a:t>
            </a:r>
          </a:p>
          <a:p>
            <a:pPr lvl="3"/>
            <a:r>
              <a:rPr lang="en-US" dirty="0">
                <a:latin typeface="Proxima Nova"/>
                <a:ea typeface="Cambria" panose="02040503050406030204" pitchFamily="18" charset="0"/>
              </a:rPr>
              <a:t>  border: 1px solid black;</a:t>
            </a:r>
          </a:p>
          <a:p>
            <a:pPr lvl="3"/>
            <a:r>
              <a:rPr lang="en-US" dirty="0">
                <a:latin typeface="Proxima Nova"/>
                <a:ea typeface="Cambria" panose="02040503050406030204" pitchFamily="18" charset="0"/>
              </a:rPr>
              <a:t>}</a:t>
            </a:r>
          </a:p>
          <a:p>
            <a:pPr lvl="3"/>
            <a:r>
              <a:rPr lang="en-US" dirty="0" err="1">
                <a:latin typeface="Proxima Nova"/>
                <a:ea typeface="Cambria" panose="02040503050406030204" pitchFamily="18" charset="0"/>
              </a:rPr>
              <a:t>div#myDiv</a:t>
            </a:r>
            <a:r>
              <a:rPr lang="en-US" dirty="0">
                <a:latin typeface="Proxima Nova"/>
                <a:ea typeface="Cambria" panose="02040503050406030204" pitchFamily="18" charset="0"/>
              </a:rPr>
              <a:t> {</a:t>
            </a:r>
          </a:p>
          <a:p>
            <a:pPr lvl="3"/>
            <a:r>
              <a:rPr lang="en-US" dirty="0">
                <a:latin typeface="Proxima Nova"/>
                <a:ea typeface="Cambria" panose="02040503050406030204" pitchFamily="18" charset="0"/>
              </a:rPr>
              <a:t>  transform: </a:t>
            </a:r>
            <a:r>
              <a:rPr lang="fr-FR" dirty="0">
                <a:latin typeface="Proxima Nova"/>
                <a:ea typeface="Cambria" panose="02040503050406030204" pitchFamily="18" charset="0"/>
              </a:rPr>
              <a:t>matrix(1, -0.3, 0, 1, 0, 0);</a:t>
            </a:r>
          </a:p>
          <a:p>
            <a:pPr lvl="3"/>
            <a:r>
              <a:rPr lang="en-US" dirty="0">
                <a:latin typeface="Proxima Nova"/>
                <a:ea typeface="Cambria" panose="02040503050406030204" pitchFamily="18" charset="0"/>
              </a:rPr>
              <a:t>}</a:t>
            </a:r>
          </a:p>
          <a:p>
            <a:pPr lvl="2"/>
            <a:r>
              <a:rPr lang="en-US" dirty="0">
                <a:latin typeface="Proxima Nova"/>
                <a:ea typeface="Cambria" panose="02040503050406030204" pitchFamily="18" charset="0"/>
              </a:rPr>
              <a:t>&lt;/style&gt;</a:t>
            </a:r>
          </a:p>
          <a:p>
            <a:pPr lvl="1"/>
            <a:r>
              <a:rPr lang="en-US" dirty="0">
                <a:latin typeface="Proxima Nova"/>
                <a:ea typeface="Cambria" panose="02040503050406030204" pitchFamily="18" charset="0"/>
              </a:rPr>
              <a:t>&lt;/head&gt;</a:t>
            </a:r>
          </a:p>
          <a:p>
            <a:pPr lvl="1"/>
            <a:r>
              <a:rPr lang="en-US" dirty="0">
                <a:latin typeface="Proxima Nova"/>
                <a:ea typeface="Cambria" panose="02040503050406030204" pitchFamily="18" charset="0"/>
              </a:rPr>
              <a:t>&lt;body&gt;</a:t>
            </a:r>
          </a:p>
          <a:p>
            <a:pPr lvl="2"/>
            <a:r>
              <a:rPr lang="en-US" dirty="0">
                <a:latin typeface="Proxima Nova"/>
                <a:ea typeface="Cambria" panose="02040503050406030204" pitchFamily="18" charset="0"/>
              </a:rPr>
              <a:t>&lt;div&gt;</a:t>
            </a:r>
          </a:p>
          <a:p>
            <a:pPr lvl="2"/>
            <a:r>
              <a:rPr lang="en-US" dirty="0">
                <a:latin typeface="Proxima Nova"/>
                <a:ea typeface="Cambria" panose="02040503050406030204" pitchFamily="18" charset="0"/>
              </a:rPr>
              <a:t>This a normal div element.</a:t>
            </a:r>
          </a:p>
          <a:p>
            <a:pPr lvl="2"/>
            <a:r>
              <a:rPr lang="en-US" dirty="0">
                <a:latin typeface="Proxima Nova"/>
                <a:ea typeface="Cambria" panose="02040503050406030204" pitchFamily="18" charset="0"/>
              </a:rPr>
              <a:t>&lt;/div&gt;</a:t>
            </a:r>
          </a:p>
        </p:txBody>
      </p:sp>
      <p:pic>
        <p:nvPicPr>
          <p:cNvPr id="2" name="Picture 1"/>
          <p:cNvPicPr>
            <a:picLocks noChangeAspect="1"/>
          </p:cNvPicPr>
          <p:nvPr/>
        </p:nvPicPr>
        <p:blipFill>
          <a:blip r:embed="rId2"/>
          <a:stretch>
            <a:fillRect/>
          </a:stretch>
        </p:blipFill>
        <p:spPr>
          <a:xfrm>
            <a:off x="6425525" y="2828417"/>
            <a:ext cx="4667250" cy="3457575"/>
          </a:xfrm>
          <a:prstGeom prst="rect">
            <a:avLst/>
          </a:prstGeom>
          <a:ln w="19050">
            <a:solidFill>
              <a:schemeClr val="tx1"/>
            </a:solidFill>
          </a:ln>
        </p:spPr>
      </p:pic>
      <p:sp>
        <p:nvSpPr>
          <p:cNvPr id="6" name="TextBox 5">
            <a:extLst>
              <a:ext uri="{FF2B5EF4-FFF2-40B4-BE49-F238E27FC236}">
                <a16:creationId xmlns:a16="http://schemas.microsoft.com/office/drawing/2014/main" id="{B0A35FF4-7E85-13F5-B580-FF635F46961A}"/>
              </a:ext>
            </a:extLst>
          </p:cNvPr>
          <p:cNvSpPr txBox="1"/>
          <p:nvPr/>
        </p:nvSpPr>
        <p:spPr>
          <a:xfrm>
            <a:off x="6096000" y="1255724"/>
            <a:ext cx="6096000" cy="1477328"/>
          </a:xfrm>
          <a:prstGeom prst="rect">
            <a:avLst/>
          </a:prstGeom>
          <a:noFill/>
        </p:spPr>
        <p:txBody>
          <a:bodyPr wrap="square">
            <a:spAutoFit/>
          </a:bodyPr>
          <a:lstStyle/>
          <a:p>
            <a:pPr lvl="2"/>
            <a:r>
              <a:rPr lang="en-US" dirty="0">
                <a:latin typeface="Proxima Nova"/>
                <a:ea typeface="Cambria" panose="02040503050406030204" pitchFamily="18" charset="0"/>
              </a:rPr>
              <a:t>&lt;div id="</a:t>
            </a:r>
            <a:r>
              <a:rPr lang="en-US" dirty="0" err="1">
                <a:latin typeface="Proxima Nova"/>
                <a:ea typeface="Cambria" panose="02040503050406030204" pitchFamily="18" charset="0"/>
              </a:rPr>
              <a:t>myDiv</a:t>
            </a:r>
            <a:r>
              <a:rPr lang="en-US" dirty="0">
                <a:latin typeface="Proxima Nova"/>
                <a:ea typeface="Cambria" panose="02040503050406030204" pitchFamily="18" charset="0"/>
              </a:rPr>
              <a:t>"&gt;</a:t>
            </a:r>
          </a:p>
          <a:p>
            <a:pPr lvl="2"/>
            <a:r>
              <a:rPr lang="en-US" dirty="0">
                <a:latin typeface="Proxima Nova"/>
                <a:ea typeface="Cambria" panose="02040503050406030204" pitchFamily="18" charset="0"/>
              </a:rPr>
              <a:t>Using the matrix() method.</a:t>
            </a:r>
          </a:p>
          <a:p>
            <a:pPr lvl="2"/>
            <a:r>
              <a:rPr lang="en-US" dirty="0">
                <a:latin typeface="Proxima Nova"/>
                <a:ea typeface="Cambria" panose="02040503050406030204" pitchFamily="18" charset="0"/>
              </a:rPr>
              <a:t>&lt;/div&gt;</a:t>
            </a:r>
          </a:p>
          <a:p>
            <a:r>
              <a:rPr lang="en-US" dirty="0">
                <a:latin typeface="Proxima Nova"/>
                <a:ea typeface="Cambria" panose="02040503050406030204" pitchFamily="18" charset="0"/>
              </a:rPr>
              <a:t>	&lt;/body&gt;</a:t>
            </a:r>
          </a:p>
          <a:p>
            <a:r>
              <a:rPr lang="en-US" dirty="0">
                <a:latin typeface="Proxima Nova"/>
                <a:ea typeface="Cambria" panose="02040503050406030204" pitchFamily="18" charset="0"/>
              </a:rPr>
              <a:t>&lt;/html&gt;</a:t>
            </a:r>
          </a:p>
        </p:txBody>
      </p:sp>
      <p:sp>
        <p:nvSpPr>
          <p:cNvPr id="7" name="Title 1">
            <a:extLst>
              <a:ext uri="{FF2B5EF4-FFF2-40B4-BE49-F238E27FC236}">
                <a16:creationId xmlns:a16="http://schemas.microsoft.com/office/drawing/2014/main" id="{9483A463-2D18-F6B7-BA2A-C98C9DD375A9}"/>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421868551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CSS 3D Transforms</a:t>
            </a:r>
            <a:br>
              <a:rPr lang="en-US" dirty="0"/>
            </a:br>
            <a:endParaRPr lang="en-US" dirty="0"/>
          </a:p>
        </p:txBody>
      </p:sp>
      <p:sp>
        <p:nvSpPr>
          <p:cNvPr id="4" name="Content Placeholder 3"/>
          <p:cNvSpPr>
            <a:spLocks noGrp="1"/>
          </p:cNvSpPr>
          <p:nvPr>
            <p:ph idx="1"/>
          </p:nvPr>
        </p:nvSpPr>
        <p:spPr/>
        <p:txBody>
          <a:bodyPr/>
          <a:lstStyle/>
          <a:p>
            <a:r>
              <a:rPr lang="en-US" dirty="0"/>
              <a:t>CSS also supports 3D transformations.</a:t>
            </a:r>
          </a:p>
          <a:p>
            <a:r>
              <a:rPr lang="en-US" dirty="0"/>
              <a:t>With the CSS transform property you can use the following 3D transformation methods:</a:t>
            </a:r>
          </a:p>
          <a:p>
            <a:r>
              <a:rPr lang="en-US" dirty="0"/>
              <a:t>    </a:t>
            </a:r>
            <a:r>
              <a:rPr lang="en-US" dirty="0" err="1"/>
              <a:t>rotateX</a:t>
            </a:r>
            <a:r>
              <a:rPr lang="en-US" dirty="0"/>
              <a:t>()</a:t>
            </a:r>
          </a:p>
          <a:p>
            <a:r>
              <a:rPr lang="en-US" dirty="0"/>
              <a:t>    </a:t>
            </a:r>
            <a:r>
              <a:rPr lang="en-US" dirty="0" err="1"/>
              <a:t>rotateY</a:t>
            </a:r>
            <a:r>
              <a:rPr lang="en-US" dirty="0"/>
              <a:t>()</a:t>
            </a:r>
          </a:p>
          <a:p>
            <a:r>
              <a:rPr lang="en-US" dirty="0"/>
              <a:t>    </a:t>
            </a:r>
            <a:r>
              <a:rPr lang="en-US" dirty="0" err="1"/>
              <a:t>rotateZ</a:t>
            </a:r>
            <a:r>
              <a:rPr lang="en-US" dirty="0"/>
              <a:t>()</a:t>
            </a:r>
          </a:p>
          <a:p>
            <a:r>
              <a:rPr lang="en-US" b="1" dirty="0"/>
              <a:t>The </a:t>
            </a:r>
            <a:r>
              <a:rPr lang="en-US" b="1" dirty="0" err="1"/>
              <a:t>rotateX</a:t>
            </a:r>
            <a:r>
              <a:rPr lang="en-US" b="1" dirty="0"/>
              <a:t>() Method:</a:t>
            </a:r>
          </a:p>
          <a:p>
            <a:r>
              <a:rPr lang="en-US" dirty="0"/>
              <a:t>The </a:t>
            </a:r>
            <a:r>
              <a:rPr lang="en-US" dirty="0" err="1"/>
              <a:t>rotateX</a:t>
            </a:r>
            <a:r>
              <a:rPr lang="en-US" dirty="0"/>
              <a:t>() method rotates an element around its X-axis at a given degree:</a:t>
            </a:r>
          </a:p>
          <a:p>
            <a:endParaRPr lang="en-US" dirty="0"/>
          </a:p>
        </p:txBody>
      </p:sp>
      <p:sp>
        <p:nvSpPr>
          <p:cNvPr id="2" name="Slide Number Placeholder 1"/>
          <p:cNvSpPr>
            <a:spLocks noGrp="1"/>
          </p:cNvSpPr>
          <p:nvPr>
            <p:ph type="sldNum" sz="quarter" idx="12"/>
          </p:nvPr>
        </p:nvSpPr>
        <p:spPr/>
        <p:txBody>
          <a:bodyPr/>
          <a:lstStyle/>
          <a:p>
            <a:fld id="{9C11CE39-2868-44A2-A0C6-827D458F7A8B}" type="slidenum">
              <a:rPr lang="en-IN" smtClean="0"/>
              <a:pPr/>
              <a:t>127</a:t>
            </a:fld>
            <a:endParaRPr lang="en-IN"/>
          </a:p>
        </p:txBody>
      </p:sp>
      <p:pic>
        <p:nvPicPr>
          <p:cNvPr id="5" name="Picture 4"/>
          <p:cNvPicPr>
            <a:picLocks noChangeAspect="1"/>
          </p:cNvPicPr>
          <p:nvPr/>
        </p:nvPicPr>
        <p:blipFill>
          <a:blip r:embed="rId2"/>
          <a:stretch>
            <a:fillRect/>
          </a:stretch>
        </p:blipFill>
        <p:spPr>
          <a:xfrm>
            <a:off x="3790950" y="5002651"/>
            <a:ext cx="2781300" cy="1619250"/>
          </a:xfrm>
          <a:prstGeom prst="rect">
            <a:avLst/>
          </a:prstGeom>
        </p:spPr>
      </p:pic>
    </p:spTree>
    <p:extLst>
      <p:ext uri="{BB962C8B-B14F-4D97-AF65-F5344CB8AC3E}">
        <p14:creationId xmlns:p14="http://schemas.microsoft.com/office/powerpoint/2010/main" val="128762648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3D Transforms</a:t>
            </a:r>
          </a:p>
        </p:txBody>
      </p:sp>
      <p:sp>
        <p:nvSpPr>
          <p:cNvPr id="3" name="Content Placeholder 2"/>
          <p:cNvSpPr>
            <a:spLocks noGrp="1"/>
          </p:cNvSpPr>
          <p:nvPr>
            <p:ph idx="1"/>
          </p:nvPr>
        </p:nvSpPr>
        <p:spPr/>
        <p:txBody>
          <a:bodyPr>
            <a:normAutofit fontScale="92500" lnSpcReduction="20000"/>
          </a:bodyPr>
          <a:lstStyle/>
          <a:p>
            <a:r>
              <a:rPr lang="en-US" b="1" dirty="0"/>
              <a:t>The </a:t>
            </a:r>
            <a:r>
              <a:rPr lang="en-US" b="1" dirty="0" err="1"/>
              <a:t>rotateY</a:t>
            </a:r>
            <a:r>
              <a:rPr lang="en-US" b="1" dirty="0"/>
              <a:t>() Method</a:t>
            </a:r>
          </a:p>
          <a:p>
            <a:r>
              <a:rPr lang="en-US" dirty="0"/>
              <a:t>The </a:t>
            </a:r>
            <a:r>
              <a:rPr lang="en-US" dirty="0" err="1"/>
              <a:t>rotateY</a:t>
            </a:r>
            <a:r>
              <a:rPr lang="en-US" dirty="0"/>
              <a:t>() method rotates an element around its Y-axis at a given degree.</a:t>
            </a:r>
          </a:p>
          <a:p>
            <a:endParaRPr lang="en-US" dirty="0"/>
          </a:p>
          <a:p>
            <a:endParaRPr lang="en-US" dirty="0"/>
          </a:p>
          <a:p>
            <a:endParaRPr lang="en-US" dirty="0"/>
          </a:p>
          <a:p>
            <a:endParaRPr lang="en-US" dirty="0"/>
          </a:p>
          <a:p>
            <a:endParaRPr lang="en-US" dirty="0"/>
          </a:p>
          <a:p>
            <a:r>
              <a:rPr lang="en-US" b="1" dirty="0"/>
              <a:t>The </a:t>
            </a:r>
            <a:r>
              <a:rPr lang="en-US" b="1" dirty="0" err="1"/>
              <a:t>rotateZ</a:t>
            </a:r>
            <a:r>
              <a:rPr lang="en-US" b="1" dirty="0"/>
              <a:t>() Method</a:t>
            </a:r>
          </a:p>
          <a:p>
            <a:r>
              <a:rPr lang="en-US" dirty="0"/>
              <a:t>The </a:t>
            </a:r>
            <a:r>
              <a:rPr lang="en-US" dirty="0" err="1"/>
              <a:t>rotateZ</a:t>
            </a:r>
            <a:r>
              <a:rPr lang="en-US" dirty="0"/>
              <a:t>() method rotates an element around its Z-axis at a given degree</a:t>
            </a:r>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128</a:t>
            </a:fld>
            <a:endParaRPr lang="en-IN" dirty="0"/>
          </a:p>
        </p:txBody>
      </p:sp>
      <p:pic>
        <p:nvPicPr>
          <p:cNvPr id="5" name="Picture 4"/>
          <p:cNvPicPr>
            <a:picLocks noChangeAspect="1"/>
          </p:cNvPicPr>
          <p:nvPr/>
        </p:nvPicPr>
        <p:blipFill>
          <a:blip r:embed="rId2"/>
          <a:stretch>
            <a:fillRect/>
          </a:stretch>
        </p:blipFill>
        <p:spPr>
          <a:xfrm>
            <a:off x="3908594" y="2398679"/>
            <a:ext cx="2409825" cy="1905000"/>
          </a:xfrm>
          <a:prstGeom prst="rect">
            <a:avLst/>
          </a:prstGeom>
        </p:spPr>
      </p:pic>
    </p:spTree>
    <p:extLst>
      <p:ext uri="{BB962C8B-B14F-4D97-AF65-F5344CB8AC3E}">
        <p14:creationId xmlns:p14="http://schemas.microsoft.com/office/powerpoint/2010/main" val="41405568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129</a:t>
            </a:fld>
            <a:endParaRPr lang="en-IN" dirty="0"/>
          </a:p>
        </p:txBody>
      </p:sp>
      <p:sp>
        <p:nvSpPr>
          <p:cNvPr id="5" name="Rectangle 4"/>
          <p:cNvSpPr/>
          <p:nvPr/>
        </p:nvSpPr>
        <p:spPr>
          <a:xfrm>
            <a:off x="288587" y="1140366"/>
            <a:ext cx="10107039" cy="5632311"/>
          </a:xfrm>
          <a:prstGeom prst="rect">
            <a:avLst/>
          </a:prstGeom>
        </p:spPr>
        <p:txBody>
          <a:bodyPr wrap="square">
            <a:spAutoFit/>
          </a:bodyPr>
          <a:lstStyle/>
          <a:p>
            <a:r>
              <a:rPr lang="en-US" dirty="0">
                <a:latin typeface="Proxima Nova"/>
                <a:ea typeface="Cambria" panose="02040503050406030204" pitchFamily="18" charset="0"/>
              </a:rPr>
              <a:t>&lt;!DOCTYPE html&gt;</a:t>
            </a:r>
          </a:p>
          <a:p>
            <a:r>
              <a:rPr lang="en-US" dirty="0">
                <a:latin typeface="Proxima Nova"/>
                <a:ea typeface="Cambria" panose="02040503050406030204" pitchFamily="18" charset="0"/>
              </a:rPr>
              <a:t>&lt;html&gt;</a:t>
            </a:r>
          </a:p>
          <a:p>
            <a:r>
              <a:rPr lang="en-US" dirty="0">
                <a:latin typeface="Proxima Nova"/>
                <a:ea typeface="Cambria" panose="02040503050406030204" pitchFamily="18" charset="0"/>
              </a:rPr>
              <a:t>	&lt;head&gt;</a:t>
            </a:r>
          </a:p>
          <a:p>
            <a:pPr lvl="2"/>
            <a:r>
              <a:rPr lang="en-US" dirty="0">
                <a:latin typeface="Proxima Nova"/>
                <a:ea typeface="Cambria" panose="02040503050406030204" pitchFamily="18" charset="0"/>
              </a:rPr>
              <a:t>&lt;style&gt;</a:t>
            </a:r>
          </a:p>
          <a:p>
            <a:pPr lvl="3"/>
            <a:r>
              <a:rPr lang="en-US" dirty="0">
                <a:latin typeface="Proxima Nova"/>
                <a:ea typeface="Cambria" panose="02040503050406030204" pitchFamily="18" charset="0"/>
              </a:rPr>
              <a:t>div {</a:t>
            </a:r>
          </a:p>
          <a:p>
            <a:pPr lvl="3"/>
            <a:r>
              <a:rPr lang="en-US" dirty="0">
                <a:latin typeface="Proxima Nova"/>
                <a:ea typeface="Cambria" panose="02040503050406030204" pitchFamily="18" charset="0"/>
              </a:rPr>
              <a:t>  width: 300px;</a:t>
            </a:r>
          </a:p>
          <a:p>
            <a:pPr lvl="3"/>
            <a:r>
              <a:rPr lang="en-US" dirty="0">
                <a:latin typeface="Proxima Nova"/>
                <a:ea typeface="Cambria" panose="02040503050406030204" pitchFamily="18" charset="0"/>
              </a:rPr>
              <a:t>  height: 100px;</a:t>
            </a:r>
          </a:p>
          <a:p>
            <a:pPr lvl="3"/>
            <a:r>
              <a:rPr lang="en-US" dirty="0">
                <a:latin typeface="Proxima Nova"/>
                <a:ea typeface="Cambria" panose="02040503050406030204" pitchFamily="18" charset="0"/>
              </a:rPr>
              <a:t>  background-color: yellow;</a:t>
            </a:r>
          </a:p>
          <a:p>
            <a:pPr lvl="3"/>
            <a:r>
              <a:rPr lang="en-US" dirty="0">
                <a:latin typeface="Proxima Nova"/>
                <a:ea typeface="Cambria" panose="02040503050406030204" pitchFamily="18" charset="0"/>
              </a:rPr>
              <a:t>  border: 1px solid black;</a:t>
            </a:r>
          </a:p>
          <a:p>
            <a:pPr lvl="3"/>
            <a:r>
              <a:rPr lang="en-US" dirty="0">
                <a:latin typeface="Proxima Nova"/>
                <a:ea typeface="Cambria" panose="02040503050406030204" pitchFamily="18" charset="0"/>
              </a:rPr>
              <a:t>}</a:t>
            </a:r>
          </a:p>
          <a:p>
            <a:pPr lvl="3"/>
            <a:r>
              <a:rPr lang="en-US" dirty="0">
                <a:latin typeface="Proxima Nova"/>
                <a:ea typeface="Cambria" panose="02040503050406030204" pitchFamily="18" charset="0"/>
              </a:rPr>
              <a:t>#</a:t>
            </a:r>
            <a:r>
              <a:rPr lang="en-US" dirty="0" err="1">
                <a:latin typeface="Proxima Nova"/>
                <a:ea typeface="Cambria" panose="02040503050406030204" pitchFamily="18" charset="0"/>
              </a:rPr>
              <a:t>myDiv</a:t>
            </a:r>
            <a:r>
              <a:rPr lang="en-US" dirty="0">
                <a:latin typeface="Proxima Nova"/>
                <a:ea typeface="Cambria" panose="02040503050406030204" pitchFamily="18" charset="0"/>
              </a:rPr>
              <a:t> {</a:t>
            </a:r>
          </a:p>
          <a:p>
            <a:pPr lvl="3"/>
            <a:r>
              <a:rPr lang="en-US" dirty="0">
                <a:latin typeface="Proxima Nova"/>
                <a:ea typeface="Cambria" panose="02040503050406030204" pitchFamily="18" charset="0"/>
              </a:rPr>
              <a:t>  transform: </a:t>
            </a:r>
            <a:r>
              <a:rPr lang="en-US" dirty="0" err="1">
                <a:latin typeface="Proxima Nova"/>
                <a:ea typeface="Cambria" panose="02040503050406030204" pitchFamily="18" charset="0"/>
              </a:rPr>
              <a:t>rotateX</a:t>
            </a:r>
            <a:r>
              <a:rPr lang="en-US" dirty="0">
                <a:latin typeface="Proxima Nova"/>
                <a:ea typeface="Cambria" panose="02040503050406030204" pitchFamily="18" charset="0"/>
              </a:rPr>
              <a:t>(150deg);</a:t>
            </a:r>
          </a:p>
          <a:p>
            <a:pPr lvl="3"/>
            <a:r>
              <a:rPr lang="en-US" dirty="0">
                <a:latin typeface="Proxima Nova"/>
                <a:ea typeface="Cambria" panose="02040503050406030204" pitchFamily="18" charset="0"/>
              </a:rPr>
              <a:t>}</a:t>
            </a:r>
          </a:p>
          <a:p>
            <a:pPr lvl="3"/>
            <a:r>
              <a:rPr lang="en-US" dirty="0">
                <a:latin typeface="Proxima Nova"/>
                <a:ea typeface="Cambria" panose="02040503050406030204" pitchFamily="18" charset="0"/>
              </a:rPr>
              <a:t>&lt;/style&gt;</a:t>
            </a:r>
          </a:p>
          <a:p>
            <a:pPr lvl="1"/>
            <a:r>
              <a:rPr lang="en-US" dirty="0">
                <a:latin typeface="Proxima Nova"/>
                <a:ea typeface="Cambria" panose="02040503050406030204" pitchFamily="18" charset="0"/>
              </a:rPr>
              <a:t>&lt;/head&gt;</a:t>
            </a:r>
          </a:p>
          <a:p>
            <a:pPr lvl="1"/>
            <a:r>
              <a:rPr lang="en-US" dirty="0">
                <a:latin typeface="Proxima Nova"/>
                <a:ea typeface="Cambria" panose="02040503050406030204" pitchFamily="18" charset="0"/>
              </a:rPr>
              <a:t>&lt;body&gt;</a:t>
            </a:r>
          </a:p>
          <a:p>
            <a:pPr lvl="2"/>
            <a:r>
              <a:rPr lang="en-US" dirty="0">
                <a:latin typeface="Proxima Nova"/>
                <a:ea typeface="Cambria" panose="02040503050406030204" pitchFamily="18" charset="0"/>
              </a:rPr>
              <a:t>&lt;div&gt;</a:t>
            </a:r>
          </a:p>
          <a:p>
            <a:pPr lvl="2"/>
            <a:r>
              <a:rPr lang="en-US" dirty="0">
                <a:latin typeface="Proxima Nova"/>
                <a:ea typeface="Cambria" panose="02040503050406030204" pitchFamily="18" charset="0"/>
              </a:rPr>
              <a:t>This a normal div element.</a:t>
            </a:r>
          </a:p>
          <a:p>
            <a:pPr lvl="2"/>
            <a:r>
              <a:rPr lang="en-US" dirty="0">
                <a:latin typeface="Proxima Nova"/>
                <a:ea typeface="Cambria" panose="02040503050406030204" pitchFamily="18" charset="0"/>
              </a:rPr>
              <a:t>&lt;/div&gt;</a:t>
            </a:r>
          </a:p>
          <a:p>
            <a:pPr lvl="1"/>
            <a:endParaRPr lang="en-US" dirty="0">
              <a:latin typeface="Proxima Nova"/>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6475784" y="3371850"/>
            <a:ext cx="4591050" cy="3057525"/>
          </a:xfrm>
          <a:prstGeom prst="rect">
            <a:avLst/>
          </a:prstGeom>
          <a:ln w="19050">
            <a:solidFill>
              <a:schemeClr val="tx1"/>
            </a:solidFill>
          </a:ln>
        </p:spPr>
      </p:pic>
      <p:sp>
        <p:nvSpPr>
          <p:cNvPr id="6" name="TextBox 5">
            <a:extLst>
              <a:ext uri="{FF2B5EF4-FFF2-40B4-BE49-F238E27FC236}">
                <a16:creationId xmlns:a16="http://schemas.microsoft.com/office/drawing/2014/main" id="{8209A5EF-4862-7327-C1BB-6239C14282E5}"/>
              </a:ext>
            </a:extLst>
          </p:cNvPr>
          <p:cNvSpPr txBox="1"/>
          <p:nvPr/>
        </p:nvSpPr>
        <p:spPr>
          <a:xfrm>
            <a:off x="5629275" y="1140366"/>
            <a:ext cx="6096000" cy="1754326"/>
          </a:xfrm>
          <a:prstGeom prst="rect">
            <a:avLst/>
          </a:prstGeom>
          <a:noFill/>
        </p:spPr>
        <p:txBody>
          <a:bodyPr wrap="square">
            <a:spAutoFit/>
          </a:bodyPr>
          <a:lstStyle/>
          <a:p>
            <a:pPr lvl="2"/>
            <a:endParaRPr lang="en-US" dirty="0">
              <a:latin typeface="Proxima Nova"/>
              <a:ea typeface="Cambria" panose="02040503050406030204" pitchFamily="18" charset="0"/>
            </a:endParaRPr>
          </a:p>
          <a:p>
            <a:pPr lvl="2"/>
            <a:r>
              <a:rPr lang="en-US" dirty="0">
                <a:latin typeface="Proxima Nova"/>
                <a:ea typeface="Cambria" panose="02040503050406030204" pitchFamily="18" charset="0"/>
              </a:rPr>
              <a:t>&lt;div id="</a:t>
            </a:r>
            <a:r>
              <a:rPr lang="en-US" dirty="0" err="1">
                <a:latin typeface="Proxima Nova"/>
                <a:ea typeface="Cambria" panose="02040503050406030204" pitchFamily="18" charset="0"/>
              </a:rPr>
              <a:t>myDiv</a:t>
            </a:r>
            <a:r>
              <a:rPr lang="en-US" dirty="0">
                <a:latin typeface="Proxima Nova"/>
                <a:ea typeface="Cambria" panose="02040503050406030204" pitchFamily="18" charset="0"/>
              </a:rPr>
              <a:t>"&gt;</a:t>
            </a:r>
          </a:p>
          <a:p>
            <a:pPr lvl="2"/>
            <a:r>
              <a:rPr lang="en-US" dirty="0">
                <a:latin typeface="Proxima Nova"/>
                <a:ea typeface="Cambria" panose="02040503050406030204" pitchFamily="18" charset="0"/>
              </a:rPr>
              <a:t>This div element is rotated 150 degrees.</a:t>
            </a:r>
          </a:p>
          <a:p>
            <a:pPr lvl="2"/>
            <a:r>
              <a:rPr lang="en-US" dirty="0">
                <a:latin typeface="Proxima Nova"/>
                <a:ea typeface="Cambria" panose="02040503050406030204" pitchFamily="18" charset="0"/>
              </a:rPr>
              <a:t>&lt;/div&gt;</a:t>
            </a:r>
          </a:p>
          <a:p>
            <a:pPr lvl="2"/>
            <a:r>
              <a:rPr lang="en-US" dirty="0">
                <a:latin typeface="Proxima Nova"/>
                <a:ea typeface="Cambria" panose="02040503050406030204" pitchFamily="18" charset="0"/>
              </a:rPr>
              <a:t>&lt;/body&gt;</a:t>
            </a:r>
          </a:p>
          <a:p>
            <a:r>
              <a:rPr lang="en-US" dirty="0">
                <a:latin typeface="Proxima Nova"/>
                <a:ea typeface="Cambria" panose="02040503050406030204" pitchFamily="18" charset="0"/>
              </a:rPr>
              <a:t>&lt;/html&gt;</a:t>
            </a:r>
          </a:p>
        </p:txBody>
      </p:sp>
      <p:sp>
        <p:nvSpPr>
          <p:cNvPr id="7" name="Title 1">
            <a:extLst>
              <a:ext uri="{FF2B5EF4-FFF2-40B4-BE49-F238E27FC236}">
                <a16:creationId xmlns:a16="http://schemas.microsoft.com/office/drawing/2014/main" id="{6DFF8416-3644-0952-7732-C2117C726B72}"/>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8912958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130</a:t>
            </a:fld>
            <a:endParaRPr lang="en-IN" dirty="0"/>
          </a:p>
        </p:txBody>
      </p:sp>
      <p:sp>
        <p:nvSpPr>
          <p:cNvPr id="5" name="Rectangle 4"/>
          <p:cNvSpPr/>
          <p:nvPr/>
        </p:nvSpPr>
        <p:spPr>
          <a:xfrm>
            <a:off x="383837" y="1130435"/>
            <a:ext cx="10107039" cy="5632311"/>
          </a:xfrm>
          <a:prstGeom prst="rect">
            <a:avLst/>
          </a:prstGeom>
        </p:spPr>
        <p:txBody>
          <a:bodyPr wrap="square">
            <a:spAutoFit/>
          </a:bodyPr>
          <a:lstStyle/>
          <a:p>
            <a:r>
              <a:rPr lang="en-US" dirty="0">
                <a:latin typeface="Proxima Nova"/>
                <a:ea typeface="Cambria" panose="02040503050406030204" pitchFamily="18" charset="0"/>
              </a:rPr>
              <a:t>&lt;!DOCTYPE html&gt;</a:t>
            </a:r>
          </a:p>
          <a:p>
            <a:r>
              <a:rPr lang="en-US" dirty="0">
                <a:latin typeface="Proxima Nova"/>
                <a:ea typeface="Cambria" panose="02040503050406030204" pitchFamily="18" charset="0"/>
              </a:rPr>
              <a:t>&lt;html&gt;</a:t>
            </a:r>
          </a:p>
          <a:p>
            <a:r>
              <a:rPr lang="en-US" dirty="0">
                <a:latin typeface="Proxima Nova"/>
                <a:ea typeface="Cambria" panose="02040503050406030204" pitchFamily="18" charset="0"/>
              </a:rPr>
              <a:t>	&lt;head&gt;</a:t>
            </a:r>
          </a:p>
          <a:p>
            <a:pPr lvl="2"/>
            <a:r>
              <a:rPr lang="en-US" dirty="0">
                <a:latin typeface="Proxima Nova"/>
                <a:ea typeface="Cambria" panose="02040503050406030204" pitchFamily="18" charset="0"/>
              </a:rPr>
              <a:t>&lt;style&gt;</a:t>
            </a:r>
          </a:p>
          <a:p>
            <a:pPr lvl="3"/>
            <a:r>
              <a:rPr lang="en-US" dirty="0">
                <a:latin typeface="Proxima Nova"/>
                <a:ea typeface="Cambria" panose="02040503050406030204" pitchFamily="18" charset="0"/>
              </a:rPr>
              <a:t>div {</a:t>
            </a:r>
          </a:p>
          <a:p>
            <a:pPr lvl="3"/>
            <a:r>
              <a:rPr lang="en-US" dirty="0">
                <a:latin typeface="Proxima Nova"/>
                <a:ea typeface="Cambria" panose="02040503050406030204" pitchFamily="18" charset="0"/>
              </a:rPr>
              <a:t>  width: 300px;</a:t>
            </a:r>
          </a:p>
          <a:p>
            <a:pPr lvl="3"/>
            <a:r>
              <a:rPr lang="en-US" dirty="0">
                <a:latin typeface="Proxima Nova"/>
                <a:ea typeface="Cambria" panose="02040503050406030204" pitchFamily="18" charset="0"/>
              </a:rPr>
              <a:t>  height: 100px;</a:t>
            </a:r>
          </a:p>
          <a:p>
            <a:pPr lvl="3"/>
            <a:r>
              <a:rPr lang="en-US" dirty="0">
                <a:latin typeface="Proxima Nova"/>
                <a:ea typeface="Cambria" panose="02040503050406030204" pitchFamily="18" charset="0"/>
              </a:rPr>
              <a:t>  background-color: yellow;</a:t>
            </a:r>
          </a:p>
          <a:p>
            <a:pPr lvl="3"/>
            <a:r>
              <a:rPr lang="en-US" dirty="0">
                <a:latin typeface="Proxima Nova"/>
                <a:ea typeface="Cambria" panose="02040503050406030204" pitchFamily="18" charset="0"/>
              </a:rPr>
              <a:t>  border: 1px solid black;</a:t>
            </a:r>
          </a:p>
          <a:p>
            <a:pPr lvl="3"/>
            <a:r>
              <a:rPr lang="en-US" dirty="0">
                <a:latin typeface="Proxima Nova"/>
                <a:ea typeface="Cambria" panose="02040503050406030204" pitchFamily="18" charset="0"/>
              </a:rPr>
              <a:t>}</a:t>
            </a:r>
          </a:p>
          <a:p>
            <a:pPr lvl="3"/>
            <a:r>
              <a:rPr lang="en-US" dirty="0">
                <a:latin typeface="Proxima Nova"/>
                <a:ea typeface="Cambria" panose="02040503050406030204" pitchFamily="18" charset="0"/>
              </a:rPr>
              <a:t>#</a:t>
            </a:r>
            <a:r>
              <a:rPr lang="en-US" dirty="0" err="1">
                <a:latin typeface="Proxima Nova"/>
                <a:ea typeface="Cambria" panose="02040503050406030204" pitchFamily="18" charset="0"/>
              </a:rPr>
              <a:t>myDiv</a:t>
            </a:r>
            <a:r>
              <a:rPr lang="en-US" dirty="0">
                <a:latin typeface="Proxima Nova"/>
                <a:ea typeface="Cambria" panose="02040503050406030204" pitchFamily="18" charset="0"/>
              </a:rPr>
              <a:t> {</a:t>
            </a:r>
          </a:p>
          <a:p>
            <a:pPr lvl="3"/>
            <a:r>
              <a:rPr lang="en-US" dirty="0">
                <a:latin typeface="Proxima Nova"/>
                <a:ea typeface="Cambria" panose="02040503050406030204" pitchFamily="18" charset="0"/>
              </a:rPr>
              <a:t>  transform: </a:t>
            </a:r>
            <a:r>
              <a:rPr lang="en-US" dirty="0" err="1">
                <a:latin typeface="Proxima Nova"/>
                <a:ea typeface="Cambria" panose="02040503050406030204" pitchFamily="18" charset="0"/>
              </a:rPr>
              <a:t>rotateY</a:t>
            </a:r>
            <a:r>
              <a:rPr lang="en-US" dirty="0">
                <a:latin typeface="Proxima Nova"/>
                <a:ea typeface="Cambria" panose="02040503050406030204" pitchFamily="18" charset="0"/>
              </a:rPr>
              <a:t>(150deg);</a:t>
            </a:r>
          </a:p>
          <a:p>
            <a:pPr lvl="3"/>
            <a:r>
              <a:rPr lang="en-US" dirty="0">
                <a:latin typeface="Proxima Nova"/>
                <a:ea typeface="Cambria" panose="02040503050406030204" pitchFamily="18" charset="0"/>
              </a:rPr>
              <a:t>}</a:t>
            </a:r>
          </a:p>
          <a:p>
            <a:pPr lvl="3"/>
            <a:r>
              <a:rPr lang="en-US" dirty="0">
                <a:latin typeface="Proxima Nova"/>
                <a:ea typeface="Cambria" panose="02040503050406030204" pitchFamily="18" charset="0"/>
              </a:rPr>
              <a:t>&lt;/style&gt;</a:t>
            </a:r>
          </a:p>
          <a:p>
            <a:pPr lvl="1"/>
            <a:r>
              <a:rPr lang="en-US" dirty="0">
                <a:latin typeface="Proxima Nova"/>
                <a:ea typeface="Cambria" panose="02040503050406030204" pitchFamily="18" charset="0"/>
              </a:rPr>
              <a:t>&lt;/head&gt;</a:t>
            </a:r>
          </a:p>
          <a:p>
            <a:pPr lvl="1"/>
            <a:r>
              <a:rPr lang="en-US" dirty="0">
                <a:latin typeface="Proxima Nova"/>
                <a:ea typeface="Cambria" panose="02040503050406030204" pitchFamily="18" charset="0"/>
              </a:rPr>
              <a:t>&lt;body&gt;</a:t>
            </a:r>
          </a:p>
          <a:p>
            <a:pPr lvl="2"/>
            <a:r>
              <a:rPr lang="en-US" dirty="0">
                <a:latin typeface="Proxima Nova"/>
                <a:ea typeface="Cambria" panose="02040503050406030204" pitchFamily="18" charset="0"/>
              </a:rPr>
              <a:t>&lt;div&gt;</a:t>
            </a:r>
          </a:p>
          <a:p>
            <a:pPr lvl="2"/>
            <a:r>
              <a:rPr lang="en-US" dirty="0">
                <a:latin typeface="Proxima Nova"/>
                <a:ea typeface="Cambria" panose="02040503050406030204" pitchFamily="18" charset="0"/>
              </a:rPr>
              <a:t>This a normal div element.</a:t>
            </a:r>
          </a:p>
          <a:p>
            <a:pPr lvl="2"/>
            <a:r>
              <a:rPr lang="en-US" dirty="0">
                <a:latin typeface="Proxima Nova"/>
                <a:ea typeface="Cambria" panose="02040503050406030204" pitchFamily="18" charset="0"/>
              </a:rPr>
              <a:t>&lt;/div&gt;</a:t>
            </a:r>
          </a:p>
          <a:p>
            <a:pPr lvl="2"/>
            <a:endParaRPr lang="en-US" dirty="0">
              <a:latin typeface="Proxima Nova"/>
              <a:ea typeface="Cambria" panose="02040503050406030204" pitchFamily="18" charset="0"/>
            </a:endParaRPr>
          </a:p>
        </p:txBody>
      </p:sp>
      <p:pic>
        <p:nvPicPr>
          <p:cNvPr id="2" name="Picture 1"/>
          <p:cNvPicPr>
            <a:picLocks noChangeAspect="1"/>
          </p:cNvPicPr>
          <p:nvPr/>
        </p:nvPicPr>
        <p:blipFill>
          <a:blip r:embed="rId2"/>
          <a:stretch>
            <a:fillRect/>
          </a:stretch>
        </p:blipFill>
        <p:spPr>
          <a:xfrm>
            <a:off x="6267450" y="3148012"/>
            <a:ext cx="4686300" cy="3390900"/>
          </a:xfrm>
          <a:prstGeom prst="rect">
            <a:avLst/>
          </a:prstGeom>
          <a:ln w="19050">
            <a:solidFill>
              <a:schemeClr val="tx1"/>
            </a:solidFill>
          </a:ln>
        </p:spPr>
      </p:pic>
      <p:sp>
        <p:nvSpPr>
          <p:cNvPr id="6" name="TextBox 5">
            <a:extLst>
              <a:ext uri="{FF2B5EF4-FFF2-40B4-BE49-F238E27FC236}">
                <a16:creationId xmlns:a16="http://schemas.microsoft.com/office/drawing/2014/main" id="{ECF698B3-4412-E135-035C-3784F304DDAE}"/>
              </a:ext>
            </a:extLst>
          </p:cNvPr>
          <p:cNvSpPr txBox="1"/>
          <p:nvPr/>
        </p:nvSpPr>
        <p:spPr>
          <a:xfrm>
            <a:off x="5915025" y="1400560"/>
            <a:ext cx="6096000" cy="1477328"/>
          </a:xfrm>
          <a:prstGeom prst="rect">
            <a:avLst/>
          </a:prstGeom>
          <a:noFill/>
        </p:spPr>
        <p:txBody>
          <a:bodyPr wrap="square">
            <a:spAutoFit/>
          </a:bodyPr>
          <a:lstStyle/>
          <a:p>
            <a:pPr lvl="2"/>
            <a:r>
              <a:rPr lang="en-US" dirty="0">
                <a:latin typeface="Proxima Nova"/>
                <a:ea typeface="Cambria" panose="02040503050406030204" pitchFamily="18" charset="0"/>
              </a:rPr>
              <a:t>&lt;div id="</a:t>
            </a:r>
            <a:r>
              <a:rPr lang="en-US" dirty="0" err="1">
                <a:latin typeface="Proxima Nova"/>
                <a:ea typeface="Cambria" panose="02040503050406030204" pitchFamily="18" charset="0"/>
              </a:rPr>
              <a:t>myDiv</a:t>
            </a:r>
            <a:r>
              <a:rPr lang="en-US" dirty="0">
                <a:latin typeface="Proxima Nova"/>
                <a:ea typeface="Cambria" panose="02040503050406030204" pitchFamily="18" charset="0"/>
              </a:rPr>
              <a:t>"&gt;</a:t>
            </a:r>
          </a:p>
          <a:p>
            <a:pPr lvl="2"/>
            <a:r>
              <a:rPr lang="en-US" dirty="0">
                <a:latin typeface="Proxima Nova"/>
                <a:ea typeface="Cambria" panose="02040503050406030204" pitchFamily="18" charset="0"/>
              </a:rPr>
              <a:t>This div element is rotated 150 degrees.</a:t>
            </a:r>
          </a:p>
          <a:p>
            <a:pPr lvl="2"/>
            <a:r>
              <a:rPr lang="en-US" dirty="0">
                <a:latin typeface="Proxima Nova"/>
                <a:ea typeface="Cambria" panose="02040503050406030204" pitchFamily="18" charset="0"/>
              </a:rPr>
              <a:t>&lt;/div&gt;</a:t>
            </a:r>
          </a:p>
          <a:p>
            <a:pPr lvl="2"/>
            <a:r>
              <a:rPr lang="en-US" dirty="0">
                <a:latin typeface="Proxima Nova"/>
                <a:ea typeface="Cambria" panose="02040503050406030204" pitchFamily="18" charset="0"/>
              </a:rPr>
              <a:t>&lt;/body&gt;</a:t>
            </a:r>
          </a:p>
          <a:p>
            <a:r>
              <a:rPr lang="en-US" dirty="0">
                <a:latin typeface="Proxima Nova"/>
                <a:ea typeface="Cambria" panose="02040503050406030204" pitchFamily="18" charset="0"/>
              </a:rPr>
              <a:t>&lt;/html&gt;</a:t>
            </a:r>
          </a:p>
        </p:txBody>
      </p:sp>
      <p:sp>
        <p:nvSpPr>
          <p:cNvPr id="7" name="Title 1">
            <a:extLst>
              <a:ext uri="{FF2B5EF4-FFF2-40B4-BE49-F238E27FC236}">
                <a16:creationId xmlns:a16="http://schemas.microsoft.com/office/drawing/2014/main" id="{20C438BB-6A1C-CA82-9901-91E6BAB305D5}"/>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243822945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131</a:t>
            </a:fld>
            <a:endParaRPr lang="en-IN" dirty="0"/>
          </a:p>
        </p:txBody>
      </p:sp>
      <p:sp>
        <p:nvSpPr>
          <p:cNvPr id="5" name="Rectangle 4"/>
          <p:cNvSpPr/>
          <p:nvPr/>
        </p:nvSpPr>
        <p:spPr>
          <a:xfrm>
            <a:off x="393362" y="1089164"/>
            <a:ext cx="10107039" cy="5632311"/>
          </a:xfrm>
          <a:prstGeom prst="rect">
            <a:avLst/>
          </a:prstGeom>
        </p:spPr>
        <p:txBody>
          <a:bodyPr wrap="square">
            <a:spAutoFit/>
          </a:bodyPr>
          <a:lstStyle/>
          <a:p>
            <a:r>
              <a:rPr lang="en-US" dirty="0">
                <a:latin typeface="Proxima Nova"/>
                <a:ea typeface="Cambria" panose="02040503050406030204" pitchFamily="18" charset="0"/>
              </a:rPr>
              <a:t>&lt;!DOCTYPE html&gt;</a:t>
            </a:r>
          </a:p>
          <a:p>
            <a:r>
              <a:rPr lang="en-US" dirty="0">
                <a:latin typeface="Proxima Nova"/>
                <a:ea typeface="Cambria" panose="02040503050406030204" pitchFamily="18" charset="0"/>
              </a:rPr>
              <a:t>&lt;html&gt;</a:t>
            </a:r>
          </a:p>
          <a:p>
            <a:r>
              <a:rPr lang="en-US" dirty="0">
                <a:latin typeface="Proxima Nova"/>
                <a:ea typeface="Cambria" panose="02040503050406030204" pitchFamily="18" charset="0"/>
              </a:rPr>
              <a:t>	&lt;head&gt;</a:t>
            </a:r>
          </a:p>
          <a:p>
            <a:pPr lvl="2"/>
            <a:r>
              <a:rPr lang="en-US" dirty="0">
                <a:latin typeface="Proxima Nova"/>
                <a:ea typeface="Cambria" panose="02040503050406030204" pitchFamily="18" charset="0"/>
              </a:rPr>
              <a:t>&lt;style&gt;</a:t>
            </a:r>
          </a:p>
          <a:p>
            <a:pPr lvl="3"/>
            <a:r>
              <a:rPr lang="en-US" dirty="0">
                <a:latin typeface="Proxima Nova"/>
                <a:ea typeface="Cambria" panose="02040503050406030204" pitchFamily="18" charset="0"/>
              </a:rPr>
              <a:t>div {</a:t>
            </a:r>
          </a:p>
          <a:p>
            <a:pPr lvl="3"/>
            <a:r>
              <a:rPr lang="en-US" dirty="0">
                <a:latin typeface="Proxima Nova"/>
                <a:ea typeface="Cambria" panose="02040503050406030204" pitchFamily="18" charset="0"/>
              </a:rPr>
              <a:t>  width: 300px;</a:t>
            </a:r>
          </a:p>
          <a:p>
            <a:pPr lvl="3"/>
            <a:r>
              <a:rPr lang="en-US" dirty="0">
                <a:latin typeface="Proxima Nova"/>
                <a:ea typeface="Cambria" panose="02040503050406030204" pitchFamily="18" charset="0"/>
              </a:rPr>
              <a:t>  height: 100px;</a:t>
            </a:r>
          </a:p>
          <a:p>
            <a:pPr lvl="3"/>
            <a:r>
              <a:rPr lang="en-US" dirty="0">
                <a:latin typeface="Proxima Nova"/>
                <a:ea typeface="Cambria" panose="02040503050406030204" pitchFamily="18" charset="0"/>
              </a:rPr>
              <a:t>  background-color: yellow;</a:t>
            </a:r>
          </a:p>
          <a:p>
            <a:pPr lvl="3"/>
            <a:r>
              <a:rPr lang="en-US" dirty="0">
                <a:latin typeface="Proxima Nova"/>
                <a:ea typeface="Cambria" panose="02040503050406030204" pitchFamily="18" charset="0"/>
              </a:rPr>
              <a:t>  border: 1px solid black;</a:t>
            </a:r>
          </a:p>
          <a:p>
            <a:pPr lvl="3"/>
            <a:r>
              <a:rPr lang="en-US" dirty="0">
                <a:latin typeface="Proxima Nova"/>
                <a:ea typeface="Cambria" panose="02040503050406030204" pitchFamily="18" charset="0"/>
              </a:rPr>
              <a:t>}</a:t>
            </a:r>
          </a:p>
          <a:p>
            <a:pPr lvl="3"/>
            <a:r>
              <a:rPr lang="en-US" dirty="0">
                <a:latin typeface="Proxima Nova"/>
                <a:ea typeface="Cambria" panose="02040503050406030204" pitchFamily="18" charset="0"/>
              </a:rPr>
              <a:t>#</a:t>
            </a:r>
            <a:r>
              <a:rPr lang="en-US" dirty="0" err="1">
                <a:latin typeface="Proxima Nova"/>
                <a:ea typeface="Cambria" panose="02040503050406030204" pitchFamily="18" charset="0"/>
              </a:rPr>
              <a:t>myDiv</a:t>
            </a:r>
            <a:r>
              <a:rPr lang="en-US" dirty="0">
                <a:latin typeface="Proxima Nova"/>
                <a:ea typeface="Cambria" panose="02040503050406030204" pitchFamily="18" charset="0"/>
              </a:rPr>
              <a:t> {</a:t>
            </a:r>
          </a:p>
          <a:p>
            <a:pPr lvl="3"/>
            <a:r>
              <a:rPr lang="en-US" dirty="0">
                <a:latin typeface="Proxima Nova"/>
                <a:ea typeface="Cambria" panose="02040503050406030204" pitchFamily="18" charset="0"/>
              </a:rPr>
              <a:t>  transform: </a:t>
            </a:r>
            <a:r>
              <a:rPr lang="en-US" dirty="0" err="1">
                <a:latin typeface="Proxima Nova"/>
                <a:ea typeface="Cambria" panose="02040503050406030204" pitchFamily="18" charset="0"/>
              </a:rPr>
              <a:t>rotateZ</a:t>
            </a:r>
            <a:r>
              <a:rPr lang="en-US" dirty="0">
                <a:latin typeface="Proxima Nova"/>
                <a:ea typeface="Cambria" panose="02040503050406030204" pitchFamily="18" charset="0"/>
              </a:rPr>
              <a:t>(90deg);</a:t>
            </a:r>
          </a:p>
          <a:p>
            <a:pPr lvl="3"/>
            <a:r>
              <a:rPr lang="en-US" dirty="0">
                <a:latin typeface="Proxima Nova"/>
                <a:ea typeface="Cambria" panose="02040503050406030204" pitchFamily="18" charset="0"/>
              </a:rPr>
              <a:t>}</a:t>
            </a:r>
          </a:p>
          <a:p>
            <a:pPr lvl="3"/>
            <a:r>
              <a:rPr lang="en-US" dirty="0">
                <a:latin typeface="Proxima Nova"/>
                <a:ea typeface="Cambria" panose="02040503050406030204" pitchFamily="18" charset="0"/>
              </a:rPr>
              <a:t>&lt;/style&gt;</a:t>
            </a:r>
          </a:p>
          <a:p>
            <a:pPr lvl="1"/>
            <a:r>
              <a:rPr lang="en-US" dirty="0">
                <a:latin typeface="Proxima Nova"/>
                <a:ea typeface="Cambria" panose="02040503050406030204" pitchFamily="18" charset="0"/>
              </a:rPr>
              <a:t>&lt;/head&gt;</a:t>
            </a:r>
          </a:p>
          <a:p>
            <a:pPr lvl="1"/>
            <a:r>
              <a:rPr lang="en-US" dirty="0">
                <a:latin typeface="Proxima Nova"/>
                <a:ea typeface="Cambria" panose="02040503050406030204" pitchFamily="18" charset="0"/>
              </a:rPr>
              <a:t>&lt;body&gt;</a:t>
            </a:r>
          </a:p>
          <a:p>
            <a:pPr lvl="2"/>
            <a:r>
              <a:rPr lang="en-US" dirty="0">
                <a:latin typeface="Proxima Nova"/>
                <a:ea typeface="Cambria" panose="02040503050406030204" pitchFamily="18" charset="0"/>
              </a:rPr>
              <a:t>&lt;div&gt;</a:t>
            </a:r>
          </a:p>
          <a:p>
            <a:pPr lvl="2"/>
            <a:r>
              <a:rPr lang="en-US" dirty="0">
                <a:latin typeface="Proxima Nova"/>
                <a:ea typeface="Cambria" panose="02040503050406030204" pitchFamily="18" charset="0"/>
              </a:rPr>
              <a:t>This a normal div element.</a:t>
            </a:r>
          </a:p>
          <a:p>
            <a:pPr lvl="2"/>
            <a:r>
              <a:rPr lang="en-US" dirty="0">
                <a:latin typeface="Proxima Nova"/>
                <a:ea typeface="Cambria" panose="02040503050406030204" pitchFamily="18" charset="0"/>
              </a:rPr>
              <a:t>&lt;/div&gt;</a:t>
            </a:r>
          </a:p>
          <a:p>
            <a:pPr lvl="2"/>
            <a:endParaRPr lang="en-US" dirty="0">
              <a:latin typeface="Proxima Nova"/>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6059116" y="2599224"/>
            <a:ext cx="4648200" cy="3700462"/>
          </a:xfrm>
          <a:prstGeom prst="rect">
            <a:avLst/>
          </a:prstGeom>
          <a:ln w="19050">
            <a:solidFill>
              <a:schemeClr val="tx1"/>
            </a:solidFill>
          </a:ln>
        </p:spPr>
      </p:pic>
      <p:sp>
        <p:nvSpPr>
          <p:cNvPr id="6" name="TextBox 5">
            <a:extLst>
              <a:ext uri="{FF2B5EF4-FFF2-40B4-BE49-F238E27FC236}">
                <a16:creationId xmlns:a16="http://schemas.microsoft.com/office/drawing/2014/main" id="{DD6470E2-135E-5184-7169-35B85B292F86}"/>
              </a:ext>
            </a:extLst>
          </p:cNvPr>
          <p:cNvSpPr txBox="1"/>
          <p:nvPr/>
        </p:nvSpPr>
        <p:spPr>
          <a:xfrm>
            <a:off x="5702638" y="975836"/>
            <a:ext cx="6096000" cy="1477328"/>
          </a:xfrm>
          <a:prstGeom prst="rect">
            <a:avLst/>
          </a:prstGeom>
          <a:noFill/>
        </p:spPr>
        <p:txBody>
          <a:bodyPr wrap="square">
            <a:spAutoFit/>
          </a:bodyPr>
          <a:lstStyle/>
          <a:p>
            <a:pPr lvl="2"/>
            <a:r>
              <a:rPr lang="en-US" dirty="0">
                <a:latin typeface="Proxima Nova"/>
                <a:ea typeface="Cambria" panose="02040503050406030204" pitchFamily="18" charset="0"/>
              </a:rPr>
              <a:t>&lt;div id="</a:t>
            </a:r>
            <a:r>
              <a:rPr lang="en-US" dirty="0" err="1">
                <a:latin typeface="Proxima Nova"/>
                <a:ea typeface="Cambria" panose="02040503050406030204" pitchFamily="18" charset="0"/>
              </a:rPr>
              <a:t>myDiv</a:t>
            </a:r>
            <a:r>
              <a:rPr lang="en-US" dirty="0">
                <a:latin typeface="Proxima Nova"/>
                <a:ea typeface="Cambria" panose="02040503050406030204" pitchFamily="18" charset="0"/>
              </a:rPr>
              <a:t>"&gt;</a:t>
            </a:r>
          </a:p>
          <a:p>
            <a:pPr lvl="2"/>
            <a:r>
              <a:rPr lang="en-US" dirty="0">
                <a:latin typeface="Proxima Nova"/>
                <a:ea typeface="Cambria" panose="02040503050406030204" pitchFamily="18" charset="0"/>
              </a:rPr>
              <a:t>This div element is rotated 90 degrees.</a:t>
            </a:r>
          </a:p>
          <a:p>
            <a:pPr lvl="2"/>
            <a:r>
              <a:rPr lang="en-US" dirty="0">
                <a:latin typeface="Proxima Nova"/>
                <a:ea typeface="Cambria" panose="02040503050406030204" pitchFamily="18" charset="0"/>
              </a:rPr>
              <a:t>&lt;/div&gt;</a:t>
            </a:r>
          </a:p>
          <a:p>
            <a:pPr lvl="2"/>
            <a:r>
              <a:rPr lang="en-US" dirty="0">
                <a:latin typeface="Proxima Nova"/>
                <a:ea typeface="Cambria" panose="02040503050406030204" pitchFamily="18" charset="0"/>
              </a:rPr>
              <a:t>&lt;/body&gt;</a:t>
            </a:r>
          </a:p>
          <a:p>
            <a:r>
              <a:rPr lang="en-US" dirty="0">
                <a:latin typeface="Proxima Nova"/>
                <a:ea typeface="Cambria" panose="02040503050406030204" pitchFamily="18" charset="0"/>
              </a:rPr>
              <a:t>&lt;/html&gt;</a:t>
            </a:r>
          </a:p>
        </p:txBody>
      </p:sp>
      <p:sp>
        <p:nvSpPr>
          <p:cNvPr id="7" name="Title 1">
            <a:extLst>
              <a:ext uri="{FF2B5EF4-FFF2-40B4-BE49-F238E27FC236}">
                <a16:creationId xmlns:a16="http://schemas.microsoft.com/office/drawing/2014/main" id="{55356C5E-7C99-55D7-CA47-BC2A241EA385}"/>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382462087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CSS 3D Transforms</a:t>
            </a:r>
            <a:br>
              <a:rPr lang="en-US" dirty="0"/>
            </a:br>
            <a:endParaRPr lang="en-US" dirty="0"/>
          </a:p>
        </p:txBody>
      </p:sp>
      <p:sp>
        <p:nvSpPr>
          <p:cNvPr id="4" name="Content Placeholder 3"/>
          <p:cNvSpPr>
            <a:spLocks noGrp="1"/>
          </p:cNvSpPr>
          <p:nvPr>
            <p:ph idx="1"/>
          </p:nvPr>
        </p:nvSpPr>
        <p:spPr/>
        <p:txBody>
          <a:bodyPr/>
          <a:lstStyle/>
          <a:p>
            <a:r>
              <a:rPr lang="en-US" dirty="0"/>
              <a:t>CSS also supports 3D transformations.</a:t>
            </a:r>
          </a:p>
          <a:p>
            <a:r>
              <a:rPr lang="en-US" dirty="0"/>
              <a:t>With the CSS transform property you can use the following 3D transformation methods:</a:t>
            </a:r>
          </a:p>
          <a:p>
            <a:r>
              <a:rPr lang="en-US" dirty="0"/>
              <a:t>    </a:t>
            </a:r>
            <a:r>
              <a:rPr lang="en-US" dirty="0" err="1"/>
              <a:t>rotateX</a:t>
            </a:r>
            <a:r>
              <a:rPr lang="en-US" dirty="0"/>
              <a:t>()</a:t>
            </a:r>
          </a:p>
          <a:p>
            <a:r>
              <a:rPr lang="en-US" dirty="0"/>
              <a:t>    </a:t>
            </a:r>
            <a:r>
              <a:rPr lang="en-US" dirty="0" err="1"/>
              <a:t>rotateY</a:t>
            </a:r>
            <a:r>
              <a:rPr lang="en-US" dirty="0"/>
              <a:t>()</a:t>
            </a:r>
          </a:p>
          <a:p>
            <a:r>
              <a:rPr lang="en-US" dirty="0"/>
              <a:t>    </a:t>
            </a:r>
            <a:r>
              <a:rPr lang="en-US" dirty="0" err="1"/>
              <a:t>rotateZ</a:t>
            </a:r>
            <a:r>
              <a:rPr lang="en-US" dirty="0"/>
              <a:t>()</a:t>
            </a:r>
          </a:p>
          <a:p>
            <a:r>
              <a:rPr lang="en-US" b="1" dirty="0"/>
              <a:t>The </a:t>
            </a:r>
            <a:r>
              <a:rPr lang="en-US" b="1" dirty="0" err="1"/>
              <a:t>rotateX</a:t>
            </a:r>
            <a:r>
              <a:rPr lang="en-US" b="1" dirty="0"/>
              <a:t>() Method:</a:t>
            </a:r>
          </a:p>
          <a:p>
            <a:r>
              <a:rPr lang="en-US" dirty="0"/>
              <a:t>The </a:t>
            </a:r>
            <a:r>
              <a:rPr lang="en-US" dirty="0" err="1"/>
              <a:t>rotateX</a:t>
            </a:r>
            <a:r>
              <a:rPr lang="en-US" dirty="0"/>
              <a:t>() method rotates an element around its X-axis at a given degree:</a:t>
            </a:r>
          </a:p>
          <a:p>
            <a:endParaRPr lang="en-US" dirty="0"/>
          </a:p>
        </p:txBody>
      </p:sp>
      <p:sp>
        <p:nvSpPr>
          <p:cNvPr id="2" name="Slide Number Placeholder 1"/>
          <p:cNvSpPr>
            <a:spLocks noGrp="1"/>
          </p:cNvSpPr>
          <p:nvPr>
            <p:ph type="sldNum" sz="quarter" idx="12"/>
          </p:nvPr>
        </p:nvSpPr>
        <p:spPr/>
        <p:txBody>
          <a:bodyPr/>
          <a:lstStyle/>
          <a:p>
            <a:fld id="{9C11CE39-2868-44A2-A0C6-827D458F7A8B}" type="slidenum">
              <a:rPr lang="en-IN" smtClean="0"/>
              <a:pPr/>
              <a:t>132</a:t>
            </a:fld>
            <a:endParaRPr lang="en-IN"/>
          </a:p>
        </p:txBody>
      </p:sp>
      <p:pic>
        <p:nvPicPr>
          <p:cNvPr id="5" name="Picture 4"/>
          <p:cNvPicPr>
            <a:picLocks noChangeAspect="1"/>
          </p:cNvPicPr>
          <p:nvPr/>
        </p:nvPicPr>
        <p:blipFill>
          <a:blip r:embed="rId2"/>
          <a:stretch>
            <a:fillRect/>
          </a:stretch>
        </p:blipFill>
        <p:spPr>
          <a:xfrm>
            <a:off x="3790950" y="5002651"/>
            <a:ext cx="2781300" cy="1619250"/>
          </a:xfrm>
          <a:prstGeom prst="rect">
            <a:avLst/>
          </a:prstGeom>
        </p:spPr>
      </p:pic>
    </p:spTree>
    <p:extLst>
      <p:ext uri="{BB962C8B-B14F-4D97-AF65-F5344CB8AC3E}">
        <p14:creationId xmlns:p14="http://schemas.microsoft.com/office/powerpoint/2010/main" val="3481898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3D Transforms</a:t>
            </a:r>
          </a:p>
        </p:txBody>
      </p:sp>
      <p:sp>
        <p:nvSpPr>
          <p:cNvPr id="3" name="Content Placeholder 2"/>
          <p:cNvSpPr>
            <a:spLocks noGrp="1"/>
          </p:cNvSpPr>
          <p:nvPr>
            <p:ph idx="1"/>
          </p:nvPr>
        </p:nvSpPr>
        <p:spPr/>
        <p:txBody>
          <a:bodyPr>
            <a:normAutofit fontScale="92500" lnSpcReduction="20000"/>
          </a:bodyPr>
          <a:lstStyle/>
          <a:p>
            <a:r>
              <a:rPr lang="en-US" b="1" dirty="0"/>
              <a:t>The </a:t>
            </a:r>
            <a:r>
              <a:rPr lang="en-US" b="1" dirty="0" err="1"/>
              <a:t>rotateY</a:t>
            </a:r>
            <a:r>
              <a:rPr lang="en-US" b="1" dirty="0"/>
              <a:t>() Method</a:t>
            </a:r>
          </a:p>
          <a:p>
            <a:r>
              <a:rPr lang="en-US" dirty="0"/>
              <a:t>The </a:t>
            </a:r>
            <a:r>
              <a:rPr lang="en-US" dirty="0" err="1"/>
              <a:t>rotateY</a:t>
            </a:r>
            <a:r>
              <a:rPr lang="en-US" dirty="0"/>
              <a:t>() method rotates an element around its Y-axis at a given degree.</a:t>
            </a:r>
          </a:p>
          <a:p>
            <a:endParaRPr lang="en-US" dirty="0"/>
          </a:p>
          <a:p>
            <a:endParaRPr lang="en-US" dirty="0"/>
          </a:p>
          <a:p>
            <a:endParaRPr lang="en-US" dirty="0"/>
          </a:p>
          <a:p>
            <a:endParaRPr lang="en-US" dirty="0"/>
          </a:p>
          <a:p>
            <a:endParaRPr lang="en-US" dirty="0"/>
          </a:p>
          <a:p>
            <a:r>
              <a:rPr lang="en-US" b="1" dirty="0"/>
              <a:t>The </a:t>
            </a:r>
            <a:r>
              <a:rPr lang="en-US" b="1" dirty="0" err="1"/>
              <a:t>rotateZ</a:t>
            </a:r>
            <a:r>
              <a:rPr lang="en-US" b="1" dirty="0"/>
              <a:t>() Method</a:t>
            </a:r>
          </a:p>
          <a:p>
            <a:r>
              <a:rPr lang="en-US" dirty="0"/>
              <a:t>The </a:t>
            </a:r>
            <a:r>
              <a:rPr lang="en-US" dirty="0" err="1"/>
              <a:t>rotateZ</a:t>
            </a:r>
            <a:r>
              <a:rPr lang="en-US" dirty="0"/>
              <a:t>() method rotates an element around its Z-axis at a given degree</a:t>
            </a:r>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133</a:t>
            </a:fld>
            <a:endParaRPr lang="en-IN" dirty="0"/>
          </a:p>
        </p:txBody>
      </p:sp>
      <p:pic>
        <p:nvPicPr>
          <p:cNvPr id="5" name="Picture 4"/>
          <p:cNvPicPr>
            <a:picLocks noChangeAspect="1"/>
          </p:cNvPicPr>
          <p:nvPr/>
        </p:nvPicPr>
        <p:blipFill>
          <a:blip r:embed="rId2"/>
          <a:stretch>
            <a:fillRect/>
          </a:stretch>
        </p:blipFill>
        <p:spPr>
          <a:xfrm>
            <a:off x="3908594" y="2398679"/>
            <a:ext cx="2409825" cy="1905000"/>
          </a:xfrm>
          <a:prstGeom prst="rect">
            <a:avLst/>
          </a:prstGeom>
        </p:spPr>
      </p:pic>
    </p:spTree>
    <p:extLst>
      <p:ext uri="{BB962C8B-B14F-4D97-AF65-F5344CB8AC3E}">
        <p14:creationId xmlns:p14="http://schemas.microsoft.com/office/powerpoint/2010/main" val="39744916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134</a:t>
            </a:fld>
            <a:endParaRPr lang="en-IN" dirty="0"/>
          </a:p>
        </p:txBody>
      </p:sp>
      <p:sp>
        <p:nvSpPr>
          <p:cNvPr id="5" name="Rectangle 4"/>
          <p:cNvSpPr/>
          <p:nvPr/>
        </p:nvSpPr>
        <p:spPr>
          <a:xfrm>
            <a:off x="260012" y="1089164"/>
            <a:ext cx="10107039" cy="5632311"/>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background-color: yellow;</a:t>
            </a:r>
          </a:p>
          <a:p>
            <a:pPr lvl="3"/>
            <a:r>
              <a:rPr lang="en-US" dirty="0">
                <a:latin typeface="Proxima Nova" panose="020B0604020202020204"/>
                <a:ea typeface="Cambria" panose="02040503050406030204" pitchFamily="18" charset="0"/>
              </a:rPr>
              <a:t>  border: 1px solid black;</a:t>
            </a:r>
          </a:p>
          <a:p>
            <a:pPr lvl="3"/>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a:t>
            </a:r>
            <a:r>
              <a:rPr lang="en-US" dirty="0" err="1">
                <a:latin typeface="Proxima Nova" panose="020B0604020202020204"/>
                <a:ea typeface="Cambria" panose="02040503050406030204" pitchFamily="18" charset="0"/>
              </a:rPr>
              <a:t>myDiv</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transform: </a:t>
            </a:r>
            <a:r>
              <a:rPr lang="en-US" dirty="0" err="1">
                <a:latin typeface="Proxima Nova" panose="020B0604020202020204"/>
                <a:ea typeface="Cambria" panose="02040503050406030204" pitchFamily="18" charset="0"/>
              </a:rPr>
              <a:t>rotateX</a:t>
            </a:r>
            <a:r>
              <a:rPr lang="en-US" dirty="0">
                <a:latin typeface="Proxima Nova" panose="020B0604020202020204"/>
                <a:ea typeface="Cambria" panose="02040503050406030204" pitchFamily="18" charset="0"/>
              </a:rPr>
              <a:t>(150deg);</a:t>
            </a:r>
          </a:p>
          <a:p>
            <a:pPr lvl="3"/>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&lt;/style&gt;</a:t>
            </a:r>
          </a:p>
          <a:p>
            <a:pPr lvl="1"/>
            <a:r>
              <a:rPr lang="en-US" dirty="0">
                <a:latin typeface="Proxima Nova" panose="020B0604020202020204"/>
                <a:ea typeface="Cambria" panose="02040503050406030204" pitchFamily="18" charset="0"/>
              </a:rPr>
              <a:t>&lt;/head&gt;</a:t>
            </a:r>
          </a:p>
          <a:p>
            <a:pPr lvl="1"/>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This a normal div element.</a:t>
            </a:r>
          </a:p>
          <a:p>
            <a:pPr lvl="2"/>
            <a:r>
              <a:rPr lang="en-US" dirty="0">
                <a:latin typeface="Proxima Nova" panose="020B0604020202020204"/>
                <a:ea typeface="Cambria" panose="02040503050406030204" pitchFamily="18" charset="0"/>
              </a:rPr>
              <a:t>&lt;/div&gt;</a:t>
            </a:r>
          </a:p>
          <a:p>
            <a:pPr lvl="2"/>
            <a:endParaRPr lang="en-US" dirty="0">
              <a:latin typeface="Proxima Nova" panose="020B0604020202020204"/>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6269376" y="3481387"/>
            <a:ext cx="4591050" cy="3057525"/>
          </a:xfrm>
          <a:prstGeom prst="rect">
            <a:avLst/>
          </a:prstGeom>
          <a:ln w="19050">
            <a:solidFill>
              <a:schemeClr val="tx1"/>
            </a:solidFill>
          </a:ln>
        </p:spPr>
      </p:pic>
      <p:sp>
        <p:nvSpPr>
          <p:cNvPr id="6" name="TextBox 5">
            <a:extLst>
              <a:ext uri="{FF2B5EF4-FFF2-40B4-BE49-F238E27FC236}">
                <a16:creationId xmlns:a16="http://schemas.microsoft.com/office/drawing/2014/main" id="{E126174C-F72A-E7F4-F9B6-F80B178A1B25}"/>
              </a:ext>
            </a:extLst>
          </p:cNvPr>
          <p:cNvSpPr txBox="1"/>
          <p:nvPr/>
        </p:nvSpPr>
        <p:spPr>
          <a:xfrm>
            <a:off x="5835988" y="1546612"/>
            <a:ext cx="6096000" cy="1477328"/>
          </a:xfrm>
          <a:prstGeom prst="rect">
            <a:avLst/>
          </a:prstGeom>
          <a:noFill/>
        </p:spPr>
        <p:txBody>
          <a:bodyPr wrap="square">
            <a:spAutoFit/>
          </a:bodyPr>
          <a:lstStyle/>
          <a:p>
            <a:pPr lvl="2"/>
            <a:r>
              <a:rPr lang="en-US" dirty="0">
                <a:latin typeface="Proxima Nova" panose="020B0604020202020204"/>
                <a:ea typeface="Cambria" panose="02040503050406030204" pitchFamily="18" charset="0"/>
              </a:rPr>
              <a:t>&lt;div id="</a:t>
            </a:r>
            <a:r>
              <a:rPr lang="en-US" dirty="0" err="1">
                <a:latin typeface="Proxima Nova" panose="020B0604020202020204"/>
                <a:ea typeface="Cambria" panose="02040503050406030204" pitchFamily="18" charset="0"/>
              </a:rPr>
              <a:t>myDiv</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This div element is rotated 150 degrees.</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&lt;/body&gt;</a:t>
            </a:r>
          </a:p>
          <a:p>
            <a:r>
              <a:rPr lang="en-US" dirty="0">
                <a:latin typeface="Proxima Nova" panose="020B0604020202020204"/>
                <a:ea typeface="Cambria" panose="02040503050406030204" pitchFamily="18" charset="0"/>
              </a:rPr>
              <a:t>&lt;/html&gt;</a:t>
            </a:r>
          </a:p>
        </p:txBody>
      </p:sp>
      <p:sp>
        <p:nvSpPr>
          <p:cNvPr id="7" name="Title 1">
            <a:extLst>
              <a:ext uri="{FF2B5EF4-FFF2-40B4-BE49-F238E27FC236}">
                <a16:creationId xmlns:a16="http://schemas.microsoft.com/office/drawing/2014/main" id="{B4BDBCC1-7CDF-6A08-60EA-2ACC0BB77816}"/>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353251166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135</a:t>
            </a:fld>
            <a:endParaRPr lang="en-IN" dirty="0"/>
          </a:p>
        </p:txBody>
      </p:sp>
      <p:sp>
        <p:nvSpPr>
          <p:cNvPr id="5" name="Rectangle 4"/>
          <p:cNvSpPr/>
          <p:nvPr/>
        </p:nvSpPr>
        <p:spPr>
          <a:xfrm>
            <a:off x="221912" y="1130435"/>
            <a:ext cx="10107039" cy="5355312"/>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background-color: yellow;</a:t>
            </a:r>
          </a:p>
          <a:p>
            <a:pPr lvl="3"/>
            <a:r>
              <a:rPr lang="en-US" dirty="0">
                <a:latin typeface="Proxima Nova" panose="020B0604020202020204"/>
                <a:ea typeface="Cambria" panose="02040503050406030204" pitchFamily="18" charset="0"/>
              </a:rPr>
              <a:t>  border: 1px solid black;</a:t>
            </a:r>
          </a:p>
          <a:p>
            <a:pPr lvl="3"/>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a:t>
            </a:r>
            <a:r>
              <a:rPr lang="en-US" dirty="0" err="1">
                <a:latin typeface="Proxima Nova" panose="020B0604020202020204"/>
                <a:ea typeface="Cambria" panose="02040503050406030204" pitchFamily="18" charset="0"/>
              </a:rPr>
              <a:t>myDiv</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transform: </a:t>
            </a:r>
            <a:r>
              <a:rPr lang="en-US" dirty="0" err="1">
                <a:latin typeface="Proxima Nova" panose="020B0604020202020204"/>
                <a:ea typeface="Cambria" panose="02040503050406030204" pitchFamily="18" charset="0"/>
              </a:rPr>
              <a:t>rotateY</a:t>
            </a:r>
            <a:r>
              <a:rPr lang="en-US" dirty="0">
                <a:latin typeface="Proxima Nova" panose="020B0604020202020204"/>
                <a:ea typeface="Cambria" panose="02040503050406030204" pitchFamily="18" charset="0"/>
              </a:rPr>
              <a:t>(150deg);</a:t>
            </a:r>
          </a:p>
          <a:p>
            <a:pPr lvl="3"/>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&lt;/style&gt;</a:t>
            </a:r>
          </a:p>
          <a:p>
            <a:pPr lvl="1"/>
            <a:r>
              <a:rPr lang="en-US" dirty="0">
                <a:latin typeface="Proxima Nova" panose="020B0604020202020204"/>
                <a:ea typeface="Cambria" panose="02040503050406030204" pitchFamily="18" charset="0"/>
              </a:rPr>
              <a:t>&lt;/head&gt;</a:t>
            </a:r>
          </a:p>
          <a:p>
            <a:pPr lvl="1"/>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This a normal div element.</a:t>
            </a:r>
          </a:p>
          <a:p>
            <a:pPr lvl="2"/>
            <a:r>
              <a:rPr lang="en-US" dirty="0">
                <a:latin typeface="Proxima Nova" panose="020B0604020202020204"/>
                <a:ea typeface="Cambria" panose="02040503050406030204" pitchFamily="18" charset="0"/>
              </a:rPr>
              <a:t>&lt;/div&gt;</a:t>
            </a:r>
          </a:p>
        </p:txBody>
      </p:sp>
      <p:pic>
        <p:nvPicPr>
          <p:cNvPr id="2" name="Picture 1"/>
          <p:cNvPicPr>
            <a:picLocks noChangeAspect="1"/>
          </p:cNvPicPr>
          <p:nvPr/>
        </p:nvPicPr>
        <p:blipFill>
          <a:blip r:embed="rId2"/>
          <a:stretch>
            <a:fillRect/>
          </a:stretch>
        </p:blipFill>
        <p:spPr>
          <a:xfrm>
            <a:off x="6267450" y="3094847"/>
            <a:ext cx="4686300" cy="3390900"/>
          </a:xfrm>
          <a:prstGeom prst="rect">
            <a:avLst/>
          </a:prstGeom>
          <a:ln w="19050">
            <a:solidFill>
              <a:schemeClr val="tx1"/>
            </a:solidFill>
          </a:ln>
        </p:spPr>
      </p:pic>
      <p:sp>
        <p:nvSpPr>
          <p:cNvPr id="6" name="TextBox 5">
            <a:extLst>
              <a:ext uri="{FF2B5EF4-FFF2-40B4-BE49-F238E27FC236}">
                <a16:creationId xmlns:a16="http://schemas.microsoft.com/office/drawing/2014/main" id="{D8D113BD-F766-5B63-FE37-2DD28075D215}"/>
              </a:ext>
            </a:extLst>
          </p:cNvPr>
          <p:cNvSpPr txBox="1"/>
          <p:nvPr/>
        </p:nvSpPr>
        <p:spPr>
          <a:xfrm>
            <a:off x="6267450" y="1235478"/>
            <a:ext cx="6096000" cy="1754326"/>
          </a:xfrm>
          <a:prstGeom prst="rect">
            <a:avLst/>
          </a:prstGeom>
          <a:noFill/>
        </p:spPr>
        <p:txBody>
          <a:bodyPr wrap="square">
            <a:spAutoFit/>
          </a:bodyPr>
          <a:lstStyle/>
          <a:p>
            <a:pPr lvl="2"/>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&lt;div id="</a:t>
            </a:r>
            <a:r>
              <a:rPr lang="en-US" dirty="0" err="1">
                <a:latin typeface="Proxima Nova" panose="020B0604020202020204"/>
                <a:ea typeface="Cambria" panose="02040503050406030204" pitchFamily="18" charset="0"/>
              </a:rPr>
              <a:t>myDiv</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This div element is rotated 150 degrees.</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&lt;/body&gt;</a:t>
            </a:r>
          </a:p>
          <a:p>
            <a:r>
              <a:rPr lang="en-US" dirty="0">
                <a:latin typeface="Proxima Nova" panose="020B0604020202020204"/>
                <a:ea typeface="Cambria" panose="02040503050406030204" pitchFamily="18" charset="0"/>
              </a:rPr>
              <a:t>&lt;/html&gt;</a:t>
            </a:r>
          </a:p>
        </p:txBody>
      </p:sp>
      <p:sp>
        <p:nvSpPr>
          <p:cNvPr id="7" name="Title 1">
            <a:extLst>
              <a:ext uri="{FF2B5EF4-FFF2-40B4-BE49-F238E27FC236}">
                <a16:creationId xmlns:a16="http://schemas.microsoft.com/office/drawing/2014/main" id="{07B626E9-13D6-A84D-9CE2-F0A5BF295C4D}"/>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8963940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11CE39-2868-44A2-A0C6-827D458F7A8B}" type="slidenum">
              <a:rPr lang="en-IN" smtClean="0"/>
              <a:pPr/>
              <a:t>136</a:t>
            </a:fld>
            <a:endParaRPr lang="en-IN" dirty="0"/>
          </a:p>
        </p:txBody>
      </p:sp>
      <p:sp>
        <p:nvSpPr>
          <p:cNvPr id="5" name="Rectangle 4"/>
          <p:cNvSpPr/>
          <p:nvPr/>
        </p:nvSpPr>
        <p:spPr>
          <a:xfrm>
            <a:off x="336212" y="1104900"/>
            <a:ext cx="10107039" cy="5355312"/>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background-color: yellow;</a:t>
            </a:r>
          </a:p>
          <a:p>
            <a:pPr lvl="3"/>
            <a:r>
              <a:rPr lang="en-US" dirty="0">
                <a:latin typeface="Proxima Nova" panose="020B0604020202020204"/>
                <a:ea typeface="Cambria" panose="02040503050406030204" pitchFamily="18" charset="0"/>
              </a:rPr>
              <a:t>  border: 1px solid black;</a:t>
            </a:r>
          </a:p>
          <a:p>
            <a:pPr lvl="3"/>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a:t>
            </a:r>
            <a:r>
              <a:rPr lang="en-US" dirty="0" err="1">
                <a:latin typeface="Proxima Nova" panose="020B0604020202020204"/>
                <a:ea typeface="Cambria" panose="02040503050406030204" pitchFamily="18" charset="0"/>
              </a:rPr>
              <a:t>myDiv</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transform: </a:t>
            </a:r>
            <a:r>
              <a:rPr lang="en-US" dirty="0" err="1">
                <a:latin typeface="Proxima Nova" panose="020B0604020202020204"/>
                <a:ea typeface="Cambria" panose="02040503050406030204" pitchFamily="18" charset="0"/>
              </a:rPr>
              <a:t>rotateZ</a:t>
            </a:r>
            <a:r>
              <a:rPr lang="en-US" dirty="0">
                <a:latin typeface="Proxima Nova" panose="020B0604020202020204"/>
                <a:ea typeface="Cambria" panose="02040503050406030204" pitchFamily="18" charset="0"/>
              </a:rPr>
              <a:t>(90deg);</a:t>
            </a:r>
          </a:p>
          <a:p>
            <a:pPr lvl="3"/>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&lt;/style&gt;</a:t>
            </a:r>
          </a:p>
          <a:p>
            <a:pPr lvl="1"/>
            <a:r>
              <a:rPr lang="en-US" dirty="0">
                <a:latin typeface="Proxima Nova" panose="020B0604020202020204"/>
                <a:ea typeface="Cambria" panose="02040503050406030204" pitchFamily="18" charset="0"/>
              </a:rPr>
              <a:t>&lt;/head&gt;</a:t>
            </a:r>
          </a:p>
          <a:p>
            <a:pPr lvl="1"/>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This a normal div element.</a:t>
            </a:r>
          </a:p>
          <a:p>
            <a:pPr lvl="2"/>
            <a:r>
              <a:rPr lang="en-US" dirty="0">
                <a:latin typeface="Proxima Nova" panose="020B0604020202020204"/>
                <a:ea typeface="Cambria" panose="02040503050406030204" pitchFamily="18" charset="0"/>
              </a:rPr>
              <a:t>&lt;/div&gt;</a:t>
            </a:r>
          </a:p>
        </p:txBody>
      </p:sp>
      <p:pic>
        <p:nvPicPr>
          <p:cNvPr id="3" name="Picture 2"/>
          <p:cNvPicPr>
            <a:picLocks noChangeAspect="1"/>
          </p:cNvPicPr>
          <p:nvPr/>
        </p:nvPicPr>
        <p:blipFill>
          <a:blip r:embed="rId2"/>
          <a:stretch>
            <a:fillRect/>
          </a:stretch>
        </p:blipFill>
        <p:spPr>
          <a:xfrm>
            <a:off x="6286500" y="2714625"/>
            <a:ext cx="4648200" cy="3478145"/>
          </a:xfrm>
          <a:prstGeom prst="rect">
            <a:avLst/>
          </a:prstGeom>
          <a:ln w="19050">
            <a:solidFill>
              <a:schemeClr val="tx1"/>
            </a:solidFill>
          </a:ln>
        </p:spPr>
      </p:pic>
      <p:sp>
        <p:nvSpPr>
          <p:cNvPr id="6" name="TextBox 5">
            <a:extLst>
              <a:ext uri="{FF2B5EF4-FFF2-40B4-BE49-F238E27FC236}">
                <a16:creationId xmlns:a16="http://schemas.microsoft.com/office/drawing/2014/main" id="{376DA445-4CB9-B53B-51FB-C218A149A560}"/>
              </a:ext>
            </a:extLst>
          </p:cNvPr>
          <p:cNvSpPr txBox="1"/>
          <p:nvPr/>
        </p:nvSpPr>
        <p:spPr>
          <a:xfrm>
            <a:off x="5905501" y="960299"/>
            <a:ext cx="6096000" cy="1754326"/>
          </a:xfrm>
          <a:prstGeom prst="rect">
            <a:avLst/>
          </a:prstGeom>
          <a:noFill/>
        </p:spPr>
        <p:txBody>
          <a:bodyPr wrap="square">
            <a:spAutoFit/>
          </a:bodyPr>
          <a:lstStyle/>
          <a:p>
            <a:pPr lvl="2"/>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&lt;div id="</a:t>
            </a:r>
            <a:r>
              <a:rPr lang="en-US" dirty="0" err="1">
                <a:latin typeface="Proxima Nova" panose="020B0604020202020204"/>
                <a:ea typeface="Cambria" panose="02040503050406030204" pitchFamily="18" charset="0"/>
              </a:rPr>
              <a:t>myDiv</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This div element is rotated 90 degrees.</a:t>
            </a:r>
          </a:p>
          <a:p>
            <a:pPr lvl="2"/>
            <a:r>
              <a:rPr lang="en-US" dirty="0">
                <a:latin typeface="Proxima Nova" panose="020B0604020202020204"/>
                <a:ea typeface="Cambria" panose="02040503050406030204" pitchFamily="18" charset="0"/>
              </a:rPr>
              <a:t>&lt;/div&gt;</a:t>
            </a:r>
          </a:p>
          <a:p>
            <a:pPr lvl="2"/>
            <a:r>
              <a:rPr lang="en-US" dirty="0">
                <a:latin typeface="Proxima Nova" panose="020B0604020202020204"/>
                <a:ea typeface="Cambria" panose="02040503050406030204" pitchFamily="18" charset="0"/>
              </a:rPr>
              <a:t>&lt;/body&gt;</a:t>
            </a:r>
          </a:p>
          <a:p>
            <a:r>
              <a:rPr lang="en-US" dirty="0">
                <a:latin typeface="Proxima Nova" panose="020B0604020202020204"/>
                <a:ea typeface="Cambria" panose="02040503050406030204" pitchFamily="18" charset="0"/>
              </a:rPr>
              <a:t>&lt;/html&gt;</a:t>
            </a:r>
          </a:p>
        </p:txBody>
      </p:sp>
      <p:sp>
        <p:nvSpPr>
          <p:cNvPr id="7" name="Title 1">
            <a:extLst>
              <a:ext uri="{FF2B5EF4-FFF2-40B4-BE49-F238E27FC236}">
                <a16:creationId xmlns:a16="http://schemas.microsoft.com/office/drawing/2014/main" id="{715D9187-098F-7580-A104-203F52EDC062}"/>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404165261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Transitions</a:t>
            </a:r>
            <a:br>
              <a:rPr lang="en-US" dirty="0"/>
            </a:br>
            <a:endParaRPr lang="en-US" dirty="0"/>
          </a:p>
        </p:txBody>
      </p:sp>
      <p:sp>
        <p:nvSpPr>
          <p:cNvPr id="3" name="Content Placeholder 2"/>
          <p:cNvSpPr>
            <a:spLocks noGrp="1"/>
          </p:cNvSpPr>
          <p:nvPr>
            <p:ph idx="1"/>
          </p:nvPr>
        </p:nvSpPr>
        <p:spPr/>
        <p:txBody>
          <a:bodyPr>
            <a:noAutofit/>
          </a:bodyPr>
          <a:lstStyle/>
          <a:p>
            <a:r>
              <a:rPr lang="en-US" dirty="0"/>
              <a:t>CSS transitions allows you to change property values smoothly, over a given duration.</a:t>
            </a:r>
          </a:p>
          <a:p>
            <a:r>
              <a:rPr lang="en-US" dirty="0"/>
              <a:t>Mouse over the element below to see a CSS transition effect.</a:t>
            </a:r>
          </a:p>
          <a:p>
            <a:endParaRPr lang="en-US" dirty="0"/>
          </a:p>
          <a:p>
            <a:pPr marL="0" indent="0">
              <a:buNone/>
            </a:pPr>
            <a:endParaRPr lang="en-US" dirty="0"/>
          </a:p>
          <a:p>
            <a:r>
              <a:rPr lang="en-US" dirty="0"/>
              <a:t>    transition</a:t>
            </a:r>
          </a:p>
          <a:p>
            <a:r>
              <a:rPr lang="en-US" dirty="0"/>
              <a:t>    transition-delay</a:t>
            </a:r>
          </a:p>
          <a:p>
            <a:r>
              <a:rPr lang="en-US" dirty="0"/>
              <a:t>    transition-duration</a:t>
            </a:r>
          </a:p>
          <a:p>
            <a:r>
              <a:rPr lang="en-US" dirty="0"/>
              <a:t>    transition-property</a:t>
            </a:r>
          </a:p>
          <a:p>
            <a:r>
              <a:rPr lang="en-US" dirty="0"/>
              <a:t>    transition-timing-function</a:t>
            </a:r>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137</a:t>
            </a:fld>
            <a:endParaRPr lang="en-IN" dirty="0"/>
          </a:p>
        </p:txBody>
      </p:sp>
      <p:pic>
        <p:nvPicPr>
          <p:cNvPr id="5" name="Picture 4"/>
          <p:cNvPicPr>
            <a:picLocks noChangeAspect="1"/>
          </p:cNvPicPr>
          <p:nvPr/>
        </p:nvPicPr>
        <p:blipFill>
          <a:blip r:embed="rId2"/>
          <a:stretch>
            <a:fillRect/>
          </a:stretch>
        </p:blipFill>
        <p:spPr>
          <a:xfrm>
            <a:off x="4118650" y="2458413"/>
            <a:ext cx="1581150" cy="962025"/>
          </a:xfrm>
          <a:prstGeom prst="rect">
            <a:avLst/>
          </a:prstGeom>
        </p:spPr>
      </p:pic>
      <p:pic>
        <p:nvPicPr>
          <p:cNvPr id="6" name="Picture 5"/>
          <p:cNvPicPr>
            <a:picLocks noChangeAspect="1"/>
          </p:cNvPicPr>
          <p:nvPr/>
        </p:nvPicPr>
        <p:blipFill>
          <a:blip r:embed="rId3"/>
          <a:stretch>
            <a:fillRect/>
          </a:stretch>
        </p:blipFill>
        <p:spPr>
          <a:xfrm>
            <a:off x="5774415" y="2325558"/>
            <a:ext cx="1966130" cy="1188823"/>
          </a:xfrm>
          <a:prstGeom prst="rect">
            <a:avLst/>
          </a:prstGeom>
        </p:spPr>
      </p:pic>
    </p:spTree>
    <p:extLst>
      <p:ext uri="{BB962C8B-B14F-4D97-AF65-F5344CB8AC3E}">
        <p14:creationId xmlns:p14="http://schemas.microsoft.com/office/powerpoint/2010/main" val="27056425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Use CSS Transitions?</a:t>
            </a:r>
            <a:br>
              <a:rPr lang="en-US" dirty="0"/>
            </a:br>
            <a:endParaRPr lang="en-US" dirty="0"/>
          </a:p>
        </p:txBody>
      </p:sp>
      <p:sp>
        <p:nvSpPr>
          <p:cNvPr id="3" name="Content Placeholder 2"/>
          <p:cNvSpPr>
            <a:spLocks noGrp="1"/>
          </p:cNvSpPr>
          <p:nvPr>
            <p:ph idx="1"/>
          </p:nvPr>
        </p:nvSpPr>
        <p:spPr>
          <a:xfrm>
            <a:off x="423420" y="1253331"/>
            <a:ext cx="11294097" cy="5347494"/>
          </a:xfrm>
        </p:spPr>
        <p:txBody>
          <a:bodyPr>
            <a:noAutofit/>
          </a:bodyPr>
          <a:lstStyle/>
          <a:p>
            <a:r>
              <a:rPr lang="en-US" dirty="0"/>
              <a:t>To create a transition effect, you must specify two things:</a:t>
            </a:r>
          </a:p>
          <a:p>
            <a:r>
              <a:rPr lang="en-US" dirty="0"/>
              <a:t>the CSS property you want to add an effect to</a:t>
            </a:r>
          </a:p>
          <a:p>
            <a:r>
              <a:rPr lang="en-US" dirty="0"/>
              <a:t>the duration of the effect</a:t>
            </a:r>
          </a:p>
          <a:p>
            <a:r>
              <a:rPr lang="en-US" dirty="0"/>
              <a:t>If the duration part is not specified, the transition will have no effect, because the default value is 0.</a:t>
            </a:r>
          </a:p>
          <a:p>
            <a:r>
              <a:rPr lang="en-US" dirty="0"/>
              <a:t>The following example shows a 100px * 100px red &lt;div&gt; element. The &lt;div&gt; element has also specified a transition effect for the width property, with a duration of 2 seconds.</a:t>
            </a:r>
          </a:p>
          <a:p>
            <a:pPr marL="0" indent="0">
              <a:buNone/>
            </a:pPr>
            <a:r>
              <a:rPr lang="en-US" dirty="0"/>
              <a:t>div {</a:t>
            </a:r>
          </a:p>
          <a:p>
            <a:pPr marL="0" indent="0">
              <a:buNone/>
            </a:pPr>
            <a:r>
              <a:rPr lang="en-US" dirty="0"/>
              <a:t>  width: 100px;</a:t>
            </a:r>
          </a:p>
          <a:p>
            <a:pPr marL="0" indent="0">
              <a:buNone/>
            </a:pPr>
            <a:r>
              <a:rPr lang="en-US" dirty="0"/>
              <a:t>  height: 100px;</a:t>
            </a:r>
          </a:p>
          <a:p>
            <a:pPr marL="0" indent="0">
              <a:buNone/>
            </a:pPr>
            <a:r>
              <a:rPr lang="en-US" dirty="0"/>
              <a:t> transition: width 2s;</a:t>
            </a:r>
          </a:p>
          <a:p>
            <a:pPr marL="0" indent="0">
              <a:buNone/>
            </a:pPr>
            <a:r>
              <a:rPr lang="en-US" dirty="0"/>
              <a:t>}</a:t>
            </a:r>
          </a:p>
          <a:p>
            <a:endParaRPr lang="en-US" dirty="0"/>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138</a:t>
            </a:fld>
            <a:endParaRPr lang="en-IN" dirty="0"/>
          </a:p>
        </p:txBody>
      </p:sp>
    </p:spTree>
    <p:extLst>
      <p:ext uri="{BB962C8B-B14F-4D97-AF65-F5344CB8AC3E}">
        <p14:creationId xmlns:p14="http://schemas.microsoft.com/office/powerpoint/2010/main" val="6950692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transition effect will start when the specified CSS property (width) changes value.</a:t>
            </a:r>
          </a:p>
          <a:p>
            <a:r>
              <a:rPr lang="en-US" dirty="0"/>
              <a:t>Now, let us specify a new value for the width property when a user </a:t>
            </a:r>
            <a:r>
              <a:rPr lang="en-US" dirty="0" err="1"/>
              <a:t>mouses</a:t>
            </a:r>
            <a:r>
              <a:rPr lang="en-US" dirty="0"/>
              <a:t> over the &lt;div&gt; element:</a:t>
            </a:r>
          </a:p>
          <a:p>
            <a:pPr marL="0" indent="0">
              <a:buNone/>
            </a:pPr>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139</a:t>
            </a:fld>
            <a:endParaRPr lang="en-IN" dirty="0"/>
          </a:p>
        </p:txBody>
      </p:sp>
    </p:spTree>
    <p:extLst>
      <p:ext uri="{BB962C8B-B14F-4D97-AF65-F5344CB8AC3E}">
        <p14:creationId xmlns:p14="http://schemas.microsoft.com/office/powerpoint/2010/main" val="319283974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C11CE39-2868-44A2-A0C6-827D458F7A8B}" type="slidenum">
              <a:rPr lang="en-IN" smtClean="0"/>
              <a:pPr/>
              <a:t>140</a:t>
            </a:fld>
            <a:endParaRPr lang="en-IN"/>
          </a:p>
        </p:txBody>
      </p:sp>
      <p:sp>
        <p:nvSpPr>
          <p:cNvPr id="3" name="Rectangle 2"/>
          <p:cNvSpPr/>
          <p:nvPr/>
        </p:nvSpPr>
        <p:spPr>
          <a:xfrm>
            <a:off x="434806" y="1018477"/>
            <a:ext cx="8725711" cy="5909310"/>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 </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100px;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 red;</a:t>
            </a:r>
          </a:p>
          <a:p>
            <a:pPr lvl="3"/>
            <a:r>
              <a:rPr lang="en-US" dirty="0">
                <a:latin typeface="Proxima Nova" panose="020B0604020202020204"/>
                <a:ea typeface="Cambria" panose="02040503050406030204" pitchFamily="18" charset="0"/>
              </a:rPr>
              <a:t>  transition: width 2s;</a:t>
            </a:r>
          </a:p>
          <a:p>
            <a:pPr lvl="2"/>
            <a:r>
              <a:rPr lang="en-US" dirty="0">
                <a:latin typeface="Proxima Nova" panose="020B0604020202020204"/>
                <a:ea typeface="Cambria" panose="02040503050406030204" pitchFamily="18" charset="0"/>
              </a:rPr>
              <a:t>	}</a:t>
            </a:r>
          </a:p>
          <a:p>
            <a:pPr lvl="3"/>
            <a:r>
              <a:rPr lang="en-US" dirty="0" err="1">
                <a:latin typeface="Proxima Nova" panose="020B0604020202020204"/>
                <a:ea typeface="Cambria" panose="02040503050406030204" pitchFamily="18" charset="0"/>
              </a:rPr>
              <a:t>div:hover</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a:t>
            </a:r>
          </a:p>
          <a:p>
            <a:r>
              <a:rPr lang="en-US" dirty="0">
                <a:latin typeface="Proxima Nova" panose="020B0604020202020204"/>
                <a:ea typeface="Cambria" panose="02040503050406030204" pitchFamily="18" charset="0"/>
              </a:rPr>
              <a:t>		&lt;/style&gt;</a:t>
            </a:r>
          </a:p>
          <a:p>
            <a:r>
              <a:rPr lang="en-US" dirty="0">
                <a:latin typeface="Proxima Nova" panose="020B0604020202020204"/>
                <a:ea typeface="Cambria" panose="02040503050406030204" pitchFamily="18" charset="0"/>
              </a:rPr>
              <a:t>	&lt;/head&gt;</a:t>
            </a:r>
          </a:p>
          <a:p>
            <a:r>
              <a:rPr lang="en-US" dirty="0">
                <a:latin typeface="Proxima Nova" panose="020B0604020202020204"/>
                <a:ea typeface="Cambria" panose="02040503050406030204" pitchFamily="18" charset="0"/>
              </a:rPr>
              <a:t>	&lt;body&gt;</a:t>
            </a:r>
          </a:p>
          <a:p>
            <a:pPr lvl="2"/>
            <a:r>
              <a:rPr lang="en-US" dirty="0">
                <a:latin typeface="Proxima Nova" panose="020B0604020202020204"/>
                <a:ea typeface="Cambria" panose="02040503050406030204" pitchFamily="18" charset="0"/>
              </a:rPr>
              <a:t>&lt;h1&gt;The transition Property&lt;/h1&gt;</a:t>
            </a:r>
          </a:p>
          <a:p>
            <a:pPr lvl="2"/>
            <a:r>
              <a:rPr lang="en-US" dirty="0">
                <a:latin typeface="Proxima Nova" panose="020B0604020202020204"/>
                <a:ea typeface="Cambria" panose="02040503050406030204" pitchFamily="18" charset="0"/>
              </a:rPr>
              <a:t>&lt;p&gt;Hover over the div element below, to see the transition effect:&lt;/p&gt;</a:t>
            </a:r>
          </a:p>
          <a:p>
            <a:pPr lvl="2"/>
            <a:r>
              <a:rPr lang="en-US" dirty="0">
                <a:latin typeface="Proxima Nova" panose="020B0604020202020204"/>
                <a:ea typeface="Cambria" panose="02040503050406030204" pitchFamily="18" charset="0"/>
              </a:rPr>
              <a:t>&lt;div&gt;&lt;/div&gt;</a:t>
            </a: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pic>
        <p:nvPicPr>
          <p:cNvPr id="4" name="Picture 3"/>
          <p:cNvPicPr>
            <a:picLocks noChangeAspect="1"/>
          </p:cNvPicPr>
          <p:nvPr/>
        </p:nvPicPr>
        <p:blipFill>
          <a:blip r:embed="rId2"/>
          <a:stretch>
            <a:fillRect/>
          </a:stretch>
        </p:blipFill>
        <p:spPr>
          <a:xfrm>
            <a:off x="5932248" y="1342518"/>
            <a:ext cx="5629275" cy="2981325"/>
          </a:xfrm>
          <a:prstGeom prst="rect">
            <a:avLst/>
          </a:prstGeom>
        </p:spPr>
      </p:pic>
      <p:pic>
        <p:nvPicPr>
          <p:cNvPr id="5" name="Picture 4"/>
          <p:cNvPicPr>
            <a:picLocks noChangeAspect="1"/>
          </p:cNvPicPr>
          <p:nvPr/>
        </p:nvPicPr>
        <p:blipFill>
          <a:blip r:embed="rId3"/>
          <a:stretch>
            <a:fillRect/>
          </a:stretch>
        </p:blipFill>
        <p:spPr>
          <a:xfrm>
            <a:off x="7508639" y="3581507"/>
            <a:ext cx="4573925" cy="2258016"/>
          </a:xfrm>
          <a:prstGeom prst="rect">
            <a:avLst/>
          </a:prstGeom>
        </p:spPr>
      </p:pic>
      <p:sp>
        <p:nvSpPr>
          <p:cNvPr id="6" name="Title 1">
            <a:extLst>
              <a:ext uri="{FF2B5EF4-FFF2-40B4-BE49-F238E27FC236}">
                <a16:creationId xmlns:a16="http://schemas.microsoft.com/office/drawing/2014/main" id="{2237EE9C-6C9A-4A25-4F60-7E1D6E813EE7}"/>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12982528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Specify the Speed Curve of the Transition</a:t>
            </a:r>
            <a:br>
              <a:rPr lang="en-US" dirty="0"/>
            </a:br>
            <a:endParaRPr lang="en-US" dirty="0"/>
          </a:p>
        </p:txBody>
      </p:sp>
      <p:sp>
        <p:nvSpPr>
          <p:cNvPr id="3" name="Content Placeholder 2"/>
          <p:cNvSpPr>
            <a:spLocks noGrp="1"/>
          </p:cNvSpPr>
          <p:nvPr>
            <p:ph idx="1"/>
          </p:nvPr>
        </p:nvSpPr>
        <p:spPr/>
        <p:txBody>
          <a:bodyPr>
            <a:normAutofit/>
          </a:bodyPr>
          <a:lstStyle/>
          <a:p>
            <a:r>
              <a:rPr lang="en-US" dirty="0"/>
              <a:t>The transition-timing-function property specifies the speed curve of the transition effect.</a:t>
            </a:r>
          </a:p>
          <a:p>
            <a:r>
              <a:rPr lang="en-US" dirty="0"/>
              <a:t>The transition-timing-function property can have the following values:</a:t>
            </a:r>
          </a:p>
          <a:p>
            <a:r>
              <a:rPr lang="en-US" b="1" dirty="0"/>
              <a:t>ease</a:t>
            </a:r>
            <a:r>
              <a:rPr lang="en-US" dirty="0"/>
              <a:t> - specifies a transition effect with a slow start, then fast, then end slowly (this is the default)</a:t>
            </a:r>
          </a:p>
          <a:p>
            <a:r>
              <a:rPr lang="en-US" b="1" dirty="0"/>
              <a:t>linear</a:t>
            </a:r>
            <a:r>
              <a:rPr lang="en-US" dirty="0"/>
              <a:t> - specifies a transition effect with the same speed from start to end</a:t>
            </a:r>
          </a:p>
          <a:p>
            <a:r>
              <a:rPr lang="en-US" b="1" dirty="0"/>
              <a:t>ease-in</a:t>
            </a:r>
            <a:r>
              <a:rPr lang="en-US" dirty="0"/>
              <a:t> - specifies a transition effect with a slow start</a:t>
            </a:r>
          </a:p>
          <a:p>
            <a:r>
              <a:rPr lang="en-US" b="1" dirty="0"/>
              <a:t>ease-out</a:t>
            </a:r>
            <a:r>
              <a:rPr lang="en-US" dirty="0"/>
              <a:t> - specifies a transition effect with a slow end</a:t>
            </a:r>
          </a:p>
          <a:p>
            <a:r>
              <a:rPr lang="en-US" b="1" dirty="0"/>
              <a:t>ease-in-out</a:t>
            </a:r>
            <a:r>
              <a:rPr lang="en-US" dirty="0"/>
              <a:t> - specifies a transition effect with a slow start and end</a:t>
            </a:r>
          </a:p>
          <a:p>
            <a:r>
              <a:rPr lang="en-US" b="1" dirty="0"/>
              <a:t>cubic-</a:t>
            </a:r>
            <a:r>
              <a:rPr lang="en-US" b="1" dirty="0" err="1"/>
              <a:t>bezier</a:t>
            </a:r>
            <a:r>
              <a:rPr lang="en-US" b="1" dirty="0"/>
              <a:t>(</a:t>
            </a:r>
            <a:r>
              <a:rPr lang="en-US" b="1" dirty="0" err="1"/>
              <a:t>n,n,n,n</a:t>
            </a:r>
            <a:r>
              <a:rPr lang="en-US" dirty="0"/>
              <a:t>) - lets you define your own values in a cubic-</a:t>
            </a:r>
            <a:r>
              <a:rPr lang="en-US" dirty="0" err="1"/>
              <a:t>bezier</a:t>
            </a:r>
            <a:r>
              <a:rPr lang="en-US" dirty="0"/>
              <a:t> function</a:t>
            </a:r>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141</a:t>
            </a:fld>
            <a:endParaRPr lang="en-IN" dirty="0"/>
          </a:p>
        </p:txBody>
      </p:sp>
    </p:spTree>
    <p:extLst>
      <p:ext uri="{BB962C8B-B14F-4D97-AF65-F5344CB8AC3E}">
        <p14:creationId xmlns:p14="http://schemas.microsoft.com/office/powerpoint/2010/main" val="73396300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C11CE39-2868-44A2-A0C6-827D458F7A8B}" type="slidenum">
              <a:rPr lang="en-IN" smtClean="0"/>
              <a:pPr/>
              <a:t>142</a:t>
            </a:fld>
            <a:endParaRPr lang="en-IN"/>
          </a:p>
        </p:txBody>
      </p:sp>
      <p:sp>
        <p:nvSpPr>
          <p:cNvPr id="3" name="Rectangle 2"/>
          <p:cNvSpPr/>
          <p:nvPr/>
        </p:nvSpPr>
        <p:spPr>
          <a:xfrm>
            <a:off x="342900" y="1089164"/>
            <a:ext cx="9144000" cy="5632311"/>
          </a:xfrm>
          <a:prstGeom prst="rect">
            <a:avLst/>
          </a:prstGeom>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 </a:t>
            </a:r>
          </a:p>
          <a:p>
            <a:pPr lvl="3"/>
            <a:r>
              <a:rPr lang="en-US" dirty="0">
                <a:latin typeface="Proxima Nova" panose="020B0604020202020204"/>
                <a:ea typeface="Cambria" panose="02040503050406030204" pitchFamily="18" charset="0"/>
              </a:rPr>
              <a:t> width: 100px;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 red;</a:t>
            </a:r>
          </a:p>
          <a:p>
            <a:pPr lvl="3"/>
            <a:r>
              <a:rPr lang="en-US" dirty="0">
                <a:latin typeface="Proxima Nova" panose="020B0604020202020204"/>
                <a:ea typeface="Cambria" panose="02040503050406030204" pitchFamily="18" charset="0"/>
              </a:rPr>
              <a:t>  transition: width 2s;</a:t>
            </a:r>
          </a:p>
          <a:p>
            <a:pPr lvl="3"/>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#div1 {transition-timing-function: linear;}</a:t>
            </a:r>
          </a:p>
          <a:p>
            <a:pPr lvl="3"/>
            <a:r>
              <a:rPr lang="en-US" dirty="0">
                <a:latin typeface="Proxima Nova" panose="020B0604020202020204"/>
                <a:ea typeface="Cambria" panose="02040503050406030204" pitchFamily="18" charset="0"/>
              </a:rPr>
              <a:t>#div2 {transition-timing-function: ease;}</a:t>
            </a:r>
          </a:p>
          <a:p>
            <a:pPr lvl="3"/>
            <a:r>
              <a:rPr lang="en-US" dirty="0">
                <a:latin typeface="Proxima Nova" panose="020B0604020202020204"/>
                <a:ea typeface="Cambria" panose="02040503050406030204" pitchFamily="18" charset="0"/>
              </a:rPr>
              <a:t>#div3 {transition-timing-function: ease-in;}</a:t>
            </a:r>
          </a:p>
          <a:p>
            <a:pPr lvl="3"/>
            <a:r>
              <a:rPr lang="en-US" dirty="0">
                <a:latin typeface="Proxima Nova" panose="020B0604020202020204"/>
                <a:ea typeface="Cambria" panose="02040503050406030204" pitchFamily="18" charset="0"/>
              </a:rPr>
              <a:t>#div4 {transition-timing-function: ease-out;}</a:t>
            </a:r>
          </a:p>
          <a:p>
            <a:pPr lvl="3"/>
            <a:r>
              <a:rPr lang="en-US" dirty="0">
                <a:latin typeface="Proxima Nova" panose="020B0604020202020204"/>
                <a:ea typeface="Cambria" panose="02040503050406030204" pitchFamily="18" charset="0"/>
              </a:rPr>
              <a:t>#div5 {transition-timing-function: ease-in-out;}</a:t>
            </a:r>
          </a:p>
          <a:p>
            <a:pPr lvl="3"/>
            <a:r>
              <a:rPr lang="en-US" dirty="0" err="1">
                <a:latin typeface="Proxima Nova" panose="020B0604020202020204"/>
                <a:ea typeface="Cambria" panose="02040503050406030204" pitchFamily="18" charset="0"/>
              </a:rPr>
              <a:t>div:hover</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&lt;/style&gt;</a:t>
            </a:r>
          </a:p>
          <a:p>
            <a:r>
              <a:rPr lang="en-US" dirty="0">
                <a:latin typeface="Proxima Nova" panose="020B0604020202020204"/>
                <a:ea typeface="Cambria" panose="02040503050406030204" pitchFamily="18" charset="0"/>
              </a:rPr>
              <a:t>	&lt;/head&gt;</a:t>
            </a:r>
          </a:p>
          <a:p>
            <a:r>
              <a:rPr lang="en-US" dirty="0">
                <a:latin typeface="Proxima Nova" panose="020B0604020202020204"/>
                <a:ea typeface="Cambria" panose="02040503050406030204" pitchFamily="18" charset="0"/>
              </a:rPr>
              <a:t>	</a:t>
            </a:r>
          </a:p>
        </p:txBody>
      </p:sp>
      <p:sp>
        <p:nvSpPr>
          <p:cNvPr id="4" name="Rectangle 3"/>
          <p:cNvSpPr/>
          <p:nvPr/>
        </p:nvSpPr>
        <p:spPr>
          <a:xfrm>
            <a:off x="6625550" y="993071"/>
            <a:ext cx="6096000" cy="2308324"/>
          </a:xfrm>
          <a:prstGeom prst="rect">
            <a:avLst/>
          </a:prstGeom>
        </p:spPr>
        <p:txBody>
          <a:bodyPr>
            <a:spAutoFit/>
          </a:bodyPr>
          <a:lstStyle/>
          <a:p>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 id="div1"&gt;linear&lt;/div&gt;&lt;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&lt;div id="div2"&gt;ease&lt;/div&gt;&lt;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&lt;div id="div3"&gt;ease-in&lt;/div&gt;&lt;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&lt;div id="div4"&gt;ease-out&lt;/div&gt;&lt;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pPr lvl="2"/>
            <a:r>
              <a:rPr lang="en-US" dirty="0">
                <a:latin typeface="Proxima Nova" panose="020B0604020202020204"/>
                <a:ea typeface="Cambria" panose="02040503050406030204" pitchFamily="18" charset="0"/>
              </a:rPr>
              <a:t>&lt;div id="div5"&gt;ease-in-out&lt;/div&gt;&lt;</a:t>
            </a:r>
            <a:r>
              <a:rPr lang="en-US" dirty="0" err="1">
                <a:latin typeface="Proxima Nova" panose="020B0604020202020204"/>
                <a:ea typeface="Cambria" panose="02040503050406030204" pitchFamily="18" charset="0"/>
              </a:rPr>
              <a:t>br</a:t>
            </a:r>
            <a:r>
              <a:rPr lang="en-US" dirty="0">
                <a:latin typeface="Proxima Nova" panose="020B0604020202020204"/>
                <a:ea typeface="Cambria" panose="02040503050406030204" pitchFamily="18" charset="0"/>
              </a:rPr>
              <a:t>&gt;</a:t>
            </a: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pic>
        <p:nvPicPr>
          <p:cNvPr id="5" name="Picture 4"/>
          <p:cNvPicPr>
            <a:picLocks noChangeAspect="1"/>
          </p:cNvPicPr>
          <p:nvPr/>
        </p:nvPicPr>
        <p:blipFill>
          <a:blip r:embed="rId2"/>
          <a:stretch>
            <a:fillRect/>
          </a:stretch>
        </p:blipFill>
        <p:spPr>
          <a:xfrm>
            <a:off x="7771286" y="3186009"/>
            <a:ext cx="3166252" cy="3352903"/>
          </a:xfrm>
          <a:prstGeom prst="rect">
            <a:avLst/>
          </a:prstGeom>
          <a:ln w="19050">
            <a:solidFill>
              <a:schemeClr val="tx1"/>
            </a:solidFill>
          </a:ln>
        </p:spPr>
      </p:pic>
      <p:sp>
        <p:nvSpPr>
          <p:cNvPr id="6" name="Title 1">
            <a:extLst>
              <a:ext uri="{FF2B5EF4-FFF2-40B4-BE49-F238E27FC236}">
                <a16:creationId xmlns:a16="http://schemas.microsoft.com/office/drawing/2014/main" id="{CF04789F-7915-DAED-081E-ECBA6E9058B7}"/>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panose="020B0604020202020204"/>
              </a:rPr>
              <a:t>Example</a:t>
            </a:r>
          </a:p>
        </p:txBody>
      </p:sp>
    </p:spTree>
    <p:extLst>
      <p:ext uri="{BB962C8B-B14F-4D97-AF65-F5344CB8AC3E}">
        <p14:creationId xmlns:p14="http://schemas.microsoft.com/office/powerpoint/2010/main" val="221927280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Delay the Transition Effect</a:t>
            </a:r>
          </a:p>
        </p:txBody>
      </p:sp>
      <p:sp>
        <p:nvSpPr>
          <p:cNvPr id="3" name="Content Placeholder 2"/>
          <p:cNvSpPr>
            <a:spLocks noGrp="1"/>
          </p:cNvSpPr>
          <p:nvPr>
            <p:ph idx="1"/>
          </p:nvPr>
        </p:nvSpPr>
        <p:spPr/>
        <p:txBody>
          <a:bodyPr/>
          <a:lstStyle/>
          <a:p>
            <a:r>
              <a:rPr lang="en-US" dirty="0"/>
              <a:t>The transition-delay property specifies a delay (in seconds) for the transition effect.</a:t>
            </a:r>
          </a:p>
          <a:p>
            <a:r>
              <a:rPr lang="en-US" dirty="0"/>
              <a:t>The following example has a 1 second delay before starting:</a:t>
            </a:r>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143</a:t>
            </a:fld>
            <a:endParaRPr lang="en-IN" dirty="0"/>
          </a:p>
        </p:txBody>
      </p:sp>
      <p:sp>
        <p:nvSpPr>
          <p:cNvPr id="6" name="TextBox 5">
            <a:extLst>
              <a:ext uri="{FF2B5EF4-FFF2-40B4-BE49-F238E27FC236}">
                <a16:creationId xmlns:a16="http://schemas.microsoft.com/office/drawing/2014/main" id="{BCB1033A-5063-3499-622F-61CAEE62E4BD}"/>
              </a:ext>
            </a:extLst>
          </p:cNvPr>
          <p:cNvSpPr txBox="1"/>
          <p:nvPr/>
        </p:nvSpPr>
        <p:spPr>
          <a:xfrm>
            <a:off x="474483" y="2197160"/>
            <a:ext cx="6096000" cy="4524315"/>
          </a:xfrm>
          <a:prstGeom prst="rect">
            <a:avLst/>
          </a:prstGeom>
          <a:noFill/>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pPr lvl="2"/>
            <a:r>
              <a:rPr lang="en-US" dirty="0">
                <a:latin typeface="Proxima Nova" panose="020B0604020202020204"/>
                <a:ea typeface="Cambria" panose="02040503050406030204" pitchFamily="18" charset="0"/>
              </a:rPr>
              <a:t>&lt;style&gt; </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100px;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 red;</a:t>
            </a:r>
          </a:p>
          <a:p>
            <a:pPr lvl="3"/>
            <a:r>
              <a:rPr lang="en-US" dirty="0">
                <a:latin typeface="Proxima Nova" panose="020B0604020202020204"/>
                <a:ea typeface="Cambria" panose="02040503050406030204" pitchFamily="18" charset="0"/>
              </a:rPr>
              <a:t>  transition: width 3s;</a:t>
            </a:r>
          </a:p>
          <a:p>
            <a:pPr lvl="3"/>
            <a:r>
              <a:rPr lang="en-US" dirty="0">
                <a:latin typeface="Proxima Nova" panose="020B0604020202020204"/>
                <a:ea typeface="Cambria" panose="02040503050406030204" pitchFamily="18" charset="0"/>
              </a:rPr>
              <a:t>  transition-delay: 1s;</a:t>
            </a:r>
          </a:p>
          <a:p>
            <a:pPr lvl="3"/>
            <a:r>
              <a:rPr lang="en-US" dirty="0">
                <a:latin typeface="Proxima Nova" panose="020B0604020202020204"/>
                <a:ea typeface="Cambria" panose="02040503050406030204" pitchFamily="18" charset="0"/>
              </a:rPr>
              <a:t>}</a:t>
            </a:r>
          </a:p>
          <a:p>
            <a:pPr lvl="3"/>
            <a:r>
              <a:rPr lang="en-US" dirty="0" err="1">
                <a:latin typeface="Proxima Nova" panose="020B0604020202020204"/>
                <a:ea typeface="Cambria" panose="02040503050406030204" pitchFamily="18" charset="0"/>
              </a:rPr>
              <a:t>div:hover</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width: 300px;</a:t>
            </a:r>
          </a:p>
          <a:p>
            <a:pPr lvl="3"/>
            <a:r>
              <a:rPr lang="en-US" dirty="0">
                <a:latin typeface="Proxima Nova" panose="020B0604020202020204"/>
                <a:ea typeface="Cambria" panose="02040503050406030204" pitchFamily="18" charset="0"/>
              </a:rPr>
              <a:t>}</a:t>
            </a:r>
          </a:p>
          <a:p>
            <a:r>
              <a:rPr lang="en-US" dirty="0">
                <a:latin typeface="Proxima Nova" panose="020B0604020202020204"/>
                <a:ea typeface="Cambria" panose="02040503050406030204" pitchFamily="18" charset="0"/>
              </a:rPr>
              <a:t>		&lt;/style&gt;</a:t>
            </a:r>
          </a:p>
          <a:p>
            <a:pPr lvl="1"/>
            <a:r>
              <a:rPr lang="en-US" dirty="0">
                <a:latin typeface="Proxima Nova" panose="020B0604020202020204"/>
                <a:ea typeface="Cambria" panose="02040503050406030204" pitchFamily="18" charset="0"/>
              </a:rPr>
              <a:t>&lt;/head&gt;</a:t>
            </a:r>
          </a:p>
        </p:txBody>
      </p:sp>
      <p:pic>
        <p:nvPicPr>
          <p:cNvPr id="7" name="Picture 6"/>
          <p:cNvPicPr>
            <a:picLocks noChangeAspect="1"/>
          </p:cNvPicPr>
          <p:nvPr/>
        </p:nvPicPr>
        <p:blipFill>
          <a:blip r:embed="rId2"/>
          <a:stretch>
            <a:fillRect/>
          </a:stretch>
        </p:blipFill>
        <p:spPr>
          <a:xfrm>
            <a:off x="4914900" y="2493536"/>
            <a:ext cx="6438900" cy="3390900"/>
          </a:xfrm>
          <a:prstGeom prst="rect">
            <a:avLst/>
          </a:prstGeom>
          <a:ln w="19050">
            <a:solidFill>
              <a:schemeClr val="tx1"/>
            </a:solidFill>
          </a:ln>
        </p:spPr>
      </p:pic>
    </p:spTree>
    <p:extLst>
      <p:ext uri="{BB962C8B-B14F-4D97-AF65-F5344CB8AC3E}">
        <p14:creationId xmlns:p14="http://schemas.microsoft.com/office/powerpoint/2010/main" val="105265301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949E2-4108-3C5D-DF9E-9CD01459BC5B}"/>
              </a:ext>
            </a:extLst>
          </p:cNvPr>
          <p:cNvSpPr>
            <a:spLocks noGrp="1"/>
          </p:cNvSpPr>
          <p:nvPr>
            <p:ph type="title"/>
          </p:nvPr>
        </p:nvSpPr>
        <p:spPr/>
        <p:txBody>
          <a:bodyPr/>
          <a:lstStyle/>
          <a:p>
            <a:r>
              <a:rPr lang="en-US" dirty="0"/>
              <a:t>Images</a:t>
            </a:r>
            <a:endParaRPr lang="en-IN" dirty="0"/>
          </a:p>
        </p:txBody>
      </p:sp>
      <p:sp>
        <p:nvSpPr>
          <p:cNvPr id="5" name="TextBox 4">
            <a:extLst>
              <a:ext uri="{FF2B5EF4-FFF2-40B4-BE49-F238E27FC236}">
                <a16:creationId xmlns:a16="http://schemas.microsoft.com/office/drawing/2014/main" id="{54F7CD58-E96F-0941-A5F8-285436FB1106}"/>
              </a:ext>
            </a:extLst>
          </p:cNvPr>
          <p:cNvSpPr txBox="1"/>
          <p:nvPr/>
        </p:nvSpPr>
        <p:spPr>
          <a:xfrm>
            <a:off x="685800" y="1185059"/>
            <a:ext cx="11010900" cy="5078313"/>
          </a:xfrm>
          <a:prstGeom prst="rect">
            <a:avLst/>
          </a:prstGeom>
          <a:noFill/>
        </p:spPr>
        <p:txBody>
          <a:bodyPr wrap="square">
            <a:spAutoFit/>
          </a:bodyPr>
          <a:lstStyle/>
          <a:p>
            <a:r>
              <a:rPr lang="en-US" b="1" dirty="0">
                <a:latin typeface="Proxima Nova" panose="020B0604020202020204"/>
              </a:rPr>
              <a:t>Rounded Images</a:t>
            </a:r>
            <a:endParaRPr lang="en-US" dirty="0">
              <a:latin typeface="Proxima Nova" panose="020B0604020202020204"/>
            </a:endParaRPr>
          </a:p>
          <a:p>
            <a:r>
              <a:rPr lang="en-US" dirty="0">
                <a:latin typeface="Proxima Nova" panose="020B0604020202020204"/>
              </a:rPr>
              <a:t>Use the border-radius property to create rounded images.</a:t>
            </a:r>
          </a:p>
          <a:p>
            <a:pPr marL="0" indent="0">
              <a:buNone/>
            </a:pPr>
            <a:r>
              <a:rPr lang="en-US" dirty="0">
                <a:latin typeface="Proxima Nova" panose="020B0604020202020204"/>
              </a:rPr>
              <a:t>&lt;!DOCTYPE html&gt;</a:t>
            </a:r>
          </a:p>
          <a:p>
            <a:pPr marL="0" indent="0">
              <a:buNone/>
            </a:pPr>
            <a:r>
              <a:rPr lang="en-US" dirty="0">
                <a:latin typeface="Proxima Nova" panose="020B0604020202020204"/>
              </a:rPr>
              <a:t>&lt;html&gt;</a:t>
            </a:r>
          </a:p>
          <a:p>
            <a:pPr marL="0" indent="0">
              <a:buNone/>
            </a:pPr>
            <a:r>
              <a:rPr lang="en-US" dirty="0">
                <a:latin typeface="Proxima Nova" panose="020B0604020202020204"/>
              </a:rPr>
              <a:t>	&lt;head&gt;</a:t>
            </a:r>
          </a:p>
          <a:p>
            <a:pPr marL="1350963" lvl="3" indent="0">
              <a:buNone/>
            </a:pPr>
            <a:r>
              <a:rPr lang="en-US" dirty="0">
                <a:latin typeface="Proxima Nova" panose="020B0604020202020204"/>
              </a:rPr>
              <a:t>&lt;style&gt;</a:t>
            </a:r>
          </a:p>
          <a:p>
            <a:pPr marL="1350963" lvl="3" indent="0">
              <a:buNone/>
            </a:pPr>
            <a:r>
              <a:rPr lang="en-US" dirty="0" err="1">
                <a:latin typeface="Proxima Nova" panose="020B0604020202020204"/>
              </a:rPr>
              <a:t>img</a:t>
            </a:r>
            <a:r>
              <a:rPr lang="en-US" dirty="0">
                <a:latin typeface="Proxima Nova" panose="020B0604020202020204"/>
              </a:rPr>
              <a:t> {</a:t>
            </a:r>
          </a:p>
          <a:p>
            <a:pPr marL="1350963" lvl="3" indent="0">
              <a:buNone/>
            </a:pPr>
            <a:r>
              <a:rPr lang="en-US" dirty="0">
                <a:latin typeface="Proxima Nova" panose="020B0604020202020204"/>
              </a:rPr>
              <a:t>  border-radius: 50%;</a:t>
            </a:r>
          </a:p>
          <a:p>
            <a:pPr marL="1350963" lvl="3" indent="0">
              <a:buNone/>
            </a:pPr>
            <a:r>
              <a:rPr lang="en-US" dirty="0">
                <a:latin typeface="Proxima Nova" panose="020B0604020202020204"/>
              </a:rPr>
              <a:t>}</a:t>
            </a:r>
          </a:p>
          <a:p>
            <a:pPr marL="1350963" lvl="3" indent="0">
              <a:buNone/>
            </a:pPr>
            <a:r>
              <a:rPr lang="en-US" dirty="0">
                <a:latin typeface="Proxima Nova" panose="020B0604020202020204"/>
              </a:rPr>
              <a:t>&lt;/style&gt;</a:t>
            </a:r>
          </a:p>
          <a:p>
            <a:pPr marL="0" indent="0">
              <a:buNone/>
            </a:pPr>
            <a:r>
              <a:rPr lang="en-US" dirty="0">
                <a:latin typeface="Proxima Nova" panose="020B0604020202020204"/>
              </a:rPr>
              <a:t>	&lt;/head&gt;</a:t>
            </a:r>
          </a:p>
          <a:p>
            <a:pPr marL="0" indent="0">
              <a:buNone/>
            </a:pPr>
            <a:r>
              <a:rPr lang="en-US" dirty="0">
                <a:latin typeface="Proxima Nova" panose="020B0604020202020204"/>
              </a:rPr>
              <a:t>	&lt;body&gt;</a:t>
            </a:r>
          </a:p>
          <a:p>
            <a:pPr marL="0" indent="0">
              <a:buNone/>
            </a:pPr>
            <a:r>
              <a:rPr lang="en-US" dirty="0">
                <a:latin typeface="Proxima Nova" panose="020B0604020202020204"/>
              </a:rPr>
              <a:t>		&lt;</a:t>
            </a:r>
            <a:r>
              <a:rPr lang="en-US" dirty="0" err="1">
                <a:latin typeface="Proxima Nova" panose="020B0604020202020204"/>
              </a:rPr>
              <a:t>img</a:t>
            </a:r>
            <a:r>
              <a:rPr lang="en-US" dirty="0">
                <a:latin typeface="Proxima Nova" panose="020B0604020202020204"/>
              </a:rPr>
              <a:t> </a:t>
            </a:r>
            <a:r>
              <a:rPr lang="en-US" dirty="0" err="1">
                <a:latin typeface="Proxima Nova" panose="020B0604020202020204"/>
              </a:rPr>
              <a:t>src</a:t>
            </a:r>
            <a:r>
              <a:rPr lang="en-US" dirty="0">
                <a:latin typeface="Proxima Nova" panose="020B0604020202020204"/>
              </a:rPr>
              <a:t>="paris.jpg" alt="Paris" width=“300” height="300"&gt;</a:t>
            </a:r>
          </a:p>
          <a:p>
            <a:pPr marL="0" indent="0">
              <a:buNone/>
            </a:pPr>
            <a:r>
              <a:rPr lang="en-US" dirty="0">
                <a:latin typeface="Proxima Nova" panose="020B0604020202020204"/>
              </a:rPr>
              <a:t>	&lt;/body&gt;</a:t>
            </a:r>
          </a:p>
          <a:p>
            <a:pPr marL="0" indent="0">
              <a:buNone/>
            </a:pPr>
            <a:r>
              <a:rPr lang="en-US" dirty="0">
                <a:latin typeface="Proxima Nova" panose="020B0604020202020204"/>
              </a:rPr>
              <a:t>&lt;/html&gt;</a:t>
            </a:r>
          </a:p>
          <a:p>
            <a:endParaRPr lang="en-US" dirty="0">
              <a:latin typeface="Proxima Nova" panose="020B0604020202020204"/>
            </a:endParaRPr>
          </a:p>
          <a:p>
            <a:endParaRPr lang="en-US" dirty="0">
              <a:latin typeface="Proxima Nova" panose="020B0604020202020204"/>
            </a:endParaRPr>
          </a:p>
          <a:p>
            <a:endParaRPr lang="en-US" dirty="0">
              <a:latin typeface="Proxima Nova" panose="020B0604020202020204"/>
            </a:endParaRPr>
          </a:p>
        </p:txBody>
      </p:sp>
      <p:pic>
        <p:nvPicPr>
          <p:cNvPr id="6" name="Picture 5">
            <a:extLst>
              <a:ext uri="{FF2B5EF4-FFF2-40B4-BE49-F238E27FC236}">
                <a16:creationId xmlns:a16="http://schemas.microsoft.com/office/drawing/2014/main" id="{29465955-0A45-1AA4-3D3A-02A61D0CED3D}"/>
              </a:ext>
            </a:extLst>
          </p:cNvPr>
          <p:cNvPicPr>
            <a:picLocks noChangeAspect="1"/>
          </p:cNvPicPr>
          <p:nvPr/>
        </p:nvPicPr>
        <p:blipFill>
          <a:blip r:embed="rId2"/>
          <a:stretch>
            <a:fillRect/>
          </a:stretch>
        </p:blipFill>
        <p:spPr>
          <a:xfrm>
            <a:off x="8422531" y="1478604"/>
            <a:ext cx="2715638" cy="2859932"/>
          </a:xfrm>
          <a:prstGeom prst="rect">
            <a:avLst/>
          </a:prstGeom>
          <a:ln w="19050">
            <a:solidFill>
              <a:schemeClr val="tx1"/>
            </a:solidFill>
          </a:ln>
        </p:spPr>
      </p:pic>
    </p:spTree>
    <p:extLst>
      <p:ext uri="{BB962C8B-B14F-4D97-AF65-F5344CB8AC3E}">
        <p14:creationId xmlns:p14="http://schemas.microsoft.com/office/powerpoint/2010/main" val="141711270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Images</a:t>
            </a:r>
            <a:br>
              <a:rPr lang="en-US" dirty="0"/>
            </a:br>
            <a:endParaRPr lang="en-US" dirty="0"/>
          </a:p>
        </p:txBody>
      </p:sp>
      <p:sp>
        <p:nvSpPr>
          <p:cNvPr id="3" name="Content Placeholder 2"/>
          <p:cNvSpPr>
            <a:spLocks noGrp="1"/>
          </p:cNvSpPr>
          <p:nvPr>
            <p:ph idx="1"/>
          </p:nvPr>
        </p:nvSpPr>
        <p:spPr/>
        <p:txBody>
          <a:bodyPr>
            <a:noAutofit/>
          </a:bodyPr>
          <a:lstStyle/>
          <a:p>
            <a:r>
              <a:rPr lang="en-US" b="1" dirty="0"/>
              <a:t>Thumbnail Images</a:t>
            </a:r>
          </a:p>
          <a:p>
            <a:r>
              <a:rPr lang="en-US" dirty="0"/>
              <a:t>Use the border property to create thumbnail images.</a:t>
            </a:r>
          </a:p>
          <a:p>
            <a:pPr marL="0" indent="0">
              <a:lnSpc>
                <a:spcPct val="100000"/>
              </a:lnSpc>
              <a:buNone/>
            </a:pPr>
            <a:r>
              <a:rPr lang="en-US" dirty="0"/>
              <a:t>	&lt;head&gt;</a:t>
            </a:r>
          </a:p>
          <a:p>
            <a:pPr marL="1350963" lvl="3" indent="0">
              <a:lnSpc>
                <a:spcPct val="100000"/>
              </a:lnSpc>
              <a:buNone/>
            </a:pPr>
            <a:r>
              <a:rPr lang="en-US" dirty="0"/>
              <a:t>&lt;style&gt;</a:t>
            </a:r>
          </a:p>
          <a:p>
            <a:pPr marL="1350963" lvl="3" indent="0">
              <a:lnSpc>
                <a:spcPct val="100000"/>
              </a:lnSpc>
              <a:buNone/>
            </a:pPr>
            <a:r>
              <a:rPr lang="en-US" dirty="0" err="1"/>
              <a:t>img</a:t>
            </a:r>
            <a:r>
              <a:rPr lang="en-US" dirty="0"/>
              <a:t> {</a:t>
            </a:r>
          </a:p>
          <a:p>
            <a:pPr marL="1350963" lvl="3" indent="0">
              <a:lnSpc>
                <a:spcPct val="100000"/>
              </a:lnSpc>
              <a:buNone/>
            </a:pPr>
            <a:r>
              <a:rPr lang="en-US" dirty="0"/>
              <a:t>  border: 1px solid #</a:t>
            </a:r>
            <a:r>
              <a:rPr lang="en-US" dirty="0" err="1"/>
              <a:t>ddd</a:t>
            </a:r>
            <a:r>
              <a:rPr lang="en-US" dirty="0"/>
              <a:t>;</a:t>
            </a:r>
          </a:p>
          <a:p>
            <a:pPr marL="1350963" lvl="3" indent="0">
              <a:lnSpc>
                <a:spcPct val="100000"/>
              </a:lnSpc>
              <a:buNone/>
            </a:pPr>
            <a:r>
              <a:rPr lang="en-US" dirty="0"/>
              <a:t>  border-radius: 4px;</a:t>
            </a:r>
          </a:p>
          <a:p>
            <a:pPr marL="1350963" lvl="3" indent="0">
              <a:lnSpc>
                <a:spcPct val="100000"/>
              </a:lnSpc>
              <a:buNone/>
            </a:pPr>
            <a:r>
              <a:rPr lang="en-US" dirty="0"/>
              <a:t>  padding: 5px;</a:t>
            </a:r>
          </a:p>
          <a:p>
            <a:pPr marL="1350963" lvl="3" indent="0">
              <a:lnSpc>
                <a:spcPct val="100000"/>
              </a:lnSpc>
              <a:buNone/>
            </a:pPr>
            <a:r>
              <a:rPr lang="en-US" dirty="0"/>
              <a:t>  width: 150px;</a:t>
            </a:r>
          </a:p>
          <a:p>
            <a:pPr marL="1350963" lvl="3" indent="0">
              <a:lnSpc>
                <a:spcPct val="100000"/>
              </a:lnSpc>
              <a:buNone/>
            </a:pPr>
            <a:r>
              <a:rPr lang="en-US" dirty="0"/>
              <a:t>}</a:t>
            </a:r>
          </a:p>
          <a:p>
            <a:pPr marL="1350963" lvl="3" indent="0">
              <a:lnSpc>
                <a:spcPct val="100000"/>
              </a:lnSpc>
              <a:buNone/>
            </a:pPr>
            <a:r>
              <a:rPr lang="en-US" dirty="0"/>
              <a:t>&lt;/style&gt;</a:t>
            </a:r>
          </a:p>
          <a:p>
            <a:pPr marL="0" indent="0">
              <a:lnSpc>
                <a:spcPct val="100000"/>
              </a:lnSpc>
              <a:buNone/>
            </a:pPr>
            <a:r>
              <a:rPr lang="en-US" dirty="0"/>
              <a:t>	&lt;/head&gt;</a:t>
            </a:r>
          </a:p>
          <a:p>
            <a:pPr marL="0" indent="0">
              <a:lnSpc>
                <a:spcPct val="100000"/>
              </a:lnSpc>
              <a:buNone/>
            </a:pPr>
            <a:r>
              <a:rPr lang="en-US" dirty="0"/>
              <a:t>	&lt;body&gt;</a:t>
            </a:r>
          </a:p>
          <a:p>
            <a:pPr marL="0" indent="0">
              <a:lnSpc>
                <a:spcPct val="100000"/>
              </a:lnSpc>
              <a:buNone/>
            </a:pPr>
            <a:r>
              <a:rPr lang="en-US" dirty="0"/>
              <a:t>		&lt;</a:t>
            </a:r>
            <a:r>
              <a:rPr lang="en-US" dirty="0" err="1"/>
              <a:t>img</a:t>
            </a:r>
            <a:r>
              <a:rPr lang="en-US" dirty="0"/>
              <a:t>  </a:t>
            </a:r>
            <a:r>
              <a:rPr lang="en-US" dirty="0" err="1"/>
              <a:t>src</a:t>
            </a:r>
            <a:r>
              <a:rPr lang="en-US" dirty="0"/>
              <a:t>="paris.jpg" alt="Paris" style="width:150px"&gt;	&lt;/body&gt;</a:t>
            </a:r>
          </a:p>
        </p:txBody>
      </p:sp>
      <p:sp>
        <p:nvSpPr>
          <p:cNvPr id="4" name="Slide Number Placeholder 3"/>
          <p:cNvSpPr>
            <a:spLocks noGrp="1"/>
          </p:cNvSpPr>
          <p:nvPr>
            <p:ph type="sldNum" sz="quarter" idx="12"/>
          </p:nvPr>
        </p:nvSpPr>
        <p:spPr/>
        <p:txBody>
          <a:bodyPr/>
          <a:lstStyle/>
          <a:p>
            <a:fld id="{9C11CE39-2868-44A2-A0C6-827D458F7A8B}" type="slidenum">
              <a:rPr lang="en-IN" smtClean="0"/>
              <a:pPr/>
              <a:t>145</a:t>
            </a:fld>
            <a:endParaRPr lang="en-IN" dirty="0"/>
          </a:p>
        </p:txBody>
      </p:sp>
      <p:pic>
        <p:nvPicPr>
          <p:cNvPr id="5" name="Picture 4"/>
          <p:cNvPicPr>
            <a:picLocks noChangeAspect="1"/>
          </p:cNvPicPr>
          <p:nvPr/>
        </p:nvPicPr>
        <p:blipFill>
          <a:blip r:embed="rId2"/>
          <a:stretch>
            <a:fillRect/>
          </a:stretch>
        </p:blipFill>
        <p:spPr>
          <a:xfrm>
            <a:off x="8627826" y="2166329"/>
            <a:ext cx="2076450" cy="1552575"/>
          </a:xfrm>
          <a:prstGeom prst="rect">
            <a:avLst/>
          </a:prstGeom>
          <a:ln w="19050">
            <a:solidFill>
              <a:schemeClr val="tx1"/>
            </a:solidFill>
          </a:ln>
        </p:spPr>
      </p:pic>
    </p:spTree>
    <p:extLst>
      <p:ext uri="{BB962C8B-B14F-4D97-AF65-F5344CB8AC3E}">
        <p14:creationId xmlns:p14="http://schemas.microsoft.com/office/powerpoint/2010/main" val="4390208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Images</a:t>
            </a:r>
            <a:br>
              <a:rPr lang="en-US" dirty="0"/>
            </a:br>
            <a:endParaRPr lang="en-US" dirty="0"/>
          </a:p>
        </p:txBody>
      </p:sp>
      <p:sp>
        <p:nvSpPr>
          <p:cNvPr id="3" name="Content Placeholder 2"/>
          <p:cNvSpPr>
            <a:spLocks noGrp="1"/>
          </p:cNvSpPr>
          <p:nvPr>
            <p:ph idx="1"/>
          </p:nvPr>
        </p:nvSpPr>
        <p:spPr>
          <a:xfrm>
            <a:off x="398493" y="1132917"/>
            <a:ext cx="11294097" cy="4351338"/>
          </a:xfrm>
        </p:spPr>
        <p:txBody>
          <a:bodyPr>
            <a:noAutofit/>
          </a:bodyPr>
          <a:lstStyle/>
          <a:p>
            <a:r>
              <a:rPr lang="en-US" b="1" dirty="0"/>
              <a:t>Responsive Images</a:t>
            </a:r>
          </a:p>
          <a:p>
            <a:r>
              <a:rPr lang="en-US" dirty="0"/>
              <a:t>Responsive images will automatically adjust to fit the size of the screen.</a:t>
            </a:r>
          </a:p>
          <a:p>
            <a:pPr marL="0" indent="0">
              <a:lnSpc>
                <a:spcPct val="100000"/>
              </a:lnSpc>
              <a:buNone/>
            </a:pPr>
            <a:r>
              <a:rPr lang="en-US" sz="1600" dirty="0"/>
              <a:t>&lt;html&gt;</a:t>
            </a:r>
          </a:p>
          <a:p>
            <a:pPr marL="0" indent="0">
              <a:lnSpc>
                <a:spcPct val="100000"/>
              </a:lnSpc>
              <a:buNone/>
            </a:pPr>
            <a:r>
              <a:rPr lang="en-US" sz="1600" dirty="0"/>
              <a:t>	&lt;head&gt;</a:t>
            </a:r>
          </a:p>
          <a:p>
            <a:pPr marL="0" indent="0">
              <a:lnSpc>
                <a:spcPct val="100000"/>
              </a:lnSpc>
              <a:buNone/>
            </a:pPr>
            <a:r>
              <a:rPr lang="en-US" sz="1600" dirty="0"/>
              <a:t>		&lt;style&gt;</a:t>
            </a:r>
          </a:p>
          <a:p>
            <a:pPr marL="2159000" lvl="5" indent="0">
              <a:lnSpc>
                <a:spcPct val="100000"/>
              </a:lnSpc>
              <a:buNone/>
            </a:pPr>
            <a:r>
              <a:rPr lang="en-US" sz="1600" dirty="0" err="1">
                <a:latin typeface="Proxima Nova" panose="020B0604020202020204"/>
              </a:rPr>
              <a:t>img</a:t>
            </a:r>
            <a:r>
              <a:rPr lang="en-US" sz="1600" dirty="0">
                <a:latin typeface="Proxima Nova" panose="020B0604020202020204"/>
              </a:rPr>
              <a:t> {</a:t>
            </a:r>
          </a:p>
          <a:p>
            <a:pPr marL="2159000" lvl="5" indent="0">
              <a:lnSpc>
                <a:spcPct val="100000"/>
              </a:lnSpc>
              <a:buNone/>
            </a:pPr>
            <a:r>
              <a:rPr lang="en-US" sz="1600" dirty="0">
                <a:latin typeface="Proxima Nova" panose="020B0604020202020204"/>
              </a:rPr>
              <a:t>  max-width: 100%;</a:t>
            </a:r>
          </a:p>
          <a:p>
            <a:pPr marL="2159000" lvl="5" indent="0">
              <a:lnSpc>
                <a:spcPct val="100000"/>
              </a:lnSpc>
              <a:buNone/>
            </a:pPr>
            <a:r>
              <a:rPr lang="en-US" sz="1600" dirty="0">
                <a:latin typeface="Proxima Nova" panose="020B0604020202020204"/>
              </a:rPr>
              <a:t>  height: auto;</a:t>
            </a:r>
          </a:p>
          <a:p>
            <a:pPr marL="2159000" lvl="5" indent="0">
              <a:lnSpc>
                <a:spcPct val="100000"/>
              </a:lnSpc>
              <a:buNone/>
            </a:pPr>
            <a:r>
              <a:rPr lang="en-US" sz="1600" dirty="0">
                <a:latin typeface="Proxima Nova" panose="020B0604020202020204"/>
              </a:rPr>
              <a:t>}</a:t>
            </a:r>
          </a:p>
          <a:p>
            <a:pPr marL="0" indent="0">
              <a:lnSpc>
                <a:spcPct val="100000"/>
              </a:lnSpc>
              <a:buNone/>
            </a:pPr>
            <a:r>
              <a:rPr lang="en-US" sz="1600" dirty="0"/>
              <a:t>		&lt;/style&gt;</a:t>
            </a:r>
          </a:p>
          <a:p>
            <a:pPr marL="0" indent="0">
              <a:lnSpc>
                <a:spcPct val="100000"/>
              </a:lnSpc>
              <a:buNone/>
            </a:pPr>
            <a:r>
              <a:rPr lang="en-US" sz="1600" dirty="0"/>
              <a:t>	&lt;/head&gt;</a:t>
            </a:r>
          </a:p>
          <a:p>
            <a:pPr marL="0" indent="0">
              <a:lnSpc>
                <a:spcPct val="100000"/>
              </a:lnSpc>
              <a:buNone/>
            </a:pPr>
            <a:r>
              <a:rPr lang="en-US" sz="1600" dirty="0"/>
              <a:t>	&lt;body&gt;</a:t>
            </a:r>
          </a:p>
          <a:p>
            <a:pPr marL="0" indent="0">
              <a:lnSpc>
                <a:spcPct val="100000"/>
              </a:lnSpc>
              <a:buNone/>
            </a:pPr>
            <a:r>
              <a:rPr lang="en-US" sz="1600" dirty="0"/>
              <a:t>		&lt;</a:t>
            </a:r>
            <a:r>
              <a:rPr lang="en-US" sz="1600" dirty="0" err="1"/>
              <a:t>img</a:t>
            </a:r>
            <a:r>
              <a:rPr lang="en-US" sz="1600" dirty="0"/>
              <a:t> </a:t>
            </a:r>
            <a:r>
              <a:rPr lang="en-US" sz="1600" dirty="0" err="1"/>
              <a:t>src</a:t>
            </a:r>
            <a:r>
              <a:rPr lang="en-US" sz="1600" dirty="0"/>
              <a:t>="img_5terre_wide.jpg" alt="Cinque Terre" width="1000" height="300"&gt;</a:t>
            </a:r>
          </a:p>
          <a:p>
            <a:pPr marL="0" indent="0">
              <a:lnSpc>
                <a:spcPct val="100000"/>
              </a:lnSpc>
              <a:buNone/>
            </a:pPr>
            <a:r>
              <a:rPr lang="en-US" sz="1600" dirty="0"/>
              <a:t>	&lt;/body&gt;</a:t>
            </a:r>
          </a:p>
          <a:p>
            <a:pPr marL="0" indent="0">
              <a:lnSpc>
                <a:spcPct val="100000"/>
              </a:lnSpc>
              <a:buNone/>
            </a:pPr>
            <a:r>
              <a:rPr lang="en-US" sz="1600" dirty="0"/>
              <a:t>&lt;/html&gt;</a:t>
            </a:r>
          </a:p>
        </p:txBody>
      </p:sp>
      <p:sp>
        <p:nvSpPr>
          <p:cNvPr id="4" name="Slide Number Placeholder 3"/>
          <p:cNvSpPr>
            <a:spLocks noGrp="1"/>
          </p:cNvSpPr>
          <p:nvPr>
            <p:ph type="sldNum" sz="quarter" idx="12"/>
          </p:nvPr>
        </p:nvSpPr>
        <p:spPr>
          <a:xfrm>
            <a:off x="8949390" y="5789216"/>
            <a:ext cx="2743200" cy="365125"/>
          </a:xfrm>
        </p:spPr>
        <p:txBody>
          <a:bodyPr/>
          <a:lstStyle/>
          <a:p>
            <a:fld id="{9C11CE39-2868-44A2-A0C6-827D458F7A8B}" type="slidenum">
              <a:rPr lang="en-IN" smtClean="0"/>
              <a:pPr/>
              <a:t>146</a:t>
            </a:fld>
            <a:endParaRPr lang="en-IN" dirty="0"/>
          </a:p>
        </p:txBody>
      </p:sp>
      <p:pic>
        <p:nvPicPr>
          <p:cNvPr id="5" name="Picture 4"/>
          <p:cNvPicPr>
            <a:picLocks noChangeAspect="1"/>
          </p:cNvPicPr>
          <p:nvPr/>
        </p:nvPicPr>
        <p:blipFill>
          <a:blip r:embed="rId2"/>
          <a:stretch>
            <a:fillRect/>
          </a:stretch>
        </p:blipFill>
        <p:spPr>
          <a:xfrm>
            <a:off x="7532046" y="2476973"/>
            <a:ext cx="3821754" cy="1663227"/>
          </a:xfrm>
          <a:prstGeom prst="rect">
            <a:avLst/>
          </a:prstGeom>
          <a:ln w="19050">
            <a:solidFill>
              <a:schemeClr val="tx1"/>
            </a:solidFill>
          </a:ln>
        </p:spPr>
      </p:pic>
    </p:spTree>
    <p:extLst>
      <p:ext uri="{BB962C8B-B14F-4D97-AF65-F5344CB8AC3E}">
        <p14:creationId xmlns:p14="http://schemas.microsoft.com/office/powerpoint/2010/main" val="10384816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Images</a:t>
            </a:r>
            <a:br>
              <a:rPr lang="en-US" dirty="0"/>
            </a:br>
            <a:endParaRPr lang="en-US" dirty="0"/>
          </a:p>
        </p:txBody>
      </p:sp>
      <p:sp>
        <p:nvSpPr>
          <p:cNvPr id="3" name="Content Placeholder 2"/>
          <p:cNvSpPr>
            <a:spLocks noGrp="1"/>
          </p:cNvSpPr>
          <p:nvPr>
            <p:ph idx="1"/>
          </p:nvPr>
        </p:nvSpPr>
        <p:spPr/>
        <p:txBody>
          <a:bodyPr>
            <a:noAutofit/>
          </a:bodyPr>
          <a:lstStyle/>
          <a:p>
            <a:r>
              <a:rPr lang="en-US" b="1" dirty="0"/>
              <a:t>Center an Image</a:t>
            </a:r>
          </a:p>
          <a:p>
            <a:r>
              <a:rPr lang="en-US" dirty="0"/>
              <a:t>To center an image, set margin to auto and make it into a block element.</a:t>
            </a:r>
          </a:p>
          <a:p>
            <a:pPr marL="0" indent="0">
              <a:lnSpc>
                <a:spcPct val="100000"/>
              </a:lnSpc>
              <a:buNone/>
            </a:pPr>
            <a:r>
              <a:rPr lang="en-US" dirty="0"/>
              <a:t>&lt;!DOCTYPE html&gt;</a:t>
            </a:r>
          </a:p>
          <a:p>
            <a:pPr marL="0" indent="0">
              <a:lnSpc>
                <a:spcPct val="100000"/>
              </a:lnSpc>
              <a:buNone/>
            </a:pPr>
            <a:r>
              <a:rPr lang="en-US" dirty="0"/>
              <a:t>&lt;html&gt;</a:t>
            </a:r>
          </a:p>
          <a:p>
            <a:pPr marL="0" indent="0">
              <a:lnSpc>
                <a:spcPct val="100000"/>
              </a:lnSpc>
              <a:buNone/>
            </a:pPr>
            <a:r>
              <a:rPr lang="en-US" dirty="0"/>
              <a:t>	&lt;head&gt;</a:t>
            </a:r>
          </a:p>
          <a:p>
            <a:pPr marL="0" indent="0">
              <a:lnSpc>
                <a:spcPct val="100000"/>
              </a:lnSpc>
              <a:buNone/>
            </a:pPr>
            <a:r>
              <a:rPr lang="en-US" dirty="0"/>
              <a:t>		&lt;style&gt;</a:t>
            </a:r>
          </a:p>
          <a:p>
            <a:pPr marL="2159000" lvl="5" indent="0">
              <a:lnSpc>
                <a:spcPct val="100000"/>
              </a:lnSpc>
              <a:buNone/>
            </a:pPr>
            <a:r>
              <a:rPr lang="en-US" dirty="0" err="1">
                <a:latin typeface="Proxima Nova" panose="020B0604020202020204"/>
              </a:rPr>
              <a:t>img</a:t>
            </a:r>
            <a:r>
              <a:rPr lang="en-US" dirty="0">
                <a:latin typeface="Proxima Nova" panose="020B0604020202020204"/>
              </a:rPr>
              <a:t> {</a:t>
            </a:r>
          </a:p>
          <a:p>
            <a:pPr marL="2159000" lvl="5" indent="0">
              <a:lnSpc>
                <a:spcPct val="100000"/>
              </a:lnSpc>
              <a:buNone/>
            </a:pPr>
            <a:r>
              <a:rPr lang="en-US" dirty="0">
                <a:latin typeface="Proxima Nova" panose="020B0604020202020204"/>
              </a:rPr>
              <a:t>  display: block;</a:t>
            </a:r>
          </a:p>
          <a:p>
            <a:pPr marL="2159000" lvl="5" indent="0">
              <a:lnSpc>
                <a:spcPct val="100000"/>
              </a:lnSpc>
              <a:buNone/>
            </a:pPr>
            <a:r>
              <a:rPr lang="en-US" dirty="0">
                <a:latin typeface="Proxima Nova" panose="020B0604020202020204"/>
              </a:rPr>
              <a:t>  margin: auto;</a:t>
            </a:r>
          </a:p>
          <a:p>
            <a:pPr marL="2159000" lvl="5" indent="0">
              <a:lnSpc>
                <a:spcPct val="100000"/>
              </a:lnSpc>
              <a:buNone/>
            </a:pPr>
            <a:r>
              <a:rPr lang="en-US" dirty="0">
                <a:latin typeface="Proxima Nova" panose="020B0604020202020204"/>
              </a:rPr>
              <a:t>}</a:t>
            </a:r>
          </a:p>
          <a:p>
            <a:pPr marL="0" indent="0">
              <a:lnSpc>
                <a:spcPct val="100000"/>
              </a:lnSpc>
              <a:buNone/>
            </a:pPr>
            <a:r>
              <a:rPr lang="en-US" dirty="0"/>
              <a:t>		&lt;/style&gt;</a:t>
            </a:r>
          </a:p>
          <a:p>
            <a:pPr marL="0" indent="0">
              <a:lnSpc>
                <a:spcPct val="100000"/>
              </a:lnSpc>
              <a:buNone/>
            </a:pPr>
            <a:r>
              <a:rPr lang="en-US" dirty="0"/>
              <a:t>	&lt;/head&gt;</a:t>
            </a:r>
          </a:p>
          <a:p>
            <a:pPr marL="0" indent="0">
              <a:lnSpc>
                <a:spcPct val="100000"/>
              </a:lnSpc>
              <a:buNone/>
            </a:pPr>
            <a:r>
              <a:rPr lang="en-US" dirty="0"/>
              <a:t>	</a:t>
            </a:r>
          </a:p>
          <a:p>
            <a:endParaRPr lang="en-US" dirty="0"/>
          </a:p>
        </p:txBody>
      </p:sp>
      <p:sp>
        <p:nvSpPr>
          <p:cNvPr id="4" name="Slide Number Placeholder 3"/>
          <p:cNvSpPr>
            <a:spLocks noGrp="1"/>
          </p:cNvSpPr>
          <p:nvPr>
            <p:ph type="sldNum" sz="quarter" idx="12"/>
          </p:nvPr>
        </p:nvSpPr>
        <p:spPr/>
        <p:txBody>
          <a:bodyPr/>
          <a:lstStyle/>
          <a:p>
            <a:fld id="{9C11CE39-2868-44A2-A0C6-827D458F7A8B}" type="slidenum">
              <a:rPr lang="en-IN" smtClean="0"/>
              <a:pPr/>
              <a:t>147</a:t>
            </a:fld>
            <a:endParaRPr lang="en-IN" dirty="0"/>
          </a:p>
        </p:txBody>
      </p:sp>
      <p:sp>
        <p:nvSpPr>
          <p:cNvPr id="6" name="TextBox 5">
            <a:extLst>
              <a:ext uri="{FF2B5EF4-FFF2-40B4-BE49-F238E27FC236}">
                <a16:creationId xmlns:a16="http://schemas.microsoft.com/office/drawing/2014/main" id="{270A46EE-6F22-0E61-A8D6-C0BCFF5A9C5E}"/>
              </a:ext>
            </a:extLst>
          </p:cNvPr>
          <p:cNvSpPr txBox="1"/>
          <p:nvPr/>
        </p:nvSpPr>
        <p:spPr>
          <a:xfrm>
            <a:off x="5672580" y="2385536"/>
            <a:ext cx="6096000" cy="1477328"/>
          </a:xfrm>
          <a:prstGeom prst="rect">
            <a:avLst/>
          </a:prstGeom>
          <a:noFill/>
        </p:spPr>
        <p:txBody>
          <a:bodyPr wrap="square">
            <a:spAutoFit/>
          </a:bodyPr>
          <a:lstStyle/>
          <a:p>
            <a:pPr marL="0" indent="0">
              <a:lnSpc>
                <a:spcPct val="100000"/>
              </a:lnSpc>
              <a:buNone/>
            </a:pPr>
            <a:r>
              <a:rPr lang="en-US" dirty="0">
                <a:latin typeface="Proxima Nova" panose="020B0604020202020204"/>
              </a:rPr>
              <a:t>&lt;body&gt;</a:t>
            </a:r>
          </a:p>
          <a:p>
            <a:pPr marL="0" indent="0">
              <a:lnSpc>
                <a:spcPct val="100000"/>
              </a:lnSpc>
              <a:buNone/>
            </a:pPr>
            <a:r>
              <a:rPr lang="en-US" dirty="0">
                <a:latin typeface="Proxima Nova" panose="020B0604020202020204"/>
              </a:rPr>
              <a:t>		&lt;</a:t>
            </a:r>
            <a:r>
              <a:rPr lang="en-US" dirty="0" err="1">
                <a:latin typeface="Proxima Nova" panose="020B0604020202020204"/>
              </a:rPr>
              <a:t>img</a:t>
            </a:r>
            <a:r>
              <a:rPr lang="en-US" dirty="0">
                <a:latin typeface="Proxima Nova" panose="020B0604020202020204"/>
              </a:rPr>
              <a:t> </a:t>
            </a:r>
            <a:r>
              <a:rPr lang="en-US" dirty="0" err="1">
                <a:latin typeface="Proxima Nova" panose="020B0604020202020204"/>
              </a:rPr>
              <a:t>src</a:t>
            </a:r>
            <a:r>
              <a:rPr lang="en-US" dirty="0">
                <a:latin typeface="Proxima Nova" panose="020B0604020202020204"/>
              </a:rPr>
              <a:t>="paris.jpg" alt="Paris" 			style="width:50%"&gt;	</a:t>
            </a:r>
          </a:p>
          <a:p>
            <a:pPr marL="0" indent="0">
              <a:lnSpc>
                <a:spcPct val="100000"/>
              </a:lnSpc>
              <a:buNone/>
            </a:pPr>
            <a:r>
              <a:rPr lang="en-US" dirty="0">
                <a:latin typeface="Proxima Nova" panose="020B0604020202020204"/>
              </a:rPr>
              <a:t>	&lt;/body&gt;</a:t>
            </a:r>
          </a:p>
          <a:p>
            <a:pPr marL="0" indent="0">
              <a:lnSpc>
                <a:spcPct val="100000"/>
              </a:lnSpc>
              <a:buNone/>
            </a:pPr>
            <a:r>
              <a:rPr lang="en-US" dirty="0">
                <a:latin typeface="Proxima Nova" panose="020B0604020202020204"/>
              </a:rPr>
              <a:t>&lt;/html&gt;</a:t>
            </a:r>
          </a:p>
        </p:txBody>
      </p:sp>
      <p:pic>
        <p:nvPicPr>
          <p:cNvPr id="7" name="Picture 6"/>
          <p:cNvPicPr>
            <a:picLocks noChangeAspect="1"/>
          </p:cNvPicPr>
          <p:nvPr/>
        </p:nvPicPr>
        <p:blipFill>
          <a:blip r:embed="rId2"/>
          <a:stretch>
            <a:fillRect/>
          </a:stretch>
        </p:blipFill>
        <p:spPr>
          <a:xfrm>
            <a:off x="5798124" y="3918584"/>
            <a:ext cx="4933507" cy="2624137"/>
          </a:xfrm>
          <a:prstGeom prst="rect">
            <a:avLst/>
          </a:prstGeom>
          <a:ln w="19050">
            <a:solidFill>
              <a:schemeClr val="tx1"/>
            </a:solidFill>
          </a:ln>
        </p:spPr>
      </p:pic>
    </p:spTree>
    <p:extLst>
      <p:ext uri="{BB962C8B-B14F-4D97-AF65-F5344CB8AC3E}">
        <p14:creationId xmlns:p14="http://schemas.microsoft.com/office/powerpoint/2010/main" val="36258853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C11CE39-2868-44A2-A0C6-827D458F7A8B}" type="slidenum">
              <a:rPr lang="en-IN" smtClean="0"/>
              <a:pPr/>
              <a:t>148</a:t>
            </a:fld>
            <a:endParaRPr lang="en-IN"/>
          </a:p>
        </p:txBody>
      </p:sp>
      <p:sp>
        <p:nvSpPr>
          <p:cNvPr id="3" name="Rectangle 2"/>
          <p:cNvSpPr/>
          <p:nvPr/>
        </p:nvSpPr>
        <p:spPr>
          <a:xfrm>
            <a:off x="392350" y="977265"/>
            <a:ext cx="9144000" cy="5909310"/>
          </a:xfrm>
          <a:prstGeom prst="rect">
            <a:avLst/>
          </a:prstGeom>
        </p:spPr>
        <p:txBody>
          <a:bodyPr wrap="square">
            <a:spAutoFit/>
          </a:bodyPr>
          <a:lstStyle/>
          <a:p>
            <a:r>
              <a:rPr lang="en-US" b="1" dirty="0">
                <a:latin typeface="Proxima Nova"/>
              </a:rPr>
              <a:t>Polaroid Images / Cards</a:t>
            </a:r>
            <a:endParaRPr lang="en-US" dirty="0">
              <a:latin typeface="Proxima Nova"/>
            </a:endParaRPr>
          </a:p>
          <a:p>
            <a:endParaRPr lang="en-US" dirty="0">
              <a:latin typeface="Proxima Nova"/>
              <a:ea typeface="Cambria" panose="02040503050406030204" pitchFamily="18" charset="0"/>
            </a:endParaRPr>
          </a:p>
          <a:p>
            <a:r>
              <a:rPr lang="en-US" dirty="0">
                <a:latin typeface="Proxima Nova"/>
                <a:ea typeface="Cambria" panose="02040503050406030204" pitchFamily="18" charset="0"/>
              </a:rPr>
              <a:t>&lt;!DOCTYPE html&gt;           </a:t>
            </a:r>
          </a:p>
          <a:p>
            <a:r>
              <a:rPr lang="en-US" dirty="0">
                <a:latin typeface="Proxima Nova"/>
                <a:ea typeface="Cambria" panose="02040503050406030204" pitchFamily="18" charset="0"/>
              </a:rPr>
              <a:t>&lt;html&gt;</a:t>
            </a:r>
          </a:p>
          <a:p>
            <a:r>
              <a:rPr lang="en-US" dirty="0">
                <a:latin typeface="Proxima Nova"/>
                <a:ea typeface="Cambria" panose="02040503050406030204" pitchFamily="18" charset="0"/>
              </a:rPr>
              <a:t>&lt;head&gt;</a:t>
            </a:r>
          </a:p>
          <a:p>
            <a:r>
              <a:rPr lang="en-US" dirty="0">
                <a:latin typeface="Proxima Nova"/>
                <a:ea typeface="Cambria" panose="02040503050406030204" pitchFamily="18" charset="0"/>
              </a:rPr>
              <a:t>&lt;style&gt;</a:t>
            </a:r>
          </a:p>
          <a:p>
            <a:r>
              <a:rPr lang="en-US" dirty="0">
                <a:latin typeface="Proxima Nova"/>
                <a:ea typeface="Cambria" panose="02040503050406030204" pitchFamily="18" charset="0"/>
              </a:rPr>
              <a:t>body {margin:25px;}</a:t>
            </a:r>
          </a:p>
          <a:p>
            <a:endParaRPr lang="en-US" dirty="0">
              <a:latin typeface="Proxima Nova"/>
              <a:ea typeface="Cambria" panose="02040503050406030204" pitchFamily="18" charset="0"/>
            </a:endParaRPr>
          </a:p>
          <a:p>
            <a:r>
              <a:rPr lang="en-US" dirty="0" err="1">
                <a:latin typeface="Proxima Nova"/>
                <a:ea typeface="Cambria" panose="02040503050406030204" pitchFamily="18" charset="0"/>
              </a:rPr>
              <a:t>div.polaroid</a:t>
            </a:r>
            <a:r>
              <a:rPr lang="en-US" dirty="0">
                <a:latin typeface="Proxima Nova"/>
                <a:ea typeface="Cambria" panose="02040503050406030204" pitchFamily="18" charset="0"/>
              </a:rPr>
              <a:t> {</a:t>
            </a:r>
          </a:p>
          <a:p>
            <a:r>
              <a:rPr lang="en-US" dirty="0">
                <a:latin typeface="Proxima Nova"/>
                <a:ea typeface="Cambria" panose="02040503050406030204" pitchFamily="18" charset="0"/>
              </a:rPr>
              <a:t>  width: 80%;</a:t>
            </a:r>
          </a:p>
          <a:p>
            <a:r>
              <a:rPr lang="en-US" dirty="0">
                <a:latin typeface="Proxima Nova"/>
                <a:ea typeface="Cambria" panose="02040503050406030204" pitchFamily="18" charset="0"/>
              </a:rPr>
              <a:t>  background-color: white;</a:t>
            </a:r>
          </a:p>
          <a:p>
            <a:r>
              <a:rPr lang="en-US" dirty="0">
                <a:latin typeface="Proxima Nova"/>
                <a:ea typeface="Cambria" panose="02040503050406030204" pitchFamily="18" charset="0"/>
              </a:rPr>
              <a:t>  box-shadow: 0 6px 20px 0 </a:t>
            </a:r>
            <a:r>
              <a:rPr lang="en-US" dirty="0" err="1">
                <a:latin typeface="Proxima Nova"/>
                <a:ea typeface="Cambria" panose="02040503050406030204" pitchFamily="18" charset="0"/>
              </a:rPr>
              <a:t>rgba</a:t>
            </a:r>
            <a:r>
              <a:rPr lang="en-US" dirty="0">
                <a:latin typeface="Proxima Nova"/>
                <a:ea typeface="Cambria" panose="02040503050406030204" pitchFamily="18" charset="0"/>
              </a:rPr>
              <a:t>(0, 0, 0, 0.19);</a:t>
            </a:r>
          </a:p>
          <a:p>
            <a:r>
              <a:rPr lang="en-US" dirty="0">
                <a:latin typeface="Proxima Nova"/>
                <a:ea typeface="Cambria" panose="02040503050406030204" pitchFamily="18" charset="0"/>
              </a:rPr>
              <a:t>  margin-bottom: 25px;</a:t>
            </a:r>
          </a:p>
          <a:p>
            <a:r>
              <a:rPr lang="en-US" dirty="0">
                <a:latin typeface="Proxima Nova"/>
                <a:ea typeface="Cambria" panose="02040503050406030204" pitchFamily="18" charset="0"/>
              </a:rPr>
              <a:t>}</a:t>
            </a:r>
          </a:p>
          <a:p>
            <a:endParaRPr lang="en-US" dirty="0">
              <a:latin typeface="Proxima Nova"/>
              <a:ea typeface="Cambria" panose="02040503050406030204" pitchFamily="18" charset="0"/>
            </a:endParaRPr>
          </a:p>
          <a:p>
            <a:r>
              <a:rPr lang="en-US" dirty="0" err="1">
                <a:latin typeface="Proxima Nova"/>
                <a:ea typeface="Cambria" panose="02040503050406030204" pitchFamily="18" charset="0"/>
              </a:rPr>
              <a:t>div.container</a:t>
            </a:r>
            <a:r>
              <a:rPr lang="en-US" dirty="0">
                <a:latin typeface="Proxima Nova"/>
                <a:ea typeface="Cambria" panose="02040503050406030204" pitchFamily="18" charset="0"/>
              </a:rPr>
              <a:t> {</a:t>
            </a:r>
          </a:p>
          <a:p>
            <a:r>
              <a:rPr lang="en-US" dirty="0">
                <a:latin typeface="Proxima Nova"/>
                <a:ea typeface="Cambria" panose="02040503050406030204" pitchFamily="18" charset="0"/>
              </a:rPr>
              <a:t>  text-align: center;</a:t>
            </a:r>
          </a:p>
          <a:p>
            <a:r>
              <a:rPr lang="en-US" dirty="0">
                <a:latin typeface="Proxima Nova"/>
                <a:ea typeface="Cambria" panose="02040503050406030204" pitchFamily="18" charset="0"/>
              </a:rPr>
              <a:t>  padding: 10px 20px;</a:t>
            </a:r>
          </a:p>
          <a:p>
            <a:r>
              <a:rPr lang="en-US" dirty="0">
                <a:latin typeface="Proxima Nova"/>
                <a:ea typeface="Cambria" panose="02040503050406030204" pitchFamily="18" charset="0"/>
              </a:rPr>
              <a:t>}</a:t>
            </a:r>
          </a:p>
          <a:p>
            <a:r>
              <a:rPr lang="en-US" dirty="0">
                <a:latin typeface="Proxima Nova"/>
                <a:ea typeface="Cambria" panose="02040503050406030204" pitchFamily="18" charset="0"/>
              </a:rPr>
              <a:t>&lt;/style&gt;</a:t>
            </a:r>
          </a:p>
          <a:p>
            <a:r>
              <a:rPr lang="en-US" dirty="0">
                <a:latin typeface="Proxima Nova"/>
                <a:ea typeface="Cambria" panose="02040503050406030204" pitchFamily="18" charset="0"/>
              </a:rPr>
              <a:t>&lt;/head&gt;</a:t>
            </a:r>
          </a:p>
        </p:txBody>
      </p:sp>
      <p:sp>
        <p:nvSpPr>
          <p:cNvPr id="4" name="Rectangle 3"/>
          <p:cNvSpPr/>
          <p:nvPr/>
        </p:nvSpPr>
        <p:spPr>
          <a:xfrm>
            <a:off x="5326300" y="1141263"/>
            <a:ext cx="6096000" cy="3970318"/>
          </a:xfrm>
          <a:prstGeom prst="rect">
            <a:avLst/>
          </a:prstGeom>
        </p:spPr>
        <p:txBody>
          <a:bodyPr>
            <a:spAutoFit/>
          </a:bodyPr>
          <a:lstStyle/>
          <a:p>
            <a:r>
              <a:rPr lang="en-US" dirty="0">
                <a:latin typeface="Proxima Nova"/>
                <a:ea typeface="Cambria" panose="02040503050406030204" pitchFamily="18" charset="0"/>
              </a:rPr>
              <a:t>&lt;body&gt;</a:t>
            </a:r>
          </a:p>
          <a:p>
            <a:endParaRPr lang="en-US" dirty="0">
              <a:latin typeface="Proxima Nova"/>
              <a:ea typeface="Cambria" panose="02040503050406030204" pitchFamily="18" charset="0"/>
            </a:endParaRPr>
          </a:p>
          <a:p>
            <a:pPr lvl="1"/>
            <a:r>
              <a:rPr lang="en-US" dirty="0">
                <a:latin typeface="Proxima Nova"/>
                <a:ea typeface="Cambria" panose="02040503050406030204" pitchFamily="18" charset="0"/>
              </a:rPr>
              <a:t>&lt;h2&gt;Responsive Polaroid Images / Cards&lt;/h2&gt;</a:t>
            </a:r>
          </a:p>
          <a:p>
            <a:pPr lvl="1"/>
            <a:endParaRPr lang="en-US" dirty="0">
              <a:latin typeface="Proxima Nova"/>
              <a:ea typeface="Cambria" panose="02040503050406030204" pitchFamily="18" charset="0"/>
            </a:endParaRPr>
          </a:p>
          <a:p>
            <a:pPr lvl="1"/>
            <a:r>
              <a:rPr lang="en-US" dirty="0">
                <a:latin typeface="Proxima Nova"/>
                <a:ea typeface="Cambria" panose="02040503050406030204" pitchFamily="18" charset="0"/>
              </a:rPr>
              <a:t>&lt;div class="polaroid"&gt;</a:t>
            </a:r>
          </a:p>
          <a:p>
            <a:pPr lvl="1"/>
            <a:r>
              <a:rPr lang="en-US" dirty="0">
                <a:latin typeface="Proxima Nova"/>
                <a:ea typeface="Cambria" panose="02040503050406030204" pitchFamily="18" charset="0"/>
              </a:rPr>
              <a:t>	  &lt;</a:t>
            </a:r>
            <a:r>
              <a:rPr lang="en-US" dirty="0" err="1">
                <a:latin typeface="Proxima Nova"/>
                <a:ea typeface="Cambria" panose="02040503050406030204" pitchFamily="18" charset="0"/>
              </a:rPr>
              <a:t>img</a:t>
            </a:r>
            <a:r>
              <a:rPr lang="en-US" dirty="0">
                <a:latin typeface="Proxima Nova"/>
                <a:ea typeface="Cambria" panose="02040503050406030204" pitchFamily="18" charset="0"/>
              </a:rPr>
              <a:t> </a:t>
            </a:r>
            <a:r>
              <a:rPr lang="en-US" dirty="0" err="1">
                <a:latin typeface="Proxima Nova"/>
                <a:ea typeface="Cambria" panose="02040503050406030204" pitchFamily="18" charset="0"/>
              </a:rPr>
              <a:t>src</a:t>
            </a:r>
            <a:r>
              <a:rPr lang="en-US" dirty="0">
                <a:latin typeface="Proxima Nova"/>
                <a:ea typeface="Cambria" panose="02040503050406030204" pitchFamily="18" charset="0"/>
              </a:rPr>
              <a:t>="lights600x400.jpg" alt="Norther 	Lights" style="width:100%"&gt;</a:t>
            </a:r>
          </a:p>
          <a:p>
            <a:pPr lvl="1"/>
            <a:r>
              <a:rPr lang="en-US" dirty="0">
                <a:latin typeface="Proxima Nova"/>
                <a:ea typeface="Cambria" panose="02040503050406030204" pitchFamily="18" charset="0"/>
              </a:rPr>
              <a:t> 	 &lt;div class="container"&gt;</a:t>
            </a:r>
          </a:p>
          <a:p>
            <a:pPr lvl="1"/>
            <a:r>
              <a:rPr lang="en-US" dirty="0">
                <a:latin typeface="Proxima Nova"/>
                <a:ea typeface="Cambria" panose="02040503050406030204" pitchFamily="18" charset="0"/>
              </a:rPr>
              <a:t>  		&lt;p&gt;Northern Lights&lt;/p&gt;</a:t>
            </a:r>
          </a:p>
          <a:p>
            <a:pPr lvl="1"/>
            <a:r>
              <a:rPr lang="en-US" dirty="0">
                <a:latin typeface="Proxima Nova"/>
                <a:ea typeface="Cambria" panose="02040503050406030204" pitchFamily="18" charset="0"/>
              </a:rPr>
              <a:t>  	&lt;/div&gt;</a:t>
            </a:r>
          </a:p>
          <a:p>
            <a:pPr lvl="1"/>
            <a:r>
              <a:rPr lang="en-US" dirty="0">
                <a:latin typeface="Proxima Nova"/>
                <a:ea typeface="Cambria" panose="02040503050406030204" pitchFamily="18" charset="0"/>
              </a:rPr>
              <a:t>&lt;/div&gt;</a:t>
            </a:r>
          </a:p>
          <a:p>
            <a:endParaRPr lang="en-US" dirty="0">
              <a:latin typeface="Proxima Nova"/>
              <a:ea typeface="Cambria" panose="02040503050406030204" pitchFamily="18" charset="0"/>
            </a:endParaRPr>
          </a:p>
          <a:p>
            <a:r>
              <a:rPr lang="en-US" dirty="0">
                <a:latin typeface="Proxima Nova"/>
                <a:ea typeface="Cambria" panose="02040503050406030204" pitchFamily="18" charset="0"/>
              </a:rPr>
              <a:t>&lt;/body&gt;</a:t>
            </a:r>
          </a:p>
          <a:p>
            <a:r>
              <a:rPr lang="en-US" dirty="0">
                <a:latin typeface="Proxima Nova"/>
                <a:ea typeface="Cambria" panose="02040503050406030204" pitchFamily="18" charset="0"/>
              </a:rPr>
              <a:t>&lt;/html&gt;</a:t>
            </a:r>
          </a:p>
        </p:txBody>
      </p:sp>
      <p:pic>
        <p:nvPicPr>
          <p:cNvPr id="5" name="Picture 4"/>
          <p:cNvPicPr>
            <a:picLocks noChangeAspect="1"/>
          </p:cNvPicPr>
          <p:nvPr/>
        </p:nvPicPr>
        <p:blipFill>
          <a:blip r:embed="rId2"/>
          <a:stretch>
            <a:fillRect/>
          </a:stretch>
        </p:blipFill>
        <p:spPr>
          <a:xfrm>
            <a:off x="6993579" y="3989387"/>
            <a:ext cx="3843540" cy="2549525"/>
          </a:xfrm>
          <a:prstGeom prst="rect">
            <a:avLst/>
          </a:prstGeom>
          <a:ln w="19050">
            <a:solidFill>
              <a:schemeClr val="tx1"/>
            </a:solidFill>
          </a:ln>
        </p:spPr>
      </p:pic>
      <p:sp>
        <p:nvSpPr>
          <p:cNvPr id="7" name="Title 1">
            <a:extLst>
              <a:ext uri="{FF2B5EF4-FFF2-40B4-BE49-F238E27FC236}">
                <a16:creationId xmlns:a16="http://schemas.microsoft.com/office/drawing/2014/main" id="{9B3EE7DF-CA9E-C1B7-5C0C-48AADE03305B}"/>
              </a:ext>
            </a:extLst>
          </p:cNvPr>
          <p:cNvSpPr txBox="1">
            <a:spLocks/>
          </p:cNvSpPr>
          <p:nvPr/>
        </p:nvSpPr>
        <p:spPr>
          <a:xfrm>
            <a:off x="216031" y="136525"/>
            <a:ext cx="10515600" cy="876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00B0F0"/>
                </a:solidFill>
                <a:latin typeface="Proxima Nova"/>
              </a:rPr>
              <a:t>Images</a:t>
            </a:r>
            <a:br>
              <a:rPr lang="en-US" sz="2400" dirty="0">
                <a:solidFill>
                  <a:srgbClr val="00B0F0"/>
                </a:solidFill>
                <a:latin typeface="Proxima Nova"/>
              </a:rPr>
            </a:br>
            <a:endParaRPr lang="en-US" sz="2400" dirty="0">
              <a:solidFill>
                <a:srgbClr val="00B0F0"/>
              </a:solidFill>
              <a:latin typeface="Proxima Nova"/>
            </a:endParaRPr>
          </a:p>
        </p:txBody>
      </p:sp>
    </p:spTree>
    <p:extLst>
      <p:ext uri="{BB962C8B-B14F-4D97-AF65-F5344CB8AC3E}">
        <p14:creationId xmlns:p14="http://schemas.microsoft.com/office/powerpoint/2010/main" val="259598551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Images</a:t>
            </a:r>
          </a:p>
        </p:txBody>
      </p:sp>
      <p:sp>
        <p:nvSpPr>
          <p:cNvPr id="3" name="Content Placeholder 2"/>
          <p:cNvSpPr>
            <a:spLocks noGrp="1"/>
          </p:cNvSpPr>
          <p:nvPr>
            <p:ph idx="1"/>
          </p:nvPr>
        </p:nvSpPr>
        <p:spPr/>
        <p:txBody>
          <a:bodyPr>
            <a:noAutofit/>
          </a:bodyPr>
          <a:lstStyle/>
          <a:p>
            <a:r>
              <a:rPr lang="en-US" b="1" dirty="0"/>
              <a:t>Transparent Image</a:t>
            </a:r>
          </a:p>
          <a:p>
            <a:r>
              <a:rPr lang="en-US" dirty="0"/>
              <a:t>The opacity property can take a value from 0.0 - 1.0. The lower value, the more transparent.</a:t>
            </a:r>
          </a:p>
          <a:p>
            <a:pPr marL="0" indent="0">
              <a:lnSpc>
                <a:spcPct val="100000"/>
              </a:lnSpc>
              <a:buNone/>
            </a:pPr>
            <a:r>
              <a:rPr lang="en-US" dirty="0"/>
              <a:t>&lt;!DOCTYPE html&gt;</a:t>
            </a:r>
          </a:p>
          <a:p>
            <a:pPr marL="0" indent="0">
              <a:lnSpc>
                <a:spcPct val="100000"/>
              </a:lnSpc>
              <a:buNone/>
            </a:pPr>
            <a:r>
              <a:rPr lang="en-US" dirty="0"/>
              <a:t>&lt;html&gt;</a:t>
            </a:r>
          </a:p>
          <a:p>
            <a:pPr marL="0" indent="0">
              <a:lnSpc>
                <a:spcPct val="100000"/>
              </a:lnSpc>
              <a:buNone/>
            </a:pPr>
            <a:r>
              <a:rPr lang="en-US" dirty="0"/>
              <a:t>	&lt;head&gt;</a:t>
            </a:r>
          </a:p>
          <a:p>
            <a:pPr marL="0" indent="0">
              <a:lnSpc>
                <a:spcPct val="100000"/>
              </a:lnSpc>
              <a:buNone/>
            </a:pPr>
            <a:r>
              <a:rPr lang="en-US" dirty="0"/>
              <a:t>		&lt;style&gt;</a:t>
            </a:r>
          </a:p>
          <a:p>
            <a:pPr marL="2159000" lvl="5" indent="0">
              <a:lnSpc>
                <a:spcPct val="100000"/>
              </a:lnSpc>
              <a:buNone/>
            </a:pPr>
            <a:r>
              <a:rPr lang="en-US" dirty="0" err="1">
                <a:latin typeface="Proxima Nova" panose="020B0604020202020204"/>
                <a:ea typeface="Cambria" panose="02040503050406030204" pitchFamily="18" charset="0"/>
              </a:rPr>
              <a:t>img</a:t>
            </a:r>
            <a:r>
              <a:rPr lang="en-US" dirty="0">
                <a:latin typeface="Proxima Nova" panose="020B0604020202020204"/>
                <a:ea typeface="Cambria" panose="02040503050406030204" pitchFamily="18" charset="0"/>
              </a:rPr>
              <a:t> {</a:t>
            </a:r>
          </a:p>
          <a:p>
            <a:pPr marL="2159000" lvl="5" indent="0">
              <a:lnSpc>
                <a:spcPct val="100000"/>
              </a:lnSpc>
              <a:buNone/>
            </a:pPr>
            <a:r>
              <a:rPr lang="en-US" dirty="0">
                <a:latin typeface="Proxima Nova" panose="020B0604020202020204"/>
                <a:ea typeface="Cambria" panose="02040503050406030204" pitchFamily="18" charset="0"/>
              </a:rPr>
              <a:t>  opacity: 0.5;</a:t>
            </a:r>
          </a:p>
          <a:p>
            <a:pPr marL="2159000" lvl="5" indent="0">
              <a:lnSpc>
                <a:spcPct val="100000"/>
              </a:lnSpc>
              <a:buNone/>
            </a:pPr>
            <a:r>
              <a:rPr lang="en-US" dirty="0">
                <a:latin typeface="Proxima Nova" panose="020B0604020202020204"/>
                <a:ea typeface="Cambria" panose="02040503050406030204" pitchFamily="18" charset="0"/>
              </a:rPr>
              <a:t>}		</a:t>
            </a:r>
          </a:p>
          <a:p>
            <a:pPr marL="1828800" lvl="5" indent="0">
              <a:lnSpc>
                <a:spcPct val="100000"/>
              </a:lnSpc>
              <a:buNone/>
            </a:pPr>
            <a:r>
              <a:rPr lang="en-US" dirty="0">
                <a:latin typeface="Proxima Nova" panose="020B0604020202020204"/>
                <a:ea typeface="Cambria" panose="02040503050406030204" pitchFamily="18" charset="0"/>
              </a:rPr>
              <a:t>&lt;/style&gt;</a:t>
            </a:r>
          </a:p>
          <a:p>
            <a:pPr marL="0" indent="0">
              <a:lnSpc>
                <a:spcPct val="100000"/>
              </a:lnSpc>
              <a:buNone/>
            </a:pPr>
            <a:r>
              <a:rPr lang="en-US" dirty="0"/>
              <a:t>	&lt;/head&gt;</a:t>
            </a:r>
          </a:p>
          <a:p>
            <a:pPr marL="0" indent="0">
              <a:lnSpc>
                <a:spcPct val="100000"/>
              </a:lnSpc>
              <a:buNone/>
            </a:pPr>
            <a:r>
              <a:rPr lang="en-US" dirty="0"/>
              <a:t>	</a:t>
            </a:r>
          </a:p>
        </p:txBody>
      </p:sp>
      <p:sp>
        <p:nvSpPr>
          <p:cNvPr id="4" name="Slide Number Placeholder 3"/>
          <p:cNvSpPr>
            <a:spLocks noGrp="1"/>
          </p:cNvSpPr>
          <p:nvPr>
            <p:ph type="sldNum" sz="quarter" idx="12"/>
          </p:nvPr>
        </p:nvSpPr>
        <p:spPr/>
        <p:txBody>
          <a:bodyPr/>
          <a:lstStyle/>
          <a:p>
            <a:fld id="{9C11CE39-2868-44A2-A0C6-827D458F7A8B}" type="slidenum">
              <a:rPr lang="en-IN" smtClean="0"/>
              <a:pPr/>
              <a:t>149</a:t>
            </a:fld>
            <a:endParaRPr lang="en-IN" dirty="0"/>
          </a:p>
        </p:txBody>
      </p:sp>
      <p:pic>
        <p:nvPicPr>
          <p:cNvPr id="5" name="Picture 4"/>
          <p:cNvPicPr>
            <a:picLocks noChangeAspect="1"/>
          </p:cNvPicPr>
          <p:nvPr/>
        </p:nvPicPr>
        <p:blipFill>
          <a:blip r:embed="rId2"/>
          <a:stretch>
            <a:fillRect/>
          </a:stretch>
        </p:blipFill>
        <p:spPr>
          <a:xfrm>
            <a:off x="7543800" y="4232275"/>
            <a:ext cx="2438400" cy="2124075"/>
          </a:xfrm>
          <a:prstGeom prst="rect">
            <a:avLst/>
          </a:prstGeom>
          <a:ln w="19050">
            <a:solidFill>
              <a:schemeClr val="tx1"/>
            </a:solidFill>
          </a:ln>
        </p:spPr>
      </p:pic>
      <p:sp>
        <p:nvSpPr>
          <p:cNvPr id="7" name="TextBox 6">
            <a:extLst>
              <a:ext uri="{FF2B5EF4-FFF2-40B4-BE49-F238E27FC236}">
                <a16:creationId xmlns:a16="http://schemas.microsoft.com/office/drawing/2014/main" id="{A130B067-56DE-5223-11B8-5525CC0FF00C}"/>
              </a:ext>
            </a:extLst>
          </p:cNvPr>
          <p:cNvSpPr txBox="1"/>
          <p:nvPr/>
        </p:nvSpPr>
        <p:spPr>
          <a:xfrm>
            <a:off x="4980562" y="2551837"/>
            <a:ext cx="6096000" cy="1754326"/>
          </a:xfrm>
          <a:prstGeom prst="rect">
            <a:avLst/>
          </a:prstGeom>
          <a:noFill/>
        </p:spPr>
        <p:txBody>
          <a:bodyPr wrap="square">
            <a:spAutoFit/>
          </a:bodyPr>
          <a:lstStyle/>
          <a:p>
            <a:pPr marL="0" indent="0">
              <a:lnSpc>
                <a:spcPct val="100000"/>
              </a:lnSpc>
              <a:buNone/>
            </a:pPr>
            <a:r>
              <a:rPr lang="en-US" dirty="0">
                <a:latin typeface="Proxima Nova" panose="020B0604020202020204"/>
              </a:rPr>
              <a:t>&lt;body&gt;</a:t>
            </a:r>
          </a:p>
          <a:p>
            <a:pPr marL="0" indent="0">
              <a:lnSpc>
                <a:spcPct val="100000"/>
              </a:lnSpc>
              <a:buNone/>
            </a:pPr>
            <a:r>
              <a:rPr lang="en-US" dirty="0">
                <a:latin typeface="Proxima Nova" panose="020B0604020202020204"/>
              </a:rPr>
              <a:t>	&lt;p&gt;Image with 50% opacity:&lt;/p&gt;</a:t>
            </a:r>
          </a:p>
          <a:p>
            <a:pPr marL="0" indent="0">
              <a:lnSpc>
                <a:spcPct val="100000"/>
              </a:lnSpc>
              <a:buNone/>
            </a:pPr>
            <a:r>
              <a:rPr lang="en-US" dirty="0">
                <a:latin typeface="Proxima Nova" panose="020B0604020202020204"/>
              </a:rPr>
              <a:t>	&lt;</a:t>
            </a:r>
            <a:r>
              <a:rPr lang="en-US" dirty="0" err="1">
                <a:latin typeface="Proxima Nova" panose="020B0604020202020204"/>
              </a:rPr>
              <a:t>img</a:t>
            </a:r>
            <a:r>
              <a:rPr lang="en-US" dirty="0">
                <a:latin typeface="Proxima Nova" panose="020B0604020202020204"/>
              </a:rPr>
              <a:t> </a:t>
            </a:r>
            <a:r>
              <a:rPr lang="en-US" dirty="0" err="1">
                <a:latin typeface="Proxima Nova" panose="020B0604020202020204"/>
              </a:rPr>
              <a:t>src</a:t>
            </a:r>
            <a:r>
              <a:rPr lang="en-US" dirty="0">
                <a:latin typeface="Proxima Nova" panose="020B0604020202020204"/>
              </a:rPr>
              <a:t>="img_forest.jpg" alt="Forest" width="170" height="100"&gt;</a:t>
            </a:r>
          </a:p>
          <a:p>
            <a:pPr marL="0" indent="0">
              <a:lnSpc>
                <a:spcPct val="100000"/>
              </a:lnSpc>
              <a:buNone/>
            </a:pPr>
            <a:r>
              <a:rPr lang="en-US" dirty="0">
                <a:latin typeface="Proxima Nova" panose="020B0604020202020204"/>
              </a:rPr>
              <a:t>	&lt;/body&gt;</a:t>
            </a:r>
          </a:p>
          <a:p>
            <a:pPr marL="0" indent="0">
              <a:lnSpc>
                <a:spcPct val="100000"/>
              </a:lnSpc>
              <a:buNone/>
            </a:pPr>
            <a:r>
              <a:rPr lang="en-US" dirty="0">
                <a:latin typeface="Proxima Nova" panose="020B0604020202020204"/>
              </a:rPr>
              <a:t>&lt;/html&gt;</a:t>
            </a:r>
          </a:p>
        </p:txBody>
      </p:sp>
    </p:spTree>
    <p:extLst>
      <p:ext uri="{BB962C8B-B14F-4D97-AF65-F5344CB8AC3E}">
        <p14:creationId xmlns:p14="http://schemas.microsoft.com/office/powerpoint/2010/main" val="125905994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B707-A8D3-8F64-7D8C-F98F766255CA}"/>
              </a:ext>
            </a:extLst>
          </p:cNvPr>
          <p:cNvSpPr>
            <a:spLocks noGrp="1"/>
          </p:cNvSpPr>
          <p:nvPr>
            <p:ph type="title"/>
          </p:nvPr>
        </p:nvSpPr>
        <p:spPr/>
        <p:txBody>
          <a:bodyPr/>
          <a:lstStyle/>
          <a:p>
            <a:r>
              <a:rPr lang="en-US" dirty="0"/>
              <a:t>Image Text</a:t>
            </a:r>
            <a:endParaRPr lang="en-IN" dirty="0"/>
          </a:p>
        </p:txBody>
      </p:sp>
      <p:sp>
        <p:nvSpPr>
          <p:cNvPr id="5" name="TextBox 4">
            <a:extLst>
              <a:ext uri="{FF2B5EF4-FFF2-40B4-BE49-F238E27FC236}">
                <a16:creationId xmlns:a16="http://schemas.microsoft.com/office/drawing/2014/main" id="{FC28BCF5-C643-6714-71EF-43B428D5238C}"/>
              </a:ext>
            </a:extLst>
          </p:cNvPr>
          <p:cNvSpPr txBox="1"/>
          <p:nvPr/>
        </p:nvSpPr>
        <p:spPr>
          <a:xfrm>
            <a:off x="476250" y="1193096"/>
            <a:ext cx="4152900" cy="5632311"/>
          </a:xfrm>
          <a:prstGeom prst="rect">
            <a:avLst/>
          </a:prstGeom>
          <a:noFill/>
        </p:spPr>
        <p:txBody>
          <a:bodyPr wrap="square">
            <a:spAutoFit/>
          </a:bodyPr>
          <a:lstStyle/>
          <a:p>
            <a:r>
              <a:rPr lang="en-US" dirty="0">
                <a:latin typeface="Proxima Nova" panose="020B0604020202020204"/>
                <a:ea typeface="Cambria" panose="02040503050406030204" pitchFamily="18" charset="0"/>
              </a:rPr>
              <a:t>&lt;!DOCTYPE html&gt;</a:t>
            </a:r>
          </a:p>
          <a:p>
            <a:r>
              <a:rPr lang="en-US" dirty="0">
                <a:latin typeface="Proxima Nova" panose="020B0604020202020204"/>
                <a:ea typeface="Cambria" panose="02040503050406030204" pitchFamily="18" charset="0"/>
              </a:rPr>
              <a:t>&lt;html&gt;</a:t>
            </a:r>
          </a:p>
          <a:p>
            <a:r>
              <a:rPr lang="en-US" dirty="0">
                <a:latin typeface="Proxima Nova" panose="020B0604020202020204"/>
                <a:ea typeface="Cambria" panose="02040503050406030204" pitchFamily="18" charset="0"/>
              </a:rPr>
              <a:t>	&lt;head&gt;</a:t>
            </a:r>
          </a:p>
          <a:p>
            <a:r>
              <a:rPr lang="en-US" dirty="0">
                <a:latin typeface="Proxima Nova" panose="020B0604020202020204"/>
                <a:ea typeface="Cambria" panose="02040503050406030204" pitchFamily="18" charset="0"/>
              </a:rPr>
              <a:t>		&lt;style&gt;</a:t>
            </a:r>
          </a:p>
          <a:p>
            <a:pPr lvl="3"/>
            <a:r>
              <a:rPr lang="en-US" dirty="0">
                <a:latin typeface="Proxima Nova" panose="020B0604020202020204"/>
                <a:ea typeface="Cambria" panose="02040503050406030204" pitchFamily="18" charset="0"/>
              </a:rPr>
              <a:t>.container {</a:t>
            </a:r>
          </a:p>
          <a:p>
            <a:pPr lvl="3"/>
            <a:r>
              <a:rPr lang="en-US" dirty="0">
                <a:latin typeface="Proxima Nova" panose="020B0604020202020204"/>
                <a:ea typeface="Cambria" panose="02040503050406030204" pitchFamily="18" charset="0"/>
              </a:rPr>
              <a:t>  position: relative;</a:t>
            </a:r>
          </a:p>
          <a:p>
            <a:pPr lvl="3"/>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a:t>
            </a:r>
            <a:r>
              <a:rPr lang="en-US" dirty="0" err="1">
                <a:latin typeface="Proxima Nova" panose="020B0604020202020204"/>
                <a:ea typeface="Cambria" panose="02040503050406030204" pitchFamily="18" charset="0"/>
              </a:rPr>
              <a:t>topleft</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position: absolute;</a:t>
            </a:r>
          </a:p>
          <a:p>
            <a:pPr lvl="3"/>
            <a:r>
              <a:rPr lang="en-US" dirty="0">
                <a:latin typeface="Proxima Nova" panose="020B0604020202020204"/>
                <a:ea typeface="Cambria" panose="02040503050406030204" pitchFamily="18" charset="0"/>
              </a:rPr>
              <a:t>  top: 8px;</a:t>
            </a:r>
          </a:p>
          <a:p>
            <a:pPr lvl="3"/>
            <a:r>
              <a:rPr lang="en-US" dirty="0">
                <a:latin typeface="Proxima Nova" panose="020B0604020202020204"/>
                <a:ea typeface="Cambria" panose="02040503050406030204" pitchFamily="18" charset="0"/>
              </a:rPr>
              <a:t>  left: 16px;</a:t>
            </a:r>
          </a:p>
          <a:p>
            <a:pPr lvl="3"/>
            <a:r>
              <a:rPr lang="en-US" dirty="0">
                <a:latin typeface="Proxima Nova" panose="020B0604020202020204"/>
                <a:ea typeface="Cambria" panose="02040503050406030204" pitchFamily="18" charset="0"/>
              </a:rPr>
              <a:t>  font-size: 18px;</a:t>
            </a:r>
          </a:p>
          <a:p>
            <a:pPr lvl="3"/>
            <a:r>
              <a:rPr lang="en-US" dirty="0">
                <a:latin typeface="Proxima Nova" panose="020B0604020202020204"/>
                <a:ea typeface="Cambria" panose="02040503050406030204" pitchFamily="18" charset="0"/>
              </a:rPr>
              <a:t>}</a:t>
            </a:r>
          </a:p>
          <a:p>
            <a:pPr lvl="3"/>
            <a:r>
              <a:rPr lang="en-US" dirty="0" err="1">
                <a:latin typeface="Proxima Nova" panose="020B0604020202020204"/>
                <a:ea typeface="Cambria" panose="02040503050406030204" pitchFamily="18" charset="0"/>
              </a:rPr>
              <a:t>img</a:t>
            </a:r>
            <a:r>
              <a:rPr lang="en-US" dirty="0">
                <a:latin typeface="Proxima Nova" panose="020B0604020202020204"/>
                <a:ea typeface="Cambria" panose="02040503050406030204" pitchFamily="18" charset="0"/>
              </a:rPr>
              <a:t> { </a:t>
            </a:r>
          </a:p>
          <a:p>
            <a:pPr lvl="3"/>
            <a:r>
              <a:rPr lang="en-US" dirty="0">
                <a:latin typeface="Proxima Nova" panose="020B0604020202020204"/>
                <a:ea typeface="Cambria" panose="02040503050406030204" pitchFamily="18" charset="0"/>
              </a:rPr>
              <a:t>  width: 100%;</a:t>
            </a:r>
          </a:p>
          <a:p>
            <a:pPr lvl="3"/>
            <a:r>
              <a:rPr lang="en-US" dirty="0">
                <a:latin typeface="Proxima Nova" panose="020B0604020202020204"/>
                <a:ea typeface="Cambria" panose="02040503050406030204" pitchFamily="18" charset="0"/>
              </a:rPr>
              <a:t>  height: auto;</a:t>
            </a:r>
          </a:p>
          <a:p>
            <a:pPr lvl="3"/>
            <a:r>
              <a:rPr lang="en-US" dirty="0">
                <a:latin typeface="Proxima Nova" panose="020B0604020202020204"/>
                <a:ea typeface="Cambria" panose="02040503050406030204" pitchFamily="18" charset="0"/>
              </a:rPr>
              <a:t>  opacity: 0.3;</a:t>
            </a:r>
          </a:p>
          <a:p>
            <a:pPr lvl="3"/>
            <a:r>
              <a:rPr lang="en-US" dirty="0">
                <a:latin typeface="Proxima Nova" panose="020B0604020202020204"/>
                <a:ea typeface="Cambria" panose="02040503050406030204" pitchFamily="18" charset="0"/>
              </a:rPr>
              <a:t>}</a:t>
            </a:r>
          </a:p>
          <a:p>
            <a:r>
              <a:rPr lang="en-US" dirty="0">
                <a:latin typeface="Proxima Nova" panose="020B0604020202020204"/>
                <a:ea typeface="Cambria" panose="02040503050406030204" pitchFamily="18" charset="0"/>
              </a:rPr>
              <a:t>		&lt;/style&gt;</a:t>
            </a:r>
          </a:p>
          <a:p>
            <a:r>
              <a:rPr lang="en-US" dirty="0">
                <a:latin typeface="Proxima Nova" panose="020B0604020202020204"/>
                <a:ea typeface="Cambria" panose="02040503050406030204" pitchFamily="18" charset="0"/>
              </a:rPr>
              <a:t>	&lt;/head&gt;</a:t>
            </a:r>
          </a:p>
        </p:txBody>
      </p:sp>
      <p:sp>
        <p:nvSpPr>
          <p:cNvPr id="7" name="TextBox 6">
            <a:extLst>
              <a:ext uri="{FF2B5EF4-FFF2-40B4-BE49-F238E27FC236}">
                <a16:creationId xmlns:a16="http://schemas.microsoft.com/office/drawing/2014/main" id="{64C47A46-B90B-95FB-70D1-5A0B25D988D3}"/>
              </a:ext>
            </a:extLst>
          </p:cNvPr>
          <p:cNvSpPr txBox="1"/>
          <p:nvPr/>
        </p:nvSpPr>
        <p:spPr>
          <a:xfrm>
            <a:off x="4933949" y="1292602"/>
            <a:ext cx="7096125" cy="2862322"/>
          </a:xfrm>
          <a:prstGeom prst="rect">
            <a:avLst/>
          </a:prstGeom>
          <a:noFill/>
        </p:spPr>
        <p:txBody>
          <a:bodyPr wrap="square">
            <a:spAutoFit/>
          </a:bodyPr>
          <a:lstStyle/>
          <a:p>
            <a:r>
              <a:rPr lang="en-US" dirty="0">
                <a:latin typeface="Proxima Nova" panose="020B0604020202020204"/>
                <a:ea typeface="Cambria" panose="02040503050406030204" pitchFamily="18" charset="0"/>
              </a:rPr>
              <a:t>	&lt;body&gt;</a:t>
            </a:r>
          </a:p>
          <a:p>
            <a:endParaRPr lang="en-US" dirty="0">
              <a:latin typeface="Proxima Nova" panose="020B0604020202020204"/>
              <a:ea typeface="Cambria" panose="02040503050406030204" pitchFamily="18" charset="0"/>
            </a:endParaRPr>
          </a:p>
          <a:p>
            <a:pPr lvl="2"/>
            <a:r>
              <a:rPr lang="en-US" dirty="0">
                <a:latin typeface="Proxima Nova" panose="020B0604020202020204"/>
                <a:ea typeface="Cambria" panose="02040503050406030204" pitchFamily="18" charset="0"/>
              </a:rPr>
              <a:t>&lt;div class="container"&gt;</a:t>
            </a:r>
          </a:p>
          <a:p>
            <a:pPr lvl="2"/>
            <a:r>
              <a:rPr lang="en-US" dirty="0">
                <a:latin typeface="Proxima Nova" panose="020B0604020202020204"/>
                <a:ea typeface="Cambria" panose="02040503050406030204" pitchFamily="18" charset="0"/>
              </a:rPr>
              <a:t>	 &lt;</a:t>
            </a:r>
            <a:r>
              <a:rPr lang="en-US" dirty="0" err="1">
                <a:latin typeface="Proxima Nova" panose="020B0604020202020204"/>
                <a:ea typeface="Cambria" panose="02040503050406030204" pitchFamily="18" charset="0"/>
              </a:rPr>
              <a:t>img</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src</a:t>
            </a:r>
            <a:r>
              <a:rPr lang="en-US" dirty="0">
                <a:latin typeface="Proxima Nova" panose="020B0604020202020204"/>
                <a:ea typeface="Cambria" panose="02040503050406030204" pitchFamily="18" charset="0"/>
              </a:rPr>
              <a:t>="img_5terre_wide.jpg" alt="Cinque Terre" width="1000“  height="300"&gt;</a:t>
            </a:r>
          </a:p>
          <a:p>
            <a:pPr lvl="2"/>
            <a:r>
              <a:rPr lang="en-US" dirty="0">
                <a:latin typeface="Proxima Nova" panose="020B0604020202020204"/>
                <a:ea typeface="Cambria" panose="02040503050406030204" pitchFamily="18" charset="0"/>
              </a:rPr>
              <a:t> 	 &lt;div class="</a:t>
            </a:r>
            <a:r>
              <a:rPr lang="en-US" dirty="0" err="1">
                <a:latin typeface="Proxima Nova" panose="020B0604020202020204"/>
                <a:ea typeface="Cambria" panose="02040503050406030204" pitchFamily="18" charset="0"/>
              </a:rPr>
              <a:t>topleft</a:t>
            </a:r>
            <a:r>
              <a:rPr lang="en-US" dirty="0">
                <a:latin typeface="Proxima Nova" panose="020B0604020202020204"/>
                <a:ea typeface="Cambria" panose="02040503050406030204" pitchFamily="18" charset="0"/>
              </a:rPr>
              <a:t>"&gt;Top Left&lt;/div&gt;</a:t>
            </a:r>
          </a:p>
          <a:p>
            <a:pPr lvl="2"/>
            <a:r>
              <a:rPr lang="en-US" dirty="0">
                <a:latin typeface="Proxima Nova" panose="020B0604020202020204"/>
                <a:ea typeface="Cambria" panose="02040503050406030204" pitchFamily="18" charset="0"/>
              </a:rPr>
              <a:t>&lt;/div&gt;</a:t>
            </a:r>
          </a:p>
          <a:p>
            <a:endParaRPr lang="en-US" dirty="0">
              <a:latin typeface="Proxima Nova" panose="020B0604020202020204"/>
              <a:ea typeface="Cambria" panose="02040503050406030204" pitchFamily="18" charset="0"/>
            </a:endParaRPr>
          </a:p>
          <a:p>
            <a:r>
              <a:rPr lang="en-US" dirty="0">
                <a:latin typeface="Proxima Nova" panose="020B0604020202020204"/>
                <a:ea typeface="Cambria" panose="02040503050406030204" pitchFamily="18" charset="0"/>
              </a:rPr>
              <a:t>	&lt;/body&gt;</a:t>
            </a:r>
          </a:p>
          <a:p>
            <a:r>
              <a:rPr lang="en-US" dirty="0">
                <a:latin typeface="Proxima Nova" panose="020B0604020202020204"/>
                <a:ea typeface="Cambria" panose="02040503050406030204" pitchFamily="18" charset="0"/>
              </a:rPr>
              <a:t>&lt;/html&gt;</a:t>
            </a:r>
          </a:p>
        </p:txBody>
      </p:sp>
      <p:pic>
        <p:nvPicPr>
          <p:cNvPr id="8" name="Picture 7">
            <a:extLst>
              <a:ext uri="{FF2B5EF4-FFF2-40B4-BE49-F238E27FC236}">
                <a16:creationId xmlns:a16="http://schemas.microsoft.com/office/drawing/2014/main" id="{103E2C99-BB30-0771-A6F2-FCC9CD07DB2A}"/>
              </a:ext>
            </a:extLst>
          </p:cNvPr>
          <p:cNvPicPr>
            <a:picLocks noChangeAspect="1"/>
          </p:cNvPicPr>
          <p:nvPr/>
        </p:nvPicPr>
        <p:blipFill>
          <a:blip r:embed="rId2"/>
          <a:stretch>
            <a:fillRect/>
          </a:stretch>
        </p:blipFill>
        <p:spPr>
          <a:xfrm>
            <a:off x="5055948" y="4231588"/>
            <a:ext cx="5857875" cy="2238375"/>
          </a:xfrm>
          <a:prstGeom prst="rect">
            <a:avLst/>
          </a:prstGeom>
          <a:ln w="19050">
            <a:solidFill>
              <a:schemeClr val="tx1"/>
            </a:solidFill>
          </a:ln>
        </p:spPr>
      </p:pic>
    </p:spTree>
    <p:extLst>
      <p:ext uri="{BB962C8B-B14F-4D97-AF65-F5344CB8AC3E}">
        <p14:creationId xmlns:p14="http://schemas.microsoft.com/office/powerpoint/2010/main" val="215836345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C11CE39-2868-44A2-A0C6-827D458F7A8B}" type="slidenum">
              <a:rPr lang="en-IN" smtClean="0"/>
              <a:pPr/>
              <a:t>151</a:t>
            </a:fld>
            <a:endParaRPr lang="en-IN"/>
          </a:p>
        </p:txBody>
      </p:sp>
      <p:sp>
        <p:nvSpPr>
          <p:cNvPr id="3" name="Rectangle 2"/>
          <p:cNvSpPr/>
          <p:nvPr/>
        </p:nvSpPr>
        <p:spPr>
          <a:xfrm>
            <a:off x="276225" y="136525"/>
            <a:ext cx="10989012" cy="461665"/>
          </a:xfrm>
          <a:prstGeom prst="rect">
            <a:avLst/>
          </a:prstGeom>
        </p:spPr>
        <p:txBody>
          <a:bodyPr wrap="square">
            <a:spAutoFit/>
          </a:bodyPr>
          <a:lstStyle/>
          <a:p>
            <a:r>
              <a:rPr lang="en-US" sz="2400" b="1" dirty="0">
                <a:solidFill>
                  <a:srgbClr val="00B0F0"/>
                </a:solidFill>
                <a:latin typeface="Proxima Nova"/>
                <a:ea typeface="Cambria" panose="02040503050406030204" pitchFamily="18" charset="0"/>
              </a:rPr>
              <a:t>Image Filters</a:t>
            </a:r>
            <a:endParaRPr lang="en-US" sz="2400" dirty="0">
              <a:solidFill>
                <a:srgbClr val="00B0F0"/>
              </a:solidFill>
              <a:latin typeface="Proxima Nova"/>
              <a:ea typeface="Cambria" panose="02040503050406030204" pitchFamily="18" charset="0"/>
            </a:endParaRPr>
          </a:p>
        </p:txBody>
      </p:sp>
      <p:sp>
        <p:nvSpPr>
          <p:cNvPr id="4" name="Rectangle 3"/>
          <p:cNvSpPr/>
          <p:nvPr/>
        </p:nvSpPr>
        <p:spPr>
          <a:xfrm>
            <a:off x="400050" y="1647141"/>
            <a:ext cx="10311320" cy="5170646"/>
          </a:xfrm>
          <a:prstGeom prst="rect">
            <a:avLst/>
          </a:prstGeom>
        </p:spPr>
        <p:txBody>
          <a:bodyPr wrap="square">
            <a:spAutoFit/>
          </a:bodyPr>
          <a:lstStyle/>
          <a:p>
            <a:r>
              <a:rPr lang="en-US" sz="1600" dirty="0">
                <a:latin typeface="Proxima Nova"/>
                <a:ea typeface="Cambria" panose="02040503050406030204" pitchFamily="18" charset="0"/>
              </a:rPr>
              <a:t>&lt;!DOCTYPE html&gt;</a:t>
            </a:r>
          </a:p>
          <a:p>
            <a:r>
              <a:rPr lang="en-US" sz="1600" dirty="0">
                <a:latin typeface="Proxima Nova"/>
                <a:ea typeface="Cambria" panose="02040503050406030204" pitchFamily="18" charset="0"/>
              </a:rPr>
              <a:t>&lt;html&gt;</a:t>
            </a:r>
          </a:p>
          <a:p>
            <a:r>
              <a:rPr lang="en-US" sz="1600" dirty="0">
                <a:latin typeface="Proxima Nova"/>
                <a:ea typeface="Cambria" panose="02040503050406030204" pitchFamily="18" charset="0"/>
              </a:rPr>
              <a:t>&lt;head&gt;</a:t>
            </a:r>
          </a:p>
          <a:p>
            <a:r>
              <a:rPr lang="en-US" sz="1600" dirty="0">
                <a:latin typeface="Proxima Nova"/>
                <a:ea typeface="Cambria" panose="02040503050406030204" pitchFamily="18" charset="0"/>
              </a:rPr>
              <a:t>&lt;style&gt;</a:t>
            </a:r>
          </a:p>
          <a:p>
            <a:r>
              <a:rPr lang="en-US" sz="1600" dirty="0">
                <a:latin typeface="Proxima Nova"/>
                <a:ea typeface="Cambria" panose="02040503050406030204" pitchFamily="18" charset="0"/>
              </a:rPr>
              <a:t>body {</a:t>
            </a:r>
          </a:p>
          <a:p>
            <a:r>
              <a:rPr lang="en-US" sz="1600" dirty="0">
                <a:latin typeface="Proxima Nova"/>
                <a:ea typeface="Cambria" panose="02040503050406030204" pitchFamily="18" charset="0"/>
              </a:rPr>
              <a:t>  </a:t>
            </a:r>
            <a:r>
              <a:rPr lang="en-US" sz="1600" dirty="0" err="1">
                <a:latin typeface="Proxima Nova"/>
                <a:ea typeface="Cambria" panose="02040503050406030204" pitchFamily="18" charset="0"/>
              </a:rPr>
              <a:t>background-color:white</a:t>
            </a:r>
            <a:r>
              <a:rPr lang="en-US" sz="1600" dirty="0">
                <a:latin typeface="Proxima Nova"/>
                <a:ea typeface="Cambria" panose="02040503050406030204" pitchFamily="18" charset="0"/>
              </a:rPr>
              <a:t>;</a:t>
            </a:r>
          </a:p>
          <a:p>
            <a:r>
              <a:rPr lang="en-US" sz="1600" dirty="0">
                <a:latin typeface="Proxima Nova"/>
                <a:ea typeface="Cambria" panose="02040503050406030204" pitchFamily="18" charset="0"/>
              </a:rPr>
              <a:t>}</a:t>
            </a:r>
          </a:p>
          <a:p>
            <a:r>
              <a:rPr lang="en-US" sz="1600" dirty="0" err="1">
                <a:latin typeface="Proxima Nova"/>
                <a:ea typeface="Cambria" panose="02040503050406030204" pitchFamily="18" charset="0"/>
              </a:rPr>
              <a:t>img</a:t>
            </a:r>
            <a:r>
              <a:rPr lang="en-US" sz="1600" dirty="0">
                <a:latin typeface="Proxima Nova"/>
                <a:ea typeface="Cambria" panose="02040503050406030204" pitchFamily="18" charset="0"/>
              </a:rPr>
              <a:t> {</a:t>
            </a:r>
          </a:p>
          <a:p>
            <a:r>
              <a:rPr lang="en-US" sz="1600" dirty="0">
                <a:latin typeface="Proxima Nova"/>
                <a:ea typeface="Cambria" panose="02040503050406030204" pitchFamily="18" charset="0"/>
              </a:rPr>
              <a:t>  width: 33%;</a:t>
            </a:r>
          </a:p>
          <a:p>
            <a:r>
              <a:rPr lang="en-US" sz="1600" dirty="0">
                <a:latin typeface="Proxima Nova"/>
                <a:ea typeface="Cambria" panose="02040503050406030204" pitchFamily="18" charset="0"/>
              </a:rPr>
              <a:t>  height: auto;</a:t>
            </a:r>
          </a:p>
          <a:p>
            <a:r>
              <a:rPr lang="en-US" sz="1600" dirty="0">
                <a:latin typeface="Proxima Nova"/>
                <a:ea typeface="Cambria" panose="02040503050406030204" pitchFamily="18" charset="0"/>
              </a:rPr>
              <a:t>  float: left; </a:t>
            </a:r>
          </a:p>
          <a:p>
            <a:r>
              <a:rPr lang="en-US" sz="1600" dirty="0">
                <a:latin typeface="Proxima Nova"/>
                <a:ea typeface="Cambria" panose="02040503050406030204" pitchFamily="18" charset="0"/>
              </a:rPr>
              <a:t>  max-width: 235px;</a:t>
            </a:r>
          </a:p>
          <a:p>
            <a:r>
              <a:rPr lang="en-US" sz="1600" dirty="0">
                <a:latin typeface="Proxima Nova"/>
                <a:ea typeface="Cambria" panose="02040503050406030204" pitchFamily="18" charset="0"/>
              </a:rPr>
              <a:t>}</a:t>
            </a:r>
          </a:p>
          <a:p>
            <a:r>
              <a:rPr lang="en-US" sz="1600" dirty="0">
                <a:latin typeface="Proxima Nova"/>
                <a:ea typeface="Cambria" panose="02040503050406030204" pitchFamily="18" charset="0"/>
              </a:rPr>
              <a:t>.blur {filter: blur(4px);}</a:t>
            </a:r>
          </a:p>
          <a:p>
            <a:r>
              <a:rPr lang="en-US" sz="1600" dirty="0">
                <a:latin typeface="Proxima Nova"/>
                <a:ea typeface="Cambria" panose="02040503050406030204" pitchFamily="18" charset="0"/>
              </a:rPr>
              <a:t>.brightness {filter: brightness(250%);}</a:t>
            </a:r>
          </a:p>
          <a:p>
            <a:r>
              <a:rPr lang="en-US" sz="1600" dirty="0">
                <a:latin typeface="Proxima Nova"/>
                <a:ea typeface="Cambria" panose="02040503050406030204" pitchFamily="18" charset="0"/>
              </a:rPr>
              <a:t>.contrast {filter: contrast(180%);}</a:t>
            </a:r>
          </a:p>
          <a:p>
            <a:r>
              <a:rPr lang="en-US" sz="1600" dirty="0">
                <a:latin typeface="Proxima Nova"/>
                <a:ea typeface="Cambria" panose="02040503050406030204" pitchFamily="18" charset="0"/>
              </a:rPr>
              <a:t>.grayscale {filter: grayscale(100%);}</a:t>
            </a:r>
          </a:p>
          <a:p>
            <a:r>
              <a:rPr lang="en-US" sz="1600" dirty="0">
                <a:latin typeface="Proxima Nova"/>
                <a:ea typeface="Cambria" panose="02040503050406030204" pitchFamily="18" charset="0"/>
              </a:rPr>
              <a:t>.</a:t>
            </a:r>
            <a:r>
              <a:rPr lang="en-US" sz="1600" dirty="0" err="1">
                <a:latin typeface="Proxima Nova"/>
                <a:ea typeface="Cambria" panose="02040503050406030204" pitchFamily="18" charset="0"/>
              </a:rPr>
              <a:t>huerotate</a:t>
            </a:r>
            <a:r>
              <a:rPr lang="en-US" sz="1600" dirty="0">
                <a:latin typeface="Proxima Nova"/>
                <a:ea typeface="Cambria" panose="02040503050406030204" pitchFamily="18" charset="0"/>
              </a:rPr>
              <a:t> {filter: hue-rotate(180deg);}</a:t>
            </a:r>
          </a:p>
          <a:p>
            <a:r>
              <a:rPr lang="en-US" sz="1600" dirty="0">
                <a:latin typeface="Proxima Nova"/>
                <a:ea typeface="Cambria" panose="02040503050406030204" pitchFamily="18" charset="0"/>
              </a:rPr>
              <a:t>.invert {filter: invert(100%);}</a:t>
            </a:r>
          </a:p>
          <a:p>
            <a:r>
              <a:rPr lang="en-US" sz="1600" dirty="0">
                <a:latin typeface="Proxima Nova"/>
                <a:ea typeface="Cambria" panose="02040503050406030204" pitchFamily="18" charset="0"/>
              </a:rPr>
              <a:t>.opacity {filter: opacity(50%);}</a:t>
            </a:r>
          </a:p>
        </p:txBody>
      </p:sp>
      <p:sp>
        <p:nvSpPr>
          <p:cNvPr id="5" name="Rectangle 4"/>
          <p:cNvSpPr/>
          <p:nvPr/>
        </p:nvSpPr>
        <p:spPr>
          <a:xfrm>
            <a:off x="4218156" y="1755709"/>
            <a:ext cx="7973844" cy="4478149"/>
          </a:xfrm>
          <a:prstGeom prst="rect">
            <a:avLst/>
          </a:prstGeom>
        </p:spPr>
        <p:txBody>
          <a:bodyPr wrap="square">
            <a:spAutoFit/>
          </a:bodyPr>
          <a:lstStyle/>
          <a:p>
            <a:r>
              <a:rPr lang="en-US" sz="1500" dirty="0">
                <a:latin typeface="Proxima Nova"/>
                <a:ea typeface="Cambria" panose="02040503050406030204" pitchFamily="18" charset="0"/>
              </a:rPr>
              <a:t>.saturate {filter: saturate(7);}</a:t>
            </a:r>
          </a:p>
          <a:p>
            <a:r>
              <a:rPr lang="en-US" sz="1500" dirty="0">
                <a:latin typeface="Proxima Nova"/>
                <a:ea typeface="Cambria" panose="02040503050406030204" pitchFamily="18" charset="0"/>
              </a:rPr>
              <a:t>.sepia {filter: sepia(100%);}</a:t>
            </a:r>
          </a:p>
          <a:p>
            <a:r>
              <a:rPr lang="en-US" sz="1500" dirty="0">
                <a:latin typeface="Proxima Nova"/>
                <a:ea typeface="Cambria" panose="02040503050406030204" pitchFamily="18" charset="0"/>
              </a:rPr>
              <a:t>.shadow {filter: drop-shadow(8px </a:t>
            </a:r>
            <a:r>
              <a:rPr lang="en-US" sz="1500" dirty="0" err="1">
                <a:latin typeface="Proxima Nova"/>
                <a:ea typeface="Cambria" panose="02040503050406030204" pitchFamily="18" charset="0"/>
              </a:rPr>
              <a:t>8px</a:t>
            </a:r>
            <a:r>
              <a:rPr lang="en-US" sz="1500" dirty="0">
                <a:latin typeface="Proxima Nova"/>
                <a:ea typeface="Cambria" panose="02040503050406030204" pitchFamily="18" charset="0"/>
              </a:rPr>
              <a:t> 10px green);}</a:t>
            </a:r>
          </a:p>
          <a:p>
            <a:r>
              <a:rPr lang="en-US" sz="1500" dirty="0">
                <a:latin typeface="Proxima Nova"/>
                <a:ea typeface="Cambria" panose="02040503050406030204" pitchFamily="18" charset="0"/>
              </a:rPr>
              <a:t>&lt;/style&gt;</a:t>
            </a:r>
          </a:p>
          <a:p>
            <a:r>
              <a:rPr lang="en-US" sz="1500" dirty="0">
                <a:latin typeface="Proxima Nova"/>
                <a:ea typeface="Cambria" panose="02040503050406030204" pitchFamily="18" charset="0"/>
              </a:rPr>
              <a:t>&lt;/head&gt;</a:t>
            </a:r>
          </a:p>
          <a:p>
            <a:r>
              <a:rPr lang="en-US" sz="1500" dirty="0">
                <a:latin typeface="Proxima Nova"/>
                <a:ea typeface="Cambria" panose="02040503050406030204" pitchFamily="18" charset="0"/>
              </a:rPr>
              <a:t>&lt;body&gt;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class="blur"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class="brightness"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class="contrast"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class="grayscale"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class="</a:t>
            </a:r>
            <a:r>
              <a:rPr lang="en-US" sz="1500" dirty="0" err="1">
                <a:latin typeface="Proxima Nova"/>
                <a:ea typeface="Cambria" panose="02040503050406030204" pitchFamily="18" charset="0"/>
              </a:rPr>
              <a:t>huerotate</a:t>
            </a:r>
            <a:r>
              <a:rPr lang="en-US" sz="1500" dirty="0">
                <a:latin typeface="Proxima Nova"/>
                <a:ea typeface="Cambria" panose="02040503050406030204" pitchFamily="18" charset="0"/>
              </a:rPr>
              <a:t>"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class="invert"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class="opacity"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class="saturate"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class="sepia"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a:t>
            </a:r>
            <a:r>
              <a:rPr lang="en-US" sz="1500" dirty="0" err="1">
                <a:latin typeface="Proxima Nova"/>
                <a:ea typeface="Cambria" panose="02040503050406030204" pitchFamily="18" charset="0"/>
              </a:rPr>
              <a:t>img</a:t>
            </a:r>
            <a:r>
              <a:rPr lang="en-US" sz="1500" dirty="0">
                <a:latin typeface="Proxima Nova"/>
                <a:ea typeface="Cambria" panose="02040503050406030204" pitchFamily="18" charset="0"/>
              </a:rPr>
              <a:t> class="shadow" </a:t>
            </a:r>
            <a:r>
              <a:rPr lang="en-US" sz="1500" dirty="0" err="1">
                <a:latin typeface="Proxima Nova"/>
                <a:ea typeface="Cambria" panose="02040503050406030204" pitchFamily="18" charset="0"/>
              </a:rPr>
              <a:t>src</a:t>
            </a:r>
            <a:r>
              <a:rPr lang="en-US" sz="1500" dirty="0">
                <a:latin typeface="Proxima Nova"/>
                <a:ea typeface="Cambria" panose="02040503050406030204" pitchFamily="18" charset="0"/>
              </a:rPr>
              <a:t>="pineapple.jpg" alt="Pineapple" width="300" height="300"&gt;</a:t>
            </a:r>
          </a:p>
          <a:p>
            <a:r>
              <a:rPr lang="en-US" sz="1500" dirty="0">
                <a:latin typeface="Proxima Nova"/>
                <a:ea typeface="Cambria" panose="02040503050406030204" pitchFamily="18" charset="0"/>
              </a:rPr>
              <a:t>&lt;/body&gt;</a:t>
            </a:r>
          </a:p>
          <a:p>
            <a:r>
              <a:rPr lang="en-US" sz="1500" dirty="0">
                <a:latin typeface="Proxima Nova"/>
                <a:ea typeface="Cambria" panose="02040503050406030204" pitchFamily="18" charset="0"/>
              </a:rPr>
              <a:t>&lt;/html&gt;</a:t>
            </a:r>
          </a:p>
        </p:txBody>
      </p:sp>
      <p:sp>
        <p:nvSpPr>
          <p:cNvPr id="7" name="TextBox 6">
            <a:extLst>
              <a:ext uri="{FF2B5EF4-FFF2-40B4-BE49-F238E27FC236}">
                <a16:creationId xmlns:a16="http://schemas.microsoft.com/office/drawing/2014/main" id="{C685F6C4-8EB5-6873-BB5D-7DF3E2B6E6F0}"/>
              </a:ext>
            </a:extLst>
          </p:cNvPr>
          <p:cNvSpPr txBox="1"/>
          <p:nvPr/>
        </p:nvSpPr>
        <p:spPr>
          <a:xfrm>
            <a:off x="571500" y="1000810"/>
            <a:ext cx="10139870" cy="369332"/>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Proxima Nova"/>
                <a:ea typeface="Cambria" panose="02040503050406030204" pitchFamily="18" charset="0"/>
              </a:rPr>
              <a:t>The CSS filter property adds visual effects (like blur and saturation) to an element.</a:t>
            </a:r>
          </a:p>
        </p:txBody>
      </p:sp>
    </p:spTree>
    <p:extLst>
      <p:ext uri="{BB962C8B-B14F-4D97-AF65-F5344CB8AC3E}">
        <p14:creationId xmlns:p14="http://schemas.microsoft.com/office/powerpoint/2010/main" val="133443906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C11CE39-2868-44A2-A0C6-827D458F7A8B}" type="slidenum">
              <a:rPr lang="en-IN" smtClean="0"/>
              <a:pPr/>
              <a:t>152</a:t>
            </a:fld>
            <a:endParaRPr lang="en-IN"/>
          </a:p>
        </p:txBody>
      </p:sp>
      <p:pic>
        <p:nvPicPr>
          <p:cNvPr id="3" name="Picture 2"/>
          <p:cNvPicPr>
            <a:picLocks noChangeAspect="1"/>
          </p:cNvPicPr>
          <p:nvPr/>
        </p:nvPicPr>
        <p:blipFill>
          <a:blip r:embed="rId2"/>
          <a:stretch>
            <a:fillRect/>
          </a:stretch>
        </p:blipFill>
        <p:spPr>
          <a:xfrm>
            <a:off x="2266545" y="1409700"/>
            <a:ext cx="7480570" cy="5029200"/>
          </a:xfrm>
          <a:prstGeom prst="rect">
            <a:avLst/>
          </a:prstGeom>
          <a:ln w="19050">
            <a:solidFill>
              <a:schemeClr val="tx1"/>
            </a:solidFill>
          </a:ln>
        </p:spPr>
      </p:pic>
    </p:spTree>
    <p:extLst>
      <p:ext uri="{BB962C8B-B14F-4D97-AF65-F5344CB8AC3E}">
        <p14:creationId xmlns:p14="http://schemas.microsoft.com/office/powerpoint/2010/main" val="36583460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4E250-CFA2-7CBE-5251-8BD54A358170}"/>
              </a:ext>
            </a:extLst>
          </p:cNvPr>
          <p:cNvSpPr>
            <a:spLocks noGrp="1"/>
          </p:cNvSpPr>
          <p:nvPr>
            <p:ph type="title"/>
          </p:nvPr>
        </p:nvSpPr>
        <p:spPr/>
        <p:txBody>
          <a:bodyPr/>
          <a:lstStyle/>
          <a:p>
            <a:r>
              <a:rPr lang="en-US" dirty="0"/>
              <a:t>Positioning 	</a:t>
            </a:r>
            <a:br>
              <a:rPr lang="en-US" dirty="0"/>
            </a:br>
            <a:endParaRPr lang="en-IN" dirty="0"/>
          </a:p>
        </p:txBody>
      </p:sp>
      <p:sp>
        <p:nvSpPr>
          <p:cNvPr id="3" name="Content Placeholder 2">
            <a:extLst>
              <a:ext uri="{FF2B5EF4-FFF2-40B4-BE49-F238E27FC236}">
                <a16:creationId xmlns:a16="http://schemas.microsoft.com/office/drawing/2014/main" id="{D3C1684C-A625-AAF0-D38A-4E97183081F5}"/>
              </a:ext>
            </a:extLst>
          </p:cNvPr>
          <p:cNvSpPr>
            <a:spLocks noGrp="1"/>
          </p:cNvSpPr>
          <p:nvPr>
            <p:ph idx="1"/>
          </p:nvPr>
        </p:nvSpPr>
        <p:spPr>
          <a:xfrm>
            <a:off x="423420" y="1253330"/>
            <a:ext cx="11294097" cy="5185569"/>
          </a:xfrm>
        </p:spPr>
        <p:txBody>
          <a:bodyPr>
            <a:noAutofit/>
          </a:bodyPr>
          <a:lstStyle/>
          <a:p>
            <a:r>
              <a:rPr lang="en-US" dirty="0"/>
              <a:t>The position property specifies the type of positioning method used for an element (static, relative, fixed, absolute or sticky).</a:t>
            </a:r>
          </a:p>
          <a:p>
            <a:r>
              <a:rPr lang="en-US" dirty="0"/>
              <a:t>The position property specifies the type of positioning method used for an element.</a:t>
            </a:r>
          </a:p>
          <a:p>
            <a:endParaRPr lang="en-US" dirty="0"/>
          </a:p>
          <a:p>
            <a:endParaRPr lang="en-US" dirty="0"/>
          </a:p>
          <a:p>
            <a:endParaRPr lang="en-US" dirty="0"/>
          </a:p>
          <a:p>
            <a:endParaRPr lang="en-US" dirty="0"/>
          </a:p>
          <a:p>
            <a:pPr marL="0" indent="0">
              <a:buNone/>
            </a:pPr>
            <a:endParaRPr lang="en-US" dirty="0"/>
          </a:p>
          <a:p>
            <a:r>
              <a:rPr lang="en-US" dirty="0"/>
              <a:t>Elements are then positioned using the top, bottom, left, and right properties. However, these properties will not work unless the position property is set first. They also work differently depending on the position value.</a:t>
            </a:r>
          </a:p>
          <a:p>
            <a:endParaRPr lang="en-US" dirty="0"/>
          </a:p>
          <a:p>
            <a:endParaRPr lang="en-IN" dirty="0"/>
          </a:p>
        </p:txBody>
      </p:sp>
      <p:graphicFrame>
        <p:nvGraphicFramePr>
          <p:cNvPr id="4" name="Diagram 3">
            <a:extLst>
              <a:ext uri="{FF2B5EF4-FFF2-40B4-BE49-F238E27FC236}">
                <a16:creationId xmlns:a16="http://schemas.microsoft.com/office/drawing/2014/main" id="{B7D07EC2-B775-0105-A799-8359A3CBE6DF}"/>
              </a:ext>
            </a:extLst>
          </p:cNvPr>
          <p:cNvGraphicFramePr/>
          <p:nvPr>
            <p:extLst>
              <p:ext uri="{D42A27DB-BD31-4B8C-83A1-F6EECF244321}">
                <p14:modId xmlns:p14="http://schemas.microsoft.com/office/powerpoint/2010/main" val="2494647439"/>
              </p:ext>
            </p:extLst>
          </p:nvPr>
        </p:nvGraphicFramePr>
        <p:xfrm>
          <a:off x="841375" y="2076450"/>
          <a:ext cx="8128000" cy="3390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314000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23758-0873-766F-61EC-5A32877E92EB}"/>
              </a:ext>
            </a:extLst>
          </p:cNvPr>
          <p:cNvSpPr>
            <a:spLocks noGrp="1"/>
          </p:cNvSpPr>
          <p:nvPr>
            <p:ph type="title"/>
          </p:nvPr>
        </p:nvSpPr>
        <p:spPr/>
        <p:txBody>
          <a:bodyPr/>
          <a:lstStyle/>
          <a:p>
            <a:r>
              <a:rPr lang="en-US" dirty="0"/>
              <a:t>position: static;</a:t>
            </a:r>
            <a:br>
              <a:rPr lang="en-US" b="1" dirty="0"/>
            </a:br>
            <a:endParaRPr lang="en-IN" dirty="0"/>
          </a:p>
        </p:txBody>
      </p:sp>
      <p:sp>
        <p:nvSpPr>
          <p:cNvPr id="3" name="Content Placeholder 2">
            <a:extLst>
              <a:ext uri="{FF2B5EF4-FFF2-40B4-BE49-F238E27FC236}">
                <a16:creationId xmlns:a16="http://schemas.microsoft.com/office/drawing/2014/main" id="{3BED259A-457C-F2E3-B898-1EE0BC682B44}"/>
              </a:ext>
            </a:extLst>
          </p:cNvPr>
          <p:cNvSpPr>
            <a:spLocks noGrp="1"/>
          </p:cNvSpPr>
          <p:nvPr>
            <p:ph idx="1"/>
          </p:nvPr>
        </p:nvSpPr>
        <p:spPr/>
        <p:txBody>
          <a:bodyPr/>
          <a:lstStyle/>
          <a:p>
            <a:r>
              <a:rPr lang="en-US" b="1" dirty="0"/>
              <a:t>position: static;</a:t>
            </a:r>
          </a:p>
          <a:p>
            <a:r>
              <a:rPr lang="en-US" dirty="0"/>
              <a:t>HTML elements are positioned static by default.</a:t>
            </a:r>
          </a:p>
          <a:p>
            <a:r>
              <a:rPr lang="en-US" dirty="0"/>
              <a:t>Static positioned elements are not affected by the top, bottom, left, and right properties.</a:t>
            </a:r>
          </a:p>
          <a:p>
            <a:r>
              <a:rPr lang="en-US" dirty="0"/>
              <a:t>An element with position: static; is not positioned in any special way; it is always positioned according to the normal flow of the page:</a:t>
            </a:r>
          </a:p>
          <a:p>
            <a:endParaRPr lang="en-US" dirty="0"/>
          </a:p>
          <a:p>
            <a:endParaRPr lang="en-US" dirty="0"/>
          </a:p>
          <a:p>
            <a:endParaRPr lang="en-US" dirty="0"/>
          </a:p>
          <a:p>
            <a:endParaRPr lang="en-IN" dirty="0"/>
          </a:p>
        </p:txBody>
      </p:sp>
      <p:pic>
        <p:nvPicPr>
          <p:cNvPr id="4" name="Picture 3">
            <a:extLst>
              <a:ext uri="{FF2B5EF4-FFF2-40B4-BE49-F238E27FC236}">
                <a16:creationId xmlns:a16="http://schemas.microsoft.com/office/drawing/2014/main" id="{383C90A0-BAF3-10F3-1595-29E7C1CCC98A}"/>
              </a:ext>
            </a:extLst>
          </p:cNvPr>
          <p:cNvPicPr>
            <a:picLocks noChangeAspect="1"/>
          </p:cNvPicPr>
          <p:nvPr/>
        </p:nvPicPr>
        <p:blipFill>
          <a:blip r:embed="rId2"/>
          <a:stretch>
            <a:fillRect/>
          </a:stretch>
        </p:blipFill>
        <p:spPr>
          <a:xfrm>
            <a:off x="757366" y="3805541"/>
            <a:ext cx="7646954" cy="552450"/>
          </a:xfrm>
          <a:prstGeom prst="rect">
            <a:avLst/>
          </a:prstGeom>
        </p:spPr>
      </p:pic>
      <p:sp>
        <p:nvSpPr>
          <p:cNvPr id="6" name="TextBox 5">
            <a:extLst>
              <a:ext uri="{FF2B5EF4-FFF2-40B4-BE49-F238E27FC236}">
                <a16:creationId xmlns:a16="http://schemas.microsoft.com/office/drawing/2014/main" id="{4C78AF35-D7A9-CAA8-065A-F08500A08D84}"/>
              </a:ext>
            </a:extLst>
          </p:cNvPr>
          <p:cNvSpPr txBox="1"/>
          <p:nvPr/>
        </p:nvSpPr>
        <p:spPr>
          <a:xfrm>
            <a:off x="-622169" y="4401157"/>
            <a:ext cx="6096000" cy="1754326"/>
          </a:xfrm>
          <a:prstGeom prst="rect">
            <a:avLst/>
          </a:prstGeom>
          <a:noFill/>
        </p:spPr>
        <p:txBody>
          <a:bodyPr wrap="square">
            <a:spAutoFit/>
          </a:bodyPr>
          <a:lstStyle/>
          <a:p>
            <a:pPr marL="1350963" lvl="3" indent="0">
              <a:buNone/>
            </a:pPr>
            <a:r>
              <a:rPr lang="en-US" sz="1800" dirty="0">
                <a:latin typeface="Proxima Nova" panose="020B0604020202020204"/>
              </a:rPr>
              <a:t>&lt;style&gt;</a:t>
            </a:r>
          </a:p>
          <a:p>
            <a:pPr marL="1350963" lvl="3" indent="0">
              <a:buNone/>
            </a:pPr>
            <a:r>
              <a:rPr lang="en-US" sz="1800" dirty="0" err="1">
                <a:latin typeface="Proxima Nova" panose="020B0604020202020204"/>
              </a:rPr>
              <a:t>div.static</a:t>
            </a:r>
            <a:r>
              <a:rPr lang="en-US" sz="1800" dirty="0">
                <a:latin typeface="Proxima Nova" panose="020B0604020202020204"/>
              </a:rPr>
              <a:t> {</a:t>
            </a:r>
          </a:p>
          <a:p>
            <a:pPr marL="1350963" lvl="3" indent="0">
              <a:buNone/>
            </a:pPr>
            <a:r>
              <a:rPr lang="en-US" sz="1800" dirty="0">
                <a:latin typeface="Proxima Nova" panose="020B0604020202020204"/>
              </a:rPr>
              <a:t>  position: static;</a:t>
            </a:r>
          </a:p>
          <a:p>
            <a:pPr marL="1350963" lvl="3" indent="0">
              <a:buNone/>
            </a:pPr>
            <a:r>
              <a:rPr lang="en-US" sz="1800" dirty="0">
                <a:latin typeface="Proxima Nova" panose="020B0604020202020204"/>
              </a:rPr>
              <a:t>  border: 3px solid #73AD21;</a:t>
            </a:r>
          </a:p>
          <a:p>
            <a:pPr marL="1350963" lvl="3" indent="0">
              <a:buNone/>
            </a:pPr>
            <a:r>
              <a:rPr lang="en-US" sz="1800" dirty="0">
                <a:latin typeface="Proxima Nova" panose="020B0604020202020204"/>
              </a:rPr>
              <a:t>}</a:t>
            </a:r>
          </a:p>
          <a:p>
            <a:pPr marL="1350963" lvl="3" indent="0">
              <a:buNone/>
            </a:pPr>
            <a:r>
              <a:rPr lang="en-US" sz="1800" dirty="0">
                <a:latin typeface="Proxima Nova" panose="020B0604020202020204"/>
              </a:rPr>
              <a:t>&lt;/style&gt;</a:t>
            </a:r>
          </a:p>
        </p:txBody>
      </p:sp>
      <p:sp>
        <p:nvSpPr>
          <p:cNvPr id="8" name="TextBox 7">
            <a:extLst>
              <a:ext uri="{FF2B5EF4-FFF2-40B4-BE49-F238E27FC236}">
                <a16:creationId xmlns:a16="http://schemas.microsoft.com/office/drawing/2014/main" id="{64E40950-82C0-C36A-4B0D-DBF6864A63DA}"/>
              </a:ext>
            </a:extLst>
          </p:cNvPr>
          <p:cNvSpPr txBox="1"/>
          <p:nvPr/>
        </p:nvSpPr>
        <p:spPr>
          <a:xfrm>
            <a:off x="4154619" y="4401157"/>
            <a:ext cx="6577012" cy="1477328"/>
          </a:xfrm>
          <a:prstGeom prst="rect">
            <a:avLst/>
          </a:prstGeom>
          <a:noFill/>
        </p:spPr>
        <p:txBody>
          <a:bodyPr wrap="square">
            <a:spAutoFit/>
          </a:bodyPr>
          <a:lstStyle/>
          <a:p>
            <a:pPr marL="0" indent="0">
              <a:buNone/>
            </a:pPr>
            <a:r>
              <a:rPr lang="en-US" sz="1800" dirty="0">
                <a:latin typeface="Proxima Nova" panose="020B0604020202020204"/>
              </a:rPr>
              <a:t>	&lt;body&gt;</a:t>
            </a:r>
          </a:p>
          <a:p>
            <a:pPr marL="0" indent="0">
              <a:buNone/>
            </a:pPr>
            <a:r>
              <a:rPr lang="en-US" sz="1800" dirty="0">
                <a:latin typeface="Proxima Nova" panose="020B0604020202020204"/>
              </a:rPr>
              <a:t>		&lt;div class=“static"&gt;</a:t>
            </a:r>
          </a:p>
          <a:p>
            <a:pPr marL="0" indent="0">
              <a:buNone/>
            </a:pPr>
            <a:r>
              <a:rPr lang="en-US" sz="1800" dirty="0">
                <a:latin typeface="Proxima Nova" panose="020B0604020202020204"/>
              </a:rPr>
              <a:t>		This div element has position: static;</a:t>
            </a:r>
          </a:p>
          <a:p>
            <a:pPr marL="0" indent="0">
              <a:buNone/>
            </a:pPr>
            <a:r>
              <a:rPr lang="en-US" sz="1800" dirty="0">
                <a:latin typeface="Proxima Nova" panose="020B0604020202020204"/>
              </a:rPr>
              <a:t>		&lt;/div&gt;</a:t>
            </a:r>
          </a:p>
          <a:p>
            <a:pPr marL="0" indent="0">
              <a:buNone/>
            </a:pPr>
            <a:r>
              <a:rPr lang="en-US" sz="1800" dirty="0">
                <a:latin typeface="Proxima Nova" panose="020B0604020202020204"/>
              </a:rPr>
              <a:t>	&lt;/body&gt;</a:t>
            </a:r>
          </a:p>
        </p:txBody>
      </p:sp>
    </p:spTree>
    <p:extLst>
      <p:ext uri="{BB962C8B-B14F-4D97-AF65-F5344CB8AC3E}">
        <p14:creationId xmlns:p14="http://schemas.microsoft.com/office/powerpoint/2010/main" val="386579612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F8928-4051-302E-3514-FEE4D6688F64}"/>
              </a:ext>
            </a:extLst>
          </p:cNvPr>
          <p:cNvSpPr>
            <a:spLocks noGrp="1"/>
          </p:cNvSpPr>
          <p:nvPr>
            <p:ph type="title"/>
          </p:nvPr>
        </p:nvSpPr>
        <p:spPr/>
        <p:txBody>
          <a:bodyPr/>
          <a:lstStyle/>
          <a:p>
            <a:r>
              <a:rPr lang="en-US" dirty="0"/>
              <a:t>position: relative;</a:t>
            </a:r>
            <a:br>
              <a:rPr lang="en-US" dirty="0"/>
            </a:br>
            <a:endParaRPr lang="en-IN" dirty="0"/>
          </a:p>
        </p:txBody>
      </p:sp>
      <p:sp>
        <p:nvSpPr>
          <p:cNvPr id="3" name="Content Placeholder 2">
            <a:extLst>
              <a:ext uri="{FF2B5EF4-FFF2-40B4-BE49-F238E27FC236}">
                <a16:creationId xmlns:a16="http://schemas.microsoft.com/office/drawing/2014/main" id="{AB006BD7-59B4-C616-066A-61398D8FDC1F}"/>
              </a:ext>
            </a:extLst>
          </p:cNvPr>
          <p:cNvSpPr>
            <a:spLocks noGrp="1"/>
          </p:cNvSpPr>
          <p:nvPr>
            <p:ph idx="1"/>
          </p:nvPr>
        </p:nvSpPr>
        <p:spPr/>
        <p:txBody>
          <a:bodyPr/>
          <a:lstStyle/>
          <a:p>
            <a:r>
              <a:rPr lang="en-US" b="1" dirty="0"/>
              <a:t>position: relative;</a:t>
            </a:r>
          </a:p>
          <a:p>
            <a:r>
              <a:rPr lang="en-US" dirty="0"/>
              <a:t>An element with position: relative; is positioned relative to its normal position.</a:t>
            </a:r>
          </a:p>
          <a:p>
            <a:r>
              <a:rPr lang="en-US" dirty="0"/>
              <a:t>Setting the top, right, bottom, and left properties of a relatively-positioned element will cause it to be adjusted away from its normal position. Other content will not be adjusted to fit into any gap left by the element.</a:t>
            </a:r>
          </a:p>
          <a:p>
            <a:endParaRPr lang="en-IN" dirty="0"/>
          </a:p>
        </p:txBody>
      </p:sp>
      <p:sp>
        <p:nvSpPr>
          <p:cNvPr id="5" name="TextBox 4">
            <a:extLst>
              <a:ext uri="{FF2B5EF4-FFF2-40B4-BE49-F238E27FC236}">
                <a16:creationId xmlns:a16="http://schemas.microsoft.com/office/drawing/2014/main" id="{8ED506CF-6CED-9047-9C39-F1EBB089ED6F}"/>
              </a:ext>
            </a:extLst>
          </p:cNvPr>
          <p:cNvSpPr txBox="1"/>
          <p:nvPr/>
        </p:nvSpPr>
        <p:spPr>
          <a:xfrm>
            <a:off x="-622169" y="3573344"/>
            <a:ext cx="6096000" cy="2031325"/>
          </a:xfrm>
          <a:prstGeom prst="rect">
            <a:avLst/>
          </a:prstGeom>
          <a:noFill/>
        </p:spPr>
        <p:txBody>
          <a:bodyPr wrap="square">
            <a:spAutoFit/>
          </a:bodyPr>
          <a:lstStyle/>
          <a:p>
            <a:pPr marL="1350963" lvl="3" indent="0">
              <a:buNone/>
            </a:pPr>
            <a:r>
              <a:rPr lang="en-US" sz="1800" dirty="0">
                <a:latin typeface="Proxima Nova" panose="020B0604020202020204"/>
              </a:rPr>
              <a:t>&lt;style&gt;</a:t>
            </a:r>
          </a:p>
          <a:p>
            <a:pPr marL="1350963" lvl="3" indent="0">
              <a:buNone/>
            </a:pPr>
            <a:r>
              <a:rPr lang="en-US" sz="1800" dirty="0" err="1">
                <a:latin typeface="Proxima Nova" panose="020B0604020202020204"/>
              </a:rPr>
              <a:t>div.relative</a:t>
            </a:r>
            <a:r>
              <a:rPr lang="en-US" sz="1800" dirty="0">
                <a:latin typeface="Proxima Nova" panose="020B0604020202020204"/>
              </a:rPr>
              <a:t> {</a:t>
            </a:r>
          </a:p>
          <a:p>
            <a:pPr marL="1350963" lvl="3" indent="0">
              <a:buNone/>
            </a:pPr>
            <a:r>
              <a:rPr lang="en-US" sz="1800" dirty="0">
                <a:latin typeface="Proxima Nova" panose="020B0604020202020204"/>
              </a:rPr>
              <a:t>  position: relative;</a:t>
            </a:r>
          </a:p>
          <a:p>
            <a:pPr marL="1350963" lvl="3" indent="0">
              <a:buNone/>
            </a:pPr>
            <a:r>
              <a:rPr lang="en-US" sz="1800" dirty="0">
                <a:latin typeface="Proxima Nova" panose="020B0604020202020204"/>
              </a:rPr>
              <a:t>  left: 30px;</a:t>
            </a:r>
          </a:p>
          <a:p>
            <a:pPr marL="1350963" lvl="3" indent="0">
              <a:buNone/>
            </a:pPr>
            <a:r>
              <a:rPr lang="en-US" sz="1800" dirty="0">
                <a:latin typeface="Proxima Nova" panose="020B0604020202020204"/>
              </a:rPr>
              <a:t>  border: 3px solid #73AD21;</a:t>
            </a:r>
          </a:p>
          <a:p>
            <a:pPr marL="1350963" lvl="3" indent="0">
              <a:buNone/>
            </a:pPr>
            <a:r>
              <a:rPr lang="en-US" sz="1800" dirty="0">
                <a:latin typeface="Proxima Nova" panose="020B0604020202020204"/>
              </a:rPr>
              <a:t>}</a:t>
            </a:r>
          </a:p>
          <a:p>
            <a:pPr marL="1350963" lvl="3" indent="0">
              <a:buNone/>
            </a:pPr>
            <a:r>
              <a:rPr lang="en-US" sz="1800" dirty="0">
                <a:latin typeface="Proxima Nova" panose="020B0604020202020204"/>
              </a:rPr>
              <a:t>&lt;/style&gt;</a:t>
            </a:r>
          </a:p>
        </p:txBody>
      </p:sp>
      <p:pic>
        <p:nvPicPr>
          <p:cNvPr id="6" name="Picture 5">
            <a:extLst>
              <a:ext uri="{FF2B5EF4-FFF2-40B4-BE49-F238E27FC236}">
                <a16:creationId xmlns:a16="http://schemas.microsoft.com/office/drawing/2014/main" id="{F585F2EF-27C4-B371-511C-C3FE643140C6}"/>
              </a:ext>
            </a:extLst>
          </p:cNvPr>
          <p:cNvPicPr>
            <a:picLocks noChangeAspect="1"/>
          </p:cNvPicPr>
          <p:nvPr/>
        </p:nvPicPr>
        <p:blipFill>
          <a:blip r:embed="rId2"/>
          <a:stretch>
            <a:fillRect/>
          </a:stretch>
        </p:blipFill>
        <p:spPr>
          <a:xfrm>
            <a:off x="625408" y="5937250"/>
            <a:ext cx="8187041" cy="501650"/>
          </a:xfrm>
          <a:prstGeom prst="rect">
            <a:avLst/>
          </a:prstGeom>
          <a:ln w="19050">
            <a:solidFill>
              <a:schemeClr val="tx1"/>
            </a:solidFill>
          </a:ln>
        </p:spPr>
      </p:pic>
      <p:sp>
        <p:nvSpPr>
          <p:cNvPr id="8" name="TextBox 7">
            <a:extLst>
              <a:ext uri="{FF2B5EF4-FFF2-40B4-BE49-F238E27FC236}">
                <a16:creationId xmlns:a16="http://schemas.microsoft.com/office/drawing/2014/main" id="{8A61F089-B4C4-E642-FA7C-56DF18CFEAA6}"/>
              </a:ext>
            </a:extLst>
          </p:cNvPr>
          <p:cNvSpPr txBox="1"/>
          <p:nvPr/>
        </p:nvSpPr>
        <p:spPr>
          <a:xfrm>
            <a:off x="4641056" y="3573344"/>
            <a:ext cx="6405562" cy="1477328"/>
          </a:xfrm>
          <a:prstGeom prst="rect">
            <a:avLst/>
          </a:prstGeom>
          <a:noFill/>
        </p:spPr>
        <p:txBody>
          <a:bodyPr wrap="square">
            <a:spAutoFit/>
          </a:bodyPr>
          <a:lstStyle/>
          <a:p>
            <a:pPr marL="0" indent="0">
              <a:buNone/>
            </a:pPr>
            <a:r>
              <a:rPr lang="en-US" sz="1800" dirty="0">
                <a:latin typeface="Proxima Nova" panose="020B0604020202020204"/>
              </a:rPr>
              <a:t>	&lt;body&gt;</a:t>
            </a:r>
          </a:p>
          <a:p>
            <a:pPr marL="0" indent="0">
              <a:buNone/>
            </a:pPr>
            <a:r>
              <a:rPr lang="en-US" sz="1800" dirty="0">
                <a:latin typeface="Proxima Nova" panose="020B0604020202020204"/>
              </a:rPr>
              <a:t>		&lt;div class="relative"&gt;</a:t>
            </a:r>
          </a:p>
          <a:p>
            <a:pPr marL="0" indent="0">
              <a:buNone/>
            </a:pPr>
            <a:r>
              <a:rPr lang="en-US" sz="1800" dirty="0">
                <a:latin typeface="Proxima Nova" panose="020B0604020202020204"/>
              </a:rPr>
              <a:t>		This div element has position: relative;</a:t>
            </a:r>
          </a:p>
          <a:p>
            <a:pPr marL="0" indent="0">
              <a:buNone/>
            </a:pPr>
            <a:r>
              <a:rPr lang="en-US" sz="1800" dirty="0">
                <a:latin typeface="Proxima Nova" panose="020B0604020202020204"/>
              </a:rPr>
              <a:t>		&lt;/div&gt;</a:t>
            </a:r>
          </a:p>
          <a:p>
            <a:pPr marL="0" indent="0">
              <a:buNone/>
            </a:pPr>
            <a:r>
              <a:rPr lang="en-US" sz="1800" dirty="0">
                <a:latin typeface="Proxima Nova" panose="020B0604020202020204"/>
              </a:rPr>
              <a:t>	&lt;/body&gt;</a:t>
            </a:r>
          </a:p>
        </p:txBody>
      </p:sp>
    </p:spTree>
    <p:extLst>
      <p:ext uri="{BB962C8B-B14F-4D97-AF65-F5344CB8AC3E}">
        <p14:creationId xmlns:p14="http://schemas.microsoft.com/office/powerpoint/2010/main" val="21871886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4451A-DF08-44AB-DB36-808462F5B965}"/>
              </a:ext>
            </a:extLst>
          </p:cNvPr>
          <p:cNvSpPr>
            <a:spLocks noGrp="1"/>
          </p:cNvSpPr>
          <p:nvPr>
            <p:ph type="title"/>
          </p:nvPr>
        </p:nvSpPr>
        <p:spPr/>
        <p:txBody>
          <a:bodyPr/>
          <a:lstStyle/>
          <a:p>
            <a:r>
              <a:rPr lang="en-US" dirty="0"/>
              <a:t>position: fixed;</a:t>
            </a:r>
            <a:br>
              <a:rPr lang="en-US" dirty="0"/>
            </a:br>
            <a:endParaRPr lang="en-IN" dirty="0"/>
          </a:p>
        </p:txBody>
      </p:sp>
      <p:sp>
        <p:nvSpPr>
          <p:cNvPr id="3" name="Content Placeholder 2">
            <a:extLst>
              <a:ext uri="{FF2B5EF4-FFF2-40B4-BE49-F238E27FC236}">
                <a16:creationId xmlns:a16="http://schemas.microsoft.com/office/drawing/2014/main" id="{0C4001C2-9DA8-9D3A-C75F-252966431B19}"/>
              </a:ext>
            </a:extLst>
          </p:cNvPr>
          <p:cNvSpPr>
            <a:spLocks noGrp="1"/>
          </p:cNvSpPr>
          <p:nvPr>
            <p:ph idx="1"/>
          </p:nvPr>
        </p:nvSpPr>
        <p:spPr/>
        <p:txBody>
          <a:bodyPr/>
          <a:lstStyle/>
          <a:p>
            <a:r>
              <a:rPr lang="en-US" b="1" dirty="0"/>
              <a:t>position: fixed;</a:t>
            </a:r>
          </a:p>
          <a:p>
            <a:r>
              <a:rPr lang="en-US" dirty="0"/>
              <a:t>An element with position: fixed; is positioned relative to the viewport, which means it always stays in the same place even if the page is scrolled. </a:t>
            </a:r>
          </a:p>
          <a:p>
            <a:r>
              <a:rPr lang="en-US" dirty="0"/>
              <a:t>The top, right, bottom, and left properties are used to position the element.</a:t>
            </a:r>
          </a:p>
          <a:p>
            <a:r>
              <a:rPr lang="en-US" dirty="0"/>
              <a:t>A fixed element does not leave a gap in the page where it would normally have been located.</a:t>
            </a:r>
          </a:p>
          <a:p>
            <a:endParaRPr lang="en-IN" dirty="0"/>
          </a:p>
        </p:txBody>
      </p:sp>
      <p:sp>
        <p:nvSpPr>
          <p:cNvPr id="5" name="TextBox 4">
            <a:extLst>
              <a:ext uri="{FF2B5EF4-FFF2-40B4-BE49-F238E27FC236}">
                <a16:creationId xmlns:a16="http://schemas.microsoft.com/office/drawing/2014/main" id="{68DF899E-51C1-0431-3260-0AE933BE88B1}"/>
              </a:ext>
            </a:extLst>
          </p:cNvPr>
          <p:cNvSpPr txBox="1"/>
          <p:nvPr/>
        </p:nvSpPr>
        <p:spPr>
          <a:xfrm>
            <a:off x="-622169" y="3884563"/>
            <a:ext cx="6096000" cy="2308324"/>
          </a:xfrm>
          <a:prstGeom prst="rect">
            <a:avLst/>
          </a:prstGeom>
          <a:noFill/>
        </p:spPr>
        <p:txBody>
          <a:bodyPr wrap="square">
            <a:spAutoFit/>
          </a:bodyPr>
          <a:lstStyle/>
          <a:p>
            <a:pPr marL="1350963" lvl="3" indent="0">
              <a:buNone/>
            </a:pPr>
            <a:r>
              <a:rPr lang="en-US" dirty="0">
                <a:latin typeface="Proxima Nova" panose="020B0604020202020204"/>
              </a:rPr>
              <a:t>&lt;style&gt;</a:t>
            </a:r>
          </a:p>
          <a:p>
            <a:pPr marL="1350963" lvl="3" indent="0">
              <a:buNone/>
            </a:pPr>
            <a:r>
              <a:rPr lang="en-US" dirty="0" err="1">
                <a:latin typeface="Proxima Nova" panose="020B0604020202020204"/>
              </a:rPr>
              <a:t>div.fixed</a:t>
            </a:r>
            <a:r>
              <a:rPr lang="en-US" dirty="0">
                <a:latin typeface="Proxima Nova" panose="020B0604020202020204"/>
              </a:rPr>
              <a:t> {</a:t>
            </a:r>
          </a:p>
          <a:p>
            <a:pPr marL="1350963" lvl="3" indent="0">
              <a:buNone/>
            </a:pPr>
            <a:r>
              <a:rPr lang="en-US" dirty="0">
                <a:latin typeface="Proxima Nova" panose="020B0604020202020204"/>
              </a:rPr>
              <a:t>  position: fixed;</a:t>
            </a:r>
          </a:p>
          <a:p>
            <a:pPr marL="1350963" lvl="3" indent="0">
              <a:buNone/>
            </a:pPr>
            <a:r>
              <a:rPr lang="en-US" dirty="0">
                <a:latin typeface="Proxima Nova" panose="020B0604020202020204"/>
              </a:rPr>
              <a:t>  bottom: 10;</a:t>
            </a:r>
          </a:p>
          <a:p>
            <a:pPr marL="1350963" lvl="3" indent="0">
              <a:buNone/>
            </a:pPr>
            <a:r>
              <a:rPr lang="en-US" dirty="0">
                <a:latin typeface="Proxima Nova" panose="020B0604020202020204"/>
              </a:rPr>
              <a:t>  right:10;</a:t>
            </a:r>
          </a:p>
          <a:p>
            <a:pPr marL="1350963" lvl="3" indent="0">
              <a:buNone/>
            </a:pPr>
            <a:r>
              <a:rPr lang="en-US" dirty="0">
                <a:latin typeface="Proxima Nova" panose="020B0604020202020204"/>
              </a:rPr>
              <a:t>  width: 300px;</a:t>
            </a:r>
          </a:p>
          <a:p>
            <a:pPr marL="1350963" lvl="3" indent="0">
              <a:buNone/>
            </a:pPr>
            <a:r>
              <a:rPr lang="en-US" dirty="0">
                <a:latin typeface="Proxima Nova" panose="020B0604020202020204"/>
              </a:rPr>
              <a:t>  border: 3px solid #73AD21;</a:t>
            </a:r>
          </a:p>
          <a:p>
            <a:pPr marL="1350963" lvl="3" indent="0">
              <a:buNone/>
            </a:pPr>
            <a:r>
              <a:rPr lang="en-US" dirty="0">
                <a:latin typeface="Proxima Nova" panose="020B0604020202020204"/>
              </a:rPr>
              <a:t>}&lt;/style&gt;</a:t>
            </a:r>
          </a:p>
        </p:txBody>
      </p:sp>
      <p:pic>
        <p:nvPicPr>
          <p:cNvPr id="6" name="Picture 5">
            <a:extLst>
              <a:ext uri="{FF2B5EF4-FFF2-40B4-BE49-F238E27FC236}">
                <a16:creationId xmlns:a16="http://schemas.microsoft.com/office/drawing/2014/main" id="{A00F8BFE-D2F7-18E5-21E2-2143ECFF34F4}"/>
              </a:ext>
            </a:extLst>
          </p:cNvPr>
          <p:cNvPicPr>
            <a:picLocks noChangeAspect="1"/>
          </p:cNvPicPr>
          <p:nvPr/>
        </p:nvPicPr>
        <p:blipFill>
          <a:blip r:embed="rId2"/>
          <a:stretch>
            <a:fillRect/>
          </a:stretch>
        </p:blipFill>
        <p:spPr>
          <a:xfrm>
            <a:off x="3221168" y="5912358"/>
            <a:ext cx="4505325" cy="733425"/>
          </a:xfrm>
          <a:prstGeom prst="rect">
            <a:avLst/>
          </a:prstGeom>
          <a:ln w="19050">
            <a:solidFill>
              <a:schemeClr val="tx1"/>
            </a:solidFill>
          </a:ln>
        </p:spPr>
      </p:pic>
      <p:sp>
        <p:nvSpPr>
          <p:cNvPr id="7" name="TextBox 6">
            <a:extLst>
              <a:ext uri="{FF2B5EF4-FFF2-40B4-BE49-F238E27FC236}">
                <a16:creationId xmlns:a16="http://schemas.microsoft.com/office/drawing/2014/main" id="{54E6BF3F-981E-1DE7-ECB5-6F4A3ABBCB06}"/>
              </a:ext>
            </a:extLst>
          </p:cNvPr>
          <p:cNvSpPr txBox="1"/>
          <p:nvPr/>
        </p:nvSpPr>
        <p:spPr>
          <a:xfrm>
            <a:off x="4755356" y="3982134"/>
            <a:ext cx="6405562" cy="1477328"/>
          </a:xfrm>
          <a:prstGeom prst="rect">
            <a:avLst/>
          </a:prstGeom>
          <a:noFill/>
        </p:spPr>
        <p:txBody>
          <a:bodyPr wrap="square">
            <a:spAutoFit/>
          </a:bodyPr>
          <a:lstStyle/>
          <a:p>
            <a:pPr marL="0" indent="0">
              <a:buNone/>
            </a:pPr>
            <a:r>
              <a:rPr lang="en-US" sz="1800" dirty="0">
                <a:latin typeface="Proxima Nova" panose="020B0604020202020204"/>
              </a:rPr>
              <a:t>	&lt;body&gt;</a:t>
            </a:r>
          </a:p>
          <a:p>
            <a:pPr marL="0" indent="0">
              <a:buNone/>
            </a:pPr>
            <a:r>
              <a:rPr lang="en-US" sz="1800" dirty="0">
                <a:latin typeface="Proxima Nova" panose="020B0604020202020204"/>
              </a:rPr>
              <a:t>		&lt;div class=“fixed"&gt;</a:t>
            </a:r>
          </a:p>
          <a:p>
            <a:pPr marL="0" indent="0">
              <a:buNone/>
            </a:pPr>
            <a:r>
              <a:rPr lang="en-US" sz="1800" dirty="0">
                <a:latin typeface="Proxima Nova" panose="020B0604020202020204"/>
              </a:rPr>
              <a:t>		This div element has position: fixed;</a:t>
            </a:r>
          </a:p>
          <a:p>
            <a:pPr marL="0" indent="0">
              <a:buNone/>
            </a:pPr>
            <a:r>
              <a:rPr lang="en-US" sz="1800" dirty="0">
                <a:latin typeface="Proxima Nova" panose="020B0604020202020204"/>
              </a:rPr>
              <a:t>		&lt;/div&gt;</a:t>
            </a:r>
          </a:p>
          <a:p>
            <a:pPr marL="0" indent="0">
              <a:buNone/>
            </a:pPr>
            <a:r>
              <a:rPr lang="en-US" sz="1800" dirty="0">
                <a:latin typeface="Proxima Nova" panose="020B0604020202020204"/>
              </a:rPr>
              <a:t>	&lt;/body&gt;</a:t>
            </a:r>
          </a:p>
        </p:txBody>
      </p:sp>
    </p:spTree>
    <p:extLst>
      <p:ext uri="{BB962C8B-B14F-4D97-AF65-F5344CB8AC3E}">
        <p14:creationId xmlns:p14="http://schemas.microsoft.com/office/powerpoint/2010/main" val="419077688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621E8-C558-F643-E493-A417E044B5F4}"/>
              </a:ext>
            </a:extLst>
          </p:cNvPr>
          <p:cNvSpPr>
            <a:spLocks noGrp="1"/>
          </p:cNvSpPr>
          <p:nvPr>
            <p:ph type="title"/>
          </p:nvPr>
        </p:nvSpPr>
        <p:spPr/>
        <p:txBody>
          <a:bodyPr/>
          <a:lstStyle/>
          <a:p>
            <a:r>
              <a:rPr lang="en-US" dirty="0"/>
              <a:t>position: absolute;</a:t>
            </a:r>
            <a:br>
              <a:rPr lang="en-US" dirty="0"/>
            </a:br>
            <a:endParaRPr lang="en-IN" dirty="0"/>
          </a:p>
        </p:txBody>
      </p:sp>
      <p:sp>
        <p:nvSpPr>
          <p:cNvPr id="3" name="Content Placeholder 2">
            <a:extLst>
              <a:ext uri="{FF2B5EF4-FFF2-40B4-BE49-F238E27FC236}">
                <a16:creationId xmlns:a16="http://schemas.microsoft.com/office/drawing/2014/main" id="{0F0457EE-71C8-2F22-FB75-5FBD9BDEC06E}"/>
              </a:ext>
            </a:extLst>
          </p:cNvPr>
          <p:cNvSpPr>
            <a:spLocks noGrp="1"/>
          </p:cNvSpPr>
          <p:nvPr>
            <p:ph idx="1"/>
          </p:nvPr>
        </p:nvSpPr>
        <p:spPr/>
        <p:txBody>
          <a:bodyPr/>
          <a:lstStyle/>
          <a:p>
            <a:r>
              <a:rPr lang="en-US" b="1" dirty="0"/>
              <a:t>position: absolute;</a:t>
            </a:r>
          </a:p>
          <a:p>
            <a:r>
              <a:rPr lang="en-US" dirty="0"/>
              <a:t>An element with position: absolute; is positioned relative to the nearest positioned ancestor (instead of positioned relative to the viewport, like fixed).</a:t>
            </a:r>
          </a:p>
          <a:p>
            <a:r>
              <a:rPr lang="en-US" dirty="0"/>
              <a:t>However; if an absolute positioned element has no positioned ancestors, it uses the document body, and moves along with page scrolling.</a:t>
            </a:r>
          </a:p>
          <a:p>
            <a:r>
              <a:rPr lang="en-US" dirty="0"/>
              <a:t>Note: Absolute positioned elements are removed from the normal flow, and can overlap elements.</a:t>
            </a:r>
          </a:p>
          <a:p>
            <a:endParaRPr lang="en-IN" dirty="0"/>
          </a:p>
        </p:txBody>
      </p:sp>
    </p:spTree>
    <p:extLst>
      <p:ext uri="{BB962C8B-B14F-4D97-AF65-F5344CB8AC3E}">
        <p14:creationId xmlns:p14="http://schemas.microsoft.com/office/powerpoint/2010/main" val="1720377186"/>
      </p:ext>
    </p:extLst>
  </p:cSld>
  <p:clrMapOvr>
    <a:masterClrMapping/>
  </p:clrMapOvr>
  <p:transition spd="slow">
    <p:wip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78B68-ED80-D1D4-54AC-08D69A10EE00}"/>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E90DF480-8805-39E4-EE79-AEF9F340A13A}"/>
              </a:ext>
            </a:extLst>
          </p:cNvPr>
          <p:cNvSpPr txBox="1"/>
          <p:nvPr/>
        </p:nvSpPr>
        <p:spPr>
          <a:xfrm>
            <a:off x="495300" y="1406396"/>
            <a:ext cx="6096000" cy="4524315"/>
          </a:xfrm>
          <a:prstGeom prst="rect">
            <a:avLst/>
          </a:prstGeom>
          <a:noFill/>
        </p:spPr>
        <p:txBody>
          <a:bodyPr wrap="square">
            <a:spAutoFit/>
          </a:bodyPr>
          <a:lstStyle/>
          <a:p>
            <a:r>
              <a:rPr lang="en-US" dirty="0">
                <a:latin typeface="Proxima Nova" panose="020B0604020202020204"/>
                <a:ea typeface="Cambria" panose="02040503050406030204" pitchFamily="18" charset="0"/>
              </a:rPr>
              <a:t>&lt;style&gt;</a:t>
            </a:r>
          </a:p>
          <a:p>
            <a:pPr lvl="3"/>
            <a:r>
              <a:rPr lang="en-US" dirty="0" err="1">
                <a:latin typeface="Proxima Nova" panose="020B0604020202020204"/>
                <a:ea typeface="Cambria" panose="02040503050406030204" pitchFamily="18" charset="0"/>
              </a:rPr>
              <a:t>div.relative</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position: relative;</a:t>
            </a:r>
          </a:p>
          <a:p>
            <a:pPr lvl="3"/>
            <a:r>
              <a:rPr lang="en-US" dirty="0">
                <a:latin typeface="Proxima Nova" panose="020B0604020202020204"/>
                <a:ea typeface="Cambria" panose="02040503050406030204" pitchFamily="18" charset="0"/>
              </a:rPr>
              <a:t>  width: 400px;</a:t>
            </a:r>
          </a:p>
          <a:p>
            <a:pPr lvl="3"/>
            <a:r>
              <a:rPr lang="en-US" dirty="0">
                <a:latin typeface="Proxima Nova" panose="020B0604020202020204"/>
                <a:ea typeface="Cambria" panose="02040503050406030204" pitchFamily="18" charset="0"/>
              </a:rPr>
              <a:t>  height: 200px;</a:t>
            </a:r>
          </a:p>
          <a:p>
            <a:pPr lvl="3"/>
            <a:r>
              <a:rPr lang="en-US" dirty="0">
                <a:latin typeface="Proxima Nova" panose="020B0604020202020204"/>
                <a:ea typeface="Cambria" panose="02040503050406030204" pitchFamily="18" charset="0"/>
              </a:rPr>
              <a:t>  border: 3px solid #73AD21;</a:t>
            </a:r>
          </a:p>
          <a:p>
            <a:pPr lvl="3"/>
            <a:r>
              <a:rPr lang="en-US" dirty="0">
                <a:latin typeface="Proxima Nova" panose="020B0604020202020204"/>
                <a:ea typeface="Cambria" panose="02040503050406030204" pitchFamily="18" charset="0"/>
              </a:rPr>
              <a:t>} </a:t>
            </a:r>
          </a:p>
          <a:p>
            <a:pPr lvl="3"/>
            <a:r>
              <a:rPr lang="en-US" dirty="0" err="1">
                <a:latin typeface="Proxima Nova" panose="020B0604020202020204"/>
                <a:ea typeface="Cambria" panose="02040503050406030204" pitchFamily="18" charset="0"/>
              </a:rPr>
              <a:t>div.absolute</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position: absolute;</a:t>
            </a:r>
          </a:p>
          <a:p>
            <a:pPr lvl="3"/>
            <a:r>
              <a:rPr lang="en-US" dirty="0">
                <a:latin typeface="Proxima Nova" panose="020B0604020202020204"/>
                <a:ea typeface="Cambria" panose="02040503050406030204" pitchFamily="18" charset="0"/>
              </a:rPr>
              <a:t>  top: 80px;</a:t>
            </a:r>
          </a:p>
          <a:p>
            <a:pPr lvl="3"/>
            <a:r>
              <a:rPr lang="en-US" dirty="0">
                <a:latin typeface="Proxima Nova" panose="020B0604020202020204"/>
                <a:ea typeface="Cambria" panose="02040503050406030204" pitchFamily="18" charset="0"/>
              </a:rPr>
              <a:t>  right: 0;</a:t>
            </a:r>
          </a:p>
          <a:p>
            <a:pPr lvl="3"/>
            <a:r>
              <a:rPr lang="en-US" dirty="0">
                <a:latin typeface="Proxima Nova" panose="020B0604020202020204"/>
                <a:ea typeface="Cambria" panose="02040503050406030204" pitchFamily="18" charset="0"/>
              </a:rPr>
              <a:t>  width: 200px;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border: 3px solid #73AD21;</a:t>
            </a:r>
          </a:p>
          <a:p>
            <a:pPr lvl="3"/>
            <a:r>
              <a:rPr lang="en-US" dirty="0">
                <a:latin typeface="Proxima Nova" panose="020B0604020202020204"/>
                <a:ea typeface="Cambria" panose="02040503050406030204" pitchFamily="18" charset="0"/>
              </a:rPr>
              <a:t>}</a:t>
            </a:r>
          </a:p>
          <a:p>
            <a:r>
              <a:rPr lang="en-US" dirty="0">
                <a:latin typeface="Proxima Nova" panose="020B0604020202020204"/>
                <a:ea typeface="Cambria" panose="02040503050406030204" pitchFamily="18" charset="0"/>
              </a:rPr>
              <a:t>&lt;/style&gt;</a:t>
            </a:r>
          </a:p>
        </p:txBody>
      </p:sp>
      <p:sp>
        <p:nvSpPr>
          <p:cNvPr id="7" name="TextBox 6">
            <a:extLst>
              <a:ext uri="{FF2B5EF4-FFF2-40B4-BE49-F238E27FC236}">
                <a16:creationId xmlns:a16="http://schemas.microsoft.com/office/drawing/2014/main" id="{98AFA353-DC00-5B49-1691-30CAC3AD5518}"/>
              </a:ext>
            </a:extLst>
          </p:cNvPr>
          <p:cNvSpPr txBox="1"/>
          <p:nvPr/>
        </p:nvSpPr>
        <p:spPr>
          <a:xfrm>
            <a:off x="5924550" y="1094453"/>
            <a:ext cx="6096000" cy="2031325"/>
          </a:xfrm>
          <a:prstGeom prst="rect">
            <a:avLst/>
          </a:prstGeom>
          <a:noFill/>
        </p:spPr>
        <p:txBody>
          <a:bodyPr wrap="square">
            <a:spAutoFit/>
          </a:bodyPr>
          <a:lstStyle/>
          <a:p>
            <a:r>
              <a:rPr lang="en-US" dirty="0">
                <a:latin typeface="Proxima Nova" panose="020B0604020202020204"/>
                <a:ea typeface="Cambria" panose="02040503050406030204" pitchFamily="18" charset="0"/>
              </a:rPr>
              <a:t>	&lt;body&gt;</a:t>
            </a:r>
          </a:p>
          <a:p>
            <a:pPr lvl="2"/>
            <a:r>
              <a:rPr lang="en-US" dirty="0">
                <a:latin typeface="Proxima Nova" panose="020B0604020202020204"/>
                <a:ea typeface="Cambria" panose="02040503050406030204" pitchFamily="18" charset="0"/>
              </a:rPr>
              <a:t>&lt;div class="relative"&gt;This div element has position: relative;</a:t>
            </a:r>
          </a:p>
          <a:p>
            <a:pPr lvl="2"/>
            <a:r>
              <a:rPr lang="en-US" dirty="0">
                <a:latin typeface="Proxima Nova" panose="020B0604020202020204"/>
                <a:ea typeface="Cambria" panose="02040503050406030204" pitchFamily="18" charset="0"/>
              </a:rPr>
              <a:t>  &lt;div class="absolute"&gt;This div element has position: absolute;&lt;/div&gt;</a:t>
            </a:r>
          </a:p>
          <a:p>
            <a:pPr lvl="2"/>
            <a:r>
              <a:rPr lang="en-US" dirty="0">
                <a:latin typeface="Proxima Nova" panose="020B0604020202020204"/>
                <a:ea typeface="Cambria" panose="02040503050406030204" pitchFamily="18" charset="0"/>
              </a:rPr>
              <a:t>&lt;/div&gt;</a:t>
            </a:r>
          </a:p>
          <a:p>
            <a:r>
              <a:rPr lang="en-US" dirty="0">
                <a:latin typeface="Proxima Nova" panose="020B0604020202020204"/>
                <a:ea typeface="Cambria" panose="02040503050406030204" pitchFamily="18" charset="0"/>
              </a:rPr>
              <a:t>	&lt;/body&gt;</a:t>
            </a:r>
          </a:p>
        </p:txBody>
      </p:sp>
      <p:pic>
        <p:nvPicPr>
          <p:cNvPr id="8" name="Content Placeholder 4">
            <a:extLst>
              <a:ext uri="{FF2B5EF4-FFF2-40B4-BE49-F238E27FC236}">
                <a16:creationId xmlns:a16="http://schemas.microsoft.com/office/drawing/2014/main" id="{CA7D10B2-5725-7881-1BEA-FDFF9AE82224}"/>
              </a:ext>
            </a:extLst>
          </p:cNvPr>
          <p:cNvPicPr>
            <a:picLocks noChangeAspect="1"/>
          </p:cNvPicPr>
          <p:nvPr/>
        </p:nvPicPr>
        <p:blipFill>
          <a:blip r:embed="rId2"/>
          <a:stretch>
            <a:fillRect/>
          </a:stretch>
        </p:blipFill>
        <p:spPr>
          <a:xfrm>
            <a:off x="5985359" y="3082470"/>
            <a:ext cx="5191125" cy="2771775"/>
          </a:xfrm>
          <a:prstGeom prst="rect">
            <a:avLst/>
          </a:prstGeom>
          <a:ln w="19050">
            <a:solidFill>
              <a:schemeClr val="tx1"/>
            </a:solidFill>
          </a:ln>
        </p:spPr>
      </p:pic>
    </p:spTree>
    <p:extLst>
      <p:ext uri="{BB962C8B-B14F-4D97-AF65-F5344CB8AC3E}">
        <p14:creationId xmlns:p14="http://schemas.microsoft.com/office/powerpoint/2010/main" val="272203219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BDA70-FBB4-F7B2-82A5-3FC9A491DCF6}"/>
              </a:ext>
            </a:extLst>
          </p:cNvPr>
          <p:cNvSpPr>
            <a:spLocks noGrp="1"/>
          </p:cNvSpPr>
          <p:nvPr>
            <p:ph type="title"/>
          </p:nvPr>
        </p:nvSpPr>
        <p:spPr/>
        <p:txBody>
          <a:bodyPr/>
          <a:lstStyle/>
          <a:p>
            <a:r>
              <a:rPr lang="en-US" dirty="0"/>
              <a:t>position: sticky;</a:t>
            </a:r>
            <a:br>
              <a:rPr lang="en-US" dirty="0"/>
            </a:br>
            <a:endParaRPr lang="en-IN" dirty="0"/>
          </a:p>
        </p:txBody>
      </p:sp>
      <p:sp>
        <p:nvSpPr>
          <p:cNvPr id="3" name="Content Placeholder 2">
            <a:extLst>
              <a:ext uri="{FF2B5EF4-FFF2-40B4-BE49-F238E27FC236}">
                <a16:creationId xmlns:a16="http://schemas.microsoft.com/office/drawing/2014/main" id="{70AD569B-FDCC-D569-7E1E-2F11809944D5}"/>
              </a:ext>
            </a:extLst>
          </p:cNvPr>
          <p:cNvSpPr>
            <a:spLocks noGrp="1"/>
          </p:cNvSpPr>
          <p:nvPr>
            <p:ph idx="1"/>
          </p:nvPr>
        </p:nvSpPr>
        <p:spPr/>
        <p:txBody>
          <a:bodyPr/>
          <a:lstStyle/>
          <a:p>
            <a:r>
              <a:rPr lang="en-US" b="1" dirty="0"/>
              <a:t>position: sticky;</a:t>
            </a:r>
          </a:p>
          <a:p>
            <a:r>
              <a:rPr lang="en-US" dirty="0"/>
              <a:t>An element with position: sticky; is positioned based on the user's scroll position.</a:t>
            </a:r>
          </a:p>
          <a:p>
            <a:r>
              <a:rPr lang="en-US" dirty="0"/>
              <a:t>A sticky element toggles between relative and fixed, depending on the scroll position. It is positioned relative until a given offset position is met in the viewport - then it "sticks" in place (like </a:t>
            </a:r>
            <a:r>
              <a:rPr lang="en-US" dirty="0" err="1"/>
              <a:t>position:fixed</a:t>
            </a:r>
            <a:r>
              <a:rPr lang="en-US" dirty="0"/>
              <a:t>).</a:t>
            </a:r>
          </a:p>
          <a:p>
            <a:r>
              <a:rPr lang="en-US" dirty="0"/>
              <a:t>You must also specify at least one of top, right, bottom or left for sticky positioning to work.</a:t>
            </a:r>
          </a:p>
          <a:p>
            <a:endParaRPr lang="en-IN" dirty="0"/>
          </a:p>
        </p:txBody>
      </p:sp>
      <p:sp>
        <p:nvSpPr>
          <p:cNvPr id="5" name="TextBox 4">
            <a:extLst>
              <a:ext uri="{FF2B5EF4-FFF2-40B4-BE49-F238E27FC236}">
                <a16:creationId xmlns:a16="http://schemas.microsoft.com/office/drawing/2014/main" id="{1F7D9110-4782-2F2D-BB11-B390A1E6E2EC}"/>
              </a:ext>
            </a:extLst>
          </p:cNvPr>
          <p:cNvSpPr txBox="1"/>
          <p:nvPr/>
        </p:nvSpPr>
        <p:spPr>
          <a:xfrm>
            <a:off x="-123825" y="3721864"/>
            <a:ext cx="6096000" cy="2862322"/>
          </a:xfrm>
          <a:prstGeom prst="rect">
            <a:avLst/>
          </a:prstGeom>
          <a:noFill/>
        </p:spPr>
        <p:txBody>
          <a:bodyPr wrap="square">
            <a:spAutoFit/>
          </a:bodyPr>
          <a:lstStyle/>
          <a:p>
            <a:r>
              <a:rPr lang="en-US" dirty="0">
                <a:latin typeface="Proxima Nova" panose="020B0604020202020204"/>
                <a:ea typeface="Cambria" panose="02040503050406030204" pitchFamily="18" charset="0"/>
              </a:rPr>
              <a:t>	&lt;style&gt;</a:t>
            </a:r>
          </a:p>
          <a:p>
            <a:pPr lvl="3"/>
            <a:r>
              <a:rPr lang="en-US" dirty="0" err="1">
                <a:latin typeface="Proxima Nova" panose="020B0604020202020204"/>
                <a:ea typeface="Cambria" panose="02040503050406030204" pitchFamily="18" charset="0"/>
              </a:rPr>
              <a:t>div.sticky</a:t>
            </a:r>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a:t>
            </a:r>
          </a:p>
          <a:p>
            <a:pPr lvl="3"/>
            <a:r>
              <a:rPr lang="en-US" dirty="0">
                <a:latin typeface="Proxima Nova" panose="020B0604020202020204"/>
                <a:ea typeface="Cambria" panose="02040503050406030204" pitchFamily="18" charset="0"/>
              </a:rPr>
              <a:t>  position: sticky;</a:t>
            </a:r>
          </a:p>
          <a:p>
            <a:pPr lvl="3"/>
            <a:r>
              <a:rPr lang="en-US" dirty="0">
                <a:latin typeface="Proxima Nova" panose="020B0604020202020204"/>
                <a:ea typeface="Cambria" panose="02040503050406030204" pitchFamily="18" charset="0"/>
              </a:rPr>
              <a:t>  top: 0;</a:t>
            </a:r>
          </a:p>
          <a:p>
            <a:pPr lvl="3"/>
            <a:r>
              <a:rPr lang="en-US" dirty="0">
                <a:latin typeface="Proxima Nova" panose="020B0604020202020204"/>
                <a:ea typeface="Cambria" panose="02040503050406030204" pitchFamily="18" charset="0"/>
              </a:rPr>
              <a:t>  padding: 5px;</a:t>
            </a:r>
          </a:p>
          <a:p>
            <a:pPr lvl="3"/>
            <a:r>
              <a:rPr lang="en-US" dirty="0">
                <a:latin typeface="Proxima Nova" panose="020B0604020202020204"/>
                <a:ea typeface="Cambria" panose="02040503050406030204" pitchFamily="18" charset="0"/>
              </a:rPr>
              <a:t>  background-color: #cae8ca;</a:t>
            </a:r>
          </a:p>
          <a:p>
            <a:pPr lvl="3"/>
            <a:r>
              <a:rPr lang="en-US" dirty="0">
                <a:latin typeface="Proxima Nova" panose="020B0604020202020204"/>
                <a:ea typeface="Cambria" panose="02040503050406030204" pitchFamily="18" charset="0"/>
              </a:rPr>
              <a:t>  border: 2px solid #4CAF50;</a:t>
            </a:r>
          </a:p>
          <a:p>
            <a:pPr lvl="3"/>
            <a:r>
              <a:rPr lang="en-US" dirty="0">
                <a:latin typeface="Proxima Nova" panose="020B0604020202020204"/>
                <a:ea typeface="Cambria" panose="02040503050406030204" pitchFamily="18" charset="0"/>
              </a:rPr>
              <a:t>}</a:t>
            </a:r>
          </a:p>
          <a:p>
            <a:r>
              <a:rPr lang="en-US" dirty="0">
                <a:latin typeface="Proxima Nova" panose="020B0604020202020204"/>
                <a:ea typeface="Cambria" panose="02040503050406030204" pitchFamily="18" charset="0"/>
              </a:rPr>
              <a:t>	&lt;/style&gt;</a:t>
            </a:r>
          </a:p>
        </p:txBody>
      </p:sp>
      <p:sp>
        <p:nvSpPr>
          <p:cNvPr id="9" name="TextBox 8">
            <a:extLst>
              <a:ext uri="{FF2B5EF4-FFF2-40B4-BE49-F238E27FC236}">
                <a16:creationId xmlns:a16="http://schemas.microsoft.com/office/drawing/2014/main" id="{0CE0D267-4DCF-3942-A98B-8DB704397958}"/>
              </a:ext>
            </a:extLst>
          </p:cNvPr>
          <p:cNvSpPr txBox="1"/>
          <p:nvPr/>
        </p:nvSpPr>
        <p:spPr>
          <a:xfrm>
            <a:off x="3811718" y="3721864"/>
            <a:ext cx="7427781" cy="3416320"/>
          </a:xfrm>
          <a:prstGeom prst="rect">
            <a:avLst/>
          </a:prstGeom>
          <a:noFill/>
        </p:spPr>
        <p:txBody>
          <a:bodyPr wrap="square">
            <a:spAutoFit/>
          </a:bodyPr>
          <a:lstStyle/>
          <a:p>
            <a:pPr lvl="2"/>
            <a:r>
              <a:rPr lang="en-US" dirty="0">
                <a:latin typeface="Proxima Nova" panose="020B0604020202020204"/>
                <a:ea typeface="Cambria" panose="02040503050406030204" pitchFamily="18" charset="0"/>
              </a:rPr>
              <a:t>&lt;div class="sticky"&gt;I am sticky!&lt;/div&gt;</a:t>
            </a:r>
          </a:p>
          <a:p>
            <a:pPr lvl="2"/>
            <a:r>
              <a:rPr lang="en-US" dirty="0">
                <a:latin typeface="Proxima Nova" panose="020B0604020202020204"/>
                <a:ea typeface="Cambria" panose="02040503050406030204" pitchFamily="18" charset="0"/>
              </a:rPr>
              <a:t>&lt;div style="padding-bottom:2000px"&gt;</a:t>
            </a:r>
          </a:p>
          <a:p>
            <a:pPr lvl="2"/>
            <a:r>
              <a:rPr lang="en-US" dirty="0">
                <a:latin typeface="Proxima Nova" panose="020B0604020202020204"/>
                <a:ea typeface="Cambria" panose="02040503050406030204" pitchFamily="18" charset="0"/>
              </a:rPr>
              <a:t> &lt;p&gt;In this example, the sticky element sticks to the top of the page (top: 0), when you reach its scroll position.&lt;/p&gt;</a:t>
            </a:r>
          </a:p>
          <a:p>
            <a:pPr lvl="2"/>
            <a:r>
              <a:rPr lang="en-US" dirty="0">
                <a:latin typeface="Proxima Nova" panose="020B0604020202020204"/>
                <a:ea typeface="Cambria" panose="02040503050406030204" pitchFamily="18" charset="0"/>
              </a:rPr>
              <a:t>&lt;p&gt;Scroll back up to remove the </a:t>
            </a:r>
            <a:r>
              <a:rPr lang="en-US" dirty="0" err="1">
                <a:latin typeface="Proxima Nova" panose="020B0604020202020204"/>
                <a:ea typeface="Cambria" panose="02040503050406030204" pitchFamily="18" charset="0"/>
              </a:rPr>
              <a:t>stickyness</a:t>
            </a:r>
            <a:r>
              <a:rPr lang="en-US" dirty="0">
                <a:latin typeface="Proxima Nova" panose="020B0604020202020204"/>
                <a:ea typeface="Cambria" panose="02040503050406030204" pitchFamily="18" charset="0"/>
              </a:rPr>
              <a:t>.&lt;/p&gt;</a:t>
            </a:r>
          </a:p>
          <a:p>
            <a:pPr lvl="2"/>
            <a:r>
              <a:rPr lang="en-US" dirty="0">
                <a:latin typeface="Proxima Nova" panose="020B0604020202020204"/>
                <a:ea typeface="Cambria" panose="02040503050406030204" pitchFamily="18" charset="0"/>
              </a:rPr>
              <a:t>&lt;p&gt;Some text to enable scrolling.. Lorem ipsum dolor sit </a:t>
            </a:r>
            <a:r>
              <a:rPr lang="en-US" dirty="0" err="1">
                <a:latin typeface="Proxima Nova" panose="020B0604020202020204"/>
                <a:ea typeface="Cambria" panose="02040503050406030204" pitchFamily="18" charset="0"/>
              </a:rPr>
              <a:t>amet</a:t>
            </a:r>
            <a:r>
              <a:rPr lang="en-US" dirty="0">
                <a:latin typeface="Proxima Nova" panose="020B0604020202020204"/>
                <a:ea typeface="Cambria" panose="02040503050406030204" pitchFamily="18" charset="0"/>
              </a:rPr>
              <a:t>, illum </a:t>
            </a:r>
            <a:r>
              <a:rPr lang="en-US" dirty="0" err="1">
                <a:latin typeface="Proxima Nova" panose="020B0604020202020204"/>
                <a:ea typeface="Cambria" panose="02040503050406030204" pitchFamily="18" charset="0"/>
              </a:rPr>
              <a:t>definitiones</a:t>
            </a:r>
            <a:r>
              <a:rPr lang="en-US" dirty="0">
                <a:latin typeface="Proxima Nova" panose="020B0604020202020204"/>
                <a:ea typeface="Cambria" panose="02040503050406030204" pitchFamily="18" charset="0"/>
              </a:rPr>
              <a:t> no quo, </a:t>
            </a:r>
            <a:r>
              <a:rPr lang="en-US" dirty="0" err="1">
                <a:latin typeface="Proxima Nova" panose="020B0604020202020204"/>
                <a:ea typeface="Cambria" panose="02040503050406030204" pitchFamily="18" charset="0"/>
              </a:rPr>
              <a:t>maluisset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concludaturque</a:t>
            </a:r>
            <a:r>
              <a:rPr lang="en-US" dirty="0">
                <a:latin typeface="Proxima Nova" panose="020B0604020202020204"/>
                <a:ea typeface="Cambria" panose="02040503050406030204" pitchFamily="18" charset="0"/>
              </a:rPr>
              <a:t> et </a:t>
            </a:r>
            <a:r>
              <a:rPr lang="en-US" dirty="0" err="1">
                <a:latin typeface="Proxima Nova" panose="020B0604020202020204"/>
                <a:ea typeface="Cambria" panose="02040503050406030204" pitchFamily="18" charset="0"/>
              </a:rPr>
              <a:t>eum</a:t>
            </a:r>
            <a:r>
              <a:rPr lang="en-US" dirty="0">
                <a:latin typeface="Proxima Nova" panose="020B0604020202020204"/>
                <a:ea typeface="Cambria" panose="02040503050406030204" pitchFamily="18" charset="0"/>
              </a:rPr>
              <a:t>, altera </a:t>
            </a:r>
            <a:r>
              <a:rPr lang="en-US" dirty="0" err="1">
                <a:latin typeface="Proxima Nova" panose="020B0604020202020204"/>
                <a:ea typeface="Cambria" panose="02040503050406030204" pitchFamily="18" charset="0"/>
              </a:rPr>
              <a:t>fabulas</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ut</a:t>
            </a:r>
            <a:r>
              <a:rPr lang="en-US" dirty="0">
                <a:latin typeface="Proxima Nova" panose="020B0604020202020204"/>
                <a:ea typeface="Cambria" panose="02040503050406030204" pitchFamily="18" charset="0"/>
              </a:rPr>
              <a:t> quo. </a:t>
            </a:r>
            <a:r>
              <a:rPr lang="en-US" dirty="0" err="1">
                <a:latin typeface="Proxima Nova" panose="020B0604020202020204"/>
                <a:ea typeface="Cambria" panose="02040503050406030204" pitchFamily="18" charset="0"/>
              </a:rPr>
              <a:t>Atqui</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causae</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gloriatur</a:t>
            </a:r>
            <a:r>
              <a:rPr lang="en-US" dirty="0">
                <a:latin typeface="Proxima Nova" panose="020B0604020202020204"/>
                <a:ea typeface="Cambria" panose="02040503050406030204" pitchFamily="18" charset="0"/>
              </a:rPr>
              <a:t> ius </a:t>
            </a:r>
            <a:r>
              <a:rPr lang="en-US" dirty="0" err="1">
                <a:latin typeface="Proxima Nova" panose="020B0604020202020204"/>
                <a:ea typeface="Cambria" panose="02040503050406030204" pitchFamily="18" charset="0"/>
              </a:rPr>
              <a:t>te</a:t>
            </a:r>
            <a:r>
              <a:rPr lang="en-US" dirty="0">
                <a:latin typeface="Proxima Nova" panose="020B0604020202020204"/>
                <a:ea typeface="Cambria" panose="02040503050406030204" pitchFamily="18" charset="0"/>
              </a:rPr>
              <a:t>, id </a:t>
            </a:r>
            <a:r>
              <a:rPr lang="en-US" dirty="0" err="1">
                <a:latin typeface="Proxima Nova" panose="020B0604020202020204"/>
                <a:ea typeface="Cambria" panose="02040503050406030204" pitchFamily="18" charset="0"/>
              </a:rPr>
              <a:t>agam</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omnis</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evertitur</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eum</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Affert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laboramus</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repudiandae</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nec</a:t>
            </a:r>
            <a:r>
              <a:rPr lang="en-US" dirty="0">
                <a:latin typeface="Proxima Nova" panose="020B0604020202020204"/>
                <a:ea typeface="Cambria" panose="02040503050406030204" pitchFamily="18" charset="0"/>
              </a:rPr>
              <a:t> et. </a:t>
            </a:r>
            <a:r>
              <a:rPr lang="en-US" dirty="0" err="1">
                <a:latin typeface="Proxima Nova" panose="020B0604020202020204"/>
                <a:ea typeface="Cambria" panose="02040503050406030204" pitchFamily="18" charset="0"/>
              </a:rPr>
              <a:t>Inciderint</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efficiantur</a:t>
            </a:r>
            <a:r>
              <a:rPr lang="en-US" dirty="0">
                <a:latin typeface="Proxima Nova" panose="020B0604020202020204"/>
                <a:ea typeface="Cambria" panose="02040503050406030204" pitchFamily="18" charset="0"/>
              </a:rPr>
              <a:t> his ad. </a:t>
            </a:r>
            <a:r>
              <a:rPr lang="en-US" dirty="0" err="1">
                <a:latin typeface="Proxima Nova" panose="020B0604020202020204"/>
                <a:ea typeface="Cambria" panose="02040503050406030204" pitchFamily="18" charset="0"/>
              </a:rPr>
              <a:t>Eum</a:t>
            </a:r>
            <a:r>
              <a:rPr lang="en-US" dirty="0">
                <a:latin typeface="Proxima Nova" panose="020B0604020202020204"/>
                <a:ea typeface="Cambria" panose="02040503050406030204" pitchFamily="18" charset="0"/>
              </a:rPr>
              <a:t> no </a:t>
            </a:r>
            <a:r>
              <a:rPr lang="en-US" dirty="0" err="1">
                <a:latin typeface="Proxima Nova" panose="020B0604020202020204"/>
                <a:ea typeface="Cambria" panose="02040503050406030204" pitchFamily="18" charset="0"/>
              </a:rPr>
              <a:t>molestiae</a:t>
            </a:r>
            <a:r>
              <a:rPr lang="en-US" dirty="0">
                <a:latin typeface="Proxima Nova" panose="020B0604020202020204"/>
                <a:ea typeface="Cambria" panose="02040503050406030204" pitchFamily="18" charset="0"/>
              </a:rPr>
              <a:t> </a:t>
            </a:r>
            <a:r>
              <a:rPr lang="en-US" dirty="0" err="1">
                <a:latin typeface="Proxima Nova" panose="020B0604020202020204"/>
                <a:ea typeface="Cambria" panose="02040503050406030204" pitchFamily="18" charset="0"/>
              </a:rPr>
              <a:t>voluptatibus</a:t>
            </a:r>
            <a:r>
              <a:rPr lang="en-US" dirty="0">
                <a:latin typeface="Proxima Nova" panose="020B0604020202020204"/>
                <a:ea typeface="Cambria" panose="02040503050406030204" pitchFamily="18" charset="0"/>
              </a:rPr>
              <a:t>.&lt;/p&gt;</a:t>
            </a:r>
          </a:p>
          <a:p>
            <a:pPr lvl="2"/>
            <a:endParaRPr lang="en-US" dirty="0">
              <a:latin typeface="Proxima Nova" panose="020B0604020202020204"/>
              <a:ea typeface="Cambria" panose="02040503050406030204" pitchFamily="18" charset="0"/>
            </a:endParaRPr>
          </a:p>
        </p:txBody>
      </p:sp>
    </p:spTree>
    <p:extLst>
      <p:ext uri="{BB962C8B-B14F-4D97-AF65-F5344CB8AC3E}">
        <p14:creationId xmlns:p14="http://schemas.microsoft.com/office/powerpoint/2010/main" val="16021023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DE9B-5088-80CB-4340-23F5BDD693C5}"/>
              </a:ext>
            </a:extLst>
          </p:cNvPr>
          <p:cNvSpPr>
            <a:spLocks noGrp="1"/>
          </p:cNvSpPr>
          <p:nvPr>
            <p:ph type="title"/>
          </p:nvPr>
        </p:nvSpPr>
        <p:spPr/>
        <p:txBody>
          <a:bodyPr/>
          <a:lstStyle/>
          <a:p>
            <a:r>
              <a:rPr lang="en-US" dirty="0"/>
              <a:t>Output</a:t>
            </a:r>
            <a:endParaRPr lang="en-IN" dirty="0"/>
          </a:p>
        </p:txBody>
      </p:sp>
      <p:pic>
        <p:nvPicPr>
          <p:cNvPr id="7" name="Picture 6">
            <a:extLst>
              <a:ext uri="{FF2B5EF4-FFF2-40B4-BE49-F238E27FC236}">
                <a16:creationId xmlns:a16="http://schemas.microsoft.com/office/drawing/2014/main" id="{602FA6DF-FF97-1603-B211-E83119A39DB5}"/>
              </a:ext>
            </a:extLst>
          </p:cNvPr>
          <p:cNvPicPr>
            <a:picLocks noChangeAspect="1"/>
          </p:cNvPicPr>
          <p:nvPr/>
        </p:nvPicPr>
        <p:blipFill>
          <a:blip r:embed="rId2"/>
          <a:stretch>
            <a:fillRect/>
          </a:stretch>
        </p:blipFill>
        <p:spPr>
          <a:xfrm>
            <a:off x="944693" y="4077275"/>
            <a:ext cx="9058275" cy="1285875"/>
          </a:xfrm>
          <a:prstGeom prst="rect">
            <a:avLst/>
          </a:prstGeom>
          <a:ln w="12700">
            <a:solidFill>
              <a:schemeClr val="tx1"/>
            </a:solidFill>
          </a:ln>
        </p:spPr>
      </p:pic>
      <p:pic>
        <p:nvPicPr>
          <p:cNvPr id="6" name="Picture 5">
            <a:extLst>
              <a:ext uri="{FF2B5EF4-FFF2-40B4-BE49-F238E27FC236}">
                <a16:creationId xmlns:a16="http://schemas.microsoft.com/office/drawing/2014/main" id="{B4B68EE3-2768-3AEC-7746-9F1B60609658}"/>
              </a:ext>
            </a:extLst>
          </p:cNvPr>
          <p:cNvPicPr>
            <a:picLocks noChangeAspect="1"/>
          </p:cNvPicPr>
          <p:nvPr/>
        </p:nvPicPr>
        <p:blipFill>
          <a:blip r:embed="rId3"/>
          <a:stretch>
            <a:fillRect/>
          </a:stretch>
        </p:blipFill>
        <p:spPr>
          <a:xfrm>
            <a:off x="944693" y="1765176"/>
            <a:ext cx="9058275" cy="2031097"/>
          </a:xfrm>
          <a:prstGeom prst="rect">
            <a:avLst/>
          </a:prstGeom>
          <a:ln w="19050">
            <a:solidFill>
              <a:schemeClr val="tx1"/>
            </a:solidFill>
          </a:ln>
        </p:spPr>
      </p:pic>
    </p:spTree>
    <p:extLst>
      <p:ext uri="{BB962C8B-B14F-4D97-AF65-F5344CB8AC3E}">
        <p14:creationId xmlns:p14="http://schemas.microsoft.com/office/powerpoint/2010/main" val="31249359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3694-7C58-4204-F1C9-3E12379B2CB1}"/>
              </a:ext>
            </a:extLst>
          </p:cNvPr>
          <p:cNvSpPr>
            <a:spLocks noGrp="1"/>
          </p:cNvSpPr>
          <p:nvPr>
            <p:ph type="title"/>
          </p:nvPr>
        </p:nvSpPr>
        <p:spPr/>
        <p:txBody>
          <a:bodyPr/>
          <a:lstStyle/>
          <a:p>
            <a:r>
              <a:rPr lang="en-IN" dirty="0"/>
              <a:t>Overlapping Elements Z-Index</a:t>
            </a:r>
          </a:p>
        </p:txBody>
      </p:sp>
      <p:sp>
        <p:nvSpPr>
          <p:cNvPr id="3" name="Content Placeholder 2">
            <a:extLst>
              <a:ext uri="{FF2B5EF4-FFF2-40B4-BE49-F238E27FC236}">
                <a16:creationId xmlns:a16="http://schemas.microsoft.com/office/drawing/2014/main" id="{EB14A9F0-3B54-3D80-1283-D4A3A7130BBD}"/>
              </a:ext>
            </a:extLst>
          </p:cNvPr>
          <p:cNvSpPr>
            <a:spLocks noGrp="1"/>
          </p:cNvSpPr>
          <p:nvPr>
            <p:ph idx="1"/>
          </p:nvPr>
        </p:nvSpPr>
        <p:spPr/>
        <p:txBody>
          <a:bodyPr>
            <a:normAutofit/>
          </a:bodyPr>
          <a:lstStyle/>
          <a:p>
            <a:r>
              <a:rPr lang="en-US" dirty="0"/>
              <a:t>When elements are positioned, they can overlap other elements.</a:t>
            </a:r>
          </a:p>
          <a:p>
            <a:r>
              <a:rPr lang="en-US" dirty="0"/>
              <a:t>The z-index  property specifies the stack order of an element (which element should be placed in front of, or behind, the others).</a:t>
            </a:r>
          </a:p>
          <a:p>
            <a:r>
              <a:rPr lang="en-US" dirty="0"/>
              <a:t>An element can have a positive or negative stack order.</a:t>
            </a:r>
          </a:p>
          <a:p>
            <a:pPr marL="182880" lvl="0" indent="-182880" algn="l">
              <a:lnSpc>
                <a:spcPct val="90000"/>
              </a:lnSpc>
              <a:spcBef>
                <a:spcPts val="1200"/>
              </a:spcBef>
              <a:buClr>
                <a:srgbClr val="40BAD2"/>
              </a:buClr>
              <a:buFont typeface="Wingdings 2" pitchFamily="18" charset="2"/>
              <a:buChar char=""/>
            </a:pPr>
            <a:r>
              <a:rPr lang="en-US" dirty="0"/>
              <a:t> </a:t>
            </a:r>
            <a:r>
              <a:rPr lang="en-US" dirty="0" err="1"/>
              <a:t>img</a:t>
            </a:r>
            <a:r>
              <a:rPr lang="en-US" dirty="0"/>
              <a:t> {</a:t>
            </a:r>
            <a:br>
              <a:rPr lang="en-US" dirty="0"/>
            </a:br>
            <a:r>
              <a:rPr lang="en-US" dirty="0"/>
              <a:t>  position: absolute;</a:t>
            </a:r>
            <a:br>
              <a:rPr lang="en-US" dirty="0"/>
            </a:br>
            <a:r>
              <a:rPr lang="en-US" dirty="0"/>
              <a:t>  left: 0px;</a:t>
            </a:r>
            <a:br>
              <a:rPr lang="en-US" dirty="0"/>
            </a:br>
            <a:r>
              <a:rPr lang="en-US" dirty="0"/>
              <a:t>  top: 0px;</a:t>
            </a:r>
            <a:br>
              <a:rPr lang="en-US" dirty="0"/>
            </a:br>
            <a:r>
              <a:rPr lang="en-US" dirty="0"/>
              <a:t>  z-index: -1;</a:t>
            </a:r>
            <a:br>
              <a:rPr lang="en-US" dirty="0"/>
            </a:br>
            <a:r>
              <a:rPr lang="en-US" dirty="0"/>
              <a:t>}</a:t>
            </a:r>
            <a:br>
              <a:rPr lang="en-US" dirty="0"/>
            </a:br>
            <a:endParaRPr lang="en-IN" dirty="0"/>
          </a:p>
          <a:p>
            <a:endParaRPr lang="en-IN" dirty="0"/>
          </a:p>
          <a:p>
            <a:endParaRPr lang="en-IN" dirty="0"/>
          </a:p>
          <a:p>
            <a:endParaRPr lang="en-IN" dirty="0"/>
          </a:p>
        </p:txBody>
      </p:sp>
      <p:pic>
        <p:nvPicPr>
          <p:cNvPr id="8" name="Picture 7">
            <a:extLst>
              <a:ext uri="{FF2B5EF4-FFF2-40B4-BE49-F238E27FC236}">
                <a16:creationId xmlns:a16="http://schemas.microsoft.com/office/drawing/2014/main" id="{83A309A4-AF9F-FC6E-00BB-575CD4D0A978}"/>
              </a:ext>
            </a:extLst>
          </p:cNvPr>
          <p:cNvPicPr>
            <a:picLocks noChangeAspect="1"/>
          </p:cNvPicPr>
          <p:nvPr/>
        </p:nvPicPr>
        <p:blipFill>
          <a:blip r:embed="rId2"/>
          <a:stretch>
            <a:fillRect/>
          </a:stretch>
        </p:blipFill>
        <p:spPr>
          <a:xfrm>
            <a:off x="5665247" y="3516752"/>
            <a:ext cx="3645745" cy="2931673"/>
          </a:xfrm>
          <a:prstGeom prst="rect">
            <a:avLst/>
          </a:prstGeom>
          <a:ln w="19050">
            <a:solidFill>
              <a:schemeClr val="tx1"/>
            </a:solidFill>
          </a:ln>
        </p:spPr>
      </p:pic>
    </p:spTree>
    <p:extLst>
      <p:ext uri="{BB962C8B-B14F-4D97-AF65-F5344CB8AC3E}">
        <p14:creationId xmlns:p14="http://schemas.microsoft.com/office/powerpoint/2010/main" val="30114258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C587-6282-AE29-0E12-F3A69C436F8B}"/>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D6BE23CD-895E-7F7E-68DD-3D239C074540}"/>
              </a:ext>
            </a:extLst>
          </p:cNvPr>
          <p:cNvSpPr txBox="1"/>
          <p:nvPr/>
        </p:nvSpPr>
        <p:spPr>
          <a:xfrm>
            <a:off x="285750" y="1196697"/>
            <a:ext cx="7029450" cy="6463308"/>
          </a:xfrm>
          <a:prstGeom prst="rect">
            <a:avLst/>
          </a:prstGeom>
          <a:noFill/>
        </p:spPr>
        <p:txBody>
          <a:bodyPr wrap="square">
            <a:spAutoFit/>
          </a:bodyPr>
          <a:lstStyle/>
          <a:p>
            <a:r>
              <a:rPr lang="en-US" sz="1600" dirty="0">
                <a:latin typeface="Proxima Nova" panose="020B0604020202020204"/>
                <a:ea typeface="Cambria" panose="02040503050406030204" pitchFamily="18" charset="0"/>
                <a:cs typeface="Arial" panose="020B0604020202020204" pitchFamily="34" charset="0"/>
              </a:rPr>
              <a:t>&lt;!DOCTYPE html&gt;</a:t>
            </a:r>
          </a:p>
          <a:p>
            <a:r>
              <a:rPr lang="en-US" sz="1600" dirty="0">
                <a:latin typeface="Proxima Nova" panose="020B0604020202020204"/>
                <a:ea typeface="Cambria" panose="02040503050406030204" pitchFamily="18" charset="0"/>
                <a:cs typeface="Arial" panose="020B0604020202020204" pitchFamily="34" charset="0"/>
              </a:rPr>
              <a:t>&lt;html&gt;</a:t>
            </a:r>
          </a:p>
          <a:p>
            <a:r>
              <a:rPr lang="en-US" sz="1600" dirty="0">
                <a:latin typeface="Proxima Nova" panose="020B0604020202020204"/>
                <a:ea typeface="Cambria" panose="02040503050406030204" pitchFamily="18" charset="0"/>
                <a:cs typeface="Arial" panose="020B0604020202020204" pitchFamily="34" charset="0"/>
              </a:rPr>
              <a:t>	&lt;head&gt;</a:t>
            </a:r>
          </a:p>
          <a:p>
            <a:r>
              <a:rPr lang="en-US" sz="1600" dirty="0">
                <a:latin typeface="Proxima Nova" panose="020B0604020202020204"/>
                <a:ea typeface="Cambria" panose="02040503050406030204" pitchFamily="18" charset="0"/>
                <a:cs typeface="Arial" panose="020B0604020202020204" pitchFamily="34" charset="0"/>
              </a:rPr>
              <a:t>		&lt;style&gt;</a:t>
            </a:r>
          </a:p>
          <a:p>
            <a:r>
              <a:rPr lang="en-US" sz="1600" dirty="0">
                <a:latin typeface="Proxima Nova" panose="020B0604020202020204"/>
                <a:ea typeface="Cambria" panose="02040503050406030204" pitchFamily="18" charset="0"/>
                <a:cs typeface="Arial" panose="020B0604020202020204" pitchFamily="34" charset="0"/>
              </a:rPr>
              <a:t>			div{</a:t>
            </a:r>
          </a:p>
          <a:p>
            <a:r>
              <a:rPr lang="en-US" sz="1600" dirty="0">
                <a:latin typeface="Proxima Nova" panose="020B0604020202020204"/>
                <a:ea typeface="Cambria" panose="02040503050406030204" pitchFamily="18" charset="0"/>
                <a:cs typeface="Arial" panose="020B0604020202020204" pitchFamily="34" charset="0"/>
              </a:rPr>
              <a:t>			height:200px;</a:t>
            </a:r>
          </a:p>
          <a:p>
            <a:r>
              <a:rPr lang="en-US" sz="1600" dirty="0">
                <a:latin typeface="Proxima Nova" panose="020B0604020202020204"/>
                <a:ea typeface="Cambria" panose="02040503050406030204" pitchFamily="18" charset="0"/>
                <a:cs typeface="Arial" panose="020B0604020202020204" pitchFamily="34" charset="0"/>
              </a:rPr>
              <a:t>			width:200px;</a:t>
            </a:r>
          </a:p>
          <a:p>
            <a:r>
              <a:rPr lang="en-US" sz="1600" dirty="0">
                <a:latin typeface="Proxima Nova" panose="020B0604020202020204"/>
                <a:ea typeface="Cambria" panose="02040503050406030204" pitchFamily="18" charset="0"/>
                <a:cs typeface="Arial" panose="020B0604020202020204" pitchFamily="34" charset="0"/>
              </a:rPr>
              <a:t>			border:1px solid black;</a:t>
            </a:r>
          </a:p>
          <a:p>
            <a:r>
              <a:rPr lang="en-US" sz="1600" dirty="0">
                <a:latin typeface="Proxima Nova" panose="020B0604020202020204"/>
                <a:ea typeface="Cambria" panose="02040503050406030204" pitchFamily="18" charset="0"/>
                <a:cs typeface="Arial" panose="020B0604020202020204" pitchFamily="34" charset="0"/>
              </a:rPr>
              <a:t>			</a:t>
            </a:r>
            <a:r>
              <a:rPr lang="en-US" sz="1600" dirty="0" err="1">
                <a:latin typeface="Proxima Nova" panose="020B0604020202020204"/>
                <a:ea typeface="Cambria" panose="02040503050406030204" pitchFamily="18" charset="0"/>
                <a:cs typeface="Arial" panose="020B0604020202020204" pitchFamily="34" charset="0"/>
              </a:rPr>
              <a:t>position:absolute</a:t>
            </a:r>
            <a:r>
              <a:rPr lang="en-US" sz="1600" dirty="0">
                <a:latin typeface="Proxima Nova" panose="020B0604020202020204"/>
                <a:ea typeface="Cambria" panose="02040503050406030204" pitchFamily="18" charset="0"/>
                <a:cs typeface="Arial" panose="020B0604020202020204" pitchFamily="34" charset="0"/>
              </a:rPr>
              <a:t>;</a:t>
            </a:r>
          </a:p>
          <a:p>
            <a:r>
              <a:rPr lang="en-US" sz="1600" dirty="0">
                <a:latin typeface="Proxima Nova" panose="020B0604020202020204"/>
                <a:ea typeface="Cambria" panose="02040503050406030204" pitchFamily="18" charset="0"/>
                <a:cs typeface="Arial" panose="020B0604020202020204" pitchFamily="34" charset="0"/>
              </a:rPr>
              <a:t>			}</a:t>
            </a:r>
          </a:p>
          <a:p>
            <a:r>
              <a:rPr lang="en-US" sz="1600" dirty="0">
                <a:latin typeface="Proxima Nova" panose="020B0604020202020204"/>
                <a:ea typeface="Cambria" panose="02040503050406030204" pitchFamily="18" charset="0"/>
                <a:cs typeface="Arial" panose="020B0604020202020204" pitchFamily="34" charset="0"/>
              </a:rPr>
              <a:t>			#a{</a:t>
            </a:r>
          </a:p>
          <a:p>
            <a:r>
              <a:rPr lang="en-US" sz="1600" dirty="0">
                <a:latin typeface="Proxima Nova" panose="020B0604020202020204"/>
                <a:ea typeface="Cambria" panose="02040503050406030204" pitchFamily="18" charset="0"/>
                <a:cs typeface="Arial" panose="020B0604020202020204" pitchFamily="34" charset="0"/>
              </a:rPr>
              <a:t>			background-color: </a:t>
            </a:r>
            <a:r>
              <a:rPr lang="en-US" sz="1600" dirty="0" err="1">
                <a:latin typeface="Proxima Nova" panose="020B0604020202020204"/>
                <a:ea typeface="Cambria" panose="02040503050406030204" pitchFamily="18" charset="0"/>
                <a:cs typeface="Arial" panose="020B0604020202020204" pitchFamily="34" charset="0"/>
              </a:rPr>
              <a:t>darkseagreen</a:t>
            </a:r>
            <a:r>
              <a:rPr lang="en-US" sz="1600" dirty="0">
                <a:latin typeface="Proxima Nova" panose="020B0604020202020204"/>
                <a:ea typeface="Cambria" panose="02040503050406030204" pitchFamily="18" charset="0"/>
                <a:cs typeface="Arial" panose="020B0604020202020204" pitchFamily="34" charset="0"/>
              </a:rPr>
              <a:t>;</a:t>
            </a:r>
          </a:p>
          <a:p>
            <a:r>
              <a:rPr lang="en-US" sz="1600" dirty="0">
                <a:latin typeface="Proxima Nova" panose="020B0604020202020204"/>
                <a:ea typeface="Cambria" panose="02040503050406030204" pitchFamily="18" charset="0"/>
                <a:cs typeface="Arial" panose="020B0604020202020204" pitchFamily="34" charset="0"/>
              </a:rPr>
              <a:t>			top:100px;</a:t>
            </a:r>
          </a:p>
          <a:p>
            <a:r>
              <a:rPr lang="en-US" sz="1600" dirty="0">
                <a:latin typeface="Proxima Nova" panose="020B0604020202020204"/>
                <a:ea typeface="Cambria" panose="02040503050406030204" pitchFamily="18" charset="0"/>
                <a:cs typeface="Arial" panose="020B0604020202020204" pitchFamily="34" charset="0"/>
              </a:rPr>
              <a:t>			left:50px;</a:t>
            </a:r>
          </a:p>
          <a:p>
            <a:r>
              <a:rPr lang="en-US" sz="1600" dirty="0">
                <a:latin typeface="Proxima Nova" panose="020B0604020202020204"/>
                <a:ea typeface="Cambria" panose="02040503050406030204" pitchFamily="18" charset="0"/>
                <a:cs typeface="Arial" panose="020B0604020202020204" pitchFamily="34" charset="0"/>
              </a:rPr>
              <a:t>			z-index:-2;</a:t>
            </a:r>
          </a:p>
          <a:p>
            <a:r>
              <a:rPr lang="en-US" sz="1600" dirty="0">
                <a:latin typeface="Proxima Nova" panose="020B0604020202020204"/>
                <a:ea typeface="Cambria" panose="02040503050406030204" pitchFamily="18" charset="0"/>
                <a:cs typeface="Arial" panose="020B0604020202020204" pitchFamily="34" charset="0"/>
              </a:rPr>
              <a:t>			}</a:t>
            </a:r>
          </a:p>
          <a:p>
            <a:r>
              <a:rPr lang="en-US" sz="1600" dirty="0">
                <a:latin typeface="Proxima Nova" panose="020B0604020202020204"/>
                <a:ea typeface="Cambria" panose="02040503050406030204" pitchFamily="18" charset="0"/>
                <a:cs typeface="Arial" panose="020B0604020202020204" pitchFamily="34" charset="0"/>
              </a:rPr>
              <a:t>			#b{</a:t>
            </a:r>
          </a:p>
          <a:p>
            <a:r>
              <a:rPr lang="en-US" sz="1600" dirty="0">
                <a:latin typeface="Proxima Nova" panose="020B0604020202020204"/>
                <a:ea typeface="Cambria" panose="02040503050406030204" pitchFamily="18" charset="0"/>
                <a:cs typeface="Arial" panose="020B0604020202020204" pitchFamily="34" charset="0"/>
              </a:rPr>
              <a:t>			background-color: </a:t>
            </a:r>
            <a:r>
              <a:rPr lang="en-US" sz="1600" dirty="0" err="1">
                <a:latin typeface="Proxima Nova" panose="020B0604020202020204"/>
                <a:ea typeface="Cambria" panose="02040503050406030204" pitchFamily="18" charset="0"/>
                <a:cs typeface="Arial" panose="020B0604020202020204" pitchFamily="34" charset="0"/>
              </a:rPr>
              <a:t>peachpuff</a:t>
            </a:r>
            <a:r>
              <a:rPr lang="en-US" sz="1600" dirty="0">
                <a:latin typeface="Proxima Nova" panose="020B0604020202020204"/>
                <a:ea typeface="Cambria" panose="02040503050406030204" pitchFamily="18" charset="0"/>
                <a:cs typeface="Arial" panose="020B0604020202020204" pitchFamily="34" charset="0"/>
              </a:rPr>
              <a:t>;</a:t>
            </a:r>
          </a:p>
          <a:p>
            <a:r>
              <a:rPr lang="en-US" sz="1600" dirty="0">
                <a:latin typeface="Proxima Nova" panose="020B0604020202020204"/>
                <a:ea typeface="Cambria" panose="02040503050406030204" pitchFamily="18" charset="0"/>
                <a:cs typeface="Arial" panose="020B0604020202020204" pitchFamily="34" charset="0"/>
              </a:rPr>
              <a:t>			top:150px;</a:t>
            </a:r>
          </a:p>
          <a:p>
            <a:r>
              <a:rPr lang="en-US" sz="1600" dirty="0">
                <a:latin typeface="Proxima Nova" panose="020B0604020202020204"/>
                <a:ea typeface="Cambria" panose="02040503050406030204" pitchFamily="18" charset="0"/>
                <a:cs typeface="Arial" panose="020B0604020202020204" pitchFamily="34" charset="0"/>
              </a:rPr>
              <a:t>			left:100px;</a:t>
            </a:r>
          </a:p>
          <a:p>
            <a:r>
              <a:rPr lang="en-US" sz="1600" dirty="0">
                <a:latin typeface="Proxima Nova" panose="020B0604020202020204"/>
                <a:ea typeface="Cambria" panose="02040503050406030204" pitchFamily="18" charset="0"/>
                <a:cs typeface="Arial" panose="020B0604020202020204" pitchFamily="34" charset="0"/>
              </a:rPr>
              <a:t>			z-index:-3;</a:t>
            </a:r>
          </a:p>
          <a:p>
            <a:r>
              <a:rPr lang="en-US" sz="1600" dirty="0">
                <a:latin typeface="Proxima Nova" panose="020B0604020202020204"/>
                <a:ea typeface="Cambria" panose="02040503050406030204" pitchFamily="18" charset="0"/>
                <a:cs typeface="Arial" panose="020B0604020202020204" pitchFamily="34" charset="0"/>
              </a:rPr>
              <a:t>			}</a:t>
            </a:r>
          </a:p>
          <a:p>
            <a:r>
              <a:rPr lang="en-US" sz="1600" dirty="0">
                <a:latin typeface="Proxima Nova" panose="020B0604020202020204"/>
                <a:ea typeface="Cambria" panose="02040503050406030204" pitchFamily="18" charset="0"/>
                <a:cs typeface="Arial" panose="020B0604020202020204" pitchFamily="34" charset="0"/>
              </a:rPr>
              <a:t>		</a:t>
            </a:r>
          </a:p>
          <a:p>
            <a:endParaRPr lang="en-US" sz="1600" dirty="0">
              <a:latin typeface="Proxima Nova" panose="020B0604020202020204"/>
              <a:ea typeface="Cambria" panose="02040503050406030204" pitchFamily="18" charset="0"/>
              <a:cs typeface="Arial" panose="020B0604020202020204" pitchFamily="34" charset="0"/>
            </a:endParaRPr>
          </a:p>
          <a:p>
            <a:r>
              <a:rPr lang="en-US" sz="1600" dirty="0">
                <a:latin typeface="Proxima Nova" panose="020B0604020202020204"/>
                <a:ea typeface="Cambria" panose="02040503050406030204" pitchFamily="18" charset="0"/>
                <a:cs typeface="Arial" panose="020B0604020202020204" pitchFamily="34" charset="0"/>
              </a:rPr>
              <a:t>		</a:t>
            </a:r>
            <a:endParaRPr lang="en-IN" sz="1600" dirty="0">
              <a:latin typeface="Proxima Nova" panose="020B0604020202020204"/>
              <a:ea typeface="Cambria" panose="02040503050406030204" pitchFamily="18" charset="0"/>
            </a:endParaRPr>
          </a:p>
        </p:txBody>
      </p:sp>
      <p:sp>
        <p:nvSpPr>
          <p:cNvPr id="7" name="TextBox 6">
            <a:extLst>
              <a:ext uri="{FF2B5EF4-FFF2-40B4-BE49-F238E27FC236}">
                <a16:creationId xmlns:a16="http://schemas.microsoft.com/office/drawing/2014/main" id="{3C833250-F2EE-0002-1C14-C404A06AE890}"/>
              </a:ext>
            </a:extLst>
          </p:cNvPr>
          <p:cNvSpPr txBox="1"/>
          <p:nvPr/>
        </p:nvSpPr>
        <p:spPr>
          <a:xfrm>
            <a:off x="6496050" y="1292096"/>
            <a:ext cx="6705600" cy="3785652"/>
          </a:xfrm>
          <a:prstGeom prst="rect">
            <a:avLst/>
          </a:prstGeom>
          <a:noFill/>
        </p:spPr>
        <p:txBody>
          <a:bodyPr wrap="square">
            <a:spAutoFit/>
          </a:bodyPr>
          <a:lstStyle/>
          <a:p>
            <a:r>
              <a:rPr lang="en-US" sz="1600" dirty="0">
                <a:latin typeface="Proxima Nova" panose="020B0604020202020204"/>
                <a:ea typeface="Cambria" panose="02040503050406030204" pitchFamily="18" charset="0"/>
                <a:cs typeface="Arial" panose="020B0604020202020204" pitchFamily="34" charset="0"/>
              </a:rPr>
              <a:t>		#c{</a:t>
            </a:r>
          </a:p>
          <a:p>
            <a:r>
              <a:rPr lang="en-US" sz="1600" dirty="0">
                <a:latin typeface="Proxima Nova" panose="020B0604020202020204"/>
                <a:ea typeface="Cambria" panose="02040503050406030204" pitchFamily="18" charset="0"/>
                <a:cs typeface="Arial" panose="020B0604020202020204" pitchFamily="34" charset="0"/>
              </a:rPr>
              <a:t>			background-color: </a:t>
            </a:r>
            <a:r>
              <a:rPr lang="en-US" sz="1600" dirty="0" err="1">
                <a:latin typeface="Proxima Nova" panose="020B0604020202020204"/>
                <a:ea typeface="Cambria" panose="02040503050406030204" pitchFamily="18" charset="0"/>
                <a:cs typeface="Arial" panose="020B0604020202020204" pitchFamily="34" charset="0"/>
              </a:rPr>
              <a:t>powderblue</a:t>
            </a:r>
            <a:r>
              <a:rPr lang="en-US" sz="1600" dirty="0">
                <a:latin typeface="Proxima Nova" panose="020B0604020202020204"/>
                <a:ea typeface="Cambria" panose="02040503050406030204" pitchFamily="18" charset="0"/>
                <a:cs typeface="Arial" panose="020B0604020202020204" pitchFamily="34" charset="0"/>
              </a:rPr>
              <a:t>;</a:t>
            </a:r>
          </a:p>
          <a:p>
            <a:r>
              <a:rPr lang="en-US" sz="1600" dirty="0">
                <a:latin typeface="Proxima Nova" panose="020B0604020202020204"/>
                <a:ea typeface="Cambria" panose="02040503050406030204" pitchFamily="18" charset="0"/>
                <a:cs typeface="Arial" panose="020B0604020202020204" pitchFamily="34" charset="0"/>
              </a:rPr>
              <a:t>			top:200px;</a:t>
            </a:r>
          </a:p>
          <a:p>
            <a:r>
              <a:rPr lang="en-US" sz="1600" dirty="0">
                <a:latin typeface="Proxima Nova" panose="020B0604020202020204"/>
                <a:ea typeface="Cambria" panose="02040503050406030204" pitchFamily="18" charset="0"/>
                <a:cs typeface="Arial" panose="020B0604020202020204" pitchFamily="34" charset="0"/>
              </a:rPr>
              <a:t>			left:150px;</a:t>
            </a:r>
          </a:p>
          <a:p>
            <a:r>
              <a:rPr lang="en-US" sz="1600" dirty="0">
                <a:latin typeface="Proxima Nova" panose="020B0604020202020204"/>
                <a:ea typeface="Cambria" panose="02040503050406030204" pitchFamily="18" charset="0"/>
                <a:cs typeface="Arial" panose="020B0604020202020204" pitchFamily="34" charset="0"/>
              </a:rPr>
              <a:t>			z-index:-1;</a:t>
            </a:r>
          </a:p>
          <a:p>
            <a:r>
              <a:rPr lang="en-US" sz="1600" dirty="0">
                <a:latin typeface="Proxima Nova" panose="020B0604020202020204"/>
                <a:ea typeface="Cambria" panose="02040503050406030204" pitchFamily="18" charset="0"/>
                <a:cs typeface="Arial" panose="020B0604020202020204" pitchFamily="34" charset="0"/>
              </a:rPr>
              <a:t>			}</a:t>
            </a:r>
          </a:p>
          <a:p>
            <a:r>
              <a:rPr lang="en-US" sz="1600" dirty="0">
                <a:latin typeface="Proxima Nova" panose="020B0604020202020204"/>
                <a:ea typeface="Cambria" panose="02040503050406030204" pitchFamily="18" charset="0"/>
                <a:cs typeface="Arial" panose="020B0604020202020204" pitchFamily="34" charset="0"/>
              </a:rPr>
              <a:t>		&lt;/style&gt;</a:t>
            </a:r>
          </a:p>
          <a:p>
            <a:r>
              <a:rPr lang="en-US" sz="1600" dirty="0">
                <a:latin typeface="Proxima Nova" panose="020B0604020202020204"/>
                <a:ea typeface="Cambria" panose="02040503050406030204" pitchFamily="18" charset="0"/>
                <a:cs typeface="Arial" panose="020B0604020202020204" pitchFamily="34" charset="0"/>
              </a:rPr>
              <a:t>	&lt;/head&gt;</a:t>
            </a:r>
          </a:p>
          <a:p>
            <a:pPr lvl="1"/>
            <a:r>
              <a:rPr lang="en-US" sz="1600" dirty="0">
                <a:latin typeface="Proxima Nova" panose="020B0604020202020204"/>
                <a:ea typeface="Cambria" panose="02040503050406030204" pitchFamily="18" charset="0"/>
              </a:rPr>
              <a:t>&lt;body&gt;</a:t>
            </a:r>
          </a:p>
          <a:p>
            <a:pPr lvl="1"/>
            <a:r>
              <a:rPr lang="en-US" sz="1600" dirty="0">
                <a:latin typeface="Proxima Nova" panose="020B0604020202020204"/>
                <a:ea typeface="Cambria" panose="02040503050406030204" pitchFamily="18" charset="0"/>
              </a:rPr>
              <a:t>		&lt;div id="a"&gt;A&lt;/div&gt;</a:t>
            </a:r>
          </a:p>
          <a:p>
            <a:pPr lvl="1"/>
            <a:r>
              <a:rPr lang="en-US" sz="1600" dirty="0">
                <a:latin typeface="Proxima Nova" panose="020B0604020202020204"/>
                <a:ea typeface="Cambria" panose="02040503050406030204" pitchFamily="18" charset="0"/>
              </a:rPr>
              <a:t>		&lt;div id="b"&gt;B&lt;/div&gt;</a:t>
            </a:r>
          </a:p>
          <a:p>
            <a:pPr lvl="1"/>
            <a:r>
              <a:rPr lang="en-US" sz="1600" dirty="0">
                <a:latin typeface="Proxima Nova" panose="020B0604020202020204"/>
                <a:ea typeface="Cambria" panose="02040503050406030204" pitchFamily="18" charset="0"/>
              </a:rPr>
              <a:t>		&lt;div id="c"&gt;C&lt;/div&gt;</a:t>
            </a:r>
          </a:p>
          <a:p>
            <a:pPr lvl="1"/>
            <a:r>
              <a:rPr lang="en-US" sz="1600" dirty="0">
                <a:latin typeface="Proxima Nova" panose="020B0604020202020204"/>
                <a:ea typeface="Cambria" panose="02040503050406030204" pitchFamily="18" charset="0"/>
              </a:rPr>
              <a:t>	&lt;/body&gt;</a:t>
            </a:r>
          </a:p>
          <a:p>
            <a:pPr lvl="1"/>
            <a:r>
              <a:rPr lang="en-US" sz="1600" dirty="0">
                <a:latin typeface="Proxima Nova" panose="020B0604020202020204"/>
                <a:ea typeface="Cambria" panose="02040503050406030204" pitchFamily="18" charset="0"/>
              </a:rPr>
              <a:t>&lt;/html&gt;</a:t>
            </a:r>
          </a:p>
          <a:p>
            <a:endParaRPr lang="en-US" sz="1600" dirty="0">
              <a:latin typeface="Proxima Nova" panose="020B0604020202020204"/>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7641934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21" end="2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xEl>
                                              <p:pRg st="22" end="2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
                                            <p:txEl>
                                              <p:pRg st="24" end="2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9F32-FF84-DD6F-F6F6-38394F9D00FE}"/>
              </a:ext>
            </a:extLst>
          </p:cNvPr>
          <p:cNvSpPr>
            <a:spLocks noGrp="1"/>
          </p:cNvSpPr>
          <p:nvPr>
            <p:ph type="title"/>
          </p:nvPr>
        </p:nvSpPr>
        <p:spPr/>
        <p:txBody>
          <a:bodyPr/>
          <a:lstStyle/>
          <a:p>
            <a:r>
              <a:rPr lang="en-US" dirty="0"/>
              <a:t>CSS Animations</a:t>
            </a:r>
            <a:br>
              <a:rPr lang="en-US" dirty="0"/>
            </a:br>
            <a:endParaRPr lang="en-IN" dirty="0"/>
          </a:p>
        </p:txBody>
      </p:sp>
      <p:sp>
        <p:nvSpPr>
          <p:cNvPr id="3" name="Content Placeholder 2">
            <a:extLst>
              <a:ext uri="{FF2B5EF4-FFF2-40B4-BE49-F238E27FC236}">
                <a16:creationId xmlns:a16="http://schemas.microsoft.com/office/drawing/2014/main" id="{F130B51D-938D-2A76-3170-E0F673FE923C}"/>
              </a:ext>
            </a:extLst>
          </p:cNvPr>
          <p:cNvSpPr>
            <a:spLocks noGrp="1"/>
          </p:cNvSpPr>
          <p:nvPr>
            <p:ph idx="1"/>
          </p:nvPr>
        </p:nvSpPr>
        <p:spPr>
          <a:xfrm>
            <a:off x="423420" y="1253330"/>
            <a:ext cx="11294097" cy="4937919"/>
          </a:xfrm>
        </p:spPr>
        <p:txBody>
          <a:bodyPr>
            <a:normAutofit/>
          </a:bodyPr>
          <a:lstStyle/>
          <a:p>
            <a:r>
              <a:rPr lang="en-US" dirty="0"/>
              <a:t>CSS allows animation of HTML elements without using JavaScript or Flash!</a:t>
            </a:r>
          </a:p>
          <a:p>
            <a:r>
              <a:rPr lang="en-US" dirty="0"/>
              <a:t>    @keyframes</a:t>
            </a:r>
          </a:p>
          <a:p>
            <a:r>
              <a:rPr lang="en-US" dirty="0"/>
              <a:t>    animation-name</a:t>
            </a:r>
          </a:p>
          <a:p>
            <a:r>
              <a:rPr lang="en-US" dirty="0"/>
              <a:t>    animation-duration</a:t>
            </a:r>
          </a:p>
          <a:p>
            <a:r>
              <a:rPr lang="en-US" dirty="0"/>
              <a:t>    animation-delay</a:t>
            </a:r>
          </a:p>
          <a:p>
            <a:r>
              <a:rPr lang="en-US" dirty="0"/>
              <a:t>    animation-iteration-count</a:t>
            </a:r>
          </a:p>
          <a:p>
            <a:r>
              <a:rPr lang="en-US" dirty="0"/>
              <a:t>    animation-direction</a:t>
            </a:r>
          </a:p>
          <a:p>
            <a:r>
              <a:rPr lang="en-US" dirty="0"/>
              <a:t>    animation-timing-function</a:t>
            </a:r>
          </a:p>
          <a:p>
            <a:r>
              <a:rPr lang="en-US" dirty="0"/>
              <a:t>    animation</a:t>
            </a:r>
          </a:p>
          <a:p>
            <a:endParaRPr lang="en-US" dirty="0"/>
          </a:p>
          <a:p>
            <a:endParaRPr lang="en-IN" dirty="0"/>
          </a:p>
        </p:txBody>
      </p:sp>
    </p:spTree>
    <p:extLst>
      <p:ext uri="{BB962C8B-B14F-4D97-AF65-F5344CB8AC3E}">
        <p14:creationId xmlns:p14="http://schemas.microsoft.com/office/powerpoint/2010/main" val="155559438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C9F9B-F22C-5A50-8E8C-E76E5ADA69D0}"/>
              </a:ext>
            </a:extLst>
          </p:cNvPr>
          <p:cNvSpPr>
            <a:spLocks noGrp="1"/>
          </p:cNvSpPr>
          <p:nvPr>
            <p:ph type="title"/>
          </p:nvPr>
        </p:nvSpPr>
        <p:spPr/>
        <p:txBody>
          <a:bodyPr/>
          <a:lstStyle/>
          <a:p>
            <a:r>
              <a:rPr lang="en-US" dirty="0"/>
              <a:t>Animation</a:t>
            </a:r>
            <a:endParaRPr lang="en-IN" dirty="0"/>
          </a:p>
        </p:txBody>
      </p:sp>
      <p:sp>
        <p:nvSpPr>
          <p:cNvPr id="3" name="Content Placeholder 2">
            <a:extLst>
              <a:ext uri="{FF2B5EF4-FFF2-40B4-BE49-F238E27FC236}">
                <a16:creationId xmlns:a16="http://schemas.microsoft.com/office/drawing/2014/main" id="{37FDCD0B-25E7-0B83-1A63-0F3BF5292852}"/>
              </a:ext>
            </a:extLst>
          </p:cNvPr>
          <p:cNvSpPr>
            <a:spLocks noGrp="1"/>
          </p:cNvSpPr>
          <p:nvPr>
            <p:ph idx="1"/>
          </p:nvPr>
        </p:nvSpPr>
        <p:spPr/>
        <p:txBody>
          <a:bodyPr>
            <a:normAutofit/>
          </a:bodyPr>
          <a:lstStyle/>
          <a:p>
            <a:r>
              <a:rPr lang="en-US" b="1" dirty="0"/>
              <a:t>What are CSS Animations?</a:t>
            </a:r>
          </a:p>
          <a:p>
            <a:r>
              <a:rPr lang="en-US" dirty="0"/>
              <a:t>An animation lets an element gradually change from one style to another.</a:t>
            </a:r>
          </a:p>
          <a:p>
            <a:r>
              <a:rPr lang="en-US" dirty="0"/>
              <a:t>You can change as many CSS properties you want, as many times as you want.</a:t>
            </a:r>
          </a:p>
          <a:p>
            <a:r>
              <a:rPr lang="en-US" dirty="0"/>
              <a:t>To use CSS animation, you must first specify some keyframes for the animation.</a:t>
            </a:r>
          </a:p>
          <a:p>
            <a:r>
              <a:rPr lang="en-US" dirty="0"/>
              <a:t>Keyframes hold what styles the element will have at certain times.</a:t>
            </a:r>
          </a:p>
          <a:p>
            <a:r>
              <a:rPr lang="en-US" b="1" dirty="0"/>
              <a:t>The @keyframes Rule:</a:t>
            </a:r>
          </a:p>
          <a:p>
            <a:r>
              <a:rPr lang="en-US" dirty="0"/>
              <a:t>When you specify CSS styles inside the @keyframes rule, the animation will gradually change from the current style to the new style at certain times.</a:t>
            </a:r>
          </a:p>
          <a:p>
            <a:endParaRPr lang="en-US" dirty="0"/>
          </a:p>
          <a:p>
            <a:endParaRPr lang="en-IN" dirty="0"/>
          </a:p>
        </p:txBody>
      </p:sp>
    </p:spTree>
    <p:extLst>
      <p:ext uri="{BB962C8B-B14F-4D97-AF65-F5344CB8AC3E}">
        <p14:creationId xmlns:p14="http://schemas.microsoft.com/office/powerpoint/2010/main" val="313663903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B606E-52D1-7E14-38E6-9B1CD87F05E8}"/>
              </a:ext>
            </a:extLst>
          </p:cNvPr>
          <p:cNvSpPr>
            <a:spLocks noGrp="1"/>
          </p:cNvSpPr>
          <p:nvPr>
            <p:ph type="title"/>
          </p:nvPr>
        </p:nvSpPr>
        <p:spPr/>
        <p:txBody>
          <a:bodyPr/>
          <a:lstStyle/>
          <a:p>
            <a:r>
              <a:rPr lang="en-US" dirty="0"/>
              <a:t>Animation</a:t>
            </a:r>
            <a:endParaRPr lang="en-IN" dirty="0"/>
          </a:p>
        </p:txBody>
      </p:sp>
      <p:sp>
        <p:nvSpPr>
          <p:cNvPr id="3" name="Content Placeholder 2">
            <a:extLst>
              <a:ext uri="{FF2B5EF4-FFF2-40B4-BE49-F238E27FC236}">
                <a16:creationId xmlns:a16="http://schemas.microsoft.com/office/drawing/2014/main" id="{833B4BA0-8CAB-51F8-79EF-668664FACACB}"/>
              </a:ext>
            </a:extLst>
          </p:cNvPr>
          <p:cNvSpPr>
            <a:spLocks noGrp="1"/>
          </p:cNvSpPr>
          <p:nvPr>
            <p:ph idx="1"/>
          </p:nvPr>
        </p:nvSpPr>
        <p:spPr>
          <a:xfrm>
            <a:off x="423420" y="1253331"/>
            <a:ext cx="11294097" cy="5004594"/>
          </a:xfrm>
        </p:spPr>
        <p:txBody>
          <a:bodyPr>
            <a:noAutofit/>
          </a:bodyPr>
          <a:lstStyle/>
          <a:p>
            <a:r>
              <a:rPr lang="en-US" dirty="0"/>
              <a:t>To get an animation to work, you must bind the animation to an element.</a:t>
            </a:r>
          </a:p>
          <a:p>
            <a:r>
              <a:rPr lang="en-US" dirty="0"/>
              <a:t>The following example binds the "example" animation to the &lt;div&gt; element. The animation will last for 4 seconds, and it will gradually change the background-color of the &lt;div&gt; element from "red" to "yellow“.</a:t>
            </a:r>
          </a:p>
          <a:p>
            <a:r>
              <a:rPr lang="en-US" b="1" dirty="0"/>
              <a:t>Note: The animation-duration property defines how long an animation should take to complete. If the animation-duration property is not specified, no animation will occur, because the default value is 0s (0 seconds). </a:t>
            </a:r>
          </a:p>
          <a:p>
            <a:r>
              <a:rPr lang="en-US" dirty="0"/>
              <a:t>In the example above we have specified when the style will change by using the keywords "from" and "to" (which represents 0% (start) and 100% (complete)).</a:t>
            </a:r>
          </a:p>
          <a:p>
            <a:r>
              <a:rPr lang="en-US" dirty="0"/>
              <a:t>It is also possible to use percent. By using percent, you can add as many style changes as you like.</a:t>
            </a:r>
          </a:p>
          <a:p>
            <a:r>
              <a:rPr lang="en-US" dirty="0"/>
              <a:t>The following example will change the background-color of the &lt;div&gt; element when the animation is 25% complete, 50% complete, and again when the animation is 100% complete:</a:t>
            </a:r>
          </a:p>
          <a:p>
            <a:endParaRPr lang="en-US" dirty="0"/>
          </a:p>
          <a:p>
            <a:endParaRPr lang="en-IN" dirty="0"/>
          </a:p>
        </p:txBody>
      </p:sp>
    </p:spTree>
    <p:extLst>
      <p:ext uri="{BB962C8B-B14F-4D97-AF65-F5344CB8AC3E}">
        <p14:creationId xmlns:p14="http://schemas.microsoft.com/office/powerpoint/2010/main" val="9944533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FFBB6-CE33-F5D7-B648-9F813BE15651}"/>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5071CD87-E894-0894-D1E7-DF837923AC43}"/>
              </a:ext>
            </a:extLst>
          </p:cNvPr>
          <p:cNvSpPr txBox="1"/>
          <p:nvPr/>
        </p:nvSpPr>
        <p:spPr>
          <a:xfrm>
            <a:off x="371475" y="1183571"/>
            <a:ext cx="6096000" cy="5693866"/>
          </a:xfrm>
          <a:prstGeom prst="rect">
            <a:avLst/>
          </a:prstGeom>
          <a:noFill/>
        </p:spPr>
        <p:txBody>
          <a:bodyPr wrap="square">
            <a:spAutoFit/>
          </a:bodyPr>
          <a:lstStyle/>
          <a:p>
            <a:r>
              <a:rPr lang="en-US" sz="1600" dirty="0">
                <a:latin typeface="Proxima Nova" panose="020B0604020202020204"/>
                <a:ea typeface="Cambria" panose="02040503050406030204" pitchFamily="18" charset="0"/>
              </a:rPr>
              <a:t>&lt;!DOCTYPE html&gt;</a:t>
            </a:r>
          </a:p>
          <a:p>
            <a:r>
              <a:rPr lang="en-US" sz="1600" dirty="0">
                <a:latin typeface="Proxima Nova" panose="020B0604020202020204"/>
                <a:ea typeface="Cambria" panose="02040503050406030204" pitchFamily="18" charset="0"/>
              </a:rPr>
              <a:t>&lt;html&gt;</a:t>
            </a:r>
          </a:p>
          <a:p>
            <a:r>
              <a:rPr lang="en-US" sz="1600" dirty="0">
                <a:latin typeface="Proxima Nova" panose="020B0604020202020204"/>
                <a:ea typeface="Cambria" panose="02040503050406030204" pitchFamily="18" charset="0"/>
              </a:rPr>
              <a:t>	&lt;head&gt;</a:t>
            </a:r>
          </a:p>
          <a:p>
            <a:pPr lvl="2"/>
            <a:r>
              <a:rPr lang="en-US" sz="1600" dirty="0">
                <a:latin typeface="Proxima Nova" panose="020B0604020202020204"/>
                <a:ea typeface="Cambria" panose="02040503050406030204" pitchFamily="18" charset="0"/>
              </a:rPr>
              <a:t>&lt;style&gt; </a:t>
            </a:r>
          </a:p>
          <a:p>
            <a:pPr lvl="3"/>
            <a:r>
              <a:rPr lang="en-US" sz="1600" dirty="0">
                <a:latin typeface="Proxima Nova" panose="020B0604020202020204"/>
                <a:ea typeface="Cambria" panose="02040503050406030204" pitchFamily="18" charset="0"/>
              </a:rPr>
              <a:t>div {</a:t>
            </a:r>
          </a:p>
          <a:p>
            <a:pPr lvl="3"/>
            <a:r>
              <a:rPr lang="en-US" sz="1600" dirty="0">
                <a:latin typeface="Proxima Nova" panose="020B0604020202020204"/>
                <a:ea typeface="Cambria" panose="02040503050406030204" pitchFamily="18" charset="0"/>
              </a:rPr>
              <a:t>  width: 100px;</a:t>
            </a:r>
          </a:p>
          <a:p>
            <a:pPr lvl="3"/>
            <a:r>
              <a:rPr lang="en-US" sz="1600" dirty="0">
                <a:latin typeface="Proxima Nova" panose="020B0604020202020204"/>
                <a:ea typeface="Cambria" panose="02040503050406030204" pitchFamily="18" charset="0"/>
              </a:rPr>
              <a:t>  height: 100px;</a:t>
            </a:r>
          </a:p>
          <a:p>
            <a:pPr lvl="3"/>
            <a:r>
              <a:rPr lang="en-US" sz="1600" dirty="0">
                <a:latin typeface="Proxima Nova" panose="020B0604020202020204"/>
                <a:ea typeface="Cambria" panose="02040503050406030204" pitchFamily="18" charset="0"/>
              </a:rPr>
              <a:t>  background-color: red;</a:t>
            </a:r>
          </a:p>
          <a:p>
            <a:pPr lvl="3"/>
            <a:r>
              <a:rPr lang="en-US" sz="1600" dirty="0">
                <a:latin typeface="Proxima Nova" panose="020B0604020202020204"/>
                <a:ea typeface="Cambria" panose="02040503050406030204" pitchFamily="18" charset="0"/>
              </a:rPr>
              <a:t>  animation-name: example;</a:t>
            </a:r>
          </a:p>
          <a:p>
            <a:pPr lvl="3"/>
            <a:r>
              <a:rPr lang="en-US" sz="1600" dirty="0">
                <a:latin typeface="Proxima Nova" panose="020B0604020202020204"/>
                <a:ea typeface="Cambria" panose="02040503050406030204" pitchFamily="18" charset="0"/>
              </a:rPr>
              <a:t>  animation-duration: 4s;</a:t>
            </a:r>
          </a:p>
          <a:p>
            <a:pPr lvl="3"/>
            <a:r>
              <a:rPr lang="en-US" sz="1600" dirty="0">
                <a:latin typeface="Proxima Nova" panose="020B0604020202020204"/>
                <a:ea typeface="Cambria" panose="02040503050406030204" pitchFamily="18" charset="0"/>
              </a:rPr>
              <a:t>}</a:t>
            </a:r>
          </a:p>
          <a:p>
            <a:pPr lvl="3"/>
            <a:endParaRPr lang="en-US" sz="1600" dirty="0">
              <a:latin typeface="Proxima Nova" panose="020B0604020202020204"/>
              <a:ea typeface="Cambria" panose="02040503050406030204" pitchFamily="18" charset="0"/>
            </a:endParaRPr>
          </a:p>
          <a:p>
            <a:pPr lvl="3"/>
            <a:r>
              <a:rPr lang="en-US" sz="1600" dirty="0">
                <a:latin typeface="Proxima Nova" panose="020B0604020202020204"/>
                <a:ea typeface="Cambria" panose="02040503050406030204" pitchFamily="18" charset="0"/>
              </a:rPr>
              <a:t>@keyframes example {</a:t>
            </a:r>
          </a:p>
          <a:p>
            <a:pPr lvl="3"/>
            <a:r>
              <a:rPr lang="en-US" sz="1600" dirty="0">
                <a:latin typeface="Proxima Nova" panose="020B0604020202020204"/>
                <a:ea typeface="Cambria" panose="02040503050406030204" pitchFamily="18" charset="0"/>
              </a:rPr>
              <a:t>  from {background-color: red;}</a:t>
            </a:r>
          </a:p>
          <a:p>
            <a:pPr lvl="3"/>
            <a:r>
              <a:rPr lang="en-US" sz="1600" dirty="0">
                <a:latin typeface="Proxima Nova" panose="020B0604020202020204"/>
                <a:ea typeface="Cambria" panose="02040503050406030204" pitchFamily="18" charset="0"/>
              </a:rPr>
              <a:t>  to {background-color: yellow;}</a:t>
            </a:r>
          </a:p>
          <a:p>
            <a:pPr lvl="3"/>
            <a:r>
              <a:rPr lang="en-US" sz="1600" dirty="0">
                <a:latin typeface="Proxima Nova" panose="020B0604020202020204"/>
                <a:ea typeface="Cambria" panose="02040503050406030204" pitchFamily="18" charset="0"/>
              </a:rPr>
              <a:t>}</a:t>
            </a:r>
          </a:p>
          <a:p>
            <a:pPr lvl="2"/>
            <a:r>
              <a:rPr lang="en-US" sz="1600" dirty="0">
                <a:latin typeface="Proxima Nova" panose="020B0604020202020204"/>
                <a:ea typeface="Cambria" panose="02040503050406030204" pitchFamily="18" charset="0"/>
              </a:rPr>
              <a:t>&lt;/style&gt;</a:t>
            </a:r>
          </a:p>
          <a:p>
            <a:r>
              <a:rPr lang="en-US" sz="1600" dirty="0">
                <a:latin typeface="Proxima Nova" panose="020B0604020202020204"/>
                <a:ea typeface="Cambria" panose="02040503050406030204" pitchFamily="18" charset="0"/>
              </a:rPr>
              <a:t>	&lt;/head&gt;</a:t>
            </a:r>
          </a:p>
          <a:p>
            <a:r>
              <a:rPr lang="en-US" sz="1600" dirty="0">
                <a:latin typeface="Proxima Nova" panose="020B0604020202020204"/>
                <a:ea typeface="Cambria" panose="02040503050406030204" pitchFamily="18" charset="0"/>
              </a:rPr>
              <a:t>	&lt;body&gt;</a:t>
            </a:r>
          </a:p>
          <a:p>
            <a:r>
              <a:rPr lang="en-US" sz="1600" dirty="0">
                <a:latin typeface="Proxima Nova" panose="020B0604020202020204"/>
                <a:ea typeface="Cambria" panose="02040503050406030204" pitchFamily="18" charset="0"/>
              </a:rPr>
              <a:t>		&lt;div&gt;&lt;/div&gt;</a:t>
            </a:r>
          </a:p>
          <a:p>
            <a:r>
              <a:rPr lang="en-US" sz="1600" dirty="0">
                <a:latin typeface="Proxima Nova" panose="020B0604020202020204"/>
                <a:ea typeface="Cambria" panose="02040503050406030204" pitchFamily="18" charset="0"/>
              </a:rPr>
              <a:t>	&lt;/body&gt;</a:t>
            </a:r>
          </a:p>
          <a:p>
            <a:r>
              <a:rPr lang="en-US" sz="1600" dirty="0">
                <a:latin typeface="Proxima Nova" panose="020B0604020202020204"/>
                <a:ea typeface="Cambria" panose="02040503050406030204" pitchFamily="18" charset="0"/>
              </a:rPr>
              <a:t>&lt;/html&gt;</a:t>
            </a:r>
          </a:p>
        </p:txBody>
      </p:sp>
      <p:pic>
        <p:nvPicPr>
          <p:cNvPr id="6" name="Picture 5">
            <a:extLst>
              <a:ext uri="{FF2B5EF4-FFF2-40B4-BE49-F238E27FC236}">
                <a16:creationId xmlns:a16="http://schemas.microsoft.com/office/drawing/2014/main" id="{476B370F-46CB-F2C1-8492-49CB4C4A3941}"/>
              </a:ext>
            </a:extLst>
          </p:cNvPr>
          <p:cNvPicPr>
            <a:picLocks noChangeAspect="1"/>
          </p:cNvPicPr>
          <p:nvPr/>
        </p:nvPicPr>
        <p:blipFill>
          <a:blip r:embed="rId2"/>
          <a:stretch>
            <a:fillRect/>
          </a:stretch>
        </p:blipFill>
        <p:spPr>
          <a:xfrm>
            <a:off x="6812492" y="2059871"/>
            <a:ext cx="1590675" cy="1495425"/>
          </a:xfrm>
          <a:prstGeom prst="rect">
            <a:avLst/>
          </a:prstGeom>
          <a:ln w="28575">
            <a:solidFill>
              <a:schemeClr val="tx1"/>
            </a:solidFill>
          </a:ln>
        </p:spPr>
      </p:pic>
    </p:spTree>
    <p:extLst>
      <p:ext uri="{BB962C8B-B14F-4D97-AF65-F5344CB8AC3E}">
        <p14:creationId xmlns:p14="http://schemas.microsoft.com/office/powerpoint/2010/main" val="168623469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20" end="2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21" end="2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F29D0-4700-E394-0040-6706E27D64EC}"/>
              </a:ext>
            </a:extLst>
          </p:cNvPr>
          <p:cNvSpPr>
            <a:spLocks noGrp="1"/>
          </p:cNvSpPr>
          <p:nvPr>
            <p:ph type="title"/>
          </p:nvPr>
        </p:nvSpPr>
        <p:spPr/>
        <p:txBody>
          <a:bodyPr/>
          <a:lstStyle/>
          <a:p>
            <a:r>
              <a:rPr lang="en-US" dirty="0"/>
              <a:t>Example 2</a:t>
            </a:r>
            <a:endParaRPr lang="en-IN" dirty="0"/>
          </a:p>
        </p:txBody>
      </p:sp>
      <p:sp>
        <p:nvSpPr>
          <p:cNvPr id="5" name="TextBox 4">
            <a:extLst>
              <a:ext uri="{FF2B5EF4-FFF2-40B4-BE49-F238E27FC236}">
                <a16:creationId xmlns:a16="http://schemas.microsoft.com/office/drawing/2014/main" id="{C46EFD5F-42F7-B10E-5F5F-F943E3C7F01C}"/>
              </a:ext>
            </a:extLst>
          </p:cNvPr>
          <p:cNvSpPr txBox="1"/>
          <p:nvPr/>
        </p:nvSpPr>
        <p:spPr>
          <a:xfrm>
            <a:off x="-304800" y="1166842"/>
            <a:ext cx="6096000" cy="4524315"/>
          </a:xfrm>
          <a:prstGeom prst="rect">
            <a:avLst/>
          </a:prstGeom>
          <a:noFill/>
        </p:spPr>
        <p:txBody>
          <a:bodyPr wrap="square">
            <a:spAutoFit/>
          </a:bodyPr>
          <a:lstStyle/>
          <a:p>
            <a:pPr lvl="2">
              <a:tabLst>
                <a:tab pos="1790700" algn="l"/>
              </a:tabLst>
            </a:pPr>
            <a:r>
              <a:rPr lang="en-US" dirty="0">
                <a:latin typeface="Proxima Nova" panose="020B0604020202020204"/>
                <a:ea typeface="Cambria" panose="02040503050406030204" pitchFamily="18" charset="0"/>
              </a:rPr>
              <a:t>&lt;style&gt; </a:t>
            </a:r>
          </a:p>
          <a:p>
            <a:pPr lvl="3">
              <a:tabLst>
                <a:tab pos="1790700" algn="l"/>
              </a:tabLst>
            </a:pPr>
            <a:r>
              <a:rPr lang="en-US" dirty="0">
                <a:latin typeface="Proxima Nova" panose="020B0604020202020204"/>
                <a:ea typeface="Cambria" panose="02040503050406030204" pitchFamily="18" charset="0"/>
              </a:rPr>
              <a:t>div {</a:t>
            </a:r>
          </a:p>
          <a:p>
            <a:pPr lvl="3">
              <a:tabLst>
                <a:tab pos="1790700" algn="l"/>
              </a:tabLst>
            </a:pPr>
            <a:r>
              <a:rPr lang="en-US" dirty="0">
                <a:latin typeface="Proxima Nova" panose="020B0604020202020204"/>
                <a:ea typeface="Cambria" panose="02040503050406030204" pitchFamily="18" charset="0"/>
              </a:rPr>
              <a:t>  width: 100px;</a:t>
            </a:r>
          </a:p>
          <a:p>
            <a:pPr lvl="3">
              <a:tabLst>
                <a:tab pos="1790700" algn="l"/>
              </a:tabLst>
            </a:pPr>
            <a:r>
              <a:rPr lang="en-US" dirty="0">
                <a:latin typeface="Proxima Nova" panose="020B0604020202020204"/>
                <a:ea typeface="Cambria" panose="02040503050406030204" pitchFamily="18" charset="0"/>
              </a:rPr>
              <a:t>  height: 100px;</a:t>
            </a:r>
          </a:p>
          <a:p>
            <a:pPr lvl="3">
              <a:tabLst>
                <a:tab pos="1790700" algn="l"/>
              </a:tabLst>
            </a:pPr>
            <a:r>
              <a:rPr lang="en-US" dirty="0">
                <a:latin typeface="Proxima Nova" panose="020B0604020202020204"/>
                <a:ea typeface="Cambria" panose="02040503050406030204" pitchFamily="18" charset="0"/>
              </a:rPr>
              <a:t>  background-color: red;</a:t>
            </a:r>
          </a:p>
          <a:p>
            <a:pPr lvl="3">
              <a:tabLst>
                <a:tab pos="1790700" algn="l"/>
              </a:tabLst>
            </a:pPr>
            <a:r>
              <a:rPr lang="en-US" dirty="0">
                <a:latin typeface="Proxima Nova" panose="020B0604020202020204"/>
                <a:ea typeface="Cambria" panose="02040503050406030204" pitchFamily="18" charset="0"/>
              </a:rPr>
              <a:t>  animation-name: example;</a:t>
            </a:r>
          </a:p>
          <a:p>
            <a:pPr lvl="3">
              <a:tabLst>
                <a:tab pos="1790700" algn="l"/>
              </a:tabLst>
            </a:pPr>
            <a:r>
              <a:rPr lang="en-US" dirty="0">
                <a:latin typeface="Proxima Nova" panose="020B0604020202020204"/>
                <a:ea typeface="Cambria" panose="02040503050406030204" pitchFamily="18" charset="0"/>
              </a:rPr>
              <a:t>  animation-duration: 4s;</a:t>
            </a:r>
          </a:p>
          <a:p>
            <a:pPr lvl="3">
              <a:tabLst>
                <a:tab pos="1790700" algn="l"/>
              </a:tabLst>
            </a:pPr>
            <a:r>
              <a:rPr lang="en-US" dirty="0">
                <a:latin typeface="Proxima Nova" panose="020B0604020202020204"/>
                <a:ea typeface="Cambria" panose="02040503050406030204" pitchFamily="18" charset="0"/>
              </a:rPr>
              <a:t>}</a:t>
            </a:r>
          </a:p>
          <a:p>
            <a:pPr lvl="3">
              <a:tabLst>
                <a:tab pos="1790700" algn="l"/>
              </a:tabLst>
            </a:pPr>
            <a:endParaRPr lang="en-US" dirty="0">
              <a:latin typeface="Proxima Nova" panose="020B0604020202020204"/>
              <a:ea typeface="Cambria" panose="02040503050406030204" pitchFamily="18" charset="0"/>
            </a:endParaRPr>
          </a:p>
          <a:p>
            <a:pPr lvl="3">
              <a:tabLst>
                <a:tab pos="1790700" algn="l"/>
              </a:tabLst>
            </a:pPr>
            <a:r>
              <a:rPr lang="en-US" dirty="0">
                <a:latin typeface="Proxima Nova" panose="020B0604020202020204"/>
                <a:ea typeface="Cambria" panose="02040503050406030204" pitchFamily="18" charset="0"/>
              </a:rPr>
              <a:t>@keyframes example {</a:t>
            </a:r>
          </a:p>
          <a:p>
            <a:pPr lvl="3">
              <a:tabLst>
                <a:tab pos="1790700" algn="l"/>
              </a:tabLst>
            </a:pPr>
            <a:r>
              <a:rPr lang="en-US" dirty="0">
                <a:latin typeface="Proxima Nova" panose="020B0604020202020204"/>
                <a:ea typeface="Cambria" panose="02040503050406030204" pitchFamily="18" charset="0"/>
              </a:rPr>
              <a:t>  0%   {background-color: red;}</a:t>
            </a:r>
          </a:p>
          <a:p>
            <a:pPr lvl="3">
              <a:tabLst>
                <a:tab pos="1790700" algn="l"/>
              </a:tabLst>
            </a:pPr>
            <a:r>
              <a:rPr lang="en-US" dirty="0">
                <a:latin typeface="Proxima Nova" panose="020B0604020202020204"/>
                <a:ea typeface="Cambria" panose="02040503050406030204" pitchFamily="18" charset="0"/>
              </a:rPr>
              <a:t>  25%  {background-color: yellow;}</a:t>
            </a:r>
          </a:p>
          <a:p>
            <a:pPr lvl="3">
              <a:tabLst>
                <a:tab pos="1790700" algn="l"/>
              </a:tabLst>
            </a:pPr>
            <a:r>
              <a:rPr lang="en-US" dirty="0">
                <a:latin typeface="Proxima Nova" panose="020B0604020202020204"/>
                <a:ea typeface="Cambria" panose="02040503050406030204" pitchFamily="18" charset="0"/>
              </a:rPr>
              <a:t>  50%  {background-color: blue;}</a:t>
            </a:r>
          </a:p>
          <a:p>
            <a:pPr lvl="3">
              <a:tabLst>
                <a:tab pos="1790700" algn="l"/>
              </a:tabLst>
            </a:pPr>
            <a:r>
              <a:rPr lang="en-US" dirty="0">
                <a:latin typeface="Proxima Nova" panose="020B0604020202020204"/>
                <a:ea typeface="Cambria" panose="02040503050406030204" pitchFamily="18" charset="0"/>
              </a:rPr>
              <a:t>  100% {background-color: green;}</a:t>
            </a:r>
          </a:p>
          <a:p>
            <a:pPr lvl="3">
              <a:tabLst>
                <a:tab pos="1790700" algn="l"/>
              </a:tabLst>
            </a:pPr>
            <a:r>
              <a:rPr lang="en-US" dirty="0">
                <a:latin typeface="Proxima Nova" panose="020B0604020202020204"/>
                <a:ea typeface="Cambria" panose="02040503050406030204" pitchFamily="18" charset="0"/>
              </a:rPr>
              <a:t>}</a:t>
            </a:r>
          </a:p>
          <a:p>
            <a:pPr lvl="3">
              <a:tabLst>
                <a:tab pos="1790700" algn="l"/>
              </a:tabLst>
            </a:pPr>
            <a:r>
              <a:rPr lang="en-US" dirty="0">
                <a:latin typeface="Proxima Nova" panose="020B0604020202020204"/>
                <a:ea typeface="Cambria" panose="02040503050406030204" pitchFamily="18" charset="0"/>
              </a:rPr>
              <a:t>&lt;/style&gt;</a:t>
            </a:r>
          </a:p>
        </p:txBody>
      </p:sp>
      <p:pic>
        <p:nvPicPr>
          <p:cNvPr id="6" name="Picture 5">
            <a:extLst>
              <a:ext uri="{FF2B5EF4-FFF2-40B4-BE49-F238E27FC236}">
                <a16:creationId xmlns:a16="http://schemas.microsoft.com/office/drawing/2014/main" id="{126C4550-CBD0-A1CD-697E-3A4C5F81A16D}"/>
              </a:ext>
            </a:extLst>
          </p:cNvPr>
          <p:cNvPicPr>
            <a:picLocks noChangeAspect="1"/>
          </p:cNvPicPr>
          <p:nvPr/>
        </p:nvPicPr>
        <p:blipFill>
          <a:blip r:embed="rId2"/>
          <a:stretch>
            <a:fillRect/>
          </a:stretch>
        </p:blipFill>
        <p:spPr>
          <a:xfrm>
            <a:off x="6898217" y="1840796"/>
            <a:ext cx="1590675" cy="1495425"/>
          </a:xfrm>
          <a:prstGeom prst="rect">
            <a:avLst/>
          </a:prstGeom>
          <a:ln w="28575">
            <a:solidFill>
              <a:schemeClr val="tx1"/>
            </a:solidFill>
          </a:ln>
        </p:spPr>
      </p:pic>
    </p:spTree>
    <p:extLst>
      <p:ext uri="{BB962C8B-B14F-4D97-AF65-F5344CB8AC3E}">
        <p14:creationId xmlns:p14="http://schemas.microsoft.com/office/powerpoint/2010/main" val="12209486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12372-169D-16B7-13DA-2D067F7EC115}"/>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708D23DC-6057-7656-5E7E-21E182746FA4}"/>
              </a:ext>
            </a:extLst>
          </p:cNvPr>
          <p:cNvSpPr txBox="1"/>
          <p:nvPr/>
        </p:nvSpPr>
        <p:spPr>
          <a:xfrm>
            <a:off x="-209551" y="1013218"/>
            <a:ext cx="8505825" cy="4801314"/>
          </a:xfrm>
          <a:prstGeom prst="rect">
            <a:avLst/>
          </a:prstGeom>
          <a:noFill/>
        </p:spPr>
        <p:txBody>
          <a:bodyPr wrap="square">
            <a:spAutoFit/>
          </a:bodyPr>
          <a:lstStyle/>
          <a:p>
            <a:pPr lvl="2"/>
            <a:r>
              <a:rPr lang="en-US" dirty="0">
                <a:latin typeface="Proxima Nova" panose="020B0604020202020204"/>
                <a:ea typeface="Cambria" panose="02040503050406030204" pitchFamily="18" charset="0"/>
              </a:rPr>
              <a:t>&lt;style&gt; </a:t>
            </a:r>
          </a:p>
          <a:p>
            <a:pPr lvl="3"/>
            <a:r>
              <a:rPr lang="en-US" dirty="0">
                <a:latin typeface="Proxima Nova" panose="020B0604020202020204"/>
                <a:ea typeface="Cambria" panose="02040503050406030204" pitchFamily="18" charset="0"/>
              </a:rPr>
              <a:t>div {</a:t>
            </a:r>
          </a:p>
          <a:p>
            <a:pPr lvl="3"/>
            <a:r>
              <a:rPr lang="en-US" dirty="0">
                <a:latin typeface="Proxima Nova" panose="020B0604020202020204"/>
                <a:ea typeface="Cambria" panose="02040503050406030204" pitchFamily="18" charset="0"/>
              </a:rPr>
              <a:t>  width: 100px;</a:t>
            </a:r>
          </a:p>
          <a:p>
            <a:pPr lvl="3"/>
            <a:r>
              <a:rPr lang="en-US" dirty="0">
                <a:latin typeface="Proxima Nova" panose="020B0604020202020204"/>
                <a:ea typeface="Cambria" panose="02040503050406030204" pitchFamily="18" charset="0"/>
              </a:rPr>
              <a:t>  height: 100px;</a:t>
            </a:r>
          </a:p>
          <a:p>
            <a:pPr lvl="3"/>
            <a:r>
              <a:rPr lang="en-US" dirty="0">
                <a:latin typeface="Proxima Nova" panose="020B0604020202020204"/>
                <a:ea typeface="Cambria" panose="02040503050406030204" pitchFamily="18" charset="0"/>
              </a:rPr>
              <a:t>  background-color: red;</a:t>
            </a:r>
          </a:p>
          <a:p>
            <a:pPr lvl="3"/>
            <a:r>
              <a:rPr lang="en-US" dirty="0">
                <a:latin typeface="Proxima Nova" panose="020B0604020202020204"/>
                <a:ea typeface="Cambria" panose="02040503050406030204" pitchFamily="18" charset="0"/>
              </a:rPr>
              <a:t>  position: relative;</a:t>
            </a:r>
          </a:p>
          <a:p>
            <a:pPr lvl="3"/>
            <a:r>
              <a:rPr lang="en-US" dirty="0">
                <a:latin typeface="Proxima Nova" panose="020B0604020202020204"/>
                <a:ea typeface="Cambria" panose="02040503050406030204" pitchFamily="18" charset="0"/>
              </a:rPr>
              <a:t>  animation-name: example;</a:t>
            </a:r>
          </a:p>
          <a:p>
            <a:pPr lvl="3"/>
            <a:r>
              <a:rPr lang="en-US" dirty="0">
                <a:latin typeface="Proxima Nova" panose="020B0604020202020204"/>
                <a:ea typeface="Cambria" panose="02040503050406030204" pitchFamily="18" charset="0"/>
              </a:rPr>
              <a:t>  animation-duration: 4s;</a:t>
            </a:r>
          </a:p>
          <a:p>
            <a:pPr lvl="3"/>
            <a:r>
              <a:rPr lang="en-US" dirty="0">
                <a:latin typeface="Proxima Nova" panose="020B0604020202020204"/>
                <a:ea typeface="Cambria" panose="02040503050406030204" pitchFamily="18" charset="0"/>
              </a:rPr>
              <a:t>}</a:t>
            </a:r>
          </a:p>
          <a:p>
            <a:pPr lvl="3"/>
            <a:r>
              <a:rPr lang="en-US" dirty="0">
                <a:latin typeface="Proxima Nova" panose="020B0604020202020204"/>
                <a:ea typeface="Cambria" panose="02040503050406030204" pitchFamily="18" charset="0"/>
              </a:rPr>
              <a:t>@keyframes example {</a:t>
            </a:r>
          </a:p>
          <a:p>
            <a:pPr lvl="3"/>
            <a:r>
              <a:rPr lang="en-US" dirty="0">
                <a:latin typeface="Proxima Nova" panose="020B0604020202020204"/>
                <a:ea typeface="Cambria" panose="02040503050406030204" pitchFamily="18" charset="0"/>
              </a:rPr>
              <a:t>  0%   {</a:t>
            </a:r>
            <a:r>
              <a:rPr lang="en-US" dirty="0" err="1">
                <a:latin typeface="Proxima Nova" panose="020B0604020202020204"/>
                <a:ea typeface="Cambria" panose="02040503050406030204" pitchFamily="18" charset="0"/>
              </a:rPr>
              <a:t>background-color:red</a:t>
            </a:r>
            <a:r>
              <a:rPr lang="en-US" dirty="0">
                <a:latin typeface="Proxima Nova" panose="020B0604020202020204"/>
                <a:ea typeface="Cambria" panose="02040503050406030204" pitchFamily="18" charset="0"/>
              </a:rPr>
              <a:t>; left:0px; top:0px;}</a:t>
            </a:r>
          </a:p>
          <a:p>
            <a:pPr lvl="3"/>
            <a:r>
              <a:rPr lang="en-US" dirty="0">
                <a:latin typeface="Proxima Nova" panose="020B0604020202020204"/>
                <a:ea typeface="Cambria" panose="02040503050406030204" pitchFamily="18" charset="0"/>
              </a:rPr>
              <a:t>  25%  {</a:t>
            </a:r>
            <a:r>
              <a:rPr lang="en-US" dirty="0" err="1">
                <a:latin typeface="Proxima Nova" panose="020B0604020202020204"/>
                <a:ea typeface="Cambria" panose="02040503050406030204" pitchFamily="18" charset="0"/>
              </a:rPr>
              <a:t>background-color:yellow</a:t>
            </a:r>
            <a:r>
              <a:rPr lang="en-US" dirty="0">
                <a:latin typeface="Proxima Nova" panose="020B0604020202020204"/>
                <a:ea typeface="Cambria" panose="02040503050406030204" pitchFamily="18" charset="0"/>
              </a:rPr>
              <a:t>; left:200px; top:0px;}</a:t>
            </a:r>
          </a:p>
          <a:p>
            <a:pPr lvl="3"/>
            <a:r>
              <a:rPr lang="en-US" dirty="0">
                <a:latin typeface="Proxima Nova" panose="020B0604020202020204"/>
                <a:ea typeface="Cambria" panose="02040503050406030204" pitchFamily="18" charset="0"/>
              </a:rPr>
              <a:t>  50%  {</a:t>
            </a:r>
            <a:r>
              <a:rPr lang="en-US" dirty="0" err="1">
                <a:latin typeface="Proxima Nova" panose="020B0604020202020204"/>
                <a:ea typeface="Cambria" panose="02040503050406030204" pitchFamily="18" charset="0"/>
              </a:rPr>
              <a:t>background-color:blue</a:t>
            </a:r>
            <a:r>
              <a:rPr lang="en-US" dirty="0">
                <a:latin typeface="Proxima Nova" panose="020B0604020202020204"/>
                <a:ea typeface="Cambria" panose="02040503050406030204" pitchFamily="18" charset="0"/>
              </a:rPr>
              <a:t>; left:200px; top:200px;}</a:t>
            </a:r>
          </a:p>
          <a:p>
            <a:pPr lvl="3"/>
            <a:r>
              <a:rPr lang="en-US" dirty="0">
                <a:latin typeface="Proxima Nova" panose="020B0604020202020204"/>
                <a:ea typeface="Cambria" panose="02040503050406030204" pitchFamily="18" charset="0"/>
              </a:rPr>
              <a:t>  75%  {</a:t>
            </a:r>
            <a:r>
              <a:rPr lang="en-US" dirty="0" err="1">
                <a:latin typeface="Proxima Nova" panose="020B0604020202020204"/>
                <a:ea typeface="Cambria" panose="02040503050406030204" pitchFamily="18" charset="0"/>
              </a:rPr>
              <a:t>background-color:green</a:t>
            </a:r>
            <a:r>
              <a:rPr lang="en-US" dirty="0">
                <a:latin typeface="Proxima Nova" panose="020B0604020202020204"/>
                <a:ea typeface="Cambria" panose="02040503050406030204" pitchFamily="18" charset="0"/>
              </a:rPr>
              <a:t>; left:0px; top:200px;}</a:t>
            </a:r>
          </a:p>
          <a:p>
            <a:pPr lvl="3"/>
            <a:r>
              <a:rPr lang="en-US" dirty="0">
                <a:latin typeface="Proxima Nova" panose="020B0604020202020204"/>
                <a:ea typeface="Cambria" panose="02040503050406030204" pitchFamily="18" charset="0"/>
              </a:rPr>
              <a:t>  100% {</a:t>
            </a:r>
            <a:r>
              <a:rPr lang="en-US" dirty="0" err="1">
                <a:latin typeface="Proxima Nova" panose="020B0604020202020204"/>
                <a:ea typeface="Cambria" panose="02040503050406030204" pitchFamily="18" charset="0"/>
              </a:rPr>
              <a:t>background-color:red</a:t>
            </a:r>
            <a:r>
              <a:rPr lang="en-US" dirty="0">
                <a:latin typeface="Proxima Nova" panose="020B0604020202020204"/>
                <a:ea typeface="Cambria" panose="02040503050406030204" pitchFamily="18" charset="0"/>
              </a:rPr>
              <a:t>; left:0px; top:0px;}</a:t>
            </a:r>
          </a:p>
          <a:p>
            <a:pPr lvl="3"/>
            <a:r>
              <a:rPr lang="en-US" dirty="0">
                <a:latin typeface="Proxima Nova" panose="020B0604020202020204"/>
                <a:ea typeface="Cambria" panose="02040503050406030204" pitchFamily="18" charset="0"/>
              </a:rPr>
              <a:t>}</a:t>
            </a:r>
          </a:p>
          <a:p>
            <a:pPr marL="895350" lvl="3"/>
            <a:r>
              <a:rPr lang="en-US" dirty="0">
                <a:latin typeface="Proxima Nova" panose="020B0604020202020204"/>
                <a:ea typeface="Cambria" panose="02040503050406030204" pitchFamily="18" charset="0"/>
              </a:rPr>
              <a:t>&lt;/style&gt;</a:t>
            </a:r>
          </a:p>
        </p:txBody>
      </p:sp>
    </p:spTree>
    <p:extLst>
      <p:ext uri="{BB962C8B-B14F-4D97-AF65-F5344CB8AC3E}">
        <p14:creationId xmlns:p14="http://schemas.microsoft.com/office/powerpoint/2010/main" val="347445750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0040C-DBCC-76DB-BC39-869A518C19CC}"/>
              </a:ext>
            </a:extLst>
          </p:cNvPr>
          <p:cNvSpPr>
            <a:spLocks noGrp="1"/>
          </p:cNvSpPr>
          <p:nvPr>
            <p:ph type="title"/>
          </p:nvPr>
        </p:nvSpPr>
        <p:spPr/>
        <p:txBody>
          <a:bodyPr/>
          <a:lstStyle/>
          <a:p>
            <a:r>
              <a:rPr lang="en-US" dirty="0"/>
              <a:t>Animation Properties</a:t>
            </a:r>
            <a:endParaRPr lang="en-IN" dirty="0"/>
          </a:p>
        </p:txBody>
      </p:sp>
      <p:sp>
        <p:nvSpPr>
          <p:cNvPr id="3" name="Content Placeholder 2">
            <a:extLst>
              <a:ext uri="{FF2B5EF4-FFF2-40B4-BE49-F238E27FC236}">
                <a16:creationId xmlns:a16="http://schemas.microsoft.com/office/drawing/2014/main" id="{9F148970-8835-6414-D1FA-2C4CF262E2B9}"/>
              </a:ext>
            </a:extLst>
          </p:cNvPr>
          <p:cNvSpPr>
            <a:spLocks noGrp="1"/>
          </p:cNvSpPr>
          <p:nvPr>
            <p:ph idx="1"/>
          </p:nvPr>
        </p:nvSpPr>
        <p:spPr/>
        <p:txBody>
          <a:bodyPr>
            <a:normAutofit fontScale="92500" lnSpcReduction="10000"/>
          </a:bodyPr>
          <a:lstStyle/>
          <a:p>
            <a:r>
              <a:rPr lang="en-US" b="1" dirty="0"/>
              <a:t>Animation Delay:</a:t>
            </a:r>
          </a:p>
          <a:p>
            <a:r>
              <a:rPr lang="en-US" dirty="0"/>
              <a:t>The animation-delay property specifies a delay for the start of an animation.</a:t>
            </a:r>
          </a:p>
          <a:p>
            <a:r>
              <a:rPr lang="en-US" dirty="0"/>
              <a:t>The following example has a 2 seconds delay before starting the animation.</a:t>
            </a:r>
          </a:p>
          <a:p>
            <a:r>
              <a:rPr lang="en-US" dirty="0"/>
              <a:t>Negative values are also allowed. If using negative values, the animation will start as if it had already been playing for N seconds.</a:t>
            </a:r>
          </a:p>
          <a:p>
            <a:r>
              <a:rPr lang="en-US" b="1" dirty="0"/>
              <a:t>animation-iteration-count:</a:t>
            </a:r>
          </a:p>
          <a:p>
            <a:r>
              <a:rPr lang="en-US" dirty="0"/>
              <a:t>The animation-iteration-count property specifies the number of times an animation should run.</a:t>
            </a:r>
          </a:p>
          <a:p>
            <a:r>
              <a:rPr lang="en-US" dirty="0"/>
              <a:t>The following example will run the animation 3 times before it stops.</a:t>
            </a:r>
          </a:p>
          <a:p>
            <a:r>
              <a:rPr lang="en-US" dirty="0"/>
              <a:t>uses the value "infinite" to make the animation continue for ever.</a:t>
            </a:r>
          </a:p>
          <a:p>
            <a:endParaRPr lang="en-IN" b="1" dirty="0"/>
          </a:p>
        </p:txBody>
      </p:sp>
    </p:spTree>
    <p:extLst>
      <p:ext uri="{BB962C8B-B14F-4D97-AF65-F5344CB8AC3E}">
        <p14:creationId xmlns:p14="http://schemas.microsoft.com/office/powerpoint/2010/main" val="68067533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BB589-2B36-CB2E-2852-D3746E88EF41}"/>
              </a:ext>
            </a:extLst>
          </p:cNvPr>
          <p:cNvSpPr>
            <a:spLocks noGrp="1"/>
          </p:cNvSpPr>
          <p:nvPr>
            <p:ph type="title"/>
          </p:nvPr>
        </p:nvSpPr>
        <p:spPr/>
        <p:txBody>
          <a:bodyPr/>
          <a:lstStyle/>
          <a:p>
            <a:r>
              <a:rPr lang="en-US" dirty="0"/>
              <a:t>Animation Properties</a:t>
            </a:r>
            <a:endParaRPr lang="en-IN" dirty="0"/>
          </a:p>
        </p:txBody>
      </p:sp>
      <p:sp>
        <p:nvSpPr>
          <p:cNvPr id="3" name="Content Placeholder 2">
            <a:extLst>
              <a:ext uri="{FF2B5EF4-FFF2-40B4-BE49-F238E27FC236}">
                <a16:creationId xmlns:a16="http://schemas.microsoft.com/office/drawing/2014/main" id="{9B09F29D-165C-B5D9-DE57-521A6C9132B0}"/>
              </a:ext>
            </a:extLst>
          </p:cNvPr>
          <p:cNvSpPr>
            <a:spLocks noGrp="1"/>
          </p:cNvSpPr>
          <p:nvPr>
            <p:ph idx="1"/>
          </p:nvPr>
        </p:nvSpPr>
        <p:spPr/>
        <p:txBody>
          <a:bodyPr>
            <a:normAutofit fontScale="92500" lnSpcReduction="10000"/>
          </a:bodyPr>
          <a:lstStyle/>
          <a:p>
            <a:r>
              <a:rPr lang="en-US" b="1" dirty="0"/>
              <a:t>animation-direction:</a:t>
            </a:r>
          </a:p>
          <a:p>
            <a:r>
              <a:rPr lang="en-US" b="1" dirty="0"/>
              <a:t>Run Animation in Reverse Direction or Alternate Cycles</a:t>
            </a:r>
            <a:endParaRPr lang="en-US" dirty="0"/>
          </a:p>
          <a:p>
            <a:r>
              <a:rPr lang="en-US" dirty="0"/>
              <a:t>The animation-direction property specifies whether an animation should be played forwards, backwards or in alternate cycles.</a:t>
            </a:r>
          </a:p>
          <a:p>
            <a:r>
              <a:rPr lang="en-US" dirty="0"/>
              <a:t>The animation-direction property can have the following values:</a:t>
            </a:r>
          </a:p>
          <a:p>
            <a:r>
              <a:rPr lang="en-US" b="1" dirty="0"/>
              <a:t>normal</a:t>
            </a:r>
            <a:r>
              <a:rPr lang="en-US" dirty="0"/>
              <a:t> - The animation is played as normal (forwards). This is default</a:t>
            </a:r>
          </a:p>
          <a:p>
            <a:r>
              <a:rPr lang="en-US" b="1" dirty="0"/>
              <a:t>reverse</a:t>
            </a:r>
            <a:r>
              <a:rPr lang="en-US" dirty="0"/>
              <a:t> - The animation is played in reverse direction (backwards)</a:t>
            </a:r>
          </a:p>
          <a:p>
            <a:r>
              <a:rPr lang="en-US" b="1" dirty="0"/>
              <a:t>alternate</a:t>
            </a:r>
            <a:r>
              <a:rPr lang="en-US" dirty="0"/>
              <a:t> - The animation is played forwards first, then backwards</a:t>
            </a:r>
          </a:p>
          <a:p>
            <a:r>
              <a:rPr lang="en-US" b="1" dirty="0"/>
              <a:t>alternate-reverse</a:t>
            </a:r>
            <a:r>
              <a:rPr lang="en-US" dirty="0"/>
              <a:t> - The animation is played backwards first, then forwards</a:t>
            </a:r>
          </a:p>
          <a:p>
            <a:endParaRPr lang="en-US" dirty="0"/>
          </a:p>
          <a:p>
            <a:endParaRPr lang="en-US" b="1" dirty="0"/>
          </a:p>
          <a:p>
            <a:endParaRPr lang="en-IN" b="1" dirty="0"/>
          </a:p>
        </p:txBody>
      </p:sp>
    </p:spTree>
    <p:extLst>
      <p:ext uri="{BB962C8B-B14F-4D97-AF65-F5344CB8AC3E}">
        <p14:creationId xmlns:p14="http://schemas.microsoft.com/office/powerpoint/2010/main" val="127684839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8885-F4C9-D2A3-6A22-B34E35E70550}"/>
              </a:ext>
            </a:extLst>
          </p:cNvPr>
          <p:cNvSpPr>
            <a:spLocks noGrp="1"/>
          </p:cNvSpPr>
          <p:nvPr>
            <p:ph type="title"/>
          </p:nvPr>
        </p:nvSpPr>
        <p:spPr/>
        <p:txBody>
          <a:bodyPr/>
          <a:lstStyle/>
          <a:p>
            <a:r>
              <a:rPr lang="en-US" dirty="0"/>
              <a:t>Animation Properties</a:t>
            </a:r>
            <a:endParaRPr lang="en-IN" dirty="0"/>
          </a:p>
        </p:txBody>
      </p:sp>
      <p:sp>
        <p:nvSpPr>
          <p:cNvPr id="3" name="Content Placeholder 2">
            <a:extLst>
              <a:ext uri="{FF2B5EF4-FFF2-40B4-BE49-F238E27FC236}">
                <a16:creationId xmlns:a16="http://schemas.microsoft.com/office/drawing/2014/main" id="{2B26A198-2488-0242-7AB4-A47D7A048952}"/>
              </a:ext>
            </a:extLst>
          </p:cNvPr>
          <p:cNvSpPr>
            <a:spLocks noGrp="1"/>
          </p:cNvSpPr>
          <p:nvPr>
            <p:ph idx="1"/>
          </p:nvPr>
        </p:nvSpPr>
        <p:spPr>
          <a:xfrm>
            <a:off x="423420" y="1253330"/>
            <a:ext cx="11294097" cy="5014119"/>
          </a:xfrm>
        </p:spPr>
        <p:txBody>
          <a:bodyPr>
            <a:normAutofit/>
          </a:bodyPr>
          <a:lstStyle/>
          <a:p>
            <a:r>
              <a:rPr lang="en-US" b="1" dirty="0"/>
              <a:t>animation-timing-function:</a:t>
            </a:r>
          </a:p>
          <a:p>
            <a:r>
              <a:rPr lang="en-US" dirty="0"/>
              <a:t>The animation-timing-function property specifies the speed curve of the animation.</a:t>
            </a:r>
          </a:p>
          <a:p>
            <a:r>
              <a:rPr lang="en-US" dirty="0"/>
              <a:t>The animation-timing-function property can have the following values:</a:t>
            </a:r>
          </a:p>
          <a:p>
            <a:r>
              <a:rPr lang="en-US" b="1" dirty="0"/>
              <a:t>ease</a:t>
            </a:r>
            <a:r>
              <a:rPr lang="en-US" dirty="0"/>
              <a:t> - Specifies an animation with a slow start, then fast, then end slowly (this is default)</a:t>
            </a:r>
          </a:p>
          <a:p>
            <a:r>
              <a:rPr lang="en-US" b="1" dirty="0"/>
              <a:t>linear</a:t>
            </a:r>
            <a:r>
              <a:rPr lang="en-US" dirty="0"/>
              <a:t> - Specifies an animation with the same speed from start to end</a:t>
            </a:r>
          </a:p>
          <a:p>
            <a:r>
              <a:rPr lang="en-US" b="1" dirty="0"/>
              <a:t>ease-in</a:t>
            </a:r>
            <a:r>
              <a:rPr lang="en-US" dirty="0"/>
              <a:t> - Specifies an animation with a slow start</a:t>
            </a:r>
          </a:p>
          <a:p>
            <a:r>
              <a:rPr lang="en-US" b="1" dirty="0"/>
              <a:t>ease-out</a:t>
            </a:r>
            <a:r>
              <a:rPr lang="en-US" dirty="0"/>
              <a:t> - Specifies an animation with a slow end</a:t>
            </a:r>
          </a:p>
          <a:p>
            <a:r>
              <a:rPr lang="en-US" b="1" dirty="0"/>
              <a:t>ease-in-out</a:t>
            </a:r>
            <a:r>
              <a:rPr lang="en-US" dirty="0"/>
              <a:t> - Specifies an animation with a slow start and end</a:t>
            </a:r>
          </a:p>
          <a:p>
            <a:r>
              <a:rPr lang="en-US" b="1" dirty="0"/>
              <a:t>cubic-</a:t>
            </a:r>
            <a:r>
              <a:rPr lang="en-US" b="1" dirty="0" err="1"/>
              <a:t>bezier</a:t>
            </a:r>
            <a:r>
              <a:rPr lang="en-US" b="1" dirty="0"/>
              <a:t>(</a:t>
            </a:r>
            <a:r>
              <a:rPr lang="en-US" b="1" dirty="0" err="1"/>
              <a:t>n,n,n,n</a:t>
            </a:r>
            <a:r>
              <a:rPr lang="en-US" dirty="0"/>
              <a:t>) - Lets you define your own values in a cubic-</a:t>
            </a:r>
            <a:r>
              <a:rPr lang="en-US" dirty="0" err="1"/>
              <a:t>bezier</a:t>
            </a:r>
            <a:r>
              <a:rPr lang="en-US" dirty="0"/>
              <a:t> function</a:t>
            </a:r>
          </a:p>
          <a:p>
            <a:endParaRPr lang="en-US" dirty="0"/>
          </a:p>
          <a:p>
            <a:endParaRPr lang="en-IN" b="1" dirty="0"/>
          </a:p>
        </p:txBody>
      </p:sp>
    </p:spTree>
    <p:extLst>
      <p:ext uri="{BB962C8B-B14F-4D97-AF65-F5344CB8AC3E}">
        <p14:creationId xmlns:p14="http://schemas.microsoft.com/office/powerpoint/2010/main" val="294243484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8196-B657-4036-C842-C5227E0BD6A6}"/>
              </a:ext>
            </a:extLst>
          </p:cNvPr>
          <p:cNvSpPr>
            <a:spLocks noGrp="1"/>
          </p:cNvSpPr>
          <p:nvPr>
            <p:ph type="title"/>
          </p:nvPr>
        </p:nvSpPr>
        <p:spPr/>
        <p:txBody>
          <a:bodyPr/>
          <a:lstStyle/>
          <a:p>
            <a:r>
              <a:rPr lang="en-US" dirty="0"/>
              <a:t>Shorthand Property</a:t>
            </a:r>
            <a:endParaRPr lang="en-IN" dirty="0"/>
          </a:p>
        </p:txBody>
      </p:sp>
      <p:sp>
        <p:nvSpPr>
          <p:cNvPr id="3" name="Content Placeholder 2">
            <a:extLst>
              <a:ext uri="{FF2B5EF4-FFF2-40B4-BE49-F238E27FC236}">
                <a16:creationId xmlns:a16="http://schemas.microsoft.com/office/drawing/2014/main" id="{1B006AEB-1319-B5EC-B4AC-4FF6F4E1FEF3}"/>
              </a:ext>
            </a:extLst>
          </p:cNvPr>
          <p:cNvSpPr>
            <a:spLocks noGrp="1"/>
          </p:cNvSpPr>
          <p:nvPr>
            <p:ph idx="1"/>
          </p:nvPr>
        </p:nvSpPr>
        <p:spPr>
          <a:xfrm>
            <a:off x="448951" y="1013218"/>
            <a:ext cx="11294097" cy="4351338"/>
          </a:xfrm>
        </p:spPr>
        <p:txBody>
          <a:bodyPr>
            <a:noAutofit/>
          </a:bodyPr>
          <a:lstStyle/>
          <a:p>
            <a:pPr marL="0" indent="0">
              <a:buNone/>
            </a:pPr>
            <a:r>
              <a:rPr lang="en-US" dirty="0"/>
              <a:t>div {</a:t>
            </a:r>
          </a:p>
          <a:p>
            <a:pPr marL="0" indent="0">
              <a:buNone/>
            </a:pPr>
            <a:r>
              <a:rPr lang="en-US" dirty="0"/>
              <a:t>  animation: example 5s linear 2s infinite alternate;</a:t>
            </a:r>
          </a:p>
          <a:p>
            <a:pPr marL="0" indent="0">
              <a:buNone/>
            </a:pPr>
            <a:r>
              <a:rPr lang="en-US" dirty="0"/>
              <a:t>}</a:t>
            </a:r>
          </a:p>
          <a:p>
            <a:pPr marL="0" indent="0">
              <a:buNone/>
            </a:pPr>
            <a:r>
              <a:rPr lang="en-US" dirty="0"/>
              <a:t>div {</a:t>
            </a:r>
          </a:p>
          <a:p>
            <a:pPr marL="0" indent="0">
              <a:buNone/>
            </a:pPr>
            <a:r>
              <a:rPr lang="en-US" dirty="0"/>
              <a:t>  animation-name: example;</a:t>
            </a:r>
          </a:p>
          <a:p>
            <a:pPr marL="0" indent="0">
              <a:buNone/>
            </a:pPr>
            <a:r>
              <a:rPr lang="en-US" dirty="0"/>
              <a:t>  animation-duration: 5s;</a:t>
            </a:r>
          </a:p>
          <a:p>
            <a:pPr marL="0" indent="0">
              <a:buNone/>
            </a:pPr>
            <a:r>
              <a:rPr lang="en-US" dirty="0"/>
              <a:t>  animation-timing-function: linear;</a:t>
            </a:r>
          </a:p>
          <a:p>
            <a:pPr marL="0" indent="0">
              <a:buNone/>
            </a:pPr>
            <a:r>
              <a:rPr lang="en-US" dirty="0"/>
              <a:t>  animation-delay: 2s;</a:t>
            </a:r>
          </a:p>
          <a:p>
            <a:pPr marL="0" indent="0">
              <a:buNone/>
            </a:pPr>
            <a:r>
              <a:rPr lang="en-US" dirty="0"/>
              <a:t>  animation-iteration-count: infinite;</a:t>
            </a:r>
          </a:p>
          <a:p>
            <a:pPr marL="0" indent="0">
              <a:buNone/>
            </a:pPr>
            <a:r>
              <a:rPr lang="en-US" dirty="0"/>
              <a:t>  animation-direction: alternate;</a:t>
            </a:r>
          </a:p>
          <a:p>
            <a:pPr marL="0" indent="0">
              <a:buNone/>
            </a:pPr>
            <a:r>
              <a:rPr lang="en-US" dirty="0"/>
              <a:t>}</a:t>
            </a:r>
          </a:p>
          <a:p>
            <a:pPr marL="0" indent="0">
              <a:buNone/>
            </a:pPr>
            <a:endParaRPr lang="en-IN" b="1" dirty="0"/>
          </a:p>
        </p:txBody>
      </p:sp>
    </p:spTree>
    <p:extLst>
      <p:ext uri="{BB962C8B-B14F-4D97-AF65-F5344CB8AC3E}">
        <p14:creationId xmlns:p14="http://schemas.microsoft.com/office/powerpoint/2010/main" val="7267434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3B1B2-2BB6-B5B6-3EE4-21D605B9463D}"/>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FE6C6FD3-62A7-C82C-C4D2-84FACD3C3BDF}"/>
              </a:ext>
            </a:extLst>
          </p:cNvPr>
          <p:cNvSpPr txBox="1"/>
          <p:nvPr/>
        </p:nvSpPr>
        <p:spPr>
          <a:xfrm>
            <a:off x="438150" y="1235303"/>
            <a:ext cx="9620250" cy="4247317"/>
          </a:xfrm>
          <a:prstGeom prst="rect">
            <a:avLst/>
          </a:prstGeom>
          <a:noFill/>
        </p:spPr>
        <p:txBody>
          <a:bodyPr wrap="square">
            <a:spAutoFit/>
          </a:bodyPr>
          <a:lstStyle/>
          <a:p>
            <a:r>
              <a:rPr lang="en-IN" dirty="0">
                <a:latin typeface="Proxima Nova" panose="020B0604020202020204"/>
              </a:rPr>
              <a:t>&lt;!DOCTYPE html&gt;</a:t>
            </a:r>
          </a:p>
          <a:p>
            <a:r>
              <a:rPr lang="en-IN" dirty="0">
                <a:latin typeface="Proxima Nova" panose="020B0604020202020204"/>
              </a:rPr>
              <a:t>&lt;html&gt;</a:t>
            </a:r>
          </a:p>
          <a:p>
            <a:r>
              <a:rPr lang="en-IN" dirty="0">
                <a:latin typeface="Proxima Nova" panose="020B0604020202020204"/>
              </a:rPr>
              <a:t>&lt;head&gt;</a:t>
            </a:r>
          </a:p>
          <a:p>
            <a:r>
              <a:rPr lang="en-IN" dirty="0">
                <a:latin typeface="Proxima Nova" panose="020B0604020202020204"/>
              </a:rPr>
              <a:t>&lt;style&gt;</a:t>
            </a:r>
          </a:p>
          <a:p>
            <a:r>
              <a:rPr lang="en-IN" dirty="0">
                <a:latin typeface="Proxima Nova" panose="020B0604020202020204"/>
              </a:rPr>
              <a:t>	div{</a:t>
            </a:r>
          </a:p>
          <a:p>
            <a:r>
              <a:rPr lang="en-IN" dirty="0">
                <a:latin typeface="Proxima Nova" panose="020B0604020202020204"/>
              </a:rPr>
              <a:t>	height:200px;</a:t>
            </a:r>
          </a:p>
          <a:p>
            <a:r>
              <a:rPr lang="en-IN" dirty="0">
                <a:latin typeface="Proxima Nova" panose="020B0604020202020204"/>
              </a:rPr>
              <a:t>	width:200px;</a:t>
            </a:r>
          </a:p>
          <a:p>
            <a:r>
              <a:rPr lang="en-IN" dirty="0">
                <a:latin typeface="Proxima Nova" panose="020B0604020202020204"/>
              </a:rPr>
              <a:t>	</a:t>
            </a:r>
            <a:r>
              <a:rPr lang="en-IN" dirty="0" err="1">
                <a:latin typeface="Proxima Nova" panose="020B0604020202020204"/>
              </a:rPr>
              <a:t>position:relative</a:t>
            </a:r>
            <a:r>
              <a:rPr lang="en-IN" dirty="0">
                <a:latin typeface="Proxima Nova" panose="020B0604020202020204"/>
              </a:rPr>
              <a:t>;</a:t>
            </a:r>
          </a:p>
          <a:p>
            <a:r>
              <a:rPr lang="en-IN" dirty="0">
                <a:latin typeface="Proxima Nova" panose="020B0604020202020204"/>
              </a:rPr>
              <a:t>	border:1px solid black;</a:t>
            </a:r>
          </a:p>
          <a:p>
            <a:r>
              <a:rPr lang="en-IN" dirty="0">
                <a:latin typeface="Proxima Nova" panose="020B0604020202020204"/>
              </a:rPr>
              <a:t>	</a:t>
            </a:r>
            <a:r>
              <a:rPr lang="en-IN" dirty="0" err="1">
                <a:latin typeface="Proxima Nova" panose="020B0604020202020204"/>
              </a:rPr>
              <a:t>background-color:red</a:t>
            </a:r>
            <a:r>
              <a:rPr lang="en-IN" dirty="0">
                <a:latin typeface="Proxima Nova" panose="020B0604020202020204"/>
              </a:rPr>
              <a:t>;</a:t>
            </a:r>
          </a:p>
          <a:p>
            <a:r>
              <a:rPr lang="en-IN" dirty="0">
                <a:latin typeface="Proxima Nova" panose="020B0604020202020204"/>
              </a:rPr>
              <a:t>	</a:t>
            </a:r>
            <a:r>
              <a:rPr lang="en-IN" dirty="0" err="1">
                <a:latin typeface="Proxima Nova" panose="020B0604020202020204"/>
              </a:rPr>
              <a:t>animation-name:anim</a:t>
            </a:r>
            <a:r>
              <a:rPr lang="en-IN" dirty="0">
                <a:latin typeface="Proxima Nova" panose="020B0604020202020204"/>
              </a:rPr>
              <a:t>;</a:t>
            </a:r>
          </a:p>
          <a:p>
            <a:r>
              <a:rPr lang="en-IN" dirty="0">
                <a:latin typeface="Proxima Nova" panose="020B0604020202020204"/>
              </a:rPr>
              <a:t>	animation-duration:2s;</a:t>
            </a:r>
          </a:p>
          <a:p>
            <a:r>
              <a:rPr lang="en-IN" dirty="0">
                <a:latin typeface="Proxima Nova" panose="020B0604020202020204"/>
              </a:rPr>
              <a:t>	animation-delay:1s;</a:t>
            </a:r>
          </a:p>
          <a:p>
            <a:r>
              <a:rPr lang="en-IN" dirty="0">
                <a:latin typeface="Proxima Nova" panose="020B0604020202020204"/>
              </a:rPr>
              <a:t>	</a:t>
            </a:r>
            <a:r>
              <a:rPr lang="en-IN" dirty="0" err="1">
                <a:latin typeface="Proxima Nova" panose="020B0604020202020204"/>
              </a:rPr>
              <a:t>animation-iteration-count:infinite</a:t>
            </a:r>
            <a:r>
              <a:rPr lang="en-IN" dirty="0">
                <a:latin typeface="Proxima Nova" panose="020B0604020202020204"/>
              </a:rPr>
              <a:t>;</a:t>
            </a:r>
          </a:p>
          <a:p>
            <a:r>
              <a:rPr lang="en-IN" dirty="0">
                <a:latin typeface="Proxima Nova" panose="020B0604020202020204"/>
              </a:rPr>
              <a:t>	</a:t>
            </a:r>
            <a:r>
              <a:rPr lang="en-IN" dirty="0" err="1">
                <a:latin typeface="Proxima Nova" panose="020B0604020202020204"/>
              </a:rPr>
              <a:t>animation-direction:alternate-reverse</a:t>
            </a:r>
            <a:r>
              <a:rPr lang="en-IN" dirty="0">
                <a:latin typeface="Proxima Nova" panose="020B0604020202020204"/>
              </a:rPr>
              <a:t>	</a:t>
            </a:r>
          </a:p>
        </p:txBody>
      </p:sp>
      <p:sp>
        <p:nvSpPr>
          <p:cNvPr id="7" name="TextBox 6">
            <a:extLst>
              <a:ext uri="{FF2B5EF4-FFF2-40B4-BE49-F238E27FC236}">
                <a16:creationId xmlns:a16="http://schemas.microsoft.com/office/drawing/2014/main" id="{4D0B8FF8-C448-5D44-D11D-9D30D69DD253}"/>
              </a:ext>
            </a:extLst>
          </p:cNvPr>
          <p:cNvSpPr txBox="1"/>
          <p:nvPr/>
        </p:nvSpPr>
        <p:spPr>
          <a:xfrm>
            <a:off x="4838700" y="958304"/>
            <a:ext cx="8858250" cy="3693319"/>
          </a:xfrm>
          <a:prstGeom prst="rect">
            <a:avLst/>
          </a:prstGeom>
          <a:noFill/>
        </p:spPr>
        <p:txBody>
          <a:bodyPr wrap="square">
            <a:spAutoFit/>
          </a:bodyPr>
          <a:lstStyle/>
          <a:p>
            <a:r>
              <a:rPr lang="en-IN" dirty="0">
                <a:latin typeface="Proxima Nova" panose="020B0604020202020204"/>
              </a:rPr>
              <a:t>	@keyframes </a:t>
            </a:r>
            <a:r>
              <a:rPr lang="en-IN" dirty="0" err="1">
                <a:latin typeface="Proxima Nova" panose="020B0604020202020204"/>
              </a:rPr>
              <a:t>anim</a:t>
            </a:r>
            <a:r>
              <a:rPr lang="en-IN" dirty="0">
                <a:latin typeface="Proxima Nova" panose="020B0604020202020204"/>
              </a:rPr>
              <a:t>{</a:t>
            </a:r>
          </a:p>
          <a:p>
            <a:r>
              <a:rPr lang="en-IN" dirty="0">
                <a:latin typeface="Proxima Nova" panose="020B0604020202020204"/>
              </a:rPr>
              <a:t>		0%{background-color:red;top:0px;left:0px;}</a:t>
            </a:r>
          </a:p>
          <a:p>
            <a:r>
              <a:rPr lang="en-IN" dirty="0">
                <a:latin typeface="Proxima Nova" panose="020B0604020202020204"/>
              </a:rPr>
              <a:t>		25%{background-color:green;top:0px;left:500px;}</a:t>
            </a:r>
          </a:p>
          <a:p>
            <a:r>
              <a:rPr lang="en-IN" dirty="0">
                <a:latin typeface="Proxima Nova" panose="020B0604020202020204"/>
              </a:rPr>
              <a:t>		50%{background-color:yellow;top:500px;left:500px;				75%{background-color:blue;top:500px;left:0px;}</a:t>
            </a:r>
          </a:p>
          <a:p>
            <a:r>
              <a:rPr lang="en-IN" dirty="0">
                <a:latin typeface="Proxima Nova" panose="020B0604020202020204"/>
              </a:rPr>
              <a:t>		100%{background-color:white;top:0px;left:0px;}</a:t>
            </a:r>
          </a:p>
          <a:p>
            <a:r>
              <a:rPr lang="en-IN" dirty="0">
                <a:latin typeface="Proxima Nova" panose="020B0604020202020204"/>
              </a:rPr>
              <a:t>			}</a:t>
            </a:r>
          </a:p>
          <a:p>
            <a:r>
              <a:rPr lang="en-IN" dirty="0">
                <a:latin typeface="Proxima Nova" panose="020B0604020202020204"/>
              </a:rPr>
              <a:t>		&lt;/style&gt;</a:t>
            </a:r>
          </a:p>
          <a:p>
            <a:r>
              <a:rPr lang="en-IN" dirty="0">
                <a:latin typeface="Proxima Nova" panose="020B0604020202020204"/>
              </a:rPr>
              <a:t>	&lt;/head&gt;</a:t>
            </a:r>
          </a:p>
          <a:p>
            <a:r>
              <a:rPr lang="en-IN" dirty="0">
                <a:latin typeface="Proxima Nova" panose="020B0604020202020204"/>
              </a:rPr>
              <a:t>	&lt;body&gt;</a:t>
            </a:r>
          </a:p>
          <a:p>
            <a:r>
              <a:rPr lang="en-IN" dirty="0">
                <a:latin typeface="Proxima Nova" panose="020B0604020202020204"/>
              </a:rPr>
              <a:t>		&lt;div&gt;&lt;/div&gt;</a:t>
            </a:r>
          </a:p>
          <a:p>
            <a:r>
              <a:rPr lang="en-IN" dirty="0">
                <a:latin typeface="Proxima Nova" panose="020B0604020202020204"/>
              </a:rPr>
              <a:t>	&lt;/body&gt;</a:t>
            </a:r>
          </a:p>
          <a:p>
            <a:r>
              <a:rPr lang="en-IN" dirty="0">
                <a:latin typeface="Proxima Nova" panose="020B0604020202020204"/>
              </a:rPr>
              <a:t>&lt;/html&gt;</a:t>
            </a:r>
          </a:p>
        </p:txBody>
      </p:sp>
    </p:spTree>
    <p:extLst>
      <p:ext uri="{BB962C8B-B14F-4D97-AF65-F5344CB8AC3E}">
        <p14:creationId xmlns:p14="http://schemas.microsoft.com/office/powerpoint/2010/main" val="425307623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B0C55-191E-B2F2-8F93-C67B77767E52}"/>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34C6AC94-5675-8312-27F5-562464632384}"/>
              </a:ext>
            </a:extLst>
          </p:cNvPr>
          <p:cNvSpPr txBox="1"/>
          <p:nvPr/>
        </p:nvSpPr>
        <p:spPr>
          <a:xfrm>
            <a:off x="-466725" y="1212275"/>
            <a:ext cx="6096000" cy="5509200"/>
          </a:xfrm>
          <a:prstGeom prst="rect">
            <a:avLst/>
          </a:prstGeom>
          <a:noFill/>
        </p:spPr>
        <p:txBody>
          <a:bodyPr wrap="square">
            <a:spAutoFit/>
          </a:bodyPr>
          <a:lstStyle/>
          <a:p>
            <a:r>
              <a:rPr lang="en-US" sz="1600" dirty="0">
                <a:latin typeface="Proxima Nova" panose="020B0604020202020204"/>
                <a:ea typeface="Cambria" panose="02040503050406030204" pitchFamily="18" charset="0"/>
              </a:rPr>
              <a:t>	&lt;head&gt;</a:t>
            </a:r>
          </a:p>
          <a:p>
            <a:r>
              <a:rPr lang="en-US" sz="1600" dirty="0">
                <a:latin typeface="Proxima Nova" panose="020B0604020202020204"/>
                <a:ea typeface="Cambria" panose="02040503050406030204" pitchFamily="18" charset="0"/>
              </a:rPr>
              <a:t>		&lt;style&gt; </a:t>
            </a:r>
          </a:p>
          <a:p>
            <a:pPr lvl="3"/>
            <a:r>
              <a:rPr lang="en-US" sz="1600" dirty="0">
                <a:latin typeface="Proxima Nova" panose="020B0604020202020204"/>
                <a:ea typeface="Cambria" panose="02040503050406030204" pitchFamily="18" charset="0"/>
              </a:rPr>
              <a:t>div {</a:t>
            </a:r>
          </a:p>
          <a:p>
            <a:pPr lvl="3"/>
            <a:r>
              <a:rPr lang="en-US" sz="1600" dirty="0">
                <a:latin typeface="Proxima Nova" panose="020B0604020202020204"/>
                <a:ea typeface="Cambria" panose="02040503050406030204" pitchFamily="18" charset="0"/>
              </a:rPr>
              <a:t>  width: 100px;</a:t>
            </a:r>
          </a:p>
          <a:p>
            <a:pPr lvl="3"/>
            <a:r>
              <a:rPr lang="en-US" sz="1600" dirty="0">
                <a:latin typeface="Proxima Nova" panose="020B0604020202020204"/>
                <a:ea typeface="Cambria" panose="02040503050406030204" pitchFamily="18" charset="0"/>
              </a:rPr>
              <a:t>  height: 50px;</a:t>
            </a:r>
          </a:p>
          <a:p>
            <a:pPr lvl="3"/>
            <a:r>
              <a:rPr lang="en-US" sz="1600" dirty="0">
                <a:latin typeface="Proxima Nova" panose="020B0604020202020204"/>
                <a:ea typeface="Cambria" panose="02040503050406030204" pitchFamily="18" charset="0"/>
              </a:rPr>
              <a:t>  background-color: red;</a:t>
            </a:r>
          </a:p>
          <a:p>
            <a:pPr lvl="3"/>
            <a:r>
              <a:rPr lang="en-US" sz="1600" dirty="0">
                <a:latin typeface="Proxima Nova" panose="020B0604020202020204"/>
                <a:ea typeface="Cambria" panose="02040503050406030204" pitchFamily="18" charset="0"/>
              </a:rPr>
              <a:t>  font-weight: bold;</a:t>
            </a:r>
          </a:p>
          <a:p>
            <a:pPr lvl="3"/>
            <a:r>
              <a:rPr lang="en-US" sz="1600" dirty="0">
                <a:latin typeface="Proxima Nova" panose="020B0604020202020204"/>
                <a:ea typeface="Cambria" panose="02040503050406030204" pitchFamily="18" charset="0"/>
              </a:rPr>
              <a:t>  position: relative;</a:t>
            </a:r>
          </a:p>
          <a:p>
            <a:pPr lvl="3"/>
            <a:r>
              <a:rPr lang="en-US" sz="1600" dirty="0">
                <a:latin typeface="Proxima Nova" panose="020B0604020202020204"/>
                <a:ea typeface="Cambria" panose="02040503050406030204" pitchFamily="18" charset="0"/>
              </a:rPr>
              <a:t>  animation: </a:t>
            </a:r>
            <a:r>
              <a:rPr lang="en-US" sz="1600" dirty="0" err="1">
                <a:latin typeface="Proxima Nova" panose="020B0604020202020204"/>
                <a:ea typeface="Cambria" panose="02040503050406030204" pitchFamily="18" charset="0"/>
              </a:rPr>
              <a:t>mymove</a:t>
            </a:r>
            <a:r>
              <a:rPr lang="en-US" sz="1600" dirty="0">
                <a:latin typeface="Proxima Nova" panose="020B0604020202020204"/>
                <a:ea typeface="Cambria" panose="02040503050406030204" pitchFamily="18" charset="0"/>
              </a:rPr>
              <a:t> 5s infinite;</a:t>
            </a:r>
          </a:p>
          <a:p>
            <a:pPr lvl="3"/>
            <a:r>
              <a:rPr lang="en-US" sz="1600" dirty="0">
                <a:latin typeface="Proxima Nova" panose="020B0604020202020204"/>
                <a:ea typeface="Cambria" panose="02040503050406030204" pitchFamily="18" charset="0"/>
              </a:rPr>
              <a:t>}</a:t>
            </a:r>
          </a:p>
          <a:p>
            <a:pPr lvl="3"/>
            <a:r>
              <a:rPr lang="en-US" sz="1600" dirty="0">
                <a:latin typeface="Proxima Nova" panose="020B0604020202020204"/>
                <a:ea typeface="Cambria" panose="02040503050406030204" pitchFamily="18" charset="0"/>
              </a:rPr>
              <a:t>#div1 {animation-timing-function: linear;}</a:t>
            </a:r>
          </a:p>
          <a:p>
            <a:pPr lvl="3"/>
            <a:r>
              <a:rPr lang="en-US" sz="1600" dirty="0">
                <a:latin typeface="Proxima Nova" panose="020B0604020202020204"/>
                <a:ea typeface="Cambria" panose="02040503050406030204" pitchFamily="18" charset="0"/>
              </a:rPr>
              <a:t>#div2 {animation-timing-function: ease;}</a:t>
            </a:r>
          </a:p>
          <a:p>
            <a:pPr lvl="3"/>
            <a:r>
              <a:rPr lang="en-US" sz="1600" dirty="0">
                <a:latin typeface="Proxima Nova" panose="020B0604020202020204"/>
                <a:ea typeface="Cambria" panose="02040503050406030204" pitchFamily="18" charset="0"/>
              </a:rPr>
              <a:t>#div3 {animation-timing-function: ease-in;}</a:t>
            </a:r>
          </a:p>
          <a:p>
            <a:pPr lvl="3"/>
            <a:r>
              <a:rPr lang="en-US" sz="1600" dirty="0">
                <a:latin typeface="Proxima Nova" panose="020B0604020202020204"/>
                <a:ea typeface="Cambria" panose="02040503050406030204" pitchFamily="18" charset="0"/>
              </a:rPr>
              <a:t>#div4 {animation-timing-function: ease-out;}</a:t>
            </a:r>
          </a:p>
          <a:p>
            <a:pPr lvl="3"/>
            <a:r>
              <a:rPr lang="en-US" sz="1600" dirty="0">
                <a:latin typeface="Proxima Nova" panose="020B0604020202020204"/>
                <a:ea typeface="Cambria" panose="02040503050406030204" pitchFamily="18" charset="0"/>
              </a:rPr>
              <a:t>#div5 {animation-timing-function: ease-in-out;}</a:t>
            </a:r>
          </a:p>
          <a:p>
            <a:pPr lvl="3"/>
            <a:endParaRPr lang="en-US" sz="1600" dirty="0">
              <a:latin typeface="Proxima Nova" panose="020B0604020202020204"/>
              <a:ea typeface="Cambria" panose="02040503050406030204" pitchFamily="18" charset="0"/>
            </a:endParaRPr>
          </a:p>
          <a:p>
            <a:pPr lvl="3"/>
            <a:r>
              <a:rPr lang="en-US" sz="1600" dirty="0">
                <a:latin typeface="Proxima Nova" panose="020B0604020202020204"/>
                <a:ea typeface="Cambria" panose="02040503050406030204" pitchFamily="18" charset="0"/>
              </a:rPr>
              <a:t>@keyframes </a:t>
            </a:r>
            <a:r>
              <a:rPr lang="en-US" sz="1600" dirty="0" err="1">
                <a:latin typeface="Proxima Nova" panose="020B0604020202020204"/>
                <a:ea typeface="Cambria" panose="02040503050406030204" pitchFamily="18" charset="0"/>
              </a:rPr>
              <a:t>mymove</a:t>
            </a:r>
            <a:r>
              <a:rPr lang="en-US" sz="1600" dirty="0">
                <a:latin typeface="Proxima Nova" panose="020B0604020202020204"/>
                <a:ea typeface="Cambria" panose="02040503050406030204" pitchFamily="18" charset="0"/>
              </a:rPr>
              <a:t> {</a:t>
            </a:r>
          </a:p>
          <a:p>
            <a:pPr lvl="3"/>
            <a:r>
              <a:rPr lang="en-US" sz="1600" dirty="0">
                <a:latin typeface="Proxima Nova" panose="020B0604020202020204"/>
                <a:ea typeface="Cambria" panose="02040503050406030204" pitchFamily="18" charset="0"/>
              </a:rPr>
              <a:t>  from {left: 0px;}</a:t>
            </a:r>
          </a:p>
          <a:p>
            <a:pPr lvl="3"/>
            <a:r>
              <a:rPr lang="en-US" sz="1600" dirty="0">
                <a:latin typeface="Proxima Nova" panose="020B0604020202020204"/>
                <a:ea typeface="Cambria" panose="02040503050406030204" pitchFamily="18" charset="0"/>
              </a:rPr>
              <a:t>  to {left: 300px;}</a:t>
            </a:r>
          </a:p>
          <a:p>
            <a:pPr lvl="3"/>
            <a:r>
              <a:rPr lang="en-US" sz="1600" dirty="0">
                <a:latin typeface="Proxima Nova" panose="020B0604020202020204"/>
                <a:ea typeface="Cambria" panose="02040503050406030204" pitchFamily="18" charset="0"/>
              </a:rPr>
              <a:t>}</a:t>
            </a:r>
          </a:p>
          <a:p>
            <a:r>
              <a:rPr lang="en-US" sz="1600" dirty="0">
                <a:latin typeface="Proxima Nova" panose="020B0604020202020204"/>
                <a:ea typeface="Cambria" panose="02040503050406030204" pitchFamily="18" charset="0"/>
              </a:rPr>
              <a:t>		&lt;/style&gt;</a:t>
            </a:r>
          </a:p>
          <a:p>
            <a:r>
              <a:rPr lang="en-US" sz="1600" dirty="0">
                <a:latin typeface="Proxima Nova" panose="020B0604020202020204"/>
                <a:ea typeface="Cambria" panose="02040503050406030204" pitchFamily="18" charset="0"/>
              </a:rPr>
              <a:t>	</a:t>
            </a:r>
          </a:p>
        </p:txBody>
      </p:sp>
      <p:sp>
        <p:nvSpPr>
          <p:cNvPr id="7" name="TextBox 6">
            <a:extLst>
              <a:ext uri="{FF2B5EF4-FFF2-40B4-BE49-F238E27FC236}">
                <a16:creationId xmlns:a16="http://schemas.microsoft.com/office/drawing/2014/main" id="{0C678AC5-FA00-8DED-2038-815487CA72BE}"/>
              </a:ext>
            </a:extLst>
          </p:cNvPr>
          <p:cNvSpPr txBox="1"/>
          <p:nvPr/>
        </p:nvSpPr>
        <p:spPr>
          <a:xfrm>
            <a:off x="5984081" y="1397675"/>
            <a:ext cx="6329362" cy="2031325"/>
          </a:xfrm>
          <a:prstGeom prst="rect">
            <a:avLst/>
          </a:prstGeom>
          <a:noFill/>
        </p:spPr>
        <p:txBody>
          <a:bodyPr wrap="square">
            <a:spAutoFit/>
          </a:bodyPr>
          <a:lstStyle/>
          <a:p>
            <a:r>
              <a:rPr lang="en-US" dirty="0">
                <a:latin typeface="Proxima Nova" panose="020B0604020202020204"/>
                <a:ea typeface="Cambria" panose="02040503050406030204" pitchFamily="18" charset="0"/>
              </a:rPr>
              <a:t>&lt;body&gt;</a:t>
            </a:r>
          </a:p>
          <a:p>
            <a:pPr lvl="2"/>
            <a:r>
              <a:rPr lang="en-US" dirty="0">
                <a:latin typeface="Proxima Nova" panose="020B0604020202020204"/>
                <a:ea typeface="Cambria" panose="02040503050406030204" pitchFamily="18" charset="0"/>
              </a:rPr>
              <a:t>&lt;div id="div1"&gt;linear&lt;/div&gt;</a:t>
            </a:r>
          </a:p>
          <a:p>
            <a:pPr lvl="2"/>
            <a:r>
              <a:rPr lang="en-US" dirty="0">
                <a:latin typeface="Proxima Nova" panose="020B0604020202020204"/>
                <a:ea typeface="Cambria" panose="02040503050406030204" pitchFamily="18" charset="0"/>
              </a:rPr>
              <a:t>&lt;div id="div2"&gt;ease&lt;/div&gt;</a:t>
            </a:r>
          </a:p>
          <a:p>
            <a:pPr lvl="2"/>
            <a:r>
              <a:rPr lang="en-US" dirty="0">
                <a:latin typeface="Proxima Nova" panose="020B0604020202020204"/>
                <a:ea typeface="Cambria" panose="02040503050406030204" pitchFamily="18" charset="0"/>
              </a:rPr>
              <a:t>&lt;div id="div3"&gt;ease-in&lt;/div&gt;</a:t>
            </a:r>
          </a:p>
          <a:p>
            <a:pPr lvl="2"/>
            <a:r>
              <a:rPr lang="en-US" dirty="0">
                <a:latin typeface="Proxima Nova" panose="020B0604020202020204"/>
                <a:ea typeface="Cambria" panose="02040503050406030204" pitchFamily="18" charset="0"/>
              </a:rPr>
              <a:t>&lt;div id="div4"&gt;ease-out&lt;/div&gt;</a:t>
            </a:r>
          </a:p>
          <a:p>
            <a:pPr lvl="2"/>
            <a:r>
              <a:rPr lang="en-US" dirty="0">
                <a:latin typeface="Proxima Nova" panose="020B0604020202020204"/>
                <a:ea typeface="Cambria" panose="02040503050406030204" pitchFamily="18" charset="0"/>
              </a:rPr>
              <a:t>&lt;div id="div5"&gt;ease-in-out&lt;/div&gt;</a:t>
            </a:r>
          </a:p>
          <a:p>
            <a:r>
              <a:rPr lang="en-US" dirty="0">
                <a:latin typeface="Proxima Nova" panose="020B0604020202020204"/>
                <a:ea typeface="Cambria" panose="02040503050406030204" pitchFamily="18" charset="0"/>
              </a:rPr>
              <a:t>&lt;/body&gt;</a:t>
            </a:r>
          </a:p>
        </p:txBody>
      </p:sp>
      <p:pic>
        <p:nvPicPr>
          <p:cNvPr id="8" name="Picture 7">
            <a:extLst>
              <a:ext uri="{FF2B5EF4-FFF2-40B4-BE49-F238E27FC236}">
                <a16:creationId xmlns:a16="http://schemas.microsoft.com/office/drawing/2014/main" id="{36630F4E-755E-F3E2-E592-500C53A5CD1B}"/>
              </a:ext>
            </a:extLst>
          </p:cNvPr>
          <p:cNvPicPr>
            <a:picLocks noChangeAspect="1"/>
          </p:cNvPicPr>
          <p:nvPr/>
        </p:nvPicPr>
        <p:blipFill>
          <a:blip r:embed="rId2"/>
          <a:stretch>
            <a:fillRect/>
          </a:stretch>
        </p:blipFill>
        <p:spPr>
          <a:xfrm>
            <a:off x="5984081" y="3562350"/>
            <a:ext cx="5666433" cy="2664957"/>
          </a:xfrm>
          <a:prstGeom prst="rect">
            <a:avLst/>
          </a:prstGeom>
          <a:ln w="19050">
            <a:solidFill>
              <a:schemeClr val="tx1"/>
            </a:solidFill>
          </a:ln>
        </p:spPr>
      </p:pic>
    </p:spTree>
    <p:extLst>
      <p:ext uri="{BB962C8B-B14F-4D97-AF65-F5344CB8AC3E}">
        <p14:creationId xmlns:p14="http://schemas.microsoft.com/office/powerpoint/2010/main" val="40337471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20" end="2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21" end="2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3FF6D-4482-836A-F9AE-1D0696C20952}"/>
              </a:ext>
            </a:extLst>
          </p:cNvPr>
          <p:cNvSpPr>
            <a:spLocks noGrp="1"/>
          </p:cNvSpPr>
          <p:nvPr>
            <p:ph type="title"/>
          </p:nvPr>
        </p:nvSpPr>
        <p:spPr/>
        <p:txBody>
          <a:bodyPr/>
          <a:lstStyle/>
          <a:p>
            <a:r>
              <a:rPr lang="en-IN" dirty="0"/>
              <a:t>Flex Box</a:t>
            </a:r>
          </a:p>
        </p:txBody>
      </p:sp>
      <p:sp>
        <p:nvSpPr>
          <p:cNvPr id="3" name="Content Placeholder 2">
            <a:extLst>
              <a:ext uri="{FF2B5EF4-FFF2-40B4-BE49-F238E27FC236}">
                <a16:creationId xmlns:a16="http://schemas.microsoft.com/office/drawing/2014/main" id="{A0D4C053-C519-73F6-9B1C-C025B4E7238E}"/>
              </a:ext>
            </a:extLst>
          </p:cNvPr>
          <p:cNvSpPr>
            <a:spLocks noGrp="1"/>
          </p:cNvSpPr>
          <p:nvPr>
            <p:ph idx="1"/>
          </p:nvPr>
        </p:nvSpPr>
        <p:spPr/>
        <p:txBody>
          <a:bodyPr/>
          <a:lstStyle/>
          <a:p>
            <a:r>
              <a:rPr lang="en-US" dirty="0">
                <a:solidFill>
                  <a:srgbClr val="000000"/>
                </a:solidFill>
              </a:rPr>
              <a:t>Before the Flexbox Layout module, there were four layout modes:</a:t>
            </a:r>
          </a:p>
          <a:p>
            <a:r>
              <a:rPr lang="en-US" b="1" dirty="0">
                <a:solidFill>
                  <a:srgbClr val="000000"/>
                </a:solidFill>
              </a:rPr>
              <a:t>Block, for sections in a webpage</a:t>
            </a:r>
          </a:p>
          <a:p>
            <a:r>
              <a:rPr lang="en-US" b="1" dirty="0">
                <a:solidFill>
                  <a:srgbClr val="000000"/>
                </a:solidFill>
              </a:rPr>
              <a:t>Inline, for text</a:t>
            </a:r>
          </a:p>
          <a:p>
            <a:r>
              <a:rPr lang="en-US" b="1" dirty="0">
                <a:solidFill>
                  <a:srgbClr val="000000"/>
                </a:solidFill>
              </a:rPr>
              <a:t>Table, for two-dimensional table data</a:t>
            </a:r>
          </a:p>
          <a:p>
            <a:r>
              <a:rPr lang="en-US" b="1" dirty="0">
                <a:solidFill>
                  <a:srgbClr val="000000"/>
                </a:solidFill>
              </a:rPr>
              <a:t>Positioned, for explicit position of an element</a:t>
            </a:r>
          </a:p>
          <a:p>
            <a:r>
              <a:rPr lang="en-US" dirty="0">
                <a:solidFill>
                  <a:srgbClr val="000000"/>
                </a:solidFill>
              </a:rPr>
              <a:t>The Flexible Box Layout Module, makes it easier to design flexible responsive layout structure without using float or positioning.</a:t>
            </a:r>
          </a:p>
          <a:p>
            <a:r>
              <a:rPr lang="en-US" dirty="0">
                <a:solidFill>
                  <a:srgbClr val="000000"/>
                </a:solidFill>
              </a:rPr>
              <a:t>To start using the Flexbox model, you need to first define a flex container.</a:t>
            </a:r>
          </a:p>
          <a:p>
            <a:endParaRPr lang="en-US" dirty="0">
              <a:solidFill>
                <a:srgbClr val="000000"/>
              </a:solidFill>
            </a:endParaRPr>
          </a:p>
          <a:p>
            <a:endParaRPr lang="en-US" dirty="0">
              <a:solidFill>
                <a:srgbClr val="000000"/>
              </a:solidFill>
            </a:endParaRPr>
          </a:p>
          <a:p>
            <a:endParaRPr lang="en-US" dirty="0">
              <a:solidFill>
                <a:srgbClr val="000000"/>
              </a:solidFill>
            </a:endParaRPr>
          </a:p>
          <a:p>
            <a:endParaRPr lang="en-IN" dirty="0"/>
          </a:p>
          <a:p>
            <a:endParaRPr lang="en-IN" dirty="0"/>
          </a:p>
          <a:p>
            <a:endParaRPr lang="en-IN" dirty="0"/>
          </a:p>
        </p:txBody>
      </p:sp>
      <p:sp>
        <p:nvSpPr>
          <p:cNvPr id="5" name="TextBox 4">
            <a:extLst>
              <a:ext uri="{FF2B5EF4-FFF2-40B4-BE49-F238E27FC236}">
                <a16:creationId xmlns:a16="http://schemas.microsoft.com/office/drawing/2014/main" id="{7EA4D1E8-A698-83B0-785F-78A30F6C6817}"/>
              </a:ext>
            </a:extLst>
          </p:cNvPr>
          <p:cNvSpPr txBox="1"/>
          <p:nvPr/>
        </p:nvSpPr>
        <p:spPr>
          <a:xfrm>
            <a:off x="474483" y="5244147"/>
            <a:ext cx="6096000" cy="1477328"/>
          </a:xfrm>
          <a:prstGeom prst="rect">
            <a:avLst/>
          </a:prstGeom>
          <a:noFill/>
        </p:spPr>
        <p:txBody>
          <a:bodyPr wrap="square">
            <a:spAutoFit/>
          </a:bodyPr>
          <a:lstStyle/>
          <a:p>
            <a:pPr lvl="0"/>
            <a:r>
              <a:rPr lang="en-IN" sz="1800" dirty="0">
                <a:latin typeface="Proxima Nova" panose="020B0604020202020204"/>
                <a:ea typeface="Cambria" panose="02040503050406030204" pitchFamily="18" charset="0"/>
              </a:rPr>
              <a:t>&lt;div class="flex-container"&gt;</a:t>
            </a:r>
            <a:br>
              <a:rPr lang="en-IN" sz="1800" dirty="0">
                <a:latin typeface="Proxima Nova" panose="020B0604020202020204"/>
                <a:ea typeface="Cambria" panose="02040503050406030204" pitchFamily="18" charset="0"/>
              </a:rPr>
            </a:br>
            <a:r>
              <a:rPr lang="en-IN" sz="1800" dirty="0">
                <a:latin typeface="Proxima Nova" panose="020B0604020202020204"/>
                <a:ea typeface="Cambria" panose="02040503050406030204" pitchFamily="18" charset="0"/>
              </a:rPr>
              <a:t>  &lt;div&gt;1&lt;/div&gt;</a:t>
            </a:r>
            <a:br>
              <a:rPr lang="en-IN" sz="1800" dirty="0">
                <a:latin typeface="Proxima Nova" panose="020B0604020202020204"/>
                <a:ea typeface="Cambria" panose="02040503050406030204" pitchFamily="18" charset="0"/>
              </a:rPr>
            </a:br>
            <a:r>
              <a:rPr lang="en-IN" sz="1800" dirty="0">
                <a:latin typeface="Proxima Nova" panose="020B0604020202020204"/>
                <a:ea typeface="Cambria" panose="02040503050406030204" pitchFamily="18" charset="0"/>
              </a:rPr>
              <a:t>  &lt;div&gt;2&lt;/div&gt;</a:t>
            </a:r>
            <a:br>
              <a:rPr lang="en-IN" sz="1800" dirty="0">
                <a:latin typeface="Proxima Nova" panose="020B0604020202020204"/>
                <a:ea typeface="Cambria" panose="02040503050406030204" pitchFamily="18" charset="0"/>
              </a:rPr>
            </a:br>
            <a:r>
              <a:rPr lang="en-IN" sz="1800" dirty="0">
                <a:latin typeface="Proxima Nova" panose="020B0604020202020204"/>
                <a:ea typeface="Cambria" panose="02040503050406030204" pitchFamily="18" charset="0"/>
              </a:rPr>
              <a:t>  &lt;div&gt;3&lt;/div&gt;</a:t>
            </a:r>
            <a:br>
              <a:rPr lang="en-IN" sz="1800" dirty="0">
                <a:latin typeface="Proxima Nova" panose="020B0604020202020204"/>
                <a:ea typeface="Cambria" panose="02040503050406030204" pitchFamily="18" charset="0"/>
              </a:rPr>
            </a:br>
            <a:r>
              <a:rPr lang="en-IN" sz="1800" dirty="0">
                <a:latin typeface="Proxima Nova" panose="020B0604020202020204"/>
                <a:ea typeface="Cambria" panose="02040503050406030204" pitchFamily="18" charset="0"/>
              </a:rPr>
              <a:t>&lt;/div&gt;</a:t>
            </a:r>
          </a:p>
        </p:txBody>
      </p:sp>
      <p:pic>
        <p:nvPicPr>
          <p:cNvPr id="6" name="Picture 5">
            <a:extLst>
              <a:ext uri="{FF2B5EF4-FFF2-40B4-BE49-F238E27FC236}">
                <a16:creationId xmlns:a16="http://schemas.microsoft.com/office/drawing/2014/main" id="{EE049D79-62DC-509E-1A3D-FCDDAD49A413}"/>
              </a:ext>
            </a:extLst>
          </p:cNvPr>
          <p:cNvPicPr>
            <a:picLocks noChangeAspect="1"/>
          </p:cNvPicPr>
          <p:nvPr/>
        </p:nvPicPr>
        <p:blipFill>
          <a:blip r:embed="rId2"/>
          <a:stretch>
            <a:fillRect/>
          </a:stretch>
        </p:blipFill>
        <p:spPr>
          <a:xfrm>
            <a:off x="3643700" y="5522486"/>
            <a:ext cx="6395650" cy="1281173"/>
          </a:xfrm>
          <a:prstGeom prst="rect">
            <a:avLst/>
          </a:prstGeom>
        </p:spPr>
      </p:pic>
    </p:spTree>
    <p:extLst>
      <p:ext uri="{BB962C8B-B14F-4D97-AF65-F5344CB8AC3E}">
        <p14:creationId xmlns:p14="http://schemas.microsoft.com/office/powerpoint/2010/main" val="11077545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EB441-BB56-E25B-E180-476B432BC97E}"/>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0A88AB33-113C-31D3-1A5F-C13E23B9C850}"/>
              </a:ext>
            </a:extLst>
          </p:cNvPr>
          <p:cNvSpPr txBox="1"/>
          <p:nvPr/>
        </p:nvSpPr>
        <p:spPr>
          <a:xfrm>
            <a:off x="552450" y="1201847"/>
            <a:ext cx="6096000" cy="5355312"/>
          </a:xfrm>
          <a:prstGeom prst="rect">
            <a:avLst/>
          </a:prstGeom>
          <a:noFill/>
        </p:spPr>
        <p:txBody>
          <a:bodyPr wrap="square">
            <a:spAutoFit/>
          </a:bodyPr>
          <a:lstStyle/>
          <a:p>
            <a:r>
              <a:rPr lang="en-IN" dirty="0">
                <a:latin typeface="Proxima Nova" panose="020B0604020202020204"/>
                <a:ea typeface="Cambria" panose="02040503050406030204" pitchFamily="18" charset="0"/>
              </a:rPr>
              <a:t>&lt;!DOCTYPE html&gt;</a:t>
            </a:r>
          </a:p>
          <a:p>
            <a:r>
              <a:rPr lang="en-IN" dirty="0">
                <a:latin typeface="Proxima Nova" panose="020B0604020202020204"/>
                <a:ea typeface="Cambria" panose="02040503050406030204" pitchFamily="18" charset="0"/>
              </a:rPr>
              <a:t>&lt;html&gt;</a:t>
            </a:r>
          </a:p>
          <a:p>
            <a:r>
              <a:rPr lang="en-IN" dirty="0">
                <a:latin typeface="Proxima Nova" panose="020B0604020202020204"/>
                <a:ea typeface="Cambria" panose="02040503050406030204" pitchFamily="18" charset="0"/>
              </a:rPr>
              <a:t>	&lt;head&gt;</a:t>
            </a:r>
          </a:p>
          <a:p>
            <a:r>
              <a:rPr lang="en-IN" dirty="0">
                <a:latin typeface="Proxima Nova" panose="020B0604020202020204"/>
                <a:ea typeface="Cambria" panose="02040503050406030204" pitchFamily="18" charset="0"/>
              </a:rPr>
              <a:t>		&lt;style&gt;</a:t>
            </a:r>
          </a:p>
          <a:p>
            <a:pPr lvl="3"/>
            <a:r>
              <a:rPr lang="en-IN" dirty="0">
                <a:latin typeface="Proxima Nova" panose="020B0604020202020204"/>
                <a:ea typeface="Cambria" panose="02040503050406030204" pitchFamily="18" charset="0"/>
              </a:rPr>
              <a:t>.flex-container {</a:t>
            </a:r>
          </a:p>
          <a:p>
            <a:pPr lvl="3"/>
            <a:r>
              <a:rPr lang="en-IN" dirty="0">
                <a:latin typeface="Proxima Nova" panose="020B0604020202020204"/>
                <a:ea typeface="Cambria" panose="02040503050406030204" pitchFamily="18" charset="0"/>
              </a:rPr>
              <a:t>  display: flex;</a:t>
            </a:r>
          </a:p>
          <a:p>
            <a:pPr lvl="3"/>
            <a:r>
              <a:rPr lang="en-IN" dirty="0">
                <a:latin typeface="Proxima Nova" panose="020B0604020202020204"/>
                <a:ea typeface="Cambria" panose="02040503050406030204" pitchFamily="18" charset="0"/>
              </a:rPr>
              <a:t>  background-</a:t>
            </a:r>
            <a:r>
              <a:rPr lang="en-IN" dirty="0" err="1">
                <a:latin typeface="Proxima Nova" panose="020B0604020202020204"/>
                <a:ea typeface="Cambria" panose="02040503050406030204" pitchFamily="18" charset="0"/>
              </a:rPr>
              <a:t>color</a:t>
            </a:r>
            <a:r>
              <a:rPr lang="en-IN" dirty="0">
                <a:latin typeface="Proxima Nova" panose="020B0604020202020204"/>
                <a:ea typeface="Cambria" panose="02040503050406030204" pitchFamily="18" charset="0"/>
              </a:rPr>
              <a:t>: </a:t>
            </a:r>
            <a:r>
              <a:rPr lang="en-IN" dirty="0" err="1">
                <a:latin typeface="Proxima Nova" panose="020B0604020202020204"/>
                <a:ea typeface="Cambria" panose="02040503050406030204" pitchFamily="18" charset="0"/>
              </a:rPr>
              <a:t>DodgerBlue</a:t>
            </a:r>
            <a:r>
              <a:rPr lang="en-IN" dirty="0">
                <a:latin typeface="Proxima Nova" panose="020B0604020202020204"/>
                <a:ea typeface="Cambria" panose="02040503050406030204" pitchFamily="18" charset="0"/>
              </a:rPr>
              <a:t>;</a:t>
            </a:r>
          </a:p>
          <a:p>
            <a:pPr lvl="3"/>
            <a:r>
              <a:rPr lang="en-IN" dirty="0">
                <a:latin typeface="Proxima Nova" panose="020B0604020202020204"/>
                <a:ea typeface="Cambria" panose="02040503050406030204" pitchFamily="18" charset="0"/>
              </a:rPr>
              <a:t>}</a:t>
            </a:r>
          </a:p>
          <a:p>
            <a:pPr lvl="3"/>
            <a:endParaRPr lang="en-IN" dirty="0">
              <a:latin typeface="Proxima Nova" panose="020B0604020202020204"/>
              <a:ea typeface="Cambria" panose="02040503050406030204" pitchFamily="18" charset="0"/>
            </a:endParaRPr>
          </a:p>
          <a:p>
            <a:pPr lvl="3"/>
            <a:r>
              <a:rPr lang="en-IN" dirty="0">
                <a:latin typeface="Proxima Nova" panose="020B0604020202020204"/>
                <a:ea typeface="Cambria" panose="02040503050406030204" pitchFamily="18" charset="0"/>
              </a:rPr>
              <a:t>.flex-container &gt; div {</a:t>
            </a:r>
          </a:p>
          <a:p>
            <a:pPr lvl="3"/>
            <a:r>
              <a:rPr lang="en-IN" dirty="0">
                <a:latin typeface="Proxima Nova" panose="020B0604020202020204"/>
                <a:ea typeface="Cambria" panose="02040503050406030204" pitchFamily="18" charset="0"/>
              </a:rPr>
              <a:t>  background-</a:t>
            </a:r>
            <a:r>
              <a:rPr lang="en-IN" dirty="0" err="1">
                <a:latin typeface="Proxima Nova" panose="020B0604020202020204"/>
                <a:ea typeface="Cambria" panose="02040503050406030204" pitchFamily="18" charset="0"/>
              </a:rPr>
              <a:t>color</a:t>
            </a:r>
            <a:r>
              <a:rPr lang="en-IN" dirty="0">
                <a:latin typeface="Proxima Nova" panose="020B0604020202020204"/>
                <a:ea typeface="Cambria" panose="02040503050406030204" pitchFamily="18" charset="0"/>
              </a:rPr>
              <a:t>: #f1f1f1;</a:t>
            </a:r>
          </a:p>
          <a:p>
            <a:pPr lvl="3"/>
            <a:r>
              <a:rPr lang="en-IN" dirty="0">
                <a:latin typeface="Proxima Nova" panose="020B0604020202020204"/>
                <a:ea typeface="Cambria" panose="02040503050406030204" pitchFamily="18" charset="0"/>
              </a:rPr>
              <a:t>  margin: 10px;</a:t>
            </a:r>
          </a:p>
          <a:p>
            <a:pPr lvl="3"/>
            <a:r>
              <a:rPr lang="en-IN" dirty="0">
                <a:latin typeface="Proxima Nova" panose="020B0604020202020204"/>
                <a:ea typeface="Cambria" panose="02040503050406030204" pitchFamily="18" charset="0"/>
              </a:rPr>
              <a:t>  padding: 20px;</a:t>
            </a:r>
          </a:p>
          <a:p>
            <a:pPr lvl="3"/>
            <a:r>
              <a:rPr lang="en-IN" dirty="0">
                <a:latin typeface="Proxima Nova" panose="020B0604020202020204"/>
                <a:ea typeface="Cambria" panose="02040503050406030204" pitchFamily="18" charset="0"/>
              </a:rPr>
              <a:t>  font-size: 30px;</a:t>
            </a:r>
          </a:p>
          <a:p>
            <a:pPr lvl="3"/>
            <a:r>
              <a:rPr lang="en-IN" dirty="0">
                <a:latin typeface="Proxima Nova" panose="020B0604020202020204"/>
                <a:ea typeface="Cambria" panose="02040503050406030204" pitchFamily="18" charset="0"/>
              </a:rPr>
              <a:t>}</a:t>
            </a:r>
          </a:p>
          <a:p>
            <a:r>
              <a:rPr lang="en-IN" dirty="0">
                <a:latin typeface="Proxima Nova" panose="020B0604020202020204"/>
                <a:ea typeface="Cambria" panose="02040503050406030204" pitchFamily="18" charset="0"/>
              </a:rPr>
              <a:t>		&lt;/style&gt;</a:t>
            </a:r>
          </a:p>
          <a:p>
            <a:pPr lvl="1"/>
            <a:r>
              <a:rPr lang="en-IN" dirty="0">
                <a:latin typeface="Proxima Nova" panose="020B0604020202020204"/>
                <a:ea typeface="Cambria" panose="02040503050406030204" pitchFamily="18" charset="0"/>
              </a:rPr>
              <a:t>&lt;/head&gt;</a:t>
            </a:r>
          </a:p>
          <a:p>
            <a:endParaRPr lang="en-IN" dirty="0">
              <a:latin typeface="Proxima Nova" panose="020B0604020202020204"/>
              <a:ea typeface="Cambria" panose="02040503050406030204" pitchFamily="18" charset="0"/>
            </a:endParaRPr>
          </a:p>
          <a:p>
            <a:endParaRPr lang="en-IN" dirty="0">
              <a:latin typeface="Proxima Nova" panose="020B0604020202020204"/>
              <a:ea typeface="Cambria" panose="02040503050406030204" pitchFamily="18" charset="0"/>
            </a:endParaRPr>
          </a:p>
        </p:txBody>
      </p:sp>
      <p:sp>
        <p:nvSpPr>
          <p:cNvPr id="7" name="TextBox 6">
            <a:extLst>
              <a:ext uri="{FF2B5EF4-FFF2-40B4-BE49-F238E27FC236}">
                <a16:creationId xmlns:a16="http://schemas.microsoft.com/office/drawing/2014/main" id="{53A13959-EC0C-1492-6AB7-F34479051E9F}"/>
              </a:ext>
            </a:extLst>
          </p:cNvPr>
          <p:cNvSpPr txBox="1"/>
          <p:nvPr/>
        </p:nvSpPr>
        <p:spPr>
          <a:xfrm>
            <a:off x="6019800" y="1120676"/>
            <a:ext cx="6096000" cy="2308324"/>
          </a:xfrm>
          <a:prstGeom prst="rect">
            <a:avLst/>
          </a:prstGeom>
          <a:noFill/>
        </p:spPr>
        <p:txBody>
          <a:bodyPr wrap="square">
            <a:spAutoFit/>
          </a:bodyPr>
          <a:lstStyle/>
          <a:p>
            <a:pPr lvl="1"/>
            <a:r>
              <a:rPr lang="en-IN" dirty="0">
                <a:latin typeface="Proxima Nova" panose="020B0604020202020204"/>
                <a:ea typeface="Cambria" panose="02040503050406030204" pitchFamily="18" charset="0"/>
              </a:rPr>
              <a:t>&lt;body&gt;</a:t>
            </a:r>
          </a:p>
          <a:p>
            <a:pPr lvl="2"/>
            <a:r>
              <a:rPr lang="en-IN" dirty="0">
                <a:latin typeface="Proxima Nova" panose="020B0604020202020204"/>
                <a:ea typeface="Cambria" panose="02040503050406030204" pitchFamily="18" charset="0"/>
              </a:rPr>
              <a:t>&lt;div class="flex-container"&gt;</a:t>
            </a:r>
          </a:p>
          <a:p>
            <a:pPr lvl="2"/>
            <a:r>
              <a:rPr lang="en-IN" dirty="0">
                <a:latin typeface="Proxima Nova" panose="020B0604020202020204"/>
                <a:ea typeface="Cambria" panose="02040503050406030204" pitchFamily="18" charset="0"/>
              </a:rPr>
              <a:t>  &lt;div&gt;1&lt;/div&gt;</a:t>
            </a:r>
          </a:p>
          <a:p>
            <a:pPr lvl="2"/>
            <a:r>
              <a:rPr lang="en-IN" dirty="0">
                <a:latin typeface="Proxima Nova" panose="020B0604020202020204"/>
                <a:ea typeface="Cambria" panose="02040503050406030204" pitchFamily="18" charset="0"/>
              </a:rPr>
              <a:t>  &lt;div&gt;2&lt;/div&gt;</a:t>
            </a:r>
          </a:p>
          <a:p>
            <a:pPr lvl="2"/>
            <a:r>
              <a:rPr lang="en-IN" dirty="0">
                <a:latin typeface="Proxima Nova" panose="020B0604020202020204"/>
                <a:ea typeface="Cambria" panose="02040503050406030204" pitchFamily="18" charset="0"/>
              </a:rPr>
              <a:t>  &lt;div&gt;3&lt;/div&gt;  </a:t>
            </a:r>
          </a:p>
          <a:p>
            <a:pPr lvl="2"/>
            <a:r>
              <a:rPr lang="en-IN" dirty="0">
                <a:latin typeface="Proxima Nova" panose="020B0604020202020204"/>
                <a:ea typeface="Cambria" panose="02040503050406030204" pitchFamily="18" charset="0"/>
              </a:rPr>
              <a:t>&lt;/div&gt;</a:t>
            </a:r>
          </a:p>
          <a:p>
            <a:r>
              <a:rPr lang="en-IN" dirty="0">
                <a:latin typeface="Proxima Nova" panose="020B0604020202020204"/>
                <a:ea typeface="Cambria" panose="02040503050406030204" pitchFamily="18" charset="0"/>
              </a:rPr>
              <a:t>	&lt;/body&gt;</a:t>
            </a:r>
          </a:p>
          <a:p>
            <a:r>
              <a:rPr lang="en-IN" dirty="0">
                <a:latin typeface="Proxima Nova" panose="020B0604020202020204"/>
                <a:ea typeface="Cambria" panose="02040503050406030204" pitchFamily="18" charset="0"/>
              </a:rPr>
              <a:t>&lt;/html&gt;</a:t>
            </a:r>
          </a:p>
        </p:txBody>
      </p:sp>
      <p:pic>
        <p:nvPicPr>
          <p:cNvPr id="8" name="Picture 7">
            <a:extLst>
              <a:ext uri="{FF2B5EF4-FFF2-40B4-BE49-F238E27FC236}">
                <a16:creationId xmlns:a16="http://schemas.microsoft.com/office/drawing/2014/main" id="{1C261799-280A-1F2C-D925-BBACF9DFBFEF}"/>
              </a:ext>
            </a:extLst>
          </p:cNvPr>
          <p:cNvPicPr>
            <a:picLocks noChangeAspect="1"/>
          </p:cNvPicPr>
          <p:nvPr/>
        </p:nvPicPr>
        <p:blipFill>
          <a:blip r:embed="rId2"/>
          <a:stretch>
            <a:fillRect/>
          </a:stretch>
        </p:blipFill>
        <p:spPr>
          <a:xfrm>
            <a:off x="5177225" y="4352493"/>
            <a:ext cx="6614725" cy="1281173"/>
          </a:xfrm>
          <a:prstGeom prst="rect">
            <a:avLst/>
          </a:prstGeom>
          <a:ln w="19050">
            <a:solidFill>
              <a:schemeClr val="tx1"/>
            </a:solidFill>
          </a:ln>
        </p:spPr>
      </p:pic>
    </p:spTree>
    <p:extLst>
      <p:ext uri="{BB962C8B-B14F-4D97-AF65-F5344CB8AC3E}">
        <p14:creationId xmlns:p14="http://schemas.microsoft.com/office/powerpoint/2010/main" val="262322523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92A47-1426-2BAF-086E-D3C19FDB2154}"/>
              </a:ext>
            </a:extLst>
          </p:cNvPr>
          <p:cNvSpPr>
            <a:spLocks noGrp="1"/>
          </p:cNvSpPr>
          <p:nvPr>
            <p:ph type="title"/>
          </p:nvPr>
        </p:nvSpPr>
        <p:spPr/>
        <p:txBody>
          <a:bodyPr/>
          <a:lstStyle/>
          <a:p>
            <a:r>
              <a:rPr lang="en-US" dirty="0"/>
              <a:t>Flex Container Property</a:t>
            </a:r>
            <a:endParaRPr lang="en-IN" dirty="0"/>
          </a:p>
        </p:txBody>
      </p:sp>
      <p:graphicFrame>
        <p:nvGraphicFramePr>
          <p:cNvPr id="4" name="Content Placeholder 3">
            <a:extLst>
              <a:ext uri="{FF2B5EF4-FFF2-40B4-BE49-F238E27FC236}">
                <a16:creationId xmlns:a16="http://schemas.microsoft.com/office/drawing/2014/main" id="{ABBA6E05-22A7-9964-653B-48B874D3B56E}"/>
              </a:ext>
            </a:extLst>
          </p:cNvPr>
          <p:cNvGraphicFramePr>
            <a:graphicFrameLocks noGrp="1"/>
          </p:cNvGraphicFramePr>
          <p:nvPr>
            <p:ph idx="1"/>
            <p:extLst>
              <p:ext uri="{D42A27DB-BD31-4B8C-83A1-F6EECF244321}">
                <p14:modId xmlns:p14="http://schemas.microsoft.com/office/powerpoint/2010/main" val="3228941122"/>
              </p:ext>
            </p:extLst>
          </p:nvPr>
        </p:nvGraphicFramePr>
        <p:xfrm>
          <a:off x="423863" y="1252538"/>
          <a:ext cx="11293475" cy="4352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305327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69C18-BEE9-D179-F761-4C2C952795F3}"/>
              </a:ext>
            </a:extLst>
          </p:cNvPr>
          <p:cNvSpPr>
            <a:spLocks noGrp="1"/>
          </p:cNvSpPr>
          <p:nvPr>
            <p:ph type="title"/>
          </p:nvPr>
        </p:nvSpPr>
        <p:spPr/>
        <p:txBody>
          <a:bodyPr/>
          <a:lstStyle/>
          <a:p>
            <a:r>
              <a:rPr lang="en-IN" dirty="0"/>
              <a:t>The flex-direction Property</a:t>
            </a:r>
            <a:br>
              <a:rPr lang="en-IN" dirty="0"/>
            </a:br>
            <a:endParaRPr lang="en-IN" dirty="0"/>
          </a:p>
        </p:txBody>
      </p:sp>
      <p:sp>
        <p:nvSpPr>
          <p:cNvPr id="3" name="Content Placeholder 2">
            <a:extLst>
              <a:ext uri="{FF2B5EF4-FFF2-40B4-BE49-F238E27FC236}">
                <a16:creationId xmlns:a16="http://schemas.microsoft.com/office/drawing/2014/main" id="{54825FB2-65C5-9E56-6BB1-5E8D548E3A1D}"/>
              </a:ext>
            </a:extLst>
          </p:cNvPr>
          <p:cNvSpPr>
            <a:spLocks noGrp="1"/>
          </p:cNvSpPr>
          <p:nvPr>
            <p:ph idx="1"/>
          </p:nvPr>
        </p:nvSpPr>
        <p:spPr/>
        <p:txBody>
          <a:bodyPr/>
          <a:lstStyle/>
          <a:p>
            <a:pPr>
              <a:lnSpc>
                <a:spcPct val="100000"/>
              </a:lnSpc>
            </a:pPr>
            <a:r>
              <a:rPr lang="en-US" dirty="0"/>
              <a:t>The </a:t>
            </a:r>
            <a:r>
              <a:rPr lang="en-US" b="1" dirty="0"/>
              <a:t>flex-direction</a:t>
            </a:r>
            <a:r>
              <a:rPr lang="en-US" dirty="0"/>
              <a:t> property defines in which direction the container wants to stack the flex items.</a:t>
            </a:r>
          </a:p>
          <a:p>
            <a:pPr>
              <a:lnSpc>
                <a:spcPct val="100000"/>
              </a:lnSpc>
            </a:pPr>
            <a:r>
              <a:rPr lang="en-US" b="1" dirty="0"/>
              <a:t>Column</a:t>
            </a:r>
            <a:r>
              <a:rPr lang="en-US" dirty="0"/>
              <a:t>: The column value stacks the flex items vertically (from top to bottom)</a:t>
            </a:r>
          </a:p>
          <a:p>
            <a:pPr>
              <a:lnSpc>
                <a:spcPct val="100000"/>
              </a:lnSpc>
            </a:pPr>
            <a:r>
              <a:rPr lang="en-US" b="1" dirty="0"/>
              <a:t>Column-reverse</a:t>
            </a:r>
            <a:r>
              <a:rPr lang="en-US" dirty="0"/>
              <a:t>: The column-reverse value stacks the flex items vertically (but from bottom to top)</a:t>
            </a:r>
          </a:p>
          <a:p>
            <a:pPr>
              <a:lnSpc>
                <a:spcPct val="100000"/>
              </a:lnSpc>
            </a:pPr>
            <a:r>
              <a:rPr lang="en-US" b="1" dirty="0"/>
              <a:t>row</a:t>
            </a:r>
            <a:r>
              <a:rPr lang="en-US" dirty="0"/>
              <a:t>: The row value stacks the flex items horizontally (from left to right)</a:t>
            </a:r>
          </a:p>
          <a:p>
            <a:pPr>
              <a:lnSpc>
                <a:spcPct val="100000"/>
              </a:lnSpc>
            </a:pPr>
            <a:r>
              <a:rPr lang="en-US" b="1" dirty="0"/>
              <a:t>row-reverse</a:t>
            </a:r>
            <a:r>
              <a:rPr lang="en-US" dirty="0"/>
              <a:t>: The row-reverse value stacks the flex items horizontally (but from right to left)</a:t>
            </a:r>
            <a:endParaRPr lang="en-IN" dirty="0"/>
          </a:p>
          <a:p>
            <a:pPr>
              <a:lnSpc>
                <a:spcPct val="100000"/>
              </a:lnSpc>
            </a:pPr>
            <a:endParaRPr lang="en-IN" dirty="0"/>
          </a:p>
        </p:txBody>
      </p:sp>
      <p:sp>
        <p:nvSpPr>
          <p:cNvPr id="5" name="TextBox 4">
            <a:extLst>
              <a:ext uri="{FF2B5EF4-FFF2-40B4-BE49-F238E27FC236}">
                <a16:creationId xmlns:a16="http://schemas.microsoft.com/office/drawing/2014/main" id="{7350D0C9-D8C7-1F13-AE74-8B6234479F1B}"/>
              </a:ext>
            </a:extLst>
          </p:cNvPr>
          <p:cNvSpPr txBox="1"/>
          <p:nvPr/>
        </p:nvSpPr>
        <p:spPr>
          <a:xfrm>
            <a:off x="-381000" y="3182045"/>
            <a:ext cx="6096000" cy="3693319"/>
          </a:xfrm>
          <a:prstGeom prst="rect">
            <a:avLst/>
          </a:prstGeom>
          <a:noFill/>
        </p:spPr>
        <p:txBody>
          <a:bodyPr wrap="square">
            <a:spAutoFit/>
          </a:bodyPr>
          <a:lstStyle/>
          <a:p>
            <a:r>
              <a:rPr lang="en-IN" dirty="0">
                <a:latin typeface="Proxima Nova" panose="020B0604020202020204"/>
                <a:ea typeface="Cambria" panose="02040503050406030204" pitchFamily="18" charset="0"/>
              </a:rPr>
              <a:t>	&lt;style&gt;</a:t>
            </a:r>
          </a:p>
          <a:p>
            <a:pPr lvl="3"/>
            <a:r>
              <a:rPr lang="en-IN" dirty="0">
                <a:latin typeface="Proxima Nova" panose="020B0604020202020204"/>
                <a:ea typeface="Cambria" panose="02040503050406030204" pitchFamily="18" charset="0"/>
              </a:rPr>
              <a:t>.flex-container {</a:t>
            </a:r>
          </a:p>
          <a:p>
            <a:pPr lvl="3"/>
            <a:r>
              <a:rPr lang="en-IN" dirty="0">
                <a:latin typeface="Proxima Nova" panose="020B0604020202020204"/>
                <a:ea typeface="Cambria" panose="02040503050406030204" pitchFamily="18" charset="0"/>
              </a:rPr>
              <a:t>  display: flex;</a:t>
            </a:r>
          </a:p>
          <a:p>
            <a:pPr lvl="3"/>
            <a:r>
              <a:rPr lang="en-IN" dirty="0">
                <a:latin typeface="Proxima Nova" panose="020B0604020202020204"/>
                <a:ea typeface="Cambria" panose="02040503050406030204" pitchFamily="18" charset="0"/>
              </a:rPr>
              <a:t> flex-direction: column-reverse;</a:t>
            </a:r>
          </a:p>
          <a:p>
            <a:pPr lvl="3"/>
            <a:r>
              <a:rPr lang="en-IN" dirty="0">
                <a:latin typeface="Proxima Nova" panose="020B0604020202020204"/>
                <a:ea typeface="Cambria" panose="02040503050406030204" pitchFamily="18" charset="0"/>
              </a:rPr>
              <a:t>  background-</a:t>
            </a:r>
            <a:r>
              <a:rPr lang="en-IN" dirty="0" err="1">
                <a:latin typeface="Proxima Nova" panose="020B0604020202020204"/>
                <a:ea typeface="Cambria" panose="02040503050406030204" pitchFamily="18" charset="0"/>
              </a:rPr>
              <a:t>color</a:t>
            </a:r>
            <a:r>
              <a:rPr lang="en-IN" dirty="0">
                <a:latin typeface="Proxima Nova" panose="020B0604020202020204"/>
                <a:ea typeface="Cambria" panose="02040503050406030204" pitchFamily="18" charset="0"/>
              </a:rPr>
              <a:t>: </a:t>
            </a:r>
            <a:r>
              <a:rPr lang="en-IN" dirty="0" err="1">
                <a:latin typeface="Proxima Nova" panose="020B0604020202020204"/>
                <a:ea typeface="Cambria" panose="02040503050406030204" pitchFamily="18" charset="0"/>
              </a:rPr>
              <a:t>DodgerBlue</a:t>
            </a:r>
            <a:r>
              <a:rPr lang="en-IN" dirty="0">
                <a:latin typeface="Proxima Nova" panose="020B0604020202020204"/>
                <a:ea typeface="Cambria" panose="02040503050406030204" pitchFamily="18" charset="0"/>
              </a:rPr>
              <a:t>;</a:t>
            </a:r>
          </a:p>
          <a:p>
            <a:pPr lvl="3"/>
            <a:r>
              <a:rPr lang="en-IN" dirty="0">
                <a:latin typeface="Proxima Nova" panose="020B0604020202020204"/>
                <a:ea typeface="Cambria" panose="02040503050406030204" pitchFamily="18" charset="0"/>
              </a:rPr>
              <a:t>}</a:t>
            </a:r>
          </a:p>
          <a:p>
            <a:pPr lvl="3"/>
            <a:r>
              <a:rPr lang="en-IN" dirty="0">
                <a:latin typeface="Proxima Nova" panose="020B0604020202020204"/>
                <a:ea typeface="Cambria" panose="02040503050406030204" pitchFamily="18" charset="0"/>
              </a:rPr>
              <a:t>.flex-container &gt; div {</a:t>
            </a:r>
          </a:p>
          <a:p>
            <a:pPr lvl="3"/>
            <a:r>
              <a:rPr lang="en-IN" dirty="0">
                <a:latin typeface="Proxima Nova" panose="020B0604020202020204"/>
                <a:ea typeface="Cambria" panose="02040503050406030204" pitchFamily="18" charset="0"/>
              </a:rPr>
              <a:t>  background-</a:t>
            </a:r>
            <a:r>
              <a:rPr lang="en-IN" dirty="0" err="1">
                <a:latin typeface="Proxima Nova" panose="020B0604020202020204"/>
                <a:ea typeface="Cambria" panose="02040503050406030204" pitchFamily="18" charset="0"/>
              </a:rPr>
              <a:t>color</a:t>
            </a:r>
            <a:r>
              <a:rPr lang="en-IN" dirty="0">
                <a:latin typeface="Proxima Nova" panose="020B0604020202020204"/>
                <a:ea typeface="Cambria" panose="02040503050406030204" pitchFamily="18" charset="0"/>
              </a:rPr>
              <a:t>: #f1f1f1;</a:t>
            </a:r>
          </a:p>
          <a:p>
            <a:pPr lvl="3"/>
            <a:r>
              <a:rPr lang="en-IN" dirty="0">
                <a:latin typeface="Proxima Nova" panose="020B0604020202020204"/>
                <a:ea typeface="Cambria" panose="02040503050406030204" pitchFamily="18" charset="0"/>
              </a:rPr>
              <a:t>  margin: 10px;</a:t>
            </a:r>
          </a:p>
          <a:p>
            <a:pPr lvl="3"/>
            <a:r>
              <a:rPr lang="en-IN" dirty="0">
                <a:latin typeface="Proxima Nova" panose="020B0604020202020204"/>
                <a:ea typeface="Cambria" panose="02040503050406030204" pitchFamily="18" charset="0"/>
              </a:rPr>
              <a:t>  padding: 20px;</a:t>
            </a:r>
          </a:p>
          <a:p>
            <a:pPr lvl="3"/>
            <a:r>
              <a:rPr lang="en-IN" dirty="0">
                <a:latin typeface="Proxima Nova" panose="020B0604020202020204"/>
                <a:ea typeface="Cambria" panose="02040503050406030204" pitchFamily="18" charset="0"/>
              </a:rPr>
              <a:t>  font-size: 30px;</a:t>
            </a:r>
          </a:p>
          <a:p>
            <a:pPr lvl="3"/>
            <a:r>
              <a:rPr lang="en-IN" dirty="0">
                <a:latin typeface="Proxima Nova" panose="020B0604020202020204"/>
                <a:ea typeface="Cambria" panose="02040503050406030204" pitchFamily="18" charset="0"/>
              </a:rPr>
              <a:t>}</a:t>
            </a:r>
          </a:p>
          <a:p>
            <a:r>
              <a:rPr lang="en-IN" dirty="0">
                <a:latin typeface="Proxima Nova" panose="020B0604020202020204"/>
                <a:ea typeface="Cambria" panose="02040503050406030204" pitchFamily="18" charset="0"/>
              </a:rPr>
              <a:t>	&lt;/style&gt;</a:t>
            </a:r>
          </a:p>
        </p:txBody>
      </p:sp>
      <p:pic>
        <p:nvPicPr>
          <p:cNvPr id="6" name="Picture 5">
            <a:extLst>
              <a:ext uri="{FF2B5EF4-FFF2-40B4-BE49-F238E27FC236}">
                <a16:creationId xmlns:a16="http://schemas.microsoft.com/office/drawing/2014/main" id="{5CFFDFE4-0CDA-E90F-30D3-AC2897B8E3F3}"/>
              </a:ext>
            </a:extLst>
          </p:cNvPr>
          <p:cNvPicPr>
            <a:picLocks noChangeAspect="1"/>
          </p:cNvPicPr>
          <p:nvPr/>
        </p:nvPicPr>
        <p:blipFill>
          <a:blip r:embed="rId2"/>
          <a:stretch>
            <a:fillRect/>
          </a:stretch>
        </p:blipFill>
        <p:spPr>
          <a:xfrm>
            <a:off x="4949735" y="3552825"/>
            <a:ext cx="6332355" cy="2145587"/>
          </a:xfrm>
          <a:prstGeom prst="rect">
            <a:avLst/>
          </a:prstGeom>
          <a:ln w="19050">
            <a:solidFill>
              <a:schemeClr val="tx1"/>
            </a:solidFill>
          </a:ln>
        </p:spPr>
      </p:pic>
    </p:spTree>
    <p:extLst>
      <p:ext uri="{BB962C8B-B14F-4D97-AF65-F5344CB8AC3E}">
        <p14:creationId xmlns:p14="http://schemas.microsoft.com/office/powerpoint/2010/main" val="7017621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F011E-C351-6634-B43C-79A0FFFCAB9E}"/>
              </a:ext>
            </a:extLst>
          </p:cNvPr>
          <p:cNvSpPr>
            <a:spLocks noGrp="1"/>
          </p:cNvSpPr>
          <p:nvPr>
            <p:ph type="title"/>
          </p:nvPr>
        </p:nvSpPr>
        <p:spPr/>
        <p:txBody>
          <a:bodyPr/>
          <a:lstStyle/>
          <a:p>
            <a:r>
              <a:rPr lang="en-IN" dirty="0"/>
              <a:t>The flex-wrap Property</a:t>
            </a:r>
            <a:br>
              <a:rPr lang="en-IN" dirty="0"/>
            </a:br>
            <a:endParaRPr lang="en-IN" dirty="0"/>
          </a:p>
        </p:txBody>
      </p:sp>
      <p:sp>
        <p:nvSpPr>
          <p:cNvPr id="3" name="Content Placeholder 2">
            <a:extLst>
              <a:ext uri="{FF2B5EF4-FFF2-40B4-BE49-F238E27FC236}">
                <a16:creationId xmlns:a16="http://schemas.microsoft.com/office/drawing/2014/main" id="{4DA7A096-99A3-305E-8D1E-ABEB207E9C4A}"/>
              </a:ext>
            </a:extLst>
          </p:cNvPr>
          <p:cNvSpPr>
            <a:spLocks noGrp="1"/>
          </p:cNvSpPr>
          <p:nvPr>
            <p:ph idx="1"/>
          </p:nvPr>
        </p:nvSpPr>
        <p:spPr/>
        <p:txBody>
          <a:bodyPr/>
          <a:lstStyle/>
          <a:p>
            <a:r>
              <a:rPr lang="en-US" dirty="0"/>
              <a:t>The flex-wrap property specifies whether the flex items should wrap or not.</a:t>
            </a:r>
          </a:p>
          <a:p>
            <a:r>
              <a:rPr lang="en-US" dirty="0"/>
              <a:t>The examples below have 12 flex items, to better demonstrate the flex-wrap property.</a:t>
            </a:r>
          </a:p>
          <a:p>
            <a:r>
              <a:rPr lang="en-US" b="1" dirty="0"/>
              <a:t>Wrap</a:t>
            </a:r>
            <a:r>
              <a:rPr lang="en-US" dirty="0"/>
              <a:t>: The wrap value specifies that the flex items will wrap if necessary</a:t>
            </a:r>
          </a:p>
          <a:p>
            <a:r>
              <a:rPr lang="en-US" b="1" dirty="0" err="1"/>
              <a:t>nowrap</a:t>
            </a:r>
            <a:r>
              <a:rPr lang="en-US" dirty="0"/>
              <a:t>: The </a:t>
            </a:r>
            <a:r>
              <a:rPr lang="en-US" dirty="0" err="1"/>
              <a:t>nowrap</a:t>
            </a:r>
            <a:r>
              <a:rPr lang="en-US" dirty="0"/>
              <a:t> value specifies that the flex items will not wrap (this is default)</a:t>
            </a:r>
          </a:p>
          <a:p>
            <a:r>
              <a:rPr lang="en-US" b="1" dirty="0"/>
              <a:t>wrap-reverse</a:t>
            </a:r>
            <a:r>
              <a:rPr lang="en-US" dirty="0"/>
              <a:t>: The wrap-reverse value specifies that the flexible items will wrap if necessary, in reverse order</a:t>
            </a:r>
            <a:endParaRPr lang="en-IN" dirty="0"/>
          </a:p>
          <a:p>
            <a:endParaRPr lang="en-IN" dirty="0"/>
          </a:p>
        </p:txBody>
      </p:sp>
    </p:spTree>
    <p:extLst>
      <p:ext uri="{BB962C8B-B14F-4D97-AF65-F5344CB8AC3E}">
        <p14:creationId xmlns:p14="http://schemas.microsoft.com/office/powerpoint/2010/main" val="197591419"/>
      </p:ext>
    </p:extLst>
  </p:cSld>
  <p:clrMapOvr>
    <a:masterClrMapping/>
  </p:clrMapOvr>
  <p:transition spd="slow">
    <p:wipe/>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FC3D6-94DD-E478-1B75-49CE4A321977}"/>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5EF12022-A2FF-E1BE-99AE-C394E0DF7E20}"/>
              </a:ext>
            </a:extLst>
          </p:cNvPr>
          <p:cNvSpPr txBox="1"/>
          <p:nvPr/>
        </p:nvSpPr>
        <p:spPr>
          <a:xfrm>
            <a:off x="0" y="1336864"/>
            <a:ext cx="6096000" cy="4524315"/>
          </a:xfrm>
          <a:prstGeom prst="rect">
            <a:avLst/>
          </a:prstGeom>
          <a:noFill/>
        </p:spPr>
        <p:txBody>
          <a:bodyPr wrap="square">
            <a:spAutoFit/>
          </a:bodyPr>
          <a:lstStyle/>
          <a:p>
            <a:r>
              <a:rPr lang="en-IN" dirty="0">
                <a:latin typeface="Proxima Nova" panose="020B0604020202020204"/>
                <a:ea typeface="Cambria" panose="02040503050406030204" pitchFamily="18" charset="0"/>
              </a:rPr>
              <a:t>	&lt;style&gt;</a:t>
            </a:r>
          </a:p>
          <a:p>
            <a:pPr lvl="3"/>
            <a:r>
              <a:rPr lang="en-IN" dirty="0">
                <a:latin typeface="Proxima Nova" panose="020B0604020202020204"/>
                <a:ea typeface="Cambria" panose="02040503050406030204" pitchFamily="18" charset="0"/>
              </a:rPr>
              <a:t>.flex-container {</a:t>
            </a:r>
          </a:p>
          <a:p>
            <a:pPr lvl="3"/>
            <a:r>
              <a:rPr lang="en-IN" dirty="0">
                <a:latin typeface="Proxima Nova" panose="020B0604020202020204"/>
                <a:ea typeface="Cambria" panose="02040503050406030204" pitchFamily="18" charset="0"/>
              </a:rPr>
              <a:t>  display: flex;</a:t>
            </a:r>
          </a:p>
          <a:p>
            <a:pPr lvl="3"/>
            <a:r>
              <a:rPr lang="en-IN" dirty="0">
                <a:latin typeface="Proxima Nova" panose="020B0604020202020204"/>
                <a:ea typeface="Cambria" panose="02040503050406030204" pitchFamily="18" charset="0"/>
              </a:rPr>
              <a:t> flex-wrap: wrap-reverse;</a:t>
            </a:r>
          </a:p>
          <a:p>
            <a:pPr lvl="3"/>
            <a:r>
              <a:rPr lang="en-IN" dirty="0">
                <a:latin typeface="Proxima Nova" panose="020B0604020202020204"/>
                <a:ea typeface="Cambria" panose="02040503050406030204" pitchFamily="18" charset="0"/>
              </a:rPr>
              <a:t> background-</a:t>
            </a:r>
            <a:r>
              <a:rPr lang="en-IN" dirty="0" err="1">
                <a:latin typeface="Proxima Nova" panose="020B0604020202020204"/>
                <a:ea typeface="Cambria" panose="02040503050406030204" pitchFamily="18" charset="0"/>
              </a:rPr>
              <a:t>color</a:t>
            </a:r>
            <a:r>
              <a:rPr lang="en-IN" dirty="0">
                <a:latin typeface="Proxima Nova" panose="020B0604020202020204"/>
                <a:ea typeface="Cambria" panose="02040503050406030204" pitchFamily="18" charset="0"/>
              </a:rPr>
              <a:t>: </a:t>
            </a:r>
            <a:r>
              <a:rPr lang="en-IN" dirty="0" err="1">
                <a:latin typeface="Proxima Nova" panose="020B0604020202020204"/>
                <a:ea typeface="Cambria" panose="02040503050406030204" pitchFamily="18" charset="0"/>
              </a:rPr>
              <a:t>DodgerBlue</a:t>
            </a:r>
            <a:r>
              <a:rPr lang="en-IN" dirty="0">
                <a:latin typeface="Proxima Nova" panose="020B0604020202020204"/>
                <a:ea typeface="Cambria" panose="02040503050406030204" pitchFamily="18" charset="0"/>
              </a:rPr>
              <a:t>;</a:t>
            </a:r>
          </a:p>
          <a:p>
            <a:pPr lvl="3"/>
            <a:r>
              <a:rPr lang="en-IN" dirty="0">
                <a:latin typeface="Proxima Nova" panose="020B0604020202020204"/>
                <a:ea typeface="Cambria" panose="02040503050406030204" pitchFamily="18" charset="0"/>
              </a:rPr>
              <a:t>}</a:t>
            </a:r>
          </a:p>
          <a:p>
            <a:pPr lvl="3"/>
            <a:endParaRPr lang="en-IN" dirty="0">
              <a:latin typeface="Proxima Nova" panose="020B0604020202020204"/>
              <a:ea typeface="Cambria" panose="02040503050406030204" pitchFamily="18" charset="0"/>
            </a:endParaRPr>
          </a:p>
          <a:p>
            <a:pPr lvl="3"/>
            <a:r>
              <a:rPr lang="en-IN" dirty="0">
                <a:latin typeface="Proxima Nova" panose="020B0604020202020204"/>
                <a:ea typeface="Cambria" panose="02040503050406030204" pitchFamily="18" charset="0"/>
              </a:rPr>
              <a:t>.flex-container &gt; div {</a:t>
            </a:r>
          </a:p>
          <a:p>
            <a:pPr lvl="3"/>
            <a:r>
              <a:rPr lang="en-US" dirty="0">
                <a:latin typeface="Proxima Nova" panose="020B0604020202020204"/>
                <a:ea typeface="Cambria" panose="02040503050406030204" pitchFamily="18" charset="0"/>
              </a:rPr>
              <a:t>background-color: #f1f1f1;</a:t>
            </a:r>
          </a:p>
          <a:p>
            <a:pPr lvl="3"/>
            <a:r>
              <a:rPr lang="en-US" dirty="0">
                <a:latin typeface="Proxima Nova" panose="020B0604020202020204"/>
                <a:ea typeface="Cambria" panose="02040503050406030204" pitchFamily="18" charset="0"/>
              </a:rPr>
              <a:t>  width: 100px;</a:t>
            </a:r>
          </a:p>
          <a:p>
            <a:pPr lvl="3"/>
            <a:r>
              <a:rPr lang="en-US" dirty="0">
                <a:latin typeface="Proxima Nova" panose="020B0604020202020204"/>
                <a:ea typeface="Cambria" panose="02040503050406030204" pitchFamily="18" charset="0"/>
              </a:rPr>
              <a:t>  margin: 10px;</a:t>
            </a:r>
          </a:p>
          <a:p>
            <a:pPr lvl="3"/>
            <a:r>
              <a:rPr lang="en-US" dirty="0">
                <a:latin typeface="Proxima Nova" panose="020B0604020202020204"/>
                <a:ea typeface="Cambria" panose="02040503050406030204" pitchFamily="18" charset="0"/>
              </a:rPr>
              <a:t>  text-align: center;</a:t>
            </a:r>
          </a:p>
          <a:p>
            <a:pPr lvl="3"/>
            <a:r>
              <a:rPr lang="en-US" dirty="0">
                <a:latin typeface="Proxima Nova" panose="020B0604020202020204"/>
                <a:ea typeface="Cambria" panose="02040503050406030204" pitchFamily="18" charset="0"/>
              </a:rPr>
              <a:t>  line-height: 75px;</a:t>
            </a:r>
          </a:p>
          <a:p>
            <a:pPr lvl="3"/>
            <a:r>
              <a:rPr lang="en-US" dirty="0">
                <a:latin typeface="Proxima Nova" panose="020B0604020202020204"/>
                <a:ea typeface="Cambria" panose="02040503050406030204" pitchFamily="18" charset="0"/>
              </a:rPr>
              <a:t>  font-size: 30px;</a:t>
            </a:r>
          </a:p>
          <a:p>
            <a:pPr lvl="3"/>
            <a:r>
              <a:rPr lang="en-IN" dirty="0">
                <a:latin typeface="Proxima Nova" panose="020B0604020202020204"/>
                <a:ea typeface="Cambria" panose="02040503050406030204" pitchFamily="18" charset="0"/>
              </a:rPr>
              <a:t>}</a:t>
            </a:r>
          </a:p>
          <a:p>
            <a:r>
              <a:rPr lang="en-IN" dirty="0">
                <a:latin typeface="Proxima Nova" panose="020B0604020202020204"/>
                <a:ea typeface="Cambria" panose="02040503050406030204" pitchFamily="18" charset="0"/>
              </a:rPr>
              <a:t>	&lt;/style&gt;</a:t>
            </a:r>
          </a:p>
        </p:txBody>
      </p:sp>
      <p:pic>
        <p:nvPicPr>
          <p:cNvPr id="6" name="Picture 5">
            <a:extLst>
              <a:ext uri="{FF2B5EF4-FFF2-40B4-BE49-F238E27FC236}">
                <a16:creationId xmlns:a16="http://schemas.microsoft.com/office/drawing/2014/main" id="{F8D8F6C5-7810-0961-6FA3-DF39710E47AC}"/>
              </a:ext>
            </a:extLst>
          </p:cNvPr>
          <p:cNvPicPr>
            <a:picLocks noChangeAspect="1"/>
          </p:cNvPicPr>
          <p:nvPr/>
        </p:nvPicPr>
        <p:blipFill>
          <a:blip r:embed="rId2"/>
          <a:stretch>
            <a:fillRect/>
          </a:stretch>
        </p:blipFill>
        <p:spPr>
          <a:xfrm>
            <a:off x="5131661" y="1968311"/>
            <a:ext cx="6143625" cy="3552825"/>
          </a:xfrm>
          <a:prstGeom prst="rect">
            <a:avLst/>
          </a:prstGeom>
          <a:ln w="19050">
            <a:solidFill>
              <a:schemeClr val="tx1"/>
            </a:solidFill>
          </a:ln>
        </p:spPr>
      </p:pic>
    </p:spTree>
    <p:extLst>
      <p:ext uri="{BB962C8B-B14F-4D97-AF65-F5344CB8AC3E}">
        <p14:creationId xmlns:p14="http://schemas.microsoft.com/office/powerpoint/2010/main" val="238130110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5B8AD-1648-0BAB-7A7B-0951B3004E07}"/>
              </a:ext>
            </a:extLst>
          </p:cNvPr>
          <p:cNvSpPr>
            <a:spLocks noGrp="1"/>
          </p:cNvSpPr>
          <p:nvPr>
            <p:ph type="title"/>
          </p:nvPr>
        </p:nvSpPr>
        <p:spPr/>
        <p:txBody>
          <a:bodyPr/>
          <a:lstStyle/>
          <a:p>
            <a:r>
              <a:rPr lang="en-IN" dirty="0"/>
              <a:t>The flex-flow Property</a:t>
            </a:r>
            <a:br>
              <a:rPr lang="en-IN" dirty="0"/>
            </a:br>
            <a:endParaRPr lang="en-IN" dirty="0"/>
          </a:p>
        </p:txBody>
      </p:sp>
      <p:sp>
        <p:nvSpPr>
          <p:cNvPr id="3" name="Content Placeholder 2">
            <a:extLst>
              <a:ext uri="{FF2B5EF4-FFF2-40B4-BE49-F238E27FC236}">
                <a16:creationId xmlns:a16="http://schemas.microsoft.com/office/drawing/2014/main" id="{1FB20A0F-0B78-63F0-2685-E05884B07D06}"/>
              </a:ext>
            </a:extLst>
          </p:cNvPr>
          <p:cNvSpPr>
            <a:spLocks noGrp="1"/>
          </p:cNvSpPr>
          <p:nvPr>
            <p:ph idx="1"/>
          </p:nvPr>
        </p:nvSpPr>
        <p:spPr/>
        <p:txBody>
          <a:bodyPr/>
          <a:lstStyle/>
          <a:p>
            <a:r>
              <a:rPr lang="en-US" dirty="0"/>
              <a:t>The flex-flow property is a shorthand property for setting both the flex-direction and flex-wrap properties.</a:t>
            </a:r>
          </a:p>
          <a:p>
            <a:r>
              <a:rPr lang="en-US" dirty="0"/>
              <a:t>.flex-container {</a:t>
            </a:r>
          </a:p>
          <a:p>
            <a:r>
              <a:rPr lang="en-US" dirty="0"/>
              <a:t>  display: flex;</a:t>
            </a:r>
          </a:p>
          <a:p>
            <a:r>
              <a:rPr lang="en-US" dirty="0"/>
              <a:t>  flex-flow: row wrap;</a:t>
            </a:r>
          </a:p>
          <a:p>
            <a:r>
              <a:rPr lang="en-US" dirty="0"/>
              <a:t>}</a:t>
            </a:r>
            <a:endParaRPr lang="en-IN" dirty="0"/>
          </a:p>
          <a:p>
            <a:endParaRPr lang="en-IN" dirty="0"/>
          </a:p>
        </p:txBody>
      </p:sp>
      <p:pic>
        <p:nvPicPr>
          <p:cNvPr id="4" name="Picture 3">
            <a:extLst>
              <a:ext uri="{FF2B5EF4-FFF2-40B4-BE49-F238E27FC236}">
                <a16:creationId xmlns:a16="http://schemas.microsoft.com/office/drawing/2014/main" id="{6BFBA3FF-BB73-78AE-5FC3-16507C203CB9}"/>
              </a:ext>
            </a:extLst>
          </p:cNvPr>
          <p:cNvPicPr>
            <a:picLocks noChangeAspect="1"/>
          </p:cNvPicPr>
          <p:nvPr/>
        </p:nvPicPr>
        <p:blipFill>
          <a:blip r:embed="rId2"/>
          <a:stretch>
            <a:fillRect/>
          </a:stretch>
        </p:blipFill>
        <p:spPr>
          <a:xfrm>
            <a:off x="4607106" y="2051791"/>
            <a:ext cx="6477000" cy="3686175"/>
          </a:xfrm>
          <a:prstGeom prst="rect">
            <a:avLst/>
          </a:prstGeom>
          <a:ln w="19050">
            <a:solidFill>
              <a:schemeClr val="tx1"/>
            </a:solidFill>
          </a:ln>
        </p:spPr>
      </p:pic>
    </p:spTree>
    <p:extLst>
      <p:ext uri="{BB962C8B-B14F-4D97-AF65-F5344CB8AC3E}">
        <p14:creationId xmlns:p14="http://schemas.microsoft.com/office/powerpoint/2010/main" val="39835082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391C2-5782-657B-A50A-8E722EFDF3DE}"/>
              </a:ext>
            </a:extLst>
          </p:cNvPr>
          <p:cNvSpPr>
            <a:spLocks noGrp="1"/>
          </p:cNvSpPr>
          <p:nvPr>
            <p:ph type="title"/>
          </p:nvPr>
        </p:nvSpPr>
        <p:spPr/>
        <p:txBody>
          <a:bodyPr/>
          <a:lstStyle/>
          <a:p>
            <a:r>
              <a:rPr lang="en-IN" dirty="0"/>
              <a:t>The justify-content Property</a:t>
            </a:r>
            <a:br>
              <a:rPr lang="en-IN" dirty="0"/>
            </a:br>
            <a:endParaRPr lang="en-IN" dirty="0"/>
          </a:p>
        </p:txBody>
      </p:sp>
      <p:sp>
        <p:nvSpPr>
          <p:cNvPr id="3" name="Content Placeholder 2">
            <a:extLst>
              <a:ext uri="{FF2B5EF4-FFF2-40B4-BE49-F238E27FC236}">
                <a16:creationId xmlns:a16="http://schemas.microsoft.com/office/drawing/2014/main" id="{E057E6EE-59A1-1935-0F4A-AE99DDF96941}"/>
              </a:ext>
            </a:extLst>
          </p:cNvPr>
          <p:cNvSpPr>
            <a:spLocks noGrp="1"/>
          </p:cNvSpPr>
          <p:nvPr>
            <p:ph idx="1"/>
          </p:nvPr>
        </p:nvSpPr>
        <p:spPr/>
        <p:txBody>
          <a:bodyPr/>
          <a:lstStyle/>
          <a:p>
            <a:r>
              <a:rPr lang="en-US" dirty="0"/>
              <a:t>The justify-content property is used to align the flex items(horizontal alignment).</a:t>
            </a:r>
          </a:p>
          <a:p>
            <a:r>
              <a:rPr lang="en-US" b="1" dirty="0"/>
              <a:t>center: </a:t>
            </a:r>
            <a:r>
              <a:rPr lang="en-US" dirty="0"/>
              <a:t>The center value aligns the flex items at the center of the container</a:t>
            </a:r>
          </a:p>
          <a:p>
            <a:r>
              <a:rPr lang="en-US" b="1" dirty="0"/>
              <a:t>flex-start</a:t>
            </a:r>
            <a:r>
              <a:rPr lang="en-US" dirty="0"/>
              <a:t>: The flex-start value aligns the flex items at the beginning of the container (this is default)</a:t>
            </a:r>
          </a:p>
          <a:p>
            <a:r>
              <a:rPr lang="en-US" b="1" dirty="0"/>
              <a:t>flex-end</a:t>
            </a:r>
            <a:r>
              <a:rPr lang="en-US" dirty="0"/>
              <a:t>: The flex-end value aligns the flex items at the end of the container</a:t>
            </a:r>
          </a:p>
          <a:p>
            <a:r>
              <a:rPr lang="en-US" b="1" dirty="0"/>
              <a:t>space-around</a:t>
            </a:r>
            <a:r>
              <a:rPr lang="en-US" dirty="0"/>
              <a:t>: The space-around value displays the flex items with space before, between, and after the lines</a:t>
            </a:r>
          </a:p>
          <a:p>
            <a:r>
              <a:rPr lang="en-US" b="1" dirty="0"/>
              <a:t>space-between</a:t>
            </a:r>
            <a:r>
              <a:rPr lang="en-US" dirty="0"/>
              <a:t>: The space-between value displays the flex items with space between the lines</a:t>
            </a:r>
            <a:endParaRPr lang="en-IN" dirty="0"/>
          </a:p>
          <a:p>
            <a:endParaRPr lang="en-IN" dirty="0"/>
          </a:p>
        </p:txBody>
      </p:sp>
      <p:sp>
        <p:nvSpPr>
          <p:cNvPr id="5" name="TextBox 4">
            <a:extLst>
              <a:ext uri="{FF2B5EF4-FFF2-40B4-BE49-F238E27FC236}">
                <a16:creationId xmlns:a16="http://schemas.microsoft.com/office/drawing/2014/main" id="{977E0516-4533-0F4E-9822-5255896DE7C5}"/>
              </a:ext>
            </a:extLst>
          </p:cNvPr>
          <p:cNvSpPr txBox="1"/>
          <p:nvPr/>
        </p:nvSpPr>
        <p:spPr>
          <a:xfrm>
            <a:off x="-622169" y="4866005"/>
            <a:ext cx="6096000" cy="1477328"/>
          </a:xfrm>
          <a:prstGeom prst="rect">
            <a:avLst/>
          </a:prstGeom>
          <a:noFill/>
        </p:spPr>
        <p:txBody>
          <a:bodyPr wrap="square">
            <a:spAutoFit/>
          </a:bodyPr>
          <a:lstStyle/>
          <a:p>
            <a:pPr lvl="3"/>
            <a:r>
              <a:rPr lang="en-IN" sz="1800" dirty="0">
                <a:latin typeface="Proxima Nova" panose="020B0604020202020204"/>
                <a:ea typeface="Cambria" panose="02040503050406030204" pitchFamily="18" charset="0"/>
              </a:rPr>
              <a:t>.flex-container {</a:t>
            </a:r>
          </a:p>
          <a:p>
            <a:pPr lvl="3"/>
            <a:r>
              <a:rPr lang="en-IN" sz="1800" dirty="0">
                <a:latin typeface="Proxima Nova" panose="020B0604020202020204"/>
                <a:ea typeface="Cambria" panose="02040503050406030204" pitchFamily="18" charset="0"/>
              </a:rPr>
              <a:t>  display: flex;</a:t>
            </a:r>
          </a:p>
          <a:p>
            <a:pPr lvl="3"/>
            <a:r>
              <a:rPr lang="en-IN" sz="1800" dirty="0">
                <a:latin typeface="Proxima Nova" panose="020B0604020202020204"/>
                <a:ea typeface="Cambria" panose="02040503050406030204" pitchFamily="18" charset="0"/>
              </a:rPr>
              <a:t>  justify-content: space-around;</a:t>
            </a:r>
          </a:p>
          <a:p>
            <a:pPr lvl="3"/>
            <a:r>
              <a:rPr lang="en-IN" sz="1800" dirty="0">
                <a:latin typeface="Proxima Nova" panose="020B0604020202020204"/>
                <a:ea typeface="Cambria" panose="02040503050406030204" pitchFamily="18" charset="0"/>
              </a:rPr>
              <a:t>  background-</a:t>
            </a:r>
            <a:r>
              <a:rPr lang="en-IN" sz="1800" dirty="0" err="1">
                <a:latin typeface="Proxima Nova" panose="020B0604020202020204"/>
                <a:ea typeface="Cambria" panose="02040503050406030204" pitchFamily="18" charset="0"/>
              </a:rPr>
              <a:t>color</a:t>
            </a:r>
            <a:r>
              <a:rPr lang="en-IN" sz="1800" dirty="0">
                <a:latin typeface="Proxima Nova" panose="020B0604020202020204"/>
                <a:ea typeface="Cambria" panose="02040503050406030204" pitchFamily="18" charset="0"/>
              </a:rPr>
              <a:t>: </a:t>
            </a:r>
            <a:r>
              <a:rPr lang="en-IN" sz="1800" dirty="0" err="1">
                <a:latin typeface="Proxima Nova" panose="020B0604020202020204"/>
                <a:ea typeface="Cambria" panose="02040503050406030204" pitchFamily="18" charset="0"/>
              </a:rPr>
              <a:t>DodgerBlue</a:t>
            </a:r>
            <a:r>
              <a:rPr lang="en-IN" sz="1800" dirty="0">
                <a:latin typeface="Proxima Nova" panose="020B0604020202020204"/>
                <a:ea typeface="Cambria" panose="02040503050406030204" pitchFamily="18" charset="0"/>
              </a:rPr>
              <a:t>;</a:t>
            </a:r>
          </a:p>
          <a:p>
            <a:pPr lvl="3"/>
            <a:r>
              <a:rPr lang="en-IN" sz="1800" dirty="0">
                <a:latin typeface="Proxima Nova" panose="020B0604020202020204"/>
                <a:ea typeface="Cambria" panose="02040503050406030204" pitchFamily="18" charset="0"/>
              </a:rPr>
              <a:t>}</a:t>
            </a:r>
          </a:p>
        </p:txBody>
      </p:sp>
      <p:pic>
        <p:nvPicPr>
          <p:cNvPr id="6" name="Picture 5">
            <a:extLst>
              <a:ext uri="{FF2B5EF4-FFF2-40B4-BE49-F238E27FC236}">
                <a16:creationId xmlns:a16="http://schemas.microsoft.com/office/drawing/2014/main" id="{E749830B-E526-D064-8E88-FCD784922090}"/>
              </a:ext>
            </a:extLst>
          </p:cNvPr>
          <p:cNvPicPr>
            <a:picLocks noChangeAspect="1"/>
          </p:cNvPicPr>
          <p:nvPr/>
        </p:nvPicPr>
        <p:blipFill>
          <a:blip r:embed="rId2"/>
          <a:stretch>
            <a:fillRect/>
          </a:stretch>
        </p:blipFill>
        <p:spPr>
          <a:xfrm>
            <a:off x="4744613" y="5082384"/>
            <a:ext cx="6972904" cy="891617"/>
          </a:xfrm>
          <a:prstGeom prst="rect">
            <a:avLst/>
          </a:prstGeom>
        </p:spPr>
      </p:pic>
    </p:spTree>
    <p:extLst>
      <p:ext uri="{BB962C8B-B14F-4D97-AF65-F5344CB8AC3E}">
        <p14:creationId xmlns:p14="http://schemas.microsoft.com/office/powerpoint/2010/main" val="214836647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5EF0-E9EE-6AD2-3E73-8930C2FC2C2E}"/>
              </a:ext>
            </a:extLst>
          </p:cNvPr>
          <p:cNvSpPr>
            <a:spLocks noGrp="1"/>
          </p:cNvSpPr>
          <p:nvPr>
            <p:ph type="title"/>
          </p:nvPr>
        </p:nvSpPr>
        <p:spPr/>
        <p:txBody>
          <a:bodyPr/>
          <a:lstStyle/>
          <a:p>
            <a:r>
              <a:rPr lang="en-IN" dirty="0"/>
              <a:t>The align-items Property</a:t>
            </a:r>
            <a:br>
              <a:rPr lang="en-IN" dirty="0"/>
            </a:br>
            <a:endParaRPr lang="en-IN" dirty="0"/>
          </a:p>
        </p:txBody>
      </p:sp>
      <p:sp>
        <p:nvSpPr>
          <p:cNvPr id="3" name="Content Placeholder 2">
            <a:extLst>
              <a:ext uri="{FF2B5EF4-FFF2-40B4-BE49-F238E27FC236}">
                <a16:creationId xmlns:a16="http://schemas.microsoft.com/office/drawing/2014/main" id="{5CD432FD-2854-A3C9-ECE7-83A60FC4CDBC}"/>
              </a:ext>
            </a:extLst>
          </p:cNvPr>
          <p:cNvSpPr>
            <a:spLocks noGrp="1"/>
          </p:cNvSpPr>
          <p:nvPr>
            <p:ph idx="1"/>
          </p:nvPr>
        </p:nvSpPr>
        <p:spPr/>
        <p:txBody>
          <a:bodyPr/>
          <a:lstStyle/>
          <a:p>
            <a:r>
              <a:rPr lang="en-US" dirty="0"/>
              <a:t>The align-items property is used to align the flex items(vertical alignment).</a:t>
            </a:r>
          </a:p>
          <a:p>
            <a:r>
              <a:rPr lang="en-US" b="1" dirty="0"/>
              <a:t>center</a:t>
            </a:r>
            <a:r>
              <a:rPr lang="en-US" dirty="0"/>
              <a:t>: The center value aligns the flex items in the middle of the container</a:t>
            </a:r>
          </a:p>
          <a:p>
            <a:r>
              <a:rPr lang="en-US" b="1" dirty="0"/>
              <a:t>flex-start</a:t>
            </a:r>
            <a:r>
              <a:rPr lang="en-US" dirty="0"/>
              <a:t>: The flex-start value aligns the flex items at the top of the container</a:t>
            </a:r>
          </a:p>
          <a:p>
            <a:r>
              <a:rPr lang="en-US" b="1" dirty="0"/>
              <a:t>flex-end</a:t>
            </a:r>
            <a:r>
              <a:rPr lang="en-US" dirty="0"/>
              <a:t>: The flex-end value aligns the flex items at the bottom of the container</a:t>
            </a:r>
          </a:p>
          <a:p>
            <a:r>
              <a:rPr lang="en-US" b="1" dirty="0"/>
              <a:t>stretch</a:t>
            </a:r>
            <a:r>
              <a:rPr lang="en-US" dirty="0"/>
              <a:t>: The stretch value stretches the flex items to fill the container (this is default)</a:t>
            </a:r>
          </a:p>
          <a:p>
            <a:r>
              <a:rPr lang="en-US" b="1" dirty="0"/>
              <a:t>baseline</a:t>
            </a:r>
            <a:r>
              <a:rPr lang="en-US" dirty="0"/>
              <a:t>: The baseline value aligns the flex items such as their baselines aligns</a:t>
            </a:r>
            <a:endParaRPr lang="en-IN" dirty="0"/>
          </a:p>
          <a:p>
            <a:endParaRPr lang="en-IN" dirty="0"/>
          </a:p>
        </p:txBody>
      </p:sp>
      <p:sp>
        <p:nvSpPr>
          <p:cNvPr id="5" name="TextBox 4">
            <a:extLst>
              <a:ext uri="{FF2B5EF4-FFF2-40B4-BE49-F238E27FC236}">
                <a16:creationId xmlns:a16="http://schemas.microsoft.com/office/drawing/2014/main" id="{9021EB88-0B26-AAD6-FF2F-088B953457DC}"/>
              </a:ext>
            </a:extLst>
          </p:cNvPr>
          <p:cNvSpPr txBox="1"/>
          <p:nvPr/>
        </p:nvSpPr>
        <p:spPr>
          <a:xfrm>
            <a:off x="-622169" y="4656862"/>
            <a:ext cx="6096000" cy="1754326"/>
          </a:xfrm>
          <a:prstGeom prst="rect">
            <a:avLst/>
          </a:prstGeom>
          <a:noFill/>
        </p:spPr>
        <p:txBody>
          <a:bodyPr wrap="square">
            <a:spAutoFit/>
          </a:bodyPr>
          <a:lstStyle/>
          <a:p>
            <a:pPr lvl="3"/>
            <a:r>
              <a:rPr lang="en-IN" sz="1800" dirty="0">
                <a:latin typeface="Proxima Nova" panose="020B0604020202020204"/>
                <a:ea typeface="Cambria" panose="02040503050406030204" pitchFamily="18" charset="0"/>
              </a:rPr>
              <a:t>.flex-container {</a:t>
            </a:r>
          </a:p>
          <a:p>
            <a:pPr lvl="3"/>
            <a:r>
              <a:rPr lang="en-IN" sz="1800" dirty="0">
                <a:latin typeface="Proxima Nova" panose="020B0604020202020204"/>
                <a:ea typeface="Cambria" panose="02040503050406030204" pitchFamily="18" charset="0"/>
              </a:rPr>
              <a:t>  display: flex;</a:t>
            </a:r>
          </a:p>
          <a:p>
            <a:pPr lvl="3"/>
            <a:r>
              <a:rPr lang="en-IN" sz="1800" dirty="0">
                <a:latin typeface="Proxima Nova" panose="020B0604020202020204"/>
                <a:ea typeface="Cambria" panose="02040503050406030204" pitchFamily="18" charset="0"/>
              </a:rPr>
              <a:t>  height: 200px;</a:t>
            </a:r>
          </a:p>
          <a:p>
            <a:pPr lvl="3"/>
            <a:r>
              <a:rPr lang="en-IN" sz="1800" dirty="0">
                <a:latin typeface="Proxima Nova" panose="020B0604020202020204"/>
                <a:ea typeface="Cambria" panose="02040503050406030204" pitchFamily="18" charset="0"/>
              </a:rPr>
              <a:t>  align-items: flex-start;</a:t>
            </a:r>
          </a:p>
          <a:p>
            <a:pPr lvl="3"/>
            <a:r>
              <a:rPr lang="en-IN" sz="1800" dirty="0">
                <a:latin typeface="Proxima Nova" panose="020B0604020202020204"/>
                <a:ea typeface="Cambria" panose="02040503050406030204" pitchFamily="18" charset="0"/>
              </a:rPr>
              <a:t>  background-</a:t>
            </a:r>
            <a:r>
              <a:rPr lang="en-IN" sz="1800" dirty="0" err="1">
                <a:latin typeface="Proxima Nova" panose="020B0604020202020204"/>
                <a:ea typeface="Cambria" panose="02040503050406030204" pitchFamily="18" charset="0"/>
              </a:rPr>
              <a:t>color</a:t>
            </a:r>
            <a:r>
              <a:rPr lang="en-IN" sz="1800" dirty="0">
                <a:latin typeface="Proxima Nova" panose="020B0604020202020204"/>
                <a:ea typeface="Cambria" panose="02040503050406030204" pitchFamily="18" charset="0"/>
              </a:rPr>
              <a:t>: </a:t>
            </a:r>
            <a:r>
              <a:rPr lang="en-IN" sz="1800" dirty="0" err="1">
                <a:latin typeface="Proxima Nova" panose="020B0604020202020204"/>
                <a:ea typeface="Cambria" panose="02040503050406030204" pitchFamily="18" charset="0"/>
              </a:rPr>
              <a:t>DodgerBlue</a:t>
            </a:r>
            <a:r>
              <a:rPr lang="en-IN" sz="1800" dirty="0">
                <a:latin typeface="Proxima Nova" panose="020B0604020202020204"/>
                <a:ea typeface="Cambria" panose="02040503050406030204" pitchFamily="18" charset="0"/>
              </a:rPr>
              <a:t>;</a:t>
            </a:r>
          </a:p>
          <a:p>
            <a:pPr lvl="3"/>
            <a:r>
              <a:rPr lang="en-IN" sz="1800" dirty="0">
                <a:latin typeface="Proxima Nova" panose="020B0604020202020204"/>
                <a:ea typeface="Cambria" panose="02040503050406030204" pitchFamily="18" charset="0"/>
              </a:rPr>
              <a:t>}</a:t>
            </a:r>
          </a:p>
        </p:txBody>
      </p:sp>
      <p:pic>
        <p:nvPicPr>
          <p:cNvPr id="6" name="Picture 5">
            <a:extLst>
              <a:ext uri="{FF2B5EF4-FFF2-40B4-BE49-F238E27FC236}">
                <a16:creationId xmlns:a16="http://schemas.microsoft.com/office/drawing/2014/main" id="{AB7B1BC1-2D2B-1EE2-37CA-83C52A0A8526}"/>
              </a:ext>
            </a:extLst>
          </p:cNvPr>
          <p:cNvPicPr>
            <a:picLocks noChangeAspect="1"/>
          </p:cNvPicPr>
          <p:nvPr/>
        </p:nvPicPr>
        <p:blipFill>
          <a:blip r:embed="rId2"/>
          <a:stretch>
            <a:fillRect/>
          </a:stretch>
        </p:blipFill>
        <p:spPr>
          <a:xfrm>
            <a:off x="4760673" y="4727505"/>
            <a:ext cx="6143625" cy="1754327"/>
          </a:xfrm>
          <a:prstGeom prst="rect">
            <a:avLst/>
          </a:prstGeom>
          <a:ln w="19050">
            <a:solidFill>
              <a:schemeClr val="tx1"/>
            </a:solidFill>
          </a:ln>
        </p:spPr>
      </p:pic>
    </p:spTree>
    <p:extLst>
      <p:ext uri="{BB962C8B-B14F-4D97-AF65-F5344CB8AC3E}">
        <p14:creationId xmlns:p14="http://schemas.microsoft.com/office/powerpoint/2010/main" val="29257033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B93C-00B0-6EED-97A8-EBE42D95F048}"/>
              </a:ext>
            </a:extLst>
          </p:cNvPr>
          <p:cNvSpPr>
            <a:spLocks noGrp="1"/>
          </p:cNvSpPr>
          <p:nvPr>
            <p:ph type="title"/>
          </p:nvPr>
        </p:nvSpPr>
        <p:spPr/>
        <p:txBody>
          <a:bodyPr/>
          <a:lstStyle/>
          <a:p>
            <a:r>
              <a:rPr lang="en-IN" dirty="0"/>
              <a:t>The align-content Property</a:t>
            </a:r>
            <a:br>
              <a:rPr lang="en-IN" dirty="0"/>
            </a:br>
            <a:endParaRPr lang="en-IN" dirty="0"/>
          </a:p>
        </p:txBody>
      </p:sp>
      <p:sp>
        <p:nvSpPr>
          <p:cNvPr id="3" name="Content Placeholder 2">
            <a:extLst>
              <a:ext uri="{FF2B5EF4-FFF2-40B4-BE49-F238E27FC236}">
                <a16:creationId xmlns:a16="http://schemas.microsoft.com/office/drawing/2014/main" id="{6EB8A61A-4758-49AC-E31F-B5AC159B753D}"/>
              </a:ext>
            </a:extLst>
          </p:cNvPr>
          <p:cNvSpPr>
            <a:spLocks noGrp="1"/>
          </p:cNvSpPr>
          <p:nvPr>
            <p:ph idx="1"/>
          </p:nvPr>
        </p:nvSpPr>
        <p:spPr/>
        <p:txBody>
          <a:bodyPr/>
          <a:lstStyle/>
          <a:p>
            <a:r>
              <a:rPr lang="en-US" dirty="0"/>
              <a:t>The align-content property is used to align the flex lines.</a:t>
            </a:r>
          </a:p>
          <a:p>
            <a:r>
              <a:rPr lang="en-US" b="1" dirty="0"/>
              <a:t>space-between</a:t>
            </a:r>
            <a:r>
              <a:rPr lang="en-US" dirty="0"/>
              <a:t>: The space-between value displays the flex lines with equal space between them</a:t>
            </a:r>
          </a:p>
          <a:p>
            <a:r>
              <a:rPr lang="en-US" b="1" dirty="0"/>
              <a:t>space-around</a:t>
            </a:r>
            <a:r>
              <a:rPr lang="en-US" dirty="0"/>
              <a:t>: The space-around value displays the flex lines with space before, between, and after them</a:t>
            </a:r>
          </a:p>
          <a:p>
            <a:r>
              <a:rPr lang="en-US" b="1" dirty="0"/>
              <a:t>stretch</a:t>
            </a:r>
            <a:r>
              <a:rPr lang="en-US" dirty="0"/>
              <a:t>: The stretch value stretches the flex lines to take up the remaining space (this is default)</a:t>
            </a:r>
          </a:p>
          <a:p>
            <a:r>
              <a:rPr lang="en-US" b="1" dirty="0"/>
              <a:t>center</a:t>
            </a:r>
            <a:r>
              <a:rPr lang="en-US" dirty="0"/>
              <a:t> :The center value displays the flex lines in the middle of the container</a:t>
            </a:r>
          </a:p>
          <a:p>
            <a:r>
              <a:rPr lang="en-US" b="1" dirty="0"/>
              <a:t>flex-start</a:t>
            </a:r>
            <a:r>
              <a:rPr lang="en-US" dirty="0"/>
              <a:t>: The flex-start value displays the flex lines at the start of the container</a:t>
            </a:r>
          </a:p>
          <a:p>
            <a:r>
              <a:rPr lang="en-US" b="1" dirty="0"/>
              <a:t>flex-end</a:t>
            </a:r>
            <a:r>
              <a:rPr lang="en-US" dirty="0"/>
              <a:t>: The flex-end value displays the flex lines at the end of the container</a:t>
            </a:r>
            <a:endParaRPr lang="en-IN" dirty="0"/>
          </a:p>
          <a:p>
            <a:endParaRPr lang="en-IN" dirty="0"/>
          </a:p>
        </p:txBody>
      </p:sp>
    </p:spTree>
    <p:extLst>
      <p:ext uri="{BB962C8B-B14F-4D97-AF65-F5344CB8AC3E}">
        <p14:creationId xmlns:p14="http://schemas.microsoft.com/office/powerpoint/2010/main" val="3804804592"/>
      </p:ext>
    </p:extLst>
  </p:cSld>
  <p:clrMapOvr>
    <a:masterClrMapping/>
  </p:clrMapOvr>
  <p:transition spd="slow">
    <p:wipe/>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A390C-13DF-C97F-5D3A-FB39E1DF6EF7}"/>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645B8849-D77E-B0CB-0886-32BE9984FE23}"/>
              </a:ext>
            </a:extLst>
          </p:cNvPr>
          <p:cNvSpPr txBox="1"/>
          <p:nvPr/>
        </p:nvSpPr>
        <p:spPr>
          <a:xfrm>
            <a:off x="-723900" y="1312813"/>
            <a:ext cx="6096000" cy="2308324"/>
          </a:xfrm>
          <a:prstGeom prst="rect">
            <a:avLst/>
          </a:prstGeom>
          <a:noFill/>
        </p:spPr>
        <p:txBody>
          <a:bodyPr wrap="square">
            <a:spAutoFit/>
          </a:bodyPr>
          <a:lstStyle/>
          <a:p>
            <a:pPr lvl="3"/>
            <a:r>
              <a:rPr lang="en-IN" sz="1800" dirty="0">
                <a:latin typeface="Proxima Nova" panose="020B0604020202020204"/>
                <a:ea typeface="Cambria" panose="02040503050406030204" pitchFamily="18" charset="0"/>
              </a:rPr>
              <a:t>.flex-container {</a:t>
            </a:r>
          </a:p>
          <a:p>
            <a:pPr lvl="3"/>
            <a:r>
              <a:rPr lang="en-IN" sz="1800" dirty="0">
                <a:latin typeface="Proxima Nova" panose="020B0604020202020204"/>
                <a:ea typeface="Cambria" panose="02040503050406030204" pitchFamily="18" charset="0"/>
              </a:rPr>
              <a:t>  display: flex;</a:t>
            </a:r>
          </a:p>
          <a:p>
            <a:pPr lvl="3"/>
            <a:r>
              <a:rPr lang="en-IN" sz="1800" dirty="0">
                <a:latin typeface="Proxima Nova" panose="020B0604020202020204"/>
                <a:ea typeface="Cambria" panose="02040503050406030204" pitchFamily="18" charset="0"/>
              </a:rPr>
              <a:t>  height: 600px;</a:t>
            </a:r>
          </a:p>
          <a:p>
            <a:pPr lvl="3"/>
            <a:r>
              <a:rPr lang="en-IN" sz="1800" dirty="0">
                <a:latin typeface="Proxima Nova" panose="020B0604020202020204"/>
                <a:ea typeface="Cambria" panose="02040503050406030204" pitchFamily="18" charset="0"/>
              </a:rPr>
              <a:t>  flex-wrap: wrap;</a:t>
            </a:r>
          </a:p>
          <a:p>
            <a:pPr lvl="3"/>
            <a:r>
              <a:rPr lang="en-IN" sz="1800" dirty="0">
                <a:latin typeface="Proxima Nova" panose="020B0604020202020204"/>
                <a:ea typeface="Cambria" panose="02040503050406030204" pitchFamily="18" charset="0"/>
              </a:rPr>
              <a:t>  align-content: flex-end;</a:t>
            </a:r>
          </a:p>
          <a:p>
            <a:pPr lvl="3"/>
            <a:r>
              <a:rPr lang="en-IN" sz="1800" dirty="0">
                <a:latin typeface="Proxima Nova" panose="020B0604020202020204"/>
                <a:ea typeface="Cambria" panose="02040503050406030204" pitchFamily="18" charset="0"/>
              </a:rPr>
              <a:t>  overflow: scroll;  </a:t>
            </a:r>
          </a:p>
          <a:p>
            <a:pPr lvl="3"/>
            <a:r>
              <a:rPr lang="en-IN" sz="1800" dirty="0">
                <a:latin typeface="Proxima Nova" panose="020B0604020202020204"/>
                <a:ea typeface="Cambria" panose="02040503050406030204" pitchFamily="18" charset="0"/>
              </a:rPr>
              <a:t>  background-</a:t>
            </a:r>
            <a:r>
              <a:rPr lang="en-IN" sz="1800" dirty="0" err="1">
                <a:latin typeface="Proxima Nova" panose="020B0604020202020204"/>
                <a:ea typeface="Cambria" panose="02040503050406030204" pitchFamily="18" charset="0"/>
              </a:rPr>
              <a:t>color</a:t>
            </a:r>
            <a:r>
              <a:rPr lang="en-IN" sz="1800" dirty="0">
                <a:latin typeface="Proxima Nova" panose="020B0604020202020204"/>
                <a:ea typeface="Cambria" panose="02040503050406030204" pitchFamily="18" charset="0"/>
              </a:rPr>
              <a:t>: </a:t>
            </a:r>
            <a:r>
              <a:rPr lang="en-IN" sz="1800" dirty="0" err="1">
                <a:latin typeface="Proxima Nova" panose="020B0604020202020204"/>
                <a:ea typeface="Cambria" panose="02040503050406030204" pitchFamily="18" charset="0"/>
              </a:rPr>
              <a:t>DodgerBlue</a:t>
            </a:r>
            <a:r>
              <a:rPr lang="en-IN" sz="1800" dirty="0">
                <a:latin typeface="Proxima Nova" panose="020B0604020202020204"/>
                <a:ea typeface="Cambria" panose="02040503050406030204" pitchFamily="18" charset="0"/>
              </a:rPr>
              <a:t>;</a:t>
            </a:r>
          </a:p>
          <a:p>
            <a:pPr lvl="3"/>
            <a:r>
              <a:rPr lang="en-IN" sz="1800" dirty="0">
                <a:latin typeface="Proxima Nova" panose="020B0604020202020204"/>
                <a:ea typeface="Cambria" panose="02040503050406030204" pitchFamily="18" charset="0"/>
              </a:rPr>
              <a:t>}</a:t>
            </a:r>
          </a:p>
        </p:txBody>
      </p:sp>
      <p:pic>
        <p:nvPicPr>
          <p:cNvPr id="6" name="Picture 5">
            <a:extLst>
              <a:ext uri="{FF2B5EF4-FFF2-40B4-BE49-F238E27FC236}">
                <a16:creationId xmlns:a16="http://schemas.microsoft.com/office/drawing/2014/main" id="{A7C88FEC-FF86-6C87-BFA9-55687094D565}"/>
              </a:ext>
            </a:extLst>
          </p:cNvPr>
          <p:cNvPicPr>
            <a:picLocks noChangeAspect="1"/>
          </p:cNvPicPr>
          <p:nvPr/>
        </p:nvPicPr>
        <p:blipFill>
          <a:blip r:embed="rId2"/>
          <a:stretch>
            <a:fillRect/>
          </a:stretch>
        </p:blipFill>
        <p:spPr>
          <a:xfrm>
            <a:off x="5473831" y="1243013"/>
            <a:ext cx="4381500" cy="3919538"/>
          </a:xfrm>
          <a:prstGeom prst="rect">
            <a:avLst/>
          </a:prstGeom>
          <a:ln w="19050">
            <a:solidFill>
              <a:schemeClr val="tx1"/>
            </a:solidFill>
          </a:ln>
        </p:spPr>
      </p:pic>
    </p:spTree>
    <p:extLst>
      <p:ext uri="{BB962C8B-B14F-4D97-AF65-F5344CB8AC3E}">
        <p14:creationId xmlns:p14="http://schemas.microsoft.com/office/powerpoint/2010/main" val="128249344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24FE8-BF3B-ED34-607A-B0F629F8173D}"/>
              </a:ext>
            </a:extLst>
          </p:cNvPr>
          <p:cNvSpPr>
            <a:spLocks noGrp="1"/>
          </p:cNvSpPr>
          <p:nvPr>
            <p:ph type="title"/>
          </p:nvPr>
        </p:nvSpPr>
        <p:spPr/>
        <p:txBody>
          <a:bodyPr/>
          <a:lstStyle/>
          <a:p>
            <a:r>
              <a:rPr lang="en-IN" dirty="0"/>
              <a:t>CSS Flex Items</a:t>
            </a:r>
            <a:br>
              <a:rPr lang="en-IN" dirty="0"/>
            </a:br>
            <a:endParaRPr lang="en-IN" dirty="0"/>
          </a:p>
        </p:txBody>
      </p:sp>
      <p:graphicFrame>
        <p:nvGraphicFramePr>
          <p:cNvPr id="4" name="Content Placeholder 3">
            <a:extLst>
              <a:ext uri="{FF2B5EF4-FFF2-40B4-BE49-F238E27FC236}">
                <a16:creationId xmlns:a16="http://schemas.microsoft.com/office/drawing/2014/main" id="{ED4F46DB-9C06-92B8-8FCF-674479E25BCB}"/>
              </a:ext>
            </a:extLst>
          </p:cNvPr>
          <p:cNvGraphicFramePr>
            <a:graphicFrameLocks noGrp="1"/>
          </p:cNvGraphicFramePr>
          <p:nvPr>
            <p:ph idx="1"/>
            <p:extLst>
              <p:ext uri="{D42A27DB-BD31-4B8C-83A1-F6EECF244321}">
                <p14:modId xmlns:p14="http://schemas.microsoft.com/office/powerpoint/2010/main" val="3658054455"/>
              </p:ext>
            </p:extLst>
          </p:nvPr>
        </p:nvGraphicFramePr>
        <p:xfrm>
          <a:off x="423863" y="1252538"/>
          <a:ext cx="11293475" cy="4352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227024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BC078-DD7F-1246-B9AC-E6249A59EC92}"/>
              </a:ext>
            </a:extLst>
          </p:cNvPr>
          <p:cNvSpPr>
            <a:spLocks noGrp="1"/>
          </p:cNvSpPr>
          <p:nvPr>
            <p:ph type="title"/>
          </p:nvPr>
        </p:nvSpPr>
        <p:spPr/>
        <p:txBody>
          <a:bodyPr/>
          <a:lstStyle/>
          <a:p>
            <a:r>
              <a:rPr lang="en-IN" dirty="0"/>
              <a:t>The order Property</a:t>
            </a:r>
            <a:br>
              <a:rPr lang="en-IN" dirty="0"/>
            </a:br>
            <a:endParaRPr lang="en-IN" dirty="0"/>
          </a:p>
        </p:txBody>
      </p:sp>
      <p:sp>
        <p:nvSpPr>
          <p:cNvPr id="3" name="Content Placeholder 2">
            <a:extLst>
              <a:ext uri="{FF2B5EF4-FFF2-40B4-BE49-F238E27FC236}">
                <a16:creationId xmlns:a16="http://schemas.microsoft.com/office/drawing/2014/main" id="{D3FDC7C5-D08B-D4A2-ED01-EE697C9299FA}"/>
              </a:ext>
            </a:extLst>
          </p:cNvPr>
          <p:cNvSpPr>
            <a:spLocks noGrp="1"/>
          </p:cNvSpPr>
          <p:nvPr>
            <p:ph idx="1"/>
          </p:nvPr>
        </p:nvSpPr>
        <p:spPr/>
        <p:txBody>
          <a:bodyPr/>
          <a:lstStyle/>
          <a:p>
            <a:r>
              <a:rPr lang="en-US" dirty="0"/>
              <a:t>The order property specifies the order of the flex items.</a:t>
            </a:r>
          </a:p>
          <a:p>
            <a:r>
              <a:rPr lang="en-US" dirty="0"/>
              <a:t>The first flex item in the code does not have to appear as the first item in the layout.</a:t>
            </a:r>
          </a:p>
          <a:p>
            <a:r>
              <a:rPr lang="en-US" dirty="0"/>
              <a:t>The order value must be a number, default value is 0.</a:t>
            </a:r>
            <a:endParaRPr lang="en-IN" dirty="0"/>
          </a:p>
          <a:p>
            <a:endParaRPr lang="en-IN" dirty="0"/>
          </a:p>
        </p:txBody>
      </p:sp>
      <p:sp>
        <p:nvSpPr>
          <p:cNvPr id="5" name="TextBox 4">
            <a:extLst>
              <a:ext uri="{FF2B5EF4-FFF2-40B4-BE49-F238E27FC236}">
                <a16:creationId xmlns:a16="http://schemas.microsoft.com/office/drawing/2014/main" id="{94E40C1C-593A-1FD3-6B3E-CD6B71B81069}"/>
              </a:ext>
            </a:extLst>
          </p:cNvPr>
          <p:cNvSpPr txBox="1"/>
          <p:nvPr/>
        </p:nvSpPr>
        <p:spPr>
          <a:xfrm>
            <a:off x="781050" y="2704743"/>
            <a:ext cx="6096000" cy="4154984"/>
          </a:xfrm>
          <a:prstGeom prst="rect">
            <a:avLst/>
          </a:prstGeom>
          <a:noFill/>
        </p:spPr>
        <p:txBody>
          <a:bodyPr wrap="square">
            <a:spAutoFit/>
          </a:bodyPr>
          <a:lstStyle/>
          <a:p>
            <a:r>
              <a:rPr lang="en-IN" sz="1600" dirty="0">
                <a:latin typeface="Proxima Nova" panose="020B0604020202020204"/>
                <a:ea typeface="Cambria" panose="02040503050406030204" pitchFamily="18" charset="0"/>
              </a:rPr>
              <a:t>&lt;style&gt;</a:t>
            </a:r>
          </a:p>
          <a:p>
            <a:pPr lvl="3"/>
            <a:r>
              <a:rPr lang="en-IN" sz="1600" dirty="0">
                <a:latin typeface="Proxima Nova" panose="020B0604020202020204"/>
                <a:ea typeface="Cambria" panose="02040503050406030204" pitchFamily="18" charset="0"/>
              </a:rPr>
              <a:t>.flex-container {</a:t>
            </a:r>
          </a:p>
          <a:p>
            <a:pPr lvl="3"/>
            <a:r>
              <a:rPr lang="en-IN" sz="1600" dirty="0">
                <a:latin typeface="Proxima Nova" panose="020B0604020202020204"/>
                <a:ea typeface="Cambria" panose="02040503050406030204" pitchFamily="18" charset="0"/>
              </a:rPr>
              <a:t>  display: flex;</a:t>
            </a:r>
          </a:p>
          <a:p>
            <a:pPr lvl="3"/>
            <a:r>
              <a:rPr lang="en-IN" sz="1600" dirty="0">
                <a:latin typeface="Proxima Nova" panose="020B0604020202020204"/>
                <a:ea typeface="Cambria" panose="02040503050406030204" pitchFamily="18" charset="0"/>
              </a:rPr>
              <a:t>  align-items: stretch;</a:t>
            </a:r>
          </a:p>
          <a:p>
            <a:pPr lvl="3"/>
            <a:r>
              <a:rPr lang="en-IN" sz="1600" dirty="0">
                <a:latin typeface="Proxima Nova" panose="020B0604020202020204"/>
                <a:ea typeface="Cambria" panose="02040503050406030204" pitchFamily="18" charset="0"/>
              </a:rPr>
              <a:t>  background-</a:t>
            </a:r>
            <a:r>
              <a:rPr lang="en-IN" sz="1600" dirty="0" err="1">
                <a:latin typeface="Proxima Nova" panose="020B0604020202020204"/>
                <a:ea typeface="Cambria" panose="02040503050406030204" pitchFamily="18" charset="0"/>
              </a:rPr>
              <a:t>color</a:t>
            </a:r>
            <a:r>
              <a:rPr lang="en-IN" sz="1600" dirty="0">
                <a:latin typeface="Proxima Nova" panose="020B0604020202020204"/>
                <a:ea typeface="Cambria" panose="02040503050406030204" pitchFamily="18" charset="0"/>
              </a:rPr>
              <a:t>: #f1f1f1;</a:t>
            </a:r>
          </a:p>
          <a:p>
            <a:pPr lvl="3"/>
            <a:r>
              <a:rPr lang="en-IN" sz="1600" dirty="0">
                <a:latin typeface="Proxima Nova" panose="020B0604020202020204"/>
                <a:ea typeface="Cambria" panose="02040503050406030204" pitchFamily="18" charset="0"/>
              </a:rPr>
              <a:t>}</a:t>
            </a:r>
          </a:p>
          <a:p>
            <a:pPr lvl="3"/>
            <a:r>
              <a:rPr lang="en-IN" sz="1600" dirty="0">
                <a:latin typeface="Proxima Nova" panose="020B0604020202020204"/>
                <a:ea typeface="Cambria" panose="02040503050406030204" pitchFamily="18" charset="0"/>
              </a:rPr>
              <a:t>.flex-container&gt;div {</a:t>
            </a:r>
          </a:p>
          <a:p>
            <a:pPr lvl="3"/>
            <a:r>
              <a:rPr lang="en-IN" sz="1600" dirty="0">
                <a:latin typeface="Proxima Nova" panose="020B0604020202020204"/>
                <a:ea typeface="Cambria" panose="02040503050406030204" pitchFamily="18" charset="0"/>
              </a:rPr>
              <a:t>  background-</a:t>
            </a:r>
            <a:r>
              <a:rPr lang="en-IN" sz="1600" dirty="0" err="1">
                <a:latin typeface="Proxima Nova" panose="020B0604020202020204"/>
                <a:ea typeface="Cambria" panose="02040503050406030204" pitchFamily="18" charset="0"/>
              </a:rPr>
              <a:t>color</a:t>
            </a:r>
            <a:r>
              <a:rPr lang="en-IN" sz="1600" dirty="0">
                <a:latin typeface="Proxima Nova" panose="020B0604020202020204"/>
                <a:ea typeface="Cambria" panose="02040503050406030204" pitchFamily="18" charset="0"/>
              </a:rPr>
              <a:t>: </a:t>
            </a:r>
            <a:r>
              <a:rPr lang="en-IN" sz="1600" dirty="0" err="1">
                <a:latin typeface="Proxima Nova" panose="020B0604020202020204"/>
                <a:ea typeface="Cambria" panose="02040503050406030204" pitchFamily="18" charset="0"/>
              </a:rPr>
              <a:t>DodgerBlue</a:t>
            </a:r>
            <a:r>
              <a:rPr lang="en-IN" sz="1600" dirty="0">
                <a:latin typeface="Proxima Nova" panose="020B0604020202020204"/>
                <a:ea typeface="Cambria" panose="02040503050406030204" pitchFamily="18" charset="0"/>
              </a:rPr>
              <a:t>;</a:t>
            </a:r>
          </a:p>
          <a:p>
            <a:pPr lvl="3"/>
            <a:r>
              <a:rPr lang="en-IN" sz="1600" dirty="0">
                <a:latin typeface="Proxima Nova" panose="020B0604020202020204"/>
                <a:ea typeface="Cambria" panose="02040503050406030204" pitchFamily="18" charset="0"/>
              </a:rPr>
              <a:t>  </a:t>
            </a:r>
            <a:r>
              <a:rPr lang="en-IN" sz="1600" dirty="0" err="1">
                <a:latin typeface="Proxima Nova" panose="020B0604020202020204"/>
                <a:ea typeface="Cambria" panose="02040503050406030204" pitchFamily="18" charset="0"/>
              </a:rPr>
              <a:t>color</a:t>
            </a:r>
            <a:r>
              <a:rPr lang="en-IN" sz="1600" dirty="0">
                <a:latin typeface="Proxima Nova" panose="020B0604020202020204"/>
                <a:ea typeface="Cambria" panose="02040503050406030204" pitchFamily="18" charset="0"/>
              </a:rPr>
              <a:t>: white;</a:t>
            </a:r>
          </a:p>
          <a:p>
            <a:pPr lvl="3"/>
            <a:r>
              <a:rPr lang="en-IN" sz="1600" dirty="0">
                <a:latin typeface="Proxima Nova" panose="020B0604020202020204"/>
                <a:ea typeface="Cambria" panose="02040503050406030204" pitchFamily="18" charset="0"/>
              </a:rPr>
              <a:t>  width: 100px;</a:t>
            </a:r>
          </a:p>
          <a:p>
            <a:pPr lvl="3"/>
            <a:r>
              <a:rPr lang="en-IN" sz="1600" dirty="0">
                <a:latin typeface="Proxima Nova" panose="020B0604020202020204"/>
                <a:ea typeface="Cambria" panose="02040503050406030204" pitchFamily="18" charset="0"/>
              </a:rPr>
              <a:t>  margin: 10px;</a:t>
            </a:r>
          </a:p>
          <a:p>
            <a:pPr lvl="3"/>
            <a:r>
              <a:rPr lang="en-IN" sz="1600" dirty="0">
                <a:latin typeface="Proxima Nova" panose="020B0604020202020204"/>
                <a:ea typeface="Cambria" panose="02040503050406030204" pitchFamily="18" charset="0"/>
              </a:rPr>
              <a:t>  text-align: </a:t>
            </a:r>
            <a:r>
              <a:rPr lang="en-IN" sz="1600" dirty="0" err="1">
                <a:latin typeface="Proxima Nova" panose="020B0604020202020204"/>
                <a:ea typeface="Cambria" panose="02040503050406030204" pitchFamily="18" charset="0"/>
              </a:rPr>
              <a:t>center</a:t>
            </a:r>
            <a:r>
              <a:rPr lang="en-IN" sz="1600" dirty="0">
                <a:latin typeface="Proxima Nova" panose="020B0604020202020204"/>
                <a:ea typeface="Cambria" panose="02040503050406030204" pitchFamily="18" charset="0"/>
              </a:rPr>
              <a:t>;</a:t>
            </a:r>
          </a:p>
          <a:p>
            <a:pPr lvl="3"/>
            <a:r>
              <a:rPr lang="en-IN" sz="1600" dirty="0">
                <a:latin typeface="Proxima Nova" panose="020B0604020202020204"/>
                <a:ea typeface="Cambria" panose="02040503050406030204" pitchFamily="18" charset="0"/>
              </a:rPr>
              <a:t>  line-height: 75px;</a:t>
            </a:r>
          </a:p>
          <a:p>
            <a:pPr lvl="3"/>
            <a:r>
              <a:rPr lang="en-IN" sz="1600" dirty="0">
                <a:latin typeface="Proxima Nova" panose="020B0604020202020204"/>
                <a:ea typeface="Cambria" panose="02040503050406030204" pitchFamily="18" charset="0"/>
              </a:rPr>
              <a:t>  font-size: 30px;</a:t>
            </a:r>
          </a:p>
          <a:p>
            <a:pPr lvl="3"/>
            <a:r>
              <a:rPr lang="en-IN" sz="1600" dirty="0">
                <a:latin typeface="Proxima Nova" panose="020B0604020202020204"/>
                <a:ea typeface="Cambria" panose="02040503050406030204" pitchFamily="18" charset="0"/>
              </a:rPr>
              <a:t>}</a:t>
            </a:r>
          </a:p>
          <a:p>
            <a:r>
              <a:rPr lang="en-IN" sz="1600" dirty="0">
                <a:latin typeface="Proxima Nova" panose="020B0604020202020204"/>
                <a:ea typeface="Cambria" panose="02040503050406030204" pitchFamily="18" charset="0"/>
              </a:rPr>
              <a:t>	&lt;/style&gt;</a:t>
            </a:r>
          </a:p>
        </p:txBody>
      </p:sp>
      <p:sp>
        <p:nvSpPr>
          <p:cNvPr id="7" name="TextBox 6">
            <a:extLst>
              <a:ext uri="{FF2B5EF4-FFF2-40B4-BE49-F238E27FC236}">
                <a16:creationId xmlns:a16="http://schemas.microsoft.com/office/drawing/2014/main" id="{C5FACB54-31C4-784A-C26E-FCDB2C321443}"/>
              </a:ext>
            </a:extLst>
          </p:cNvPr>
          <p:cNvSpPr txBox="1"/>
          <p:nvPr/>
        </p:nvSpPr>
        <p:spPr>
          <a:xfrm>
            <a:off x="4924425" y="2769712"/>
            <a:ext cx="6096000" cy="2123658"/>
          </a:xfrm>
          <a:prstGeom prst="rect">
            <a:avLst/>
          </a:prstGeom>
          <a:noFill/>
        </p:spPr>
        <p:txBody>
          <a:bodyPr wrap="square">
            <a:spAutoFit/>
          </a:bodyPr>
          <a:lstStyle/>
          <a:p>
            <a:r>
              <a:rPr lang="en-IN" sz="1600" dirty="0">
                <a:latin typeface="Proxima Nova" panose="020B0604020202020204"/>
                <a:ea typeface="Cambria" panose="02040503050406030204" pitchFamily="18" charset="0"/>
              </a:rPr>
              <a:t>	&lt;body&gt;</a:t>
            </a:r>
          </a:p>
          <a:p>
            <a:pPr lvl="2"/>
            <a:r>
              <a:rPr lang="en-IN" sz="1600" dirty="0">
                <a:latin typeface="Proxima Nova" panose="020B0604020202020204"/>
                <a:ea typeface="Cambria" panose="02040503050406030204" pitchFamily="18" charset="0"/>
              </a:rPr>
              <a:t>&lt;div class="flex-container"&gt;</a:t>
            </a:r>
          </a:p>
          <a:p>
            <a:pPr lvl="3"/>
            <a:r>
              <a:rPr lang="en-IN" sz="1600" dirty="0">
                <a:latin typeface="Proxima Nova" panose="020B0604020202020204"/>
                <a:ea typeface="Cambria" panose="02040503050406030204" pitchFamily="18" charset="0"/>
              </a:rPr>
              <a:t>  &lt;div style="order: 3"&gt;1&lt;/div&gt;</a:t>
            </a:r>
          </a:p>
          <a:p>
            <a:pPr lvl="3"/>
            <a:r>
              <a:rPr lang="en-IN" sz="1600" dirty="0">
                <a:latin typeface="Proxima Nova" panose="020B0604020202020204"/>
                <a:ea typeface="Cambria" panose="02040503050406030204" pitchFamily="18" charset="0"/>
              </a:rPr>
              <a:t>  &lt;div style="order: 2"&gt;2&lt;/div&gt;</a:t>
            </a:r>
          </a:p>
          <a:p>
            <a:pPr lvl="3"/>
            <a:r>
              <a:rPr lang="en-IN" sz="1600" dirty="0">
                <a:latin typeface="Proxima Nova" panose="020B0604020202020204"/>
                <a:ea typeface="Cambria" panose="02040503050406030204" pitchFamily="18" charset="0"/>
              </a:rPr>
              <a:t>  &lt;div style="order: 4"&gt;3&lt;/div&gt; </a:t>
            </a:r>
          </a:p>
          <a:p>
            <a:pPr lvl="3"/>
            <a:r>
              <a:rPr lang="en-IN" sz="1600" dirty="0">
                <a:latin typeface="Proxima Nova" panose="020B0604020202020204"/>
                <a:ea typeface="Cambria" panose="02040503050406030204" pitchFamily="18" charset="0"/>
              </a:rPr>
              <a:t>  &lt;div style="order: 1"&gt;4&lt;/div&gt;</a:t>
            </a:r>
          </a:p>
          <a:p>
            <a:pPr lvl="2"/>
            <a:r>
              <a:rPr lang="en-IN" sz="1600" dirty="0">
                <a:latin typeface="Proxima Nova" panose="020B0604020202020204"/>
                <a:ea typeface="Cambria" panose="02040503050406030204" pitchFamily="18" charset="0"/>
              </a:rPr>
              <a:t>&lt;/div&gt;</a:t>
            </a:r>
          </a:p>
          <a:p>
            <a:r>
              <a:rPr lang="en-IN" sz="1600" dirty="0">
                <a:latin typeface="Proxima Nova" panose="020B0604020202020204"/>
                <a:ea typeface="Cambria" panose="02040503050406030204" pitchFamily="18" charset="0"/>
              </a:rPr>
              <a:t>	&lt;/body&gt;</a:t>
            </a:r>
          </a:p>
        </p:txBody>
      </p:sp>
      <p:pic>
        <p:nvPicPr>
          <p:cNvPr id="8" name="Picture 7">
            <a:extLst>
              <a:ext uri="{FF2B5EF4-FFF2-40B4-BE49-F238E27FC236}">
                <a16:creationId xmlns:a16="http://schemas.microsoft.com/office/drawing/2014/main" id="{E4F344A6-C9C4-7E18-A899-8B3E8E602E18}"/>
              </a:ext>
            </a:extLst>
          </p:cNvPr>
          <p:cNvPicPr>
            <a:picLocks noChangeAspect="1"/>
          </p:cNvPicPr>
          <p:nvPr/>
        </p:nvPicPr>
        <p:blipFill>
          <a:blip r:embed="rId2"/>
          <a:stretch>
            <a:fillRect/>
          </a:stretch>
        </p:blipFill>
        <p:spPr>
          <a:xfrm>
            <a:off x="5086350" y="5103109"/>
            <a:ext cx="5934075" cy="1438275"/>
          </a:xfrm>
          <a:prstGeom prst="rect">
            <a:avLst/>
          </a:prstGeom>
          <a:ln w="19050">
            <a:solidFill>
              <a:schemeClr val="tx1"/>
            </a:solidFill>
          </a:ln>
        </p:spPr>
      </p:pic>
    </p:spTree>
    <p:extLst>
      <p:ext uri="{BB962C8B-B14F-4D97-AF65-F5344CB8AC3E}">
        <p14:creationId xmlns:p14="http://schemas.microsoft.com/office/powerpoint/2010/main" val="41303363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AD2C3-B58F-8637-2C0E-0B97301A9F9E}"/>
              </a:ext>
            </a:extLst>
          </p:cNvPr>
          <p:cNvSpPr>
            <a:spLocks noGrp="1"/>
          </p:cNvSpPr>
          <p:nvPr>
            <p:ph type="title"/>
          </p:nvPr>
        </p:nvSpPr>
        <p:spPr/>
        <p:txBody>
          <a:bodyPr/>
          <a:lstStyle/>
          <a:p>
            <a:r>
              <a:rPr lang="en-IN" dirty="0"/>
              <a:t>The flex-grow Property</a:t>
            </a:r>
            <a:br>
              <a:rPr lang="en-IN" dirty="0"/>
            </a:br>
            <a:endParaRPr lang="en-IN" dirty="0"/>
          </a:p>
        </p:txBody>
      </p:sp>
      <p:sp>
        <p:nvSpPr>
          <p:cNvPr id="3" name="Content Placeholder 2">
            <a:extLst>
              <a:ext uri="{FF2B5EF4-FFF2-40B4-BE49-F238E27FC236}">
                <a16:creationId xmlns:a16="http://schemas.microsoft.com/office/drawing/2014/main" id="{79F2D817-203C-53D0-8470-5873FF97ADA8}"/>
              </a:ext>
            </a:extLst>
          </p:cNvPr>
          <p:cNvSpPr>
            <a:spLocks noGrp="1"/>
          </p:cNvSpPr>
          <p:nvPr>
            <p:ph idx="1"/>
          </p:nvPr>
        </p:nvSpPr>
        <p:spPr/>
        <p:txBody>
          <a:bodyPr/>
          <a:lstStyle/>
          <a:p>
            <a:r>
              <a:rPr lang="en-US" dirty="0"/>
              <a:t>The flex-grow property specifies how much a flex item will grow relative to the rest of the flex items.</a:t>
            </a:r>
          </a:p>
          <a:p>
            <a:r>
              <a:rPr lang="en-US" dirty="0"/>
              <a:t>The value must be a number, default value is 0.</a:t>
            </a:r>
            <a:endParaRPr lang="en-IN" dirty="0"/>
          </a:p>
          <a:p>
            <a:endParaRPr lang="en-IN" dirty="0"/>
          </a:p>
        </p:txBody>
      </p:sp>
      <p:sp>
        <p:nvSpPr>
          <p:cNvPr id="5" name="TextBox 4">
            <a:extLst>
              <a:ext uri="{FF2B5EF4-FFF2-40B4-BE49-F238E27FC236}">
                <a16:creationId xmlns:a16="http://schemas.microsoft.com/office/drawing/2014/main" id="{B0B3F524-B3C5-E9B3-6E52-26E4AC51BAC9}"/>
              </a:ext>
            </a:extLst>
          </p:cNvPr>
          <p:cNvSpPr txBox="1"/>
          <p:nvPr/>
        </p:nvSpPr>
        <p:spPr>
          <a:xfrm>
            <a:off x="-247650" y="2318088"/>
            <a:ext cx="6096000" cy="2031325"/>
          </a:xfrm>
          <a:prstGeom prst="rect">
            <a:avLst/>
          </a:prstGeom>
          <a:noFill/>
        </p:spPr>
        <p:txBody>
          <a:bodyPr wrap="square">
            <a:spAutoFit/>
          </a:bodyPr>
          <a:lstStyle/>
          <a:p>
            <a:r>
              <a:rPr lang="en-IN" dirty="0">
                <a:latin typeface="Proxima Nova" panose="020B0604020202020204"/>
                <a:ea typeface="Cambria" panose="02040503050406030204" pitchFamily="18" charset="0"/>
              </a:rPr>
              <a:t>	&lt;body&gt;</a:t>
            </a:r>
          </a:p>
          <a:p>
            <a:pPr lvl="2"/>
            <a:r>
              <a:rPr lang="en-IN" dirty="0">
                <a:latin typeface="Proxima Nova" panose="020B0604020202020204"/>
                <a:ea typeface="Cambria" panose="02040503050406030204" pitchFamily="18" charset="0"/>
              </a:rPr>
              <a:t>&lt;div class="flex-container"&gt;</a:t>
            </a:r>
          </a:p>
          <a:p>
            <a:pPr lvl="3"/>
            <a:r>
              <a:rPr lang="en-IN" dirty="0">
                <a:latin typeface="Proxima Nova" panose="020B0604020202020204"/>
                <a:ea typeface="Cambria" panose="02040503050406030204" pitchFamily="18" charset="0"/>
              </a:rPr>
              <a:t>  </a:t>
            </a:r>
            <a:r>
              <a:rPr lang="en-US" dirty="0">
                <a:latin typeface="Proxima Nova" panose="020B0604020202020204"/>
                <a:ea typeface="Cambria" panose="02040503050406030204" pitchFamily="18" charset="0"/>
              </a:rPr>
              <a:t>&lt;div style="flex-grow: 1"&gt;1&lt;/div&gt;</a:t>
            </a:r>
          </a:p>
          <a:p>
            <a:pPr lvl="3"/>
            <a:r>
              <a:rPr lang="en-US" dirty="0">
                <a:latin typeface="Proxima Nova" panose="020B0604020202020204"/>
                <a:ea typeface="Cambria" panose="02040503050406030204" pitchFamily="18" charset="0"/>
              </a:rPr>
              <a:t>  &lt;div style="flex-grow: 1"&gt;2&lt;/div&gt;</a:t>
            </a:r>
          </a:p>
          <a:p>
            <a:pPr lvl="3"/>
            <a:r>
              <a:rPr lang="en-US" dirty="0">
                <a:latin typeface="Proxima Nova" panose="020B0604020202020204"/>
                <a:ea typeface="Cambria" panose="02040503050406030204" pitchFamily="18" charset="0"/>
              </a:rPr>
              <a:t>  &lt;div style="flex-grow: 8"&gt;3&lt;/div&gt;</a:t>
            </a:r>
          </a:p>
          <a:p>
            <a:pPr lvl="3"/>
            <a:r>
              <a:rPr lang="en-IN" dirty="0">
                <a:latin typeface="Proxima Nova" panose="020B0604020202020204"/>
                <a:ea typeface="Cambria" panose="02040503050406030204" pitchFamily="18" charset="0"/>
              </a:rPr>
              <a:t>&lt;/div&gt;</a:t>
            </a:r>
          </a:p>
          <a:p>
            <a:r>
              <a:rPr lang="en-IN" dirty="0">
                <a:latin typeface="Proxima Nova" panose="020B0604020202020204"/>
                <a:ea typeface="Cambria" panose="02040503050406030204" pitchFamily="18" charset="0"/>
              </a:rPr>
              <a:t>	&lt;/body&gt;</a:t>
            </a:r>
          </a:p>
        </p:txBody>
      </p:sp>
      <p:pic>
        <p:nvPicPr>
          <p:cNvPr id="6" name="Picture 5">
            <a:extLst>
              <a:ext uri="{FF2B5EF4-FFF2-40B4-BE49-F238E27FC236}">
                <a16:creationId xmlns:a16="http://schemas.microsoft.com/office/drawing/2014/main" id="{A5126763-A8B2-5006-8AD2-75FCDF0AA686}"/>
              </a:ext>
            </a:extLst>
          </p:cNvPr>
          <p:cNvPicPr>
            <a:picLocks noChangeAspect="1"/>
          </p:cNvPicPr>
          <p:nvPr/>
        </p:nvPicPr>
        <p:blipFill>
          <a:blip r:embed="rId2"/>
          <a:stretch>
            <a:fillRect/>
          </a:stretch>
        </p:blipFill>
        <p:spPr>
          <a:xfrm>
            <a:off x="757943" y="4633912"/>
            <a:ext cx="6677025" cy="1381125"/>
          </a:xfrm>
          <a:prstGeom prst="rect">
            <a:avLst/>
          </a:prstGeom>
          <a:ln w="19050">
            <a:solidFill>
              <a:schemeClr val="tx1"/>
            </a:solidFill>
          </a:ln>
        </p:spPr>
      </p:pic>
    </p:spTree>
    <p:extLst>
      <p:ext uri="{BB962C8B-B14F-4D97-AF65-F5344CB8AC3E}">
        <p14:creationId xmlns:p14="http://schemas.microsoft.com/office/powerpoint/2010/main" val="3614723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93135-1E47-221B-1325-2708AED0E67A}"/>
              </a:ext>
            </a:extLst>
          </p:cNvPr>
          <p:cNvSpPr>
            <a:spLocks noGrp="1"/>
          </p:cNvSpPr>
          <p:nvPr>
            <p:ph type="title"/>
          </p:nvPr>
        </p:nvSpPr>
        <p:spPr/>
        <p:txBody>
          <a:bodyPr/>
          <a:lstStyle/>
          <a:p>
            <a:r>
              <a:rPr lang="en-IN" dirty="0"/>
              <a:t>The flex-shrink Property</a:t>
            </a:r>
            <a:br>
              <a:rPr lang="en-IN" dirty="0"/>
            </a:br>
            <a:endParaRPr lang="en-IN" dirty="0"/>
          </a:p>
        </p:txBody>
      </p:sp>
      <p:sp>
        <p:nvSpPr>
          <p:cNvPr id="3" name="Content Placeholder 2">
            <a:extLst>
              <a:ext uri="{FF2B5EF4-FFF2-40B4-BE49-F238E27FC236}">
                <a16:creationId xmlns:a16="http://schemas.microsoft.com/office/drawing/2014/main" id="{00FC7A89-F3FA-925D-51F2-E5F24F1F527D}"/>
              </a:ext>
            </a:extLst>
          </p:cNvPr>
          <p:cNvSpPr>
            <a:spLocks noGrp="1"/>
          </p:cNvSpPr>
          <p:nvPr>
            <p:ph idx="1"/>
          </p:nvPr>
        </p:nvSpPr>
        <p:spPr/>
        <p:txBody>
          <a:bodyPr/>
          <a:lstStyle/>
          <a:p>
            <a:r>
              <a:rPr lang="en-US" dirty="0"/>
              <a:t>The flex-shrink property specifies how much a flex item will shrink relative to the rest of the flex items.</a:t>
            </a:r>
          </a:p>
          <a:p>
            <a:r>
              <a:rPr lang="en-US" dirty="0"/>
              <a:t>The value must be a number, default value is 1.</a:t>
            </a:r>
            <a:endParaRPr lang="en-IN" dirty="0"/>
          </a:p>
          <a:p>
            <a:endParaRPr lang="en-IN" dirty="0"/>
          </a:p>
        </p:txBody>
      </p:sp>
      <p:sp>
        <p:nvSpPr>
          <p:cNvPr id="5" name="TextBox 4">
            <a:extLst>
              <a:ext uri="{FF2B5EF4-FFF2-40B4-BE49-F238E27FC236}">
                <a16:creationId xmlns:a16="http://schemas.microsoft.com/office/drawing/2014/main" id="{77BC72D0-205D-509A-EBC8-2DCC452015BF}"/>
              </a:ext>
            </a:extLst>
          </p:cNvPr>
          <p:cNvSpPr txBox="1"/>
          <p:nvPr/>
        </p:nvSpPr>
        <p:spPr>
          <a:xfrm>
            <a:off x="714375" y="2426464"/>
            <a:ext cx="6096000" cy="2862322"/>
          </a:xfrm>
          <a:prstGeom prst="rect">
            <a:avLst/>
          </a:prstGeom>
          <a:noFill/>
        </p:spPr>
        <p:txBody>
          <a:bodyPr wrap="square">
            <a:spAutoFit/>
          </a:bodyPr>
          <a:lstStyle/>
          <a:p>
            <a:r>
              <a:rPr lang="en-IN" dirty="0">
                <a:latin typeface="Proxima Nova" panose="020B0604020202020204"/>
                <a:ea typeface="Cambria" panose="02040503050406030204" pitchFamily="18" charset="0"/>
              </a:rPr>
              <a:t>&lt;body&gt;</a:t>
            </a:r>
          </a:p>
          <a:p>
            <a:pPr lvl="2"/>
            <a:r>
              <a:rPr lang="en-IN" dirty="0">
                <a:latin typeface="Proxima Nova" panose="020B0604020202020204"/>
                <a:ea typeface="Cambria" panose="02040503050406030204" pitchFamily="18" charset="0"/>
              </a:rPr>
              <a:t>&lt;div class="flex-container"&gt;</a:t>
            </a:r>
          </a:p>
          <a:p>
            <a:pPr lvl="3"/>
            <a:r>
              <a:rPr lang="en-US" dirty="0">
                <a:latin typeface="Proxima Nova" panose="020B0604020202020204"/>
                <a:ea typeface="Cambria" panose="02040503050406030204" pitchFamily="18" charset="0"/>
              </a:rPr>
              <a:t>&lt;div&gt;1&lt;/div&gt;</a:t>
            </a:r>
          </a:p>
          <a:p>
            <a:pPr lvl="3"/>
            <a:r>
              <a:rPr lang="en-US" dirty="0">
                <a:latin typeface="Proxima Nova" panose="020B0604020202020204"/>
                <a:ea typeface="Cambria" panose="02040503050406030204" pitchFamily="18" charset="0"/>
              </a:rPr>
              <a:t>  &lt;div&gt;2&lt;/div&gt;</a:t>
            </a:r>
          </a:p>
          <a:p>
            <a:pPr lvl="3"/>
            <a:r>
              <a:rPr lang="en-US" dirty="0">
                <a:latin typeface="Proxima Nova" panose="020B0604020202020204"/>
                <a:ea typeface="Cambria" panose="02040503050406030204" pitchFamily="18" charset="0"/>
              </a:rPr>
              <a:t>  &lt;div style="flex-shrink: 0"&gt;3&lt;/div&gt;</a:t>
            </a:r>
          </a:p>
          <a:p>
            <a:pPr lvl="3"/>
            <a:r>
              <a:rPr lang="en-US" dirty="0">
                <a:latin typeface="Proxima Nova" panose="020B0604020202020204"/>
                <a:ea typeface="Cambria" panose="02040503050406030204" pitchFamily="18" charset="0"/>
              </a:rPr>
              <a:t>  &lt;div&gt;4&lt;/div&gt;</a:t>
            </a:r>
          </a:p>
          <a:p>
            <a:pPr lvl="3"/>
            <a:r>
              <a:rPr lang="en-US" dirty="0">
                <a:latin typeface="Proxima Nova" panose="020B0604020202020204"/>
                <a:ea typeface="Cambria" panose="02040503050406030204" pitchFamily="18" charset="0"/>
              </a:rPr>
              <a:t>  &lt;div&gt;5&lt;/div&gt;</a:t>
            </a:r>
          </a:p>
          <a:p>
            <a:pPr lvl="3"/>
            <a:r>
              <a:rPr lang="en-US" dirty="0">
                <a:latin typeface="Proxima Nova" panose="020B0604020202020204"/>
                <a:ea typeface="Cambria" panose="02040503050406030204" pitchFamily="18" charset="0"/>
              </a:rPr>
              <a:t>  &lt;div&gt;6&lt;/div&gt;</a:t>
            </a:r>
          </a:p>
          <a:p>
            <a:pPr lvl="3"/>
            <a:r>
              <a:rPr lang="en-IN" dirty="0">
                <a:latin typeface="Proxima Nova" panose="020B0604020202020204"/>
                <a:ea typeface="Cambria" panose="02040503050406030204" pitchFamily="18" charset="0"/>
              </a:rPr>
              <a:t>&lt;/div&gt;</a:t>
            </a:r>
          </a:p>
          <a:p>
            <a:r>
              <a:rPr lang="en-IN" dirty="0">
                <a:latin typeface="Proxima Nova" panose="020B0604020202020204"/>
                <a:ea typeface="Cambria" panose="02040503050406030204" pitchFamily="18" charset="0"/>
              </a:rPr>
              <a:t>	&lt;/body&gt;</a:t>
            </a:r>
          </a:p>
        </p:txBody>
      </p:sp>
      <p:pic>
        <p:nvPicPr>
          <p:cNvPr id="6" name="Picture 5">
            <a:extLst>
              <a:ext uri="{FF2B5EF4-FFF2-40B4-BE49-F238E27FC236}">
                <a16:creationId xmlns:a16="http://schemas.microsoft.com/office/drawing/2014/main" id="{396DD9D2-A479-625A-6D6D-459E6B2119D8}"/>
              </a:ext>
            </a:extLst>
          </p:cNvPr>
          <p:cNvPicPr>
            <a:picLocks noChangeAspect="1"/>
          </p:cNvPicPr>
          <p:nvPr/>
        </p:nvPicPr>
        <p:blipFill>
          <a:blip r:embed="rId2"/>
          <a:stretch>
            <a:fillRect/>
          </a:stretch>
        </p:blipFill>
        <p:spPr>
          <a:xfrm>
            <a:off x="3993205" y="5106594"/>
            <a:ext cx="3571875" cy="1476375"/>
          </a:xfrm>
          <a:prstGeom prst="rect">
            <a:avLst/>
          </a:prstGeom>
          <a:ln w="19050">
            <a:solidFill>
              <a:schemeClr val="tx1"/>
            </a:solidFill>
          </a:ln>
        </p:spPr>
      </p:pic>
    </p:spTree>
    <p:extLst>
      <p:ext uri="{BB962C8B-B14F-4D97-AF65-F5344CB8AC3E}">
        <p14:creationId xmlns:p14="http://schemas.microsoft.com/office/powerpoint/2010/main" val="39667041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82C84-8AA8-949D-7949-AC9F1C43848B}"/>
              </a:ext>
            </a:extLst>
          </p:cNvPr>
          <p:cNvSpPr>
            <a:spLocks noGrp="1"/>
          </p:cNvSpPr>
          <p:nvPr>
            <p:ph type="title"/>
          </p:nvPr>
        </p:nvSpPr>
        <p:spPr/>
        <p:txBody>
          <a:bodyPr/>
          <a:lstStyle/>
          <a:p>
            <a:r>
              <a:rPr lang="en-IN" dirty="0"/>
              <a:t>The flex-basis Property</a:t>
            </a:r>
            <a:br>
              <a:rPr lang="en-IN" dirty="0"/>
            </a:br>
            <a:endParaRPr lang="en-IN" dirty="0"/>
          </a:p>
        </p:txBody>
      </p:sp>
      <p:sp>
        <p:nvSpPr>
          <p:cNvPr id="3" name="Content Placeholder 2">
            <a:extLst>
              <a:ext uri="{FF2B5EF4-FFF2-40B4-BE49-F238E27FC236}">
                <a16:creationId xmlns:a16="http://schemas.microsoft.com/office/drawing/2014/main" id="{1D18962A-172F-9236-3C89-FB776166BFEF}"/>
              </a:ext>
            </a:extLst>
          </p:cNvPr>
          <p:cNvSpPr>
            <a:spLocks noGrp="1"/>
          </p:cNvSpPr>
          <p:nvPr>
            <p:ph idx="1"/>
          </p:nvPr>
        </p:nvSpPr>
        <p:spPr/>
        <p:txBody>
          <a:bodyPr/>
          <a:lstStyle/>
          <a:p>
            <a:r>
              <a:rPr lang="en-US" dirty="0"/>
              <a:t>The flex-basis property specifies the initial length of a flex item.</a:t>
            </a:r>
          </a:p>
          <a:p>
            <a:r>
              <a:rPr lang="en-US" dirty="0"/>
              <a:t>Set the initial length of the third flex item to 200 pixels</a:t>
            </a:r>
            <a:endParaRPr lang="en-IN" dirty="0"/>
          </a:p>
          <a:p>
            <a:endParaRPr lang="en-IN" dirty="0"/>
          </a:p>
        </p:txBody>
      </p:sp>
      <p:sp>
        <p:nvSpPr>
          <p:cNvPr id="5" name="TextBox 4">
            <a:extLst>
              <a:ext uri="{FF2B5EF4-FFF2-40B4-BE49-F238E27FC236}">
                <a16:creationId xmlns:a16="http://schemas.microsoft.com/office/drawing/2014/main" id="{B439B051-D87F-BFBA-9FC5-DB6F6B348685}"/>
              </a:ext>
            </a:extLst>
          </p:cNvPr>
          <p:cNvSpPr txBox="1"/>
          <p:nvPr/>
        </p:nvSpPr>
        <p:spPr>
          <a:xfrm>
            <a:off x="-276225" y="2408962"/>
            <a:ext cx="6096000" cy="1754326"/>
          </a:xfrm>
          <a:prstGeom prst="rect">
            <a:avLst/>
          </a:prstGeom>
          <a:noFill/>
        </p:spPr>
        <p:txBody>
          <a:bodyPr wrap="square">
            <a:spAutoFit/>
          </a:bodyPr>
          <a:lstStyle/>
          <a:p>
            <a:pPr lvl="2"/>
            <a:r>
              <a:rPr lang="en-IN" dirty="0">
                <a:latin typeface="Proxima Nova" panose="020B0604020202020204"/>
                <a:ea typeface="Cambria" panose="02040503050406030204" pitchFamily="18" charset="0"/>
              </a:rPr>
              <a:t>&lt;div class="flex-container"&gt;</a:t>
            </a:r>
          </a:p>
          <a:p>
            <a:pPr lvl="3"/>
            <a:r>
              <a:rPr lang="en-IN" dirty="0">
                <a:latin typeface="Proxima Nova" panose="020B0604020202020204"/>
                <a:ea typeface="Cambria" panose="02040503050406030204" pitchFamily="18" charset="0"/>
              </a:rPr>
              <a:t>  </a:t>
            </a:r>
            <a:r>
              <a:rPr lang="en-US" dirty="0">
                <a:latin typeface="Proxima Nova" panose="020B0604020202020204"/>
                <a:ea typeface="Cambria" panose="02040503050406030204" pitchFamily="18" charset="0"/>
              </a:rPr>
              <a:t> &lt;div&gt;1&lt;/div&gt;</a:t>
            </a:r>
          </a:p>
          <a:p>
            <a:pPr lvl="3"/>
            <a:r>
              <a:rPr lang="en-US" dirty="0">
                <a:latin typeface="Proxima Nova" panose="020B0604020202020204"/>
                <a:ea typeface="Cambria" panose="02040503050406030204" pitchFamily="18" charset="0"/>
              </a:rPr>
              <a:t>  &lt;div&gt;2&lt;/div&gt;</a:t>
            </a:r>
          </a:p>
          <a:p>
            <a:pPr lvl="3"/>
            <a:r>
              <a:rPr lang="en-US" dirty="0">
                <a:latin typeface="Proxima Nova" panose="020B0604020202020204"/>
                <a:ea typeface="Cambria" panose="02040503050406030204" pitchFamily="18" charset="0"/>
              </a:rPr>
              <a:t>  &lt;div style="flex-basis:200px"&gt;3&lt;/div&gt;</a:t>
            </a:r>
          </a:p>
          <a:p>
            <a:pPr lvl="3"/>
            <a:r>
              <a:rPr lang="en-US" dirty="0">
                <a:latin typeface="Proxima Nova" panose="020B0604020202020204"/>
                <a:ea typeface="Cambria" panose="02040503050406030204" pitchFamily="18" charset="0"/>
              </a:rPr>
              <a:t>  &lt;div&gt;4&lt;/div&gt;</a:t>
            </a:r>
          </a:p>
          <a:p>
            <a:pPr lvl="3"/>
            <a:r>
              <a:rPr lang="en-IN" dirty="0">
                <a:latin typeface="Proxima Nova" panose="020B0604020202020204"/>
                <a:ea typeface="Cambria" panose="02040503050406030204" pitchFamily="18" charset="0"/>
              </a:rPr>
              <a:t>&lt;/div&gt;</a:t>
            </a:r>
          </a:p>
        </p:txBody>
      </p:sp>
      <p:pic>
        <p:nvPicPr>
          <p:cNvPr id="6" name="Picture 5">
            <a:extLst>
              <a:ext uri="{FF2B5EF4-FFF2-40B4-BE49-F238E27FC236}">
                <a16:creationId xmlns:a16="http://schemas.microsoft.com/office/drawing/2014/main" id="{91CCC272-AA54-FF13-7ECD-77766D5321F9}"/>
              </a:ext>
            </a:extLst>
          </p:cNvPr>
          <p:cNvPicPr>
            <a:picLocks noChangeAspect="1"/>
          </p:cNvPicPr>
          <p:nvPr/>
        </p:nvPicPr>
        <p:blipFill>
          <a:blip r:embed="rId2"/>
          <a:stretch>
            <a:fillRect/>
          </a:stretch>
        </p:blipFill>
        <p:spPr>
          <a:xfrm>
            <a:off x="600075" y="4647406"/>
            <a:ext cx="5219700" cy="1343025"/>
          </a:xfrm>
          <a:prstGeom prst="rect">
            <a:avLst/>
          </a:prstGeom>
          <a:ln w="19050">
            <a:solidFill>
              <a:schemeClr val="tx1"/>
            </a:solidFill>
          </a:ln>
        </p:spPr>
      </p:pic>
    </p:spTree>
    <p:extLst>
      <p:ext uri="{BB962C8B-B14F-4D97-AF65-F5344CB8AC3E}">
        <p14:creationId xmlns:p14="http://schemas.microsoft.com/office/powerpoint/2010/main" val="5707651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E0AF3-9C3D-71EF-5C03-C15AD475150D}"/>
              </a:ext>
            </a:extLst>
          </p:cNvPr>
          <p:cNvSpPr>
            <a:spLocks noGrp="1"/>
          </p:cNvSpPr>
          <p:nvPr>
            <p:ph type="title"/>
          </p:nvPr>
        </p:nvSpPr>
        <p:spPr/>
        <p:txBody>
          <a:bodyPr/>
          <a:lstStyle/>
          <a:p>
            <a:r>
              <a:rPr lang="en-IN" dirty="0"/>
              <a:t>The align-self Property</a:t>
            </a:r>
            <a:br>
              <a:rPr lang="en-IN" dirty="0"/>
            </a:br>
            <a:endParaRPr lang="en-IN" dirty="0"/>
          </a:p>
        </p:txBody>
      </p:sp>
      <p:sp>
        <p:nvSpPr>
          <p:cNvPr id="3" name="Content Placeholder 2">
            <a:extLst>
              <a:ext uri="{FF2B5EF4-FFF2-40B4-BE49-F238E27FC236}">
                <a16:creationId xmlns:a16="http://schemas.microsoft.com/office/drawing/2014/main" id="{7B3DFD9D-68D9-F2B1-CB27-5D1DD21E509A}"/>
              </a:ext>
            </a:extLst>
          </p:cNvPr>
          <p:cNvSpPr>
            <a:spLocks noGrp="1"/>
          </p:cNvSpPr>
          <p:nvPr>
            <p:ph idx="1"/>
          </p:nvPr>
        </p:nvSpPr>
        <p:spPr/>
        <p:txBody>
          <a:bodyPr/>
          <a:lstStyle/>
          <a:p>
            <a:r>
              <a:rPr lang="en-US" dirty="0"/>
              <a:t>The align-self property specifies the alignment for the selected item inside the flexible container.</a:t>
            </a:r>
          </a:p>
          <a:p>
            <a:r>
              <a:rPr lang="en-US" dirty="0"/>
              <a:t>The align-self property overrides the default alignment set by the container's align-items property.</a:t>
            </a:r>
          </a:p>
          <a:p>
            <a:r>
              <a:rPr lang="en-US" dirty="0"/>
              <a:t>center</a:t>
            </a:r>
          </a:p>
          <a:p>
            <a:r>
              <a:rPr lang="en-US" dirty="0"/>
              <a:t>flex-start</a:t>
            </a:r>
          </a:p>
          <a:p>
            <a:r>
              <a:rPr lang="en-US" dirty="0"/>
              <a:t>flex-end</a:t>
            </a:r>
            <a:endParaRPr lang="en-IN" dirty="0"/>
          </a:p>
          <a:p>
            <a:endParaRPr lang="en-IN" dirty="0"/>
          </a:p>
        </p:txBody>
      </p:sp>
      <p:sp>
        <p:nvSpPr>
          <p:cNvPr id="5" name="TextBox 4">
            <a:extLst>
              <a:ext uri="{FF2B5EF4-FFF2-40B4-BE49-F238E27FC236}">
                <a16:creationId xmlns:a16="http://schemas.microsoft.com/office/drawing/2014/main" id="{EAD68148-4DC1-DD8D-C9C4-0C15733297F9}"/>
              </a:ext>
            </a:extLst>
          </p:cNvPr>
          <p:cNvSpPr txBox="1"/>
          <p:nvPr/>
        </p:nvSpPr>
        <p:spPr>
          <a:xfrm>
            <a:off x="-133350" y="4008388"/>
            <a:ext cx="6096000" cy="2308324"/>
          </a:xfrm>
          <a:prstGeom prst="rect">
            <a:avLst/>
          </a:prstGeom>
          <a:noFill/>
        </p:spPr>
        <p:txBody>
          <a:bodyPr wrap="square">
            <a:spAutoFit/>
          </a:bodyPr>
          <a:lstStyle/>
          <a:p>
            <a:r>
              <a:rPr lang="en-IN" dirty="0">
                <a:latin typeface="Proxima Nova" panose="020B0604020202020204"/>
                <a:ea typeface="Cambria" panose="02040503050406030204" pitchFamily="18" charset="0"/>
              </a:rPr>
              <a:t>	&lt;body&gt;</a:t>
            </a:r>
          </a:p>
          <a:p>
            <a:pPr lvl="2"/>
            <a:r>
              <a:rPr lang="en-IN" dirty="0">
                <a:latin typeface="Proxima Nova" panose="020B0604020202020204"/>
                <a:ea typeface="Cambria" panose="02040503050406030204" pitchFamily="18" charset="0"/>
              </a:rPr>
              <a:t>&lt;div class="flex-container"&gt;</a:t>
            </a:r>
          </a:p>
          <a:p>
            <a:pPr lvl="3"/>
            <a:r>
              <a:rPr lang="en-US" dirty="0">
                <a:latin typeface="Proxima Nova" panose="020B0604020202020204"/>
                <a:ea typeface="Cambria" panose="02040503050406030204" pitchFamily="18" charset="0"/>
              </a:rPr>
              <a:t>&lt;div&gt;1&lt;/div&gt;</a:t>
            </a:r>
          </a:p>
          <a:p>
            <a:pPr lvl="3"/>
            <a:r>
              <a:rPr lang="en-US" dirty="0">
                <a:latin typeface="Proxima Nova" panose="020B0604020202020204"/>
                <a:ea typeface="Cambria" panose="02040503050406030204" pitchFamily="18" charset="0"/>
              </a:rPr>
              <a:t>  &lt;div&gt;2&lt;/div&gt;</a:t>
            </a:r>
          </a:p>
          <a:p>
            <a:pPr lvl="3"/>
            <a:r>
              <a:rPr lang="en-US" dirty="0">
                <a:latin typeface="Proxima Nova" panose="020B0604020202020204"/>
                <a:ea typeface="Cambria" panose="02040503050406030204" pitchFamily="18" charset="0"/>
              </a:rPr>
              <a:t>  &lt;div style="align-self: center"&gt;3&lt;/div&gt;</a:t>
            </a:r>
          </a:p>
          <a:p>
            <a:pPr lvl="3"/>
            <a:r>
              <a:rPr lang="en-US" dirty="0">
                <a:latin typeface="Proxima Nova" panose="020B0604020202020204"/>
                <a:ea typeface="Cambria" panose="02040503050406030204" pitchFamily="18" charset="0"/>
              </a:rPr>
              <a:t>  &lt;div&gt;4&lt;/div&gt;</a:t>
            </a:r>
          </a:p>
          <a:p>
            <a:pPr lvl="3"/>
            <a:r>
              <a:rPr lang="en-IN" dirty="0">
                <a:latin typeface="Proxima Nova" panose="020B0604020202020204"/>
                <a:ea typeface="Cambria" panose="02040503050406030204" pitchFamily="18" charset="0"/>
              </a:rPr>
              <a:t>&lt;/div&gt;</a:t>
            </a:r>
          </a:p>
          <a:p>
            <a:r>
              <a:rPr lang="en-IN" dirty="0">
                <a:latin typeface="Proxima Nova" panose="020B0604020202020204"/>
                <a:ea typeface="Cambria" panose="02040503050406030204" pitchFamily="18" charset="0"/>
              </a:rPr>
              <a:t>	&lt;/body&gt;</a:t>
            </a:r>
          </a:p>
        </p:txBody>
      </p:sp>
      <p:pic>
        <p:nvPicPr>
          <p:cNvPr id="6" name="Picture 5">
            <a:extLst>
              <a:ext uri="{FF2B5EF4-FFF2-40B4-BE49-F238E27FC236}">
                <a16:creationId xmlns:a16="http://schemas.microsoft.com/office/drawing/2014/main" id="{ED7F679D-7A47-47F1-308E-5A6D5D1E8F5C}"/>
              </a:ext>
            </a:extLst>
          </p:cNvPr>
          <p:cNvPicPr>
            <a:picLocks noChangeAspect="1"/>
          </p:cNvPicPr>
          <p:nvPr/>
        </p:nvPicPr>
        <p:blipFill>
          <a:blip r:embed="rId2"/>
          <a:stretch>
            <a:fillRect/>
          </a:stretch>
        </p:blipFill>
        <p:spPr>
          <a:xfrm>
            <a:off x="5705475" y="2722513"/>
            <a:ext cx="4918603" cy="2571750"/>
          </a:xfrm>
          <a:prstGeom prst="rect">
            <a:avLst/>
          </a:prstGeom>
          <a:ln w="19050">
            <a:solidFill>
              <a:schemeClr val="tx1"/>
            </a:solidFill>
          </a:ln>
        </p:spPr>
      </p:pic>
    </p:spTree>
    <p:extLst>
      <p:ext uri="{BB962C8B-B14F-4D97-AF65-F5344CB8AC3E}">
        <p14:creationId xmlns:p14="http://schemas.microsoft.com/office/powerpoint/2010/main" val="8671546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228C-AF92-CD24-009C-4B66DB18A9E2}"/>
              </a:ext>
            </a:extLst>
          </p:cNvPr>
          <p:cNvSpPr>
            <a:spLocks noGrp="1"/>
          </p:cNvSpPr>
          <p:nvPr>
            <p:ph type="title"/>
          </p:nvPr>
        </p:nvSpPr>
        <p:spPr/>
        <p:txBody>
          <a:bodyPr/>
          <a:lstStyle/>
          <a:p>
            <a:r>
              <a:rPr lang="en-IN" dirty="0"/>
              <a:t>CSS Multi-column Layout</a:t>
            </a:r>
            <a:br>
              <a:rPr lang="en-IN" dirty="0"/>
            </a:br>
            <a:endParaRPr lang="en-IN" dirty="0"/>
          </a:p>
        </p:txBody>
      </p:sp>
      <p:sp>
        <p:nvSpPr>
          <p:cNvPr id="3" name="Content Placeholder 2">
            <a:extLst>
              <a:ext uri="{FF2B5EF4-FFF2-40B4-BE49-F238E27FC236}">
                <a16:creationId xmlns:a16="http://schemas.microsoft.com/office/drawing/2014/main" id="{F9972C06-0857-004B-E72E-956CD9B9855F}"/>
              </a:ext>
            </a:extLst>
          </p:cNvPr>
          <p:cNvSpPr>
            <a:spLocks noGrp="1"/>
          </p:cNvSpPr>
          <p:nvPr>
            <p:ph idx="1"/>
          </p:nvPr>
        </p:nvSpPr>
        <p:spPr>
          <a:xfrm>
            <a:off x="423420" y="1253331"/>
            <a:ext cx="11294097" cy="4814094"/>
          </a:xfrm>
        </p:spPr>
        <p:txBody>
          <a:bodyPr>
            <a:normAutofit/>
          </a:bodyPr>
          <a:lstStyle/>
          <a:p>
            <a:r>
              <a:rPr lang="en-US" dirty="0"/>
              <a:t>There are multiple properties for multi column layout.</a:t>
            </a:r>
          </a:p>
          <a:p>
            <a:r>
              <a:rPr lang="en-US" dirty="0"/>
              <a:t>    column-count</a:t>
            </a:r>
          </a:p>
          <a:p>
            <a:r>
              <a:rPr lang="en-US" dirty="0"/>
              <a:t>    column-gap</a:t>
            </a:r>
          </a:p>
          <a:p>
            <a:r>
              <a:rPr lang="en-US" dirty="0"/>
              <a:t>    column-rule-style</a:t>
            </a:r>
          </a:p>
          <a:p>
            <a:r>
              <a:rPr lang="en-US" dirty="0"/>
              <a:t>    column-rule-width</a:t>
            </a:r>
          </a:p>
          <a:p>
            <a:r>
              <a:rPr lang="en-US" dirty="0"/>
              <a:t>    column-rule-color</a:t>
            </a:r>
          </a:p>
          <a:p>
            <a:r>
              <a:rPr lang="en-US" dirty="0"/>
              <a:t>    column-rule</a:t>
            </a:r>
          </a:p>
          <a:p>
            <a:r>
              <a:rPr lang="en-US" dirty="0"/>
              <a:t>    column-span</a:t>
            </a:r>
          </a:p>
          <a:p>
            <a:r>
              <a:rPr lang="en-US" dirty="0"/>
              <a:t>    column-width</a:t>
            </a:r>
          </a:p>
          <a:p>
            <a:endParaRPr lang="en-IN" dirty="0"/>
          </a:p>
          <a:p>
            <a:endParaRPr lang="en-IN" dirty="0"/>
          </a:p>
        </p:txBody>
      </p:sp>
    </p:spTree>
    <p:extLst>
      <p:ext uri="{BB962C8B-B14F-4D97-AF65-F5344CB8AC3E}">
        <p14:creationId xmlns:p14="http://schemas.microsoft.com/office/powerpoint/2010/main" val="183165151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678FD-7307-317E-F928-EB6F7DE1E2EC}"/>
              </a:ext>
            </a:extLst>
          </p:cNvPr>
          <p:cNvSpPr>
            <a:spLocks noGrp="1"/>
          </p:cNvSpPr>
          <p:nvPr>
            <p:ph type="title"/>
          </p:nvPr>
        </p:nvSpPr>
        <p:spPr/>
        <p:txBody>
          <a:bodyPr/>
          <a:lstStyle/>
          <a:p>
            <a:r>
              <a:rPr lang="en-IN" dirty="0"/>
              <a:t>CSS Multi-column Layout</a:t>
            </a:r>
            <a:br>
              <a:rPr lang="en-IN" dirty="0"/>
            </a:br>
            <a:endParaRPr lang="en-IN" dirty="0"/>
          </a:p>
        </p:txBody>
      </p:sp>
      <p:sp>
        <p:nvSpPr>
          <p:cNvPr id="3" name="Content Placeholder 2">
            <a:extLst>
              <a:ext uri="{FF2B5EF4-FFF2-40B4-BE49-F238E27FC236}">
                <a16:creationId xmlns:a16="http://schemas.microsoft.com/office/drawing/2014/main" id="{D4A07B65-C250-A2F6-53C8-1E090A0A66FB}"/>
              </a:ext>
            </a:extLst>
          </p:cNvPr>
          <p:cNvSpPr>
            <a:spLocks noGrp="1"/>
          </p:cNvSpPr>
          <p:nvPr>
            <p:ph idx="1"/>
          </p:nvPr>
        </p:nvSpPr>
        <p:spPr>
          <a:xfrm>
            <a:off x="423420" y="1253330"/>
            <a:ext cx="11294097" cy="5680869"/>
          </a:xfrm>
        </p:spPr>
        <p:txBody>
          <a:bodyPr>
            <a:normAutofit fontScale="92500" lnSpcReduction="20000"/>
          </a:bodyPr>
          <a:lstStyle/>
          <a:p>
            <a:r>
              <a:rPr lang="en-US" b="1" dirty="0"/>
              <a:t>column-count</a:t>
            </a:r>
          </a:p>
          <a:p>
            <a:r>
              <a:rPr lang="en-US" dirty="0"/>
              <a:t>The column-count property specifies the number of columns an element should be divided into.</a:t>
            </a:r>
          </a:p>
          <a:p>
            <a:r>
              <a:rPr lang="en-US" dirty="0"/>
              <a:t>The following example will divide the text in the &lt;div&gt; element into 3 columns.</a:t>
            </a:r>
          </a:p>
          <a:p>
            <a:r>
              <a:rPr lang="en-IN" dirty="0"/>
              <a:t>div {</a:t>
            </a:r>
          </a:p>
          <a:p>
            <a:r>
              <a:rPr lang="en-IN" dirty="0"/>
              <a:t>  column-count: 3;</a:t>
            </a:r>
          </a:p>
          <a:p>
            <a:r>
              <a:rPr lang="en-IN" dirty="0"/>
              <a:t>}</a:t>
            </a:r>
          </a:p>
          <a:p>
            <a:r>
              <a:rPr lang="en-US" b="1" dirty="0"/>
              <a:t>column-gap</a:t>
            </a:r>
          </a:p>
          <a:p>
            <a:r>
              <a:rPr lang="en-US" dirty="0"/>
              <a:t>The column-gap property specifies the gap between the columns.</a:t>
            </a:r>
          </a:p>
          <a:p>
            <a:r>
              <a:rPr lang="en-US" dirty="0"/>
              <a:t>The following example specifies a 40 pixels gap between the columns.</a:t>
            </a:r>
          </a:p>
          <a:p>
            <a:r>
              <a:rPr lang="en-US" dirty="0"/>
              <a:t>div {</a:t>
            </a:r>
          </a:p>
          <a:p>
            <a:r>
              <a:rPr lang="en-US" dirty="0"/>
              <a:t>  column-gap: 40px;</a:t>
            </a:r>
          </a:p>
          <a:p>
            <a:r>
              <a:rPr lang="en-US" dirty="0"/>
              <a:t>}</a:t>
            </a:r>
          </a:p>
          <a:p>
            <a:endParaRPr lang="en-IN" b="1" dirty="0"/>
          </a:p>
        </p:txBody>
      </p:sp>
    </p:spTree>
    <p:extLst>
      <p:ext uri="{BB962C8B-B14F-4D97-AF65-F5344CB8AC3E}">
        <p14:creationId xmlns:p14="http://schemas.microsoft.com/office/powerpoint/2010/main" val="147365927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A24F4A-3F72-A872-F0ED-79794E47A53A}"/>
              </a:ext>
            </a:extLst>
          </p:cNvPr>
          <p:cNvSpPr>
            <a:spLocks noGrp="1"/>
          </p:cNvSpPr>
          <p:nvPr>
            <p:ph idx="1"/>
          </p:nvPr>
        </p:nvSpPr>
        <p:spPr/>
        <p:txBody>
          <a:bodyPr>
            <a:noAutofit/>
          </a:bodyPr>
          <a:lstStyle/>
          <a:p>
            <a:r>
              <a:rPr lang="en-US" b="1" dirty="0"/>
              <a:t>column-rule-style</a:t>
            </a:r>
          </a:p>
          <a:p>
            <a:r>
              <a:rPr lang="en-US" dirty="0"/>
              <a:t>The column-rule-style property specifies the style of the rule between columns.</a:t>
            </a:r>
          </a:p>
          <a:p>
            <a:r>
              <a:rPr lang="en-IN" dirty="0"/>
              <a:t>div {</a:t>
            </a:r>
          </a:p>
          <a:p>
            <a:r>
              <a:rPr lang="en-IN" dirty="0"/>
              <a:t>  column-rule-style: solid;</a:t>
            </a:r>
          </a:p>
          <a:p>
            <a:r>
              <a:rPr lang="en-IN" dirty="0"/>
              <a:t>}</a:t>
            </a:r>
          </a:p>
          <a:p>
            <a:r>
              <a:rPr lang="en-US" b="1" dirty="0"/>
              <a:t>The column-rule-width:</a:t>
            </a:r>
            <a:endParaRPr lang="en-IN" b="1" dirty="0"/>
          </a:p>
          <a:p>
            <a:r>
              <a:rPr lang="en-US" dirty="0"/>
              <a:t>The column-rule-width property specifies the width of the rule between columns.</a:t>
            </a:r>
          </a:p>
          <a:p>
            <a:r>
              <a:rPr lang="en-US" dirty="0"/>
              <a:t>div {</a:t>
            </a:r>
          </a:p>
          <a:p>
            <a:r>
              <a:rPr lang="en-US" dirty="0"/>
              <a:t>  column-rule-width: 1px;</a:t>
            </a:r>
          </a:p>
          <a:p>
            <a:r>
              <a:rPr lang="en-US" dirty="0"/>
              <a:t>}</a:t>
            </a:r>
            <a:endParaRPr lang="en-IN" dirty="0"/>
          </a:p>
          <a:p>
            <a:endParaRPr lang="en-IN" b="1" dirty="0"/>
          </a:p>
        </p:txBody>
      </p:sp>
      <p:sp>
        <p:nvSpPr>
          <p:cNvPr id="4" name="Title 1">
            <a:extLst>
              <a:ext uri="{FF2B5EF4-FFF2-40B4-BE49-F238E27FC236}">
                <a16:creationId xmlns:a16="http://schemas.microsoft.com/office/drawing/2014/main" id="{5F5B70F8-04B4-DF32-8DFC-7672F0876731}"/>
              </a:ext>
            </a:extLst>
          </p:cNvPr>
          <p:cNvSpPr>
            <a:spLocks noGrp="1"/>
          </p:cNvSpPr>
          <p:nvPr>
            <p:ph type="title"/>
          </p:nvPr>
        </p:nvSpPr>
        <p:spPr>
          <a:xfrm>
            <a:off x="215900" y="136525"/>
            <a:ext cx="10515600" cy="876300"/>
          </a:xfrm>
        </p:spPr>
        <p:txBody>
          <a:bodyPr/>
          <a:lstStyle/>
          <a:p>
            <a:r>
              <a:rPr lang="en-IN" dirty="0"/>
              <a:t>CSS Multi-column Layout</a:t>
            </a:r>
            <a:br>
              <a:rPr lang="en-IN" dirty="0"/>
            </a:br>
            <a:endParaRPr lang="en-IN" dirty="0"/>
          </a:p>
        </p:txBody>
      </p:sp>
    </p:spTree>
    <p:extLst>
      <p:ext uri="{BB962C8B-B14F-4D97-AF65-F5344CB8AC3E}">
        <p14:creationId xmlns:p14="http://schemas.microsoft.com/office/powerpoint/2010/main" val="341303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1DE56-0C53-A1BA-9DE2-425765ED427F}"/>
              </a:ext>
            </a:extLst>
          </p:cNvPr>
          <p:cNvSpPr>
            <a:spLocks noGrp="1"/>
          </p:cNvSpPr>
          <p:nvPr>
            <p:ph idx="1"/>
          </p:nvPr>
        </p:nvSpPr>
        <p:spPr>
          <a:xfrm>
            <a:off x="347220" y="1081880"/>
            <a:ext cx="11294097" cy="5909469"/>
          </a:xfrm>
        </p:spPr>
        <p:txBody>
          <a:bodyPr>
            <a:noAutofit/>
          </a:bodyPr>
          <a:lstStyle/>
          <a:p>
            <a:r>
              <a:rPr lang="en-US" b="1" dirty="0"/>
              <a:t>The column-rule-color:</a:t>
            </a:r>
          </a:p>
          <a:p>
            <a:r>
              <a:rPr lang="en-US" dirty="0"/>
              <a:t>The column-rule-color property specifies the color of the rule between columns.</a:t>
            </a:r>
          </a:p>
          <a:p>
            <a:r>
              <a:rPr lang="en-US" dirty="0"/>
              <a:t>div {</a:t>
            </a:r>
          </a:p>
          <a:p>
            <a:r>
              <a:rPr lang="en-US" dirty="0"/>
              <a:t>  column-rule-color: </a:t>
            </a:r>
            <a:r>
              <a:rPr lang="en-US" dirty="0" err="1"/>
              <a:t>lightblue</a:t>
            </a:r>
            <a:r>
              <a:rPr lang="en-US" dirty="0"/>
              <a:t>;</a:t>
            </a:r>
          </a:p>
          <a:p>
            <a:r>
              <a:rPr lang="en-US" dirty="0"/>
              <a:t>}</a:t>
            </a:r>
          </a:p>
          <a:p>
            <a:r>
              <a:rPr lang="en-US" b="1" dirty="0"/>
              <a:t>The column-rule property:</a:t>
            </a:r>
          </a:p>
          <a:p>
            <a:r>
              <a:rPr lang="en-US" dirty="0"/>
              <a:t>The column-rule property is a shorthand property for setting all the column-rule-* properties above.</a:t>
            </a:r>
          </a:p>
          <a:p>
            <a:r>
              <a:rPr lang="en-US" dirty="0"/>
              <a:t>The following example sets the width, style, and color of the rule between columns.</a:t>
            </a:r>
          </a:p>
          <a:p>
            <a:r>
              <a:rPr lang="en-US" dirty="0"/>
              <a:t>div {</a:t>
            </a:r>
          </a:p>
          <a:p>
            <a:r>
              <a:rPr lang="en-US" dirty="0"/>
              <a:t>  column-rule: 1px solid </a:t>
            </a:r>
            <a:r>
              <a:rPr lang="en-US" dirty="0" err="1"/>
              <a:t>lightblue</a:t>
            </a:r>
            <a:r>
              <a:rPr lang="en-US" dirty="0"/>
              <a:t>;</a:t>
            </a:r>
          </a:p>
          <a:p>
            <a:r>
              <a:rPr lang="en-US" dirty="0"/>
              <a:t>}</a:t>
            </a:r>
            <a:endParaRPr lang="en-IN" dirty="0"/>
          </a:p>
          <a:p>
            <a:endParaRPr lang="en-IN" dirty="0"/>
          </a:p>
        </p:txBody>
      </p:sp>
      <p:sp>
        <p:nvSpPr>
          <p:cNvPr id="4" name="Title 1">
            <a:extLst>
              <a:ext uri="{FF2B5EF4-FFF2-40B4-BE49-F238E27FC236}">
                <a16:creationId xmlns:a16="http://schemas.microsoft.com/office/drawing/2014/main" id="{C40B53D5-B927-041D-A911-B581E07C6394}"/>
              </a:ext>
            </a:extLst>
          </p:cNvPr>
          <p:cNvSpPr>
            <a:spLocks noGrp="1"/>
          </p:cNvSpPr>
          <p:nvPr>
            <p:ph type="title"/>
          </p:nvPr>
        </p:nvSpPr>
        <p:spPr>
          <a:xfrm>
            <a:off x="215900" y="136525"/>
            <a:ext cx="10515600" cy="876300"/>
          </a:xfrm>
        </p:spPr>
        <p:txBody>
          <a:bodyPr/>
          <a:lstStyle/>
          <a:p>
            <a:r>
              <a:rPr lang="en-IN" dirty="0"/>
              <a:t>CSS Multi-column Layout</a:t>
            </a:r>
            <a:br>
              <a:rPr lang="en-IN" dirty="0"/>
            </a:br>
            <a:endParaRPr lang="en-IN" dirty="0"/>
          </a:p>
        </p:txBody>
      </p:sp>
    </p:spTree>
    <p:extLst>
      <p:ext uri="{BB962C8B-B14F-4D97-AF65-F5344CB8AC3E}">
        <p14:creationId xmlns:p14="http://schemas.microsoft.com/office/powerpoint/2010/main" val="1187484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D03050-6431-4B7D-9A68-40C10D1C564E}"/>
              </a:ext>
            </a:extLst>
          </p:cNvPr>
          <p:cNvSpPr>
            <a:spLocks noGrp="1"/>
          </p:cNvSpPr>
          <p:nvPr>
            <p:ph idx="1"/>
          </p:nvPr>
        </p:nvSpPr>
        <p:spPr>
          <a:xfrm>
            <a:off x="337695" y="1012824"/>
            <a:ext cx="11968605" cy="5540375"/>
          </a:xfrm>
        </p:spPr>
        <p:txBody>
          <a:bodyPr>
            <a:noAutofit/>
          </a:bodyPr>
          <a:lstStyle/>
          <a:p>
            <a:r>
              <a:rPr lang="en-US" b="1" dirty="0"/>
              <a:t>column-span</a:t>
            </a:r>
          </a:p>
          <a:p>
            <a:r>
              <a:rPr lang="en-US" dirty="0"/>
              <a:t>The column-span property specifies how many columns an element should span across.</a:t>
            </a:r>
          </a:p>
          <a:p>
            <a:r>
              <a:rPr lang="en-US" dirty="0"/>
              <a:t>The following example specifies that the &lt;h2&gt; element should span across all columns.</a:t>
            </a:r>
          </a:p>
          <a:p>
            <a:pPr>
              <a:lnSpc>
                <a:spcPct val="100000"/>
              </a:lnSpc>
            </a:pPr>
            <a:r>
              <a:rPr lang="en-US" dirty="0"/>
              <a:t>h2 {</a:t>
            </a:r>
          </a:p>
          <a:p>
            <a:pPr>
              <a:lnSpc>
                <a:spcPct val="100000"/>
              </a:lnSpc>
            </a:pPr>
            <a:r>
              <a:rPr lang="en-US" dirty="0"/>
              <a:t>  column-span: all;</a:t>
            </a:r>
          </a:p>
          <a:p>
            <a:pPr>
              <a:lnSpc>
                <a:spcPct val="100000"/>
              </a:lnSpc>
            </a:pPr>
            <a:r>
              <a:rPr lang="en-US" dirty="0"/>
              <a:t>}</a:t>
            </a:r>
          </a:p>
          <a:p>
            <a:r>
              <a:rPr lang="en-IN" b="1" dirty="0"/>
              <a:t>Specify The Column Width</a:t>
            </a:r>
          </a:p>
          <a:p>
            <a:r>
              <a:rPr lang="en-US" dirty="0"/>
              <a:t>The column-width property specifies a suggested, optimal width for the columns.</a:t>
            </a:r>
          </a:p>
          <a:p>
            <a:r>
              <a:rPr lang="en-US" dirty="0"/>
              <a:t>The following example specifies that the suggested, optimal width for the columns should be 100px.</a:t>
            </a:r>
          </a:p>
          <a:p>
            <a:pPr>
              <a:lnSpc>
                <a:spcPct val="100000"/>
              </a:lnSpc>
            </a:pPr>
            <a:r>
              <a:rPr lang="en-IN" dirty="0"/>
              <a:t>div {</a:t>
            </a:r>
          </a:p>
          <a:p>
            <a:pPr>
              <a:lnSpc>
                <a:spcPct val="100000"/>
              </a:lnSpc>
            </a:pPr>
            <a:r>
              <a:rPr lang="en-IN" dirty="0"/>
              <a:t>  column-width: 100px;</a:t>
            </a:r>
          </a:p>
          <a:p>
            <a:pPr>
              <a:lnSpc>
                <a:spcPct val="100000"/>
              </a:lnSpc>
            </a:pPr>
            <a:r>
              <a:rPr lang="en-IN" dirty="0"/>
              <a:t>}</a:t>
            </a:r>
          </a:p>
          <a:p>
            <a:endParaRPr lang="en-IN" b="1" dirty="0"/>
          </a:p>
        </p:txBody>
      </p:sp>
      <p:sp>
        <p:nvSpPr>
          <p:cNvPr id="4" name="Title 1">
            <a:extLst>
              <a:ext uri="{FF2B5EF4-FFF2-40B4-BE49-F238E27FC236}">
                <a16:creationId xmlns:a16="http://schemas.microsoft.com/office/drawing/2014/main" id="{4DA92467-13BF-9127-D0A7-9E714ADB43BA}"/>
              </a:ext>
            </a:extLst>
          </p:cNvPr>
          <p:cNvSpPr>
            <a:spLocks noGrp="1"/>
          </p:cNvSpPr>
          <p:nvPr>
            <p:ph type="title"/>
          </p:nvPr>
        </p:nvSpPr>
        <p:spPr>
          <a:xfrm>
            <a:off x="215900" y="136525"/>
            <a:ext cx="10515600" cy="876300"/>
          </a:xfrm>
        </p:spPr>
        <p:txBody>
          <a:bodyPr/>
          <a:lstStyle/>
          <a:p>
            <a:r>
              <a:rPr lang="en-IN" dirty="0"/>
              <a:t>CSS Multi-column Layout</a:t>
            </a:r>
            <a:br>
              <a:rPr lang="en-IN" dirty="0"/>
            </a:br>
            <a:endParaRPr lang="en-IN" dirty="0"/>
          </a:p>
        </p:txBody>
      </p:sp>
    </p:spTree>
    <p:extLst>
      <p:ext uri="{BB962C8B-B14F-4D97-AF65-F5344CB8AC3E}">
        <p14:creationId xmlns:p14="http://schemas.microsoft.com/office/powerpoint/2010/main" val="124125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D3E427-51A6-C795-60F1-06FD5AF3CD3F}"/>
              </a:ext>
            </a:extLst>
          </p:cNvPr>
          <p:cNvSpPr>
            <a:spLocks noGrp="1"/>
          </p:cNvSpPr>
          <p:nvPr>
            <p:ph type="title"/>
          </p:nvPr>
        </p:nvSpPr>
        <p:spPr>
          <a:xfrm>
            <a:off x="215900" y="136525"/>
            <a:ext cx="10515600" cy="876300"/>
          </a:xfrm>
        </p:spPr>
        <p:txBody>
          <a:bodyPr/>
          <a:lstStyle/>
          <a:p>
            <a:r>
              <a:rPr lang="en-IN" dirty="0"/>
              <a:t>CSS Multi-column Layout</a:t>
            </a:r>
            <a:br>
              <a:rPr lang="en-IN" dirty="0"/>
            </a:br>
            <a:endParaRPr lang="en-IN" dirty="0"/>
          </a:p>
        </p:txBody>
      </p:sp>
      <p:sp>
        <p:nvSpPr>
          <p:cNvPr id="6" name="TextBox 5">
            <a:extLst>
              <a:ext uri="{FF2B5EF4-FFF2-40B4-BE49-F238E27FC236}">
                <a16:creationId xmlns:a16="http://schemas.microsoft.com/office/drawing/2014/main" id="{D8A8C107-26E0-E6CF-FEF5-7A74B9075CFD}"/>
              </a:ext>
            </a:extLst>
          </p:cNvPr>
          <p:cNvSpPr txBox="1"/>
          <p:nvPr/>
        </p:nvSpPr>
        <p:spPr>
          <a:xfrm>
            <a:off x="381000" y="1114068"/>
            <a:ext cx="6096000" cy="5078313"/>
          </a:xfrm>
          <a:prstGeom prst="rect">
            <a:avLst/>
          </a:prstGeom>
          <a:noFill/>
        </p:spPr>
        <p:txBody>
          <a:bodyPr wrap="square">
            <a:spAutoFit/>
          </a:bodyPr>
          <a:lstStyle/>
          <a:p>
            <a:r>
              <a:rPr lang="en-IN" dirty="0">
                <a:latin typeface="Proxima Nova" panose="020B0604020202020204"/>
              </a:rPr>
              <a:t>&lt;!DOCTYPE html&gt;</a:t>
            </a:r>
          </a:p>
          <a:p>
            <a:r>
              <a:rPr lang="en-IN" dirty="0">
                <a:latin typeface="Proxima Nova" panose="020B0604020202020204"/>
              </a:rPr>
              <a:t>&lt;html&gt;</a:t>
            </a:r>
          </a:p>
          <a:p>
            <a:r>
              <a:rPr lang="en-IN" dirty="0">
                <a:latin typeface="Proxima Nova" panose="020B0604020202020204"/>
              </a:rPr>
              <a:t>	&lt;head&gt;</a:t>
            </a:r>
          </a:p>
          <a:p>
            <a:r>
              <a:rPr lang="en-IN" dirty="0">
                <a:latin typeface="Proxima Nova" panose="020B0604020202020204"/>
              </a:rPr>
              <a:t>		&lt;style&gt;</a:t>
            </a:r>
          </a:p>
          <a:p>
            <a:r>
              <a:rPr lang="en-IN" dirty="0">
                <a:latin typeface="Proxima Nova" panose="020B0604020202020204"/>
              </a:rPr>
              <a:t>			div{</a:t>
            </a:r>
          </a:p>
          <a:p>
            <a:r>
              <a:rPr lang="en-IN" dirty="0">
                <a:latin typeface="Proxima Nova" panose="020B0604020202020204"/>
              </a:rPr>
              <a:t>				column-count:4;</a:t>
            </a:r>
          </a:p>
          <a:p>
            <a:r>
              <a:rPr lang="en-IN" dirty="0">
                <a:latin typeface="Proxima Nova" panose="020B0604020202020204"/>
              </a:rPr>
              <a:t>				column-gap:30px;</a:t>
            </a:r>
          </a:p>
          <a:p>
            <a:r>
              <a:rPr lang="en-IN" dirty="0">
                <a:latin typeface="Proxima Nova" panose="020B0604020202020204"/>
              </a:rPr>
              <a:t>				column-rule: solid 5px green;</a:t>
            </a:r>
          </a:p>
          <a:p>
            <a:r>
              <a:rPr lang="en-IN" dirty="0">
                <a:latin typeface="Proxima Nova" panose="020B0604020202020204"/>
              </a:rPr>
              <a:t>				column-width:10px;</a:t>
            </a:r>
          </a:p>
          <a:p>
            <a:r>
              <a:rPr lang="en-IN" dirty="0">
                <a:latin typeface="Proxima Nova" panose="020B0604020202020204"/>
              </a:rPr>
              <a:t>			}</a:t>
            </a:r>
          </a:p>
          <a:p>
            <a:r>
              <a:rPr lang="en-IN" dirty="0">
                <a:latin typeface="Proxima Nova" panose="020B0604020202020204"/>
              </a:rPr>
              <a:t>			h1{</a:t>
            </a:r>
          </a:p>
          <a:p>
            <a:r>
              <a:rPr lang="en-IN" dirty="0">
                <a:latin typeface="Proxima Nova" panose="020B0604020202020204"/>
              </a:rPr>
              <a:t>				</a:t>
            </a:r>
            <a:r>
              <a:rPr lang="en-IN" dirty="0" err="1">
                <a:latin typeface="Proxima Nova" panose="020B0604020202020204"/>
              </a:rPr>
              <a:t>column-span:all</a:t>
            </a:r>
            <a:r>
              <a:rPr lang="en-IN" dirty="0">
                <a:latin typeface="Proxima Nova" panose="020B0604020202020204"/>
              </a:rPr>
              <a:t>;</a:t>
            </a:r>
          </a:p>
          <a:p>
            <a:r>
              <a:rPr lang="en-IN" dirty="0">
                <a:latin typeface="Proxima Nova" panose="020B0604020202020204"/>
              </a:rPr>
              <a:t>				border:1px solid black;</a:t>
            </a:r>
          </a:p>
          <a:p>
            <a:r>
              <a:rPr lang="en-IN" dirty="0">
                <a:latin typeface="Proxima Nova" panose="020B0604020202020204"/>
              </a:rPr>
              <a:t>			}</a:t>
            </a:r>
          </a:p>
          <a:p>
            <a:r>
              <a:rPr lang="en-IN" dirty="0">
                <a:latin typeface="Proxima Nova" panose="020B0604020202020204"/>
              </a:rPr>
              <a:t>		&lt;/style&gt;</a:t>
            </a:r>
          </a:p>
          <a:p>
            <a:r>
              <a:rPr lang="en-IN" dirty="0">
                <a:latin typeface="Proxima Nova" panose="020B0604020202020204"/>
              </a:rPr>
              <a:t>	&lt;/head&gt;</a:t>
            </a:r>
          </a:p>
        </p:txBody>
      </p:sp>
      <p:sp>
        <p:nvSpPr>
          <p:cNvPr id="8" name="TextBox 7">
            <a:extLst>
              <a:ext uri="{FF2B5EF4-FFF2-40B4-BE49-F238E27FC236}">
                <a16:creationId xmlns:a16="http://schemas.microsoft.com/office/drawing/2014/main" id="{28C3A263-7E73-13ED-6085-B8E77A0FA1BF}"/>
              </a:ext>
            </a:extLst>
          </p:cNvPr>
          <p:cNvSpPr txBox="1"/>
          <p:nvPr/>
        </p:nvSpPr>
        <p:spPr>
          <a:xfrm>
            <a:off x="6477000" y="1114068"/>
            <a:ext cx="4876800" cy="5632311"/>
          </a:xfrm>
          <a:prstGeom prst="rect">
            <a:avLst/>
          </a:prstGeom>
          <a:noFill/>
        </p:spPr>
        <p:txBody>
          <a:bodyPr wrap="square">
            <a:spAutoFit/>
          </a:bodyPr>
          <a:lstStyle/>
          <a:p>
            <a:r>
              <a:rPr lang="en-IN" dirty="0">
                <a:latin typeface="Proxima Nova" panose="020B0604020202020204"/>
              </a:rPr>
              <a:t>&lt;body&gt;</a:t>
            </a:r>
          </a:p>
          <a:p>
            <a:r>
              <a:rPr lang="en-IN" dirty="0">
                <a:latin typeface="Proxima Nova" panose="020B0604020202020204"/>
              </a:rPr>
              <a:t>		</a:t>
            </a:r>
          </a:p>
          <a:p>
            <a:r>
              <a:rPr lang="en-IN" dirty="0">
                <a:latin typeface="Proxima Nova" panose="020B0604020202020204"/>
              </a:rPr>
              <a:t>		&lt;div&gt;</a:t>
            </a:r>
          </a:p>
          <a:p>
            <a:r>
              <a:rPr lang="en-IN" dirty="0">
                <a:latin typeface="Proxima Nova" panose="020B0604020202020204"/>
              </a:rPr>
              <a:t>			&lt;h1&gt;Column Layout&lt;/h1&gt;</a:t>
            </a:r>
          </a:p>
          <a:p>
            <a:r>
              <a:rPr lang="en-IN" dirty="0">
                <a:latin typeface="Proxima Nova" panose="020B0604020202020204"/>
              </a:rPr>
              <a:t>			This program is free software; you can redistribute it and/or modify it under the terms of the GNU General Public License as published by the Free Software Foundation; either version 3 of the License, or at your option any later </a:t>
            </a:r>
            <a:r>
              <a:rPr lang="en-IN" dirty="0" err="1">
                <a:latin typeface="Proxima Nova" panose="020B0604020202020204"/>
              </a:rPr>
              <a:t>version.This</a:t>
            </a:r>
            <a:r>
              <a:rPr lang="en-IN" dirty="0">
                <a:latin typeface="Proxima Nova" panose="020B0604020202020204"/>
              </a:rPr>
              <a:t> program is free software; you can redistribute it and/or modify it under the terms of the GNU General Public License as published by the Free Software Foundation; either version 3 of the License, or at your option any later version.</a:t>
            </a:r>
          </a:p>
          <a:p>
            <a:r>
              <a:rPr lang="en-IN" dirty="0">
                <a:latin typeface="Proxima Nova" panose="020B0604020202020204"/>
              </a:rPr>
              <a:t>		&lt;/div&gt;</a:t>
            </a:r>
          </a:p>
          <a:p>
            <a:r>
              <a:rPr lang="en-IN" dirty="0">
                <a:latin typeface="Proxima Nova" panose="020B0604020202020204"/>
              </a:rPr>
              <a:t>	&lt;/body&gt;</a:t>
            </a:r>
          </a:p>
          <a:p>
            <a:r>
              <a:rPr lang="en-IN" dirty="0">
                <a:latin typeface="Proxima Nova" panose="020B0604020202020204"/>
              </a:rPr>
              <a:t>&lt;/html&gt;</a:t>
            </a:r>
          </a:p>
        </p:txBody>
      </p:sp>
    </p:spTree>
    <p:extLst>
      <p:ext uri="{BB962C8B-B14F-4D97-AF65-F5344CB8AC3E}">
        <p14:creationId xmlns:p14="http://schemas.microsoft.com/office/powerpoint/2010/main" val="304438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5BC25-9991-CDCD-B38F-1616C8187A11}"/>
              </a:ext>
            </a:extLst>
          </p:cNvPr>
          <p:cNvSpPr>
            <a:spLocks noGrp="1"/>
          </p:cNvSpPr>
          <p:nvPr>
            <p:ph type="title"/>
          </p:nvPr>
        </p:nvSpPr>
        <p:spPr/>
        <p:txBody>
          <a:bodyPr/>
          <a:lstStyle/>
          <a:p>
            <a:r>
              <a:rPr lang="en-US" dirty="0"/>
              <a:t>Output</a:t>
            </a:r>
            <a:endParaRPr lang="en-IN" dirty="0"/>
          </a:p>
        </p:txBody>
      </p:sp>
      <p:pic>
        <p:nvPicPr>
          <p:cNvPr id="5" name="Picture 4">
            <a:extLst>
              <a:ext uri="{FF2B5EF4-FFF2-40B4-BE49-F238E27FC236}">
                <a16:creationId xmlns:a16="http://schemas.microsoft.com/office/drawing/2014/main" id="{07E76246-EBFB-AAF6-F14E-55618AB55685}"/>
              </a:ext>
            </a:extLst>
          </p:cNvPr>
          <p:cNvPicPr>
            <a:picLocks noChangeAspect="1"/>
          </p:cNvPicPr>
          <p:nvPr/>
        </p:nvPicPr>
        <p:blipFill>
          <a:blip r:embed="rId2"/>
          <a:stretch>
            <a:fillRect/>
          </a:stretch>
        </p:blipFill>
        <p:spPr>
          <a:xfrm>
            <a:off x="1009651" y="1716307"/>
            <a:ext cx="9972674" cy="3265268"/>
          </a:xfrm>
          <a:prstGeom prst="rect">
            <a:avLst/>
          </a:prstGeom>
        </p:spPr>
      </p:pic>
    </p:spTree>
    <p:extLst>
      <p:ext uri="{BB962C8B-B14F-4D97-AF65-F5344CB8AC3E}">
        <p14:creationId xmlns:p14="http://schemas.microsoft.com/office/powerpoint/2010/main" val="64858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94A45A-83A0-D36E-F18E-3CE4DF1AB213}"/>
              </a:ext>
            </a:extLst>
          </p:cNvPr>
          <p:cNvSpPr>
            <a:spLocks noGrp="1"/>
          </p:cNvSpPr>
          <p:nvPr>
            <p:ph idx="1"/>
          </p:nvPr>
        </p:nvSpPr>
        <p:spPr>
          <a:xfrm>
            <a:off x="423420" y="1253331"/>
            <a:ext cx="11294097" cy="5468144"/>
          </a:xfrm>
        </p:spPr>
        <p:txBody>
          <a:bodyPr>
            <a:normAutofit lnSpcReduction="10000"/>
          </a:bodyPr>
          <a:lstStyle/>
          <a:p>
            <a:r>
              <a:rPr lang="en-US" dirty="0">
                <a:solidFill>
                  <a:schemeClr val="tx1"/>
                </a:solidFill>
              </a:rPr>
              <a:t>Media queries in CSS3 extended the CSS2 media types idea: Instead of looking for a type of device, they look at the capability of the device.</a:t>
            </a:r>
          </a:p>
          <a:p>
            <a:r>
              <a:rPr lang="en-US" dirty="0">
                <a:solidFill>
                  <a:schemeClr val="tx1"/>
                </a:solidFill>
              </a:rPr>
              <a:t>Media queries can be used to check many things, such as:</a:t>
            </a:r>
          </a:p>
          <a:p>
            <a:pPr>
              <a:buFont typeface="Arial" panose="020B0604020202020204" pitchFamily="34" charset="0"/>
              <a:buChar char="•"/>
            </a:pPr>
            <a:r>
              <a:rPr lang="en-US" dirty="0">
                <a:solidFill>
                  <a:schemeClr val="tx1"/>
                </a:solidFill>
              </a:rPr>
              <a:t>width and height of the viewport</a:t>
            </a:r>
          </a:p>
          <a:p>
            <a:pPr>
              <a:buFont typeface="Arial" panose="020B0604020202020204" pitchFamily="34" charset="0"/>
              <a:buChar char="•"/>
            </a:pPr>
            <a:r>
              <a:rPr lang="en-US" dirty="0">
                <a:solidFill>
                  <a:schemeClr val="tx1"/>
                </a:solidFill>
              </a:rPr>
              <a:t>width and height of the device</a:t>
            </a:r>
          </a:p>
          <a:p>
            <a:pPr>
              <a:buFont typeface="Arial" panose="020B0604020202020204" pitchFamily="34" charset="0"/>
              <a:buChar char="•"/>
            </a:pPr>
            <a:r>
              <a:rPr lang="en-US" dirty="0">
                <a:solidFill>
                  <a:schemeClr val="tx1"/>
                </a:solidFill>
              </a:rPr>
              <a:t>orientation (is the tablet/phone in landscape or portrait mode?)</a:t>
            </a:r>
          </a:p>
          <a:p>
            <a:pPr>
              <a:buFont typeface="Arial" panose="020B0604020202020204" pitchFamily="34" charset="0"/>
              <a:buChar char="•"/>
            </a:pPr>
            <a:r>
              <a:rPr lang="en-US" dirty="0">
                <a:solidFill>
                  <a:schemeClr val="tx1"/>
                </a:solidFill>
              </a:rPr>
              <a:t>resolution</a:t>
            </a:r>
          </a:p>
          <a:p>
            <a:r>
              <a:rPr lang="en-US" dirty="0">
                <a:solidFill>
                  <a:schemeClr val="tx1"/>
                </a:solidFill>
              </a:rPr>
              <a:t>Using media queries are a popular technique for delivering a tailored style sheet to desktops, laptops, tablets, and mobile phones (such as iPhone and Android phones).</a:t>
            </a:r>
            <a:endParaRPr lang="en-IN" dirty="0">
              <a:solidFill>
                <a:schemeClr val="tx1"/>
              </a:solidFill>
            </a:endParaRPr>
          </a:p>
          <a:p>
            <a:r>
              <a:rPr lang="en-US" dirty="0"/>
              <a:t>A media query consists of a media type and can contain one or more expressions, which resolve to either true or false.</a:t>
            </a:r>
          </a:p>
          <a:p>
            <a:endParaRPr lang="en-IN" dirty="0"/>
          </a:p>
        </p:txBody>
      </p:sp>
      <p:sp>
        <p:nvSpPr>
          <p:cNvPr id="4" name="Title 1">
            <a:extLst>
              <a:ext uri="{FF2B5EF4-FFF2-40B4-BE49-F238E27FC236}">
                <a16:creationId xmlns:a16="http://schemas.microsoft.com/office/drawing/2014/main" id="{8ED9B257-997E-82E2-F516-EC7850B476D7}"/>
              </a:ext>
            </a:extLst>
          </p:cNvPr>
          <p:cNvSpPr>
            <a:spLocks noGrp="1"/>
          </p:cNvSpPr>
          <p:nvPr>
            <p:ph type="title"/>
          </p:nvPr>
        </p:nvSpPr>
        <p:spPr>
          <a:xfrm>
            <a:off x="215900" y="136525"/>
            <a:ext cx="10515600" cy="876300"/>
          </a:xfrm>
        </p:spPr>
        <p:txBody>
          <a:bodyPr/>
          <a:lstStyle/>
          <a:p>
            <a:r>
              <a:rPr lang="en-IN" dirty="0"/>
              <a:t>Media Queries</a:t>
            </a:r>
          </a:p>
        </p:txBody>
      </p:sp>
    </p:spTree>
    <p:extLst>
      <p:ext uri="{BB962C8B-B14F-4D97-AF65-F5344CB8AC3E}">
        <p14:creationId xmlns:p14="http://schemas.microsoft.com/office/powerpoint/2010/main" val="322708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598985-A020-70DC-87E8-663D86DBE579}"/>
              </a:ext>
            </a:extLst>
          </p:cNvPr>
          <p:cNvSpPr>
            <a:spLocks noGrp="1"/>
          </p:cNvSpPr>
          <p:nvPr>
            <p:ph idx="1"/>
          </p:nvPr>
        </p:nvSpPr>
        <p:spPr/>
        <p:txBody>
          <a:bodyPr>
            <a:noAutofit/>
          </a:bodyPr>
          <a:lstStyle/>
          <a:p>
            <a:pPr marL="449263" lvl="1" indent="0">
              <a:buNone/>
            </a:pPr>
            <a:r>
              <a:rPr lang="en-US" b="1" dirty="0"/>
              <a:t>@media </a:t>
            </a:r>
            <a:r>
              <a:rPr lang="en-US" b="1" dirty="0" err="1"/>
              <a:t>not|only</a:t>
            </a:r>
            <a:r>
              <a:rPr lang="en-US" b="1" dirty="0"/>
              <a:t> </a:t>
            </a:r>
            <a:r>
              <a:rPr lang="en-US" b="1" dirty="0" err="1"/>
              <a:t>mediatype</a:t>
            </a:r>
            <a:r>
              <a:rPr lang="en-US" b="1" dirty="0"/>
              <a:t> and (expressions) {</a:t>
            </a:r>
          </a:p>
          <a:p>
            <a:pPr marL="449263" lvl="1" indent="0">
              <a:buNone/>
            </a:pPr>
            <a:r>
              <a:rPr lang="en-US" b="1" dirty="0"/>
              <a:t>  CSS-Code;</a:t>
            </a:r>
          </a:p>
          <a:p>
            <a:pPr marL="449263" lvl="1" indent="0">
              <a:buNone/>
            </a:pPr>
            <a:r>
              <a:rPr lang="en-US" b="1" dirty="0"/>
              <a:t>}</a:t>
            </a:r>
          </a:p>
          <a:p>
            <a:r>
              <a:rPr lang="en-US" dirty="0"/>
              <a:t>The result of the query is true if the specified media type matches the type of device the document is being displayed on and all expressions in the media query are true. When a media query is true, the corresponding style sheet or style rules are applied, following the normal cascading rules.</a:t>
            </a:r>
          </a:p>
          <a:p>
            <a:r>
              <a:rPr lang="en-US" dirty="0"/>
              <a:t>Unless you use the not or only operators, the media type is optional and the all </a:t>
            </a:r>
            <a:r>
              <a:rPr lang="en-IN" dirty="0"/>
              <a:t>type will be implied.</a:t>
            </a:r>
          </a:p>
          <a:p>
            <a:r>
              <a:rPr lang="en-US" dirty="0"/>
              <a:t>You can also have different stylesheets for different media.</a:t>
            </a:r>
          </a:p>
          <a:p>
            <a:r>
              <a:rPr lang="en-IN" dirty="0"/>
              <a:t> &lt;link </a:t>
            </a:r>
            <a:r>
              <a:rPr lang="en-IN" dirty="0" err="1"/>
              <a:t>rel</a:t>
            </a:r>
            <a:r>
              <a:rPr lang="en-IN" dirty="0"/>
              <a:t>="stylesheet" media="</a:t>
            </a:r>
            <a:r>
              <a:rPr lang="en-IN" dirty="0" err="1"/>
              <a:t>mediatype</a:t>
            </a:r>
            <a:r>
              <a:rPr lang="en-IN" dirty="0"/>
              <a:t> </a:t>
            </a:r>
            <a:r>
              <a:rPr lang="en-IN" dirty="0" err="1"/>
              <a:t>and|not|only</a:t>
            </a:r>
            <a:r>
              <a:rPr lang="en-IN" dirty="0"/>
              <a:t> (expressions)" </a:t>
            </a:r>
            <a:r>
              <a:rPr lang="en-IN" dirty="0" err="1"/>
              <a:t>href</a:t>
            </a:r>
            <a:r>
              <a:rPr lang="en-IN" dirty="0"/>
              <a:t>="print.css"&gt;</a:t>
            </a:r>
          </a:p>
          <a:p>
            <a:endParaRPr lang="en-IN" dirty="0"/>
          </a:p>
        </p:txBody>
      </p:sp>
      <p:sp>
        <p:nvSpPr>
          <p:cNvPr id="4" name="Title 1">
            <a:extLst>
              <a:ext uri="{FF2B5EF4-FFF2-40B4-BE49-F238E27FC236}">
                <a16:creationId xmlns:a16="http://schemas.microsoft.com/office/drawing/2014/main" id="{43FB3600-9218-F2F8-ACEB-7ED4D7EA3EF7}"/>
              </a:ext>
            </a:extLst>
          </p:cNvPr>
          <p:cNvSpPr>
            <a:spLocks noGrp="1"/>
          </p:cNvSpPr>
          <p:nvPr>
            <p:ph type="title"/>
          </p:nvPr>
        </p:nvSpPr>
        <p:spPr>
          <a:xfrm>
            <a:off x="215900" y="136525"/>
            <a:ext cx="10515600" cy="876300"/>
          </a:xfrm>
        </p:spPr>
        <p:txBody>
          <a:bodyPr/>
          <a:lstStyle/>
          <a:p>
            <a:r>
              <a:rPr lang="en-IN" dirty="0"/>
              <a:t>Media Query Syntax</a:t>
            </a:r>
          </a:p>
        </p:txBody>
      </p:sp>
    </p:spTree>
    <p:extLst>
      <p:ext uri="{BB962C8B-B14F-4D97-AF65-F5344CB8AC3E}">
        <p14:creationId xmlns:p14="http://schemas.microsoft.com/office/powerpoint/2010/main" val="37186597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05CEB-606D-CC4A-F14D-2959AC654359}"/>
              </a:ext>
            </a:extLst>
          </p:cNvPr>
          <p:cNvSpPr>
            <a:spLocks noGrp="1"/>
          </p:cNvSpPr>
          <p:nvPr>
            <p:ph type="title"/>
          </p:nvPr>
        </p:nvSpPr>
        <p:spPr/>
        <p:txBody>
          <a:bodyPr/>
          <a:lstStyle/>
          <a:p>
            <a:r>
              <a:rPr lang="en-IN" dirty="0"/>
              <a:t>CSS3 Media Types</a:t>
            </a:r>
            <a:br>
              <a:rPr lang="en-US" dirty="0"/>
            </a:br>
            <a:endParaRPr lang="en-IN" dirty="0"/>
          </a:p>
        </p:txBody>
      </p:sp>
      <p:pic>
        <p:nvPicPr>
          <p:cNvPr id="4" name="Content Placeholder 3">
            <a:extLst>
              <a:ext uri="{FF2B5EF4-FFF2-40B4-BE49-F238E27FC236}">
                <a16:creationId xmlns:a16="http://schemas.microsoft.com/office/drawing/2014/main" id="{D39B582E-754D-A44C-E272-8D36F4BB6FAF}"/>
              </a:ext>
            </a:extLst>
          </p:cNvPr>
          <p:cNvPicPr>
            <a:picLocks noGrp="1" noChangeAspect="1"/>
          </p:cNvPicPr>
          <p:nvPr>
            <p:ph idx="1"/>
          </p:nvPr>
        </p:nvPicPr>
        <p:blipFill>
          <a:blip r:embed="rId2"/>
          <a:stretch>
            <a:fillRect/>
          </a:stretch>
        </p:blipFill>
        <p:spPr>
          <a:xfrm>
            <a:off x="449262" y="1220163"/>
            <a:ext cx="11293475" cy="3065125"/>
          </a:xfrm>
          <a:prstGeom prst="rect">
            <a:avLst/>
          </a:prstGeom>
        </p:spPr>
      </p:pic>
    </p:spTree>
    <p:extLst>
      <p:ext uri="{BB962C8B-B14F-4D97-AF65-F5344CB8AC3E}">
        <p14:creationId xmlns:p14="http://schemas.microsoft.com/office/powerpoint/2010/main" val="413337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78E9C-4FF0-ECD3-EF16-34EC9B30EA93}"/>
              </a:ext>
            </a:extLst>
          </p:cNvPr>
          <p:cNvSpPr>
            <a:spLocks noGrp="1"/>
          </p:cNvSpPr>
          <p:nvPr>
            <p:ph type="title"/>
          </p:nvPr>
        </p:nvSpPr>
        <p:spPr/>
        <p:txBody>
          <a:bodyPr/>
          <a:lstStyle/>
          <a:p>
            <a:r>
              <a:rPr lang="en-US" dirty="0"/>
              <a:t>Example</a:t>
            </a:r>
            <a:endParaRPr lang="en-IN" dirty="0"/>
          </a:p>
        </p:txBody>
      </p:sp>
      <p:sp>
        <p:nvSpPr>
          <p:cNvPr id="5" name="TextBox 4">
            <a:extLst>
              <a:ext uri="{FF2B5EF4-FFF2-40B4-BE49-F238E27FC236}">
                <a16:creationId xmlns:a16="http://schemas.microsoft.com/office/drawing/2014/main" id="{014A19C1-D254-ECA2-C668-A9E76DB9921F}"/>
              </a:ext>
            </a:extLst>
          </p:cNvPr>
          <p:cNvSpPr txBox="1"/>
          <p:nvPr/>
        </p:nvSpPr>
        <p:spPr>
          <a:xfrm>
            <a:off x="466725" y="1060843"/>
            <a:ext cx="6096000" cy="5570756"/>
          </a:xfrm>
          <a:prstGeom prst="rect">
            <a:avLst/>
          </a:prstGeom>
          <a:noFill/>
        </p:spPr>
        <p:txBody>
          <a:bodyPr wrap="square">
            <a:spAutoFit/>
          </a:bodyPr>
          <a:lstStyle/>
          <a:p>
            <a:r>
              <a:rPr lang="en-IN" sz="1600" dirty="0">
                <a:latin typeface="Proxima Nova" panose="020B0604020202020204"/>
                <a:ea typeface="Cambria" panose="02040503050406030204" pitchFamily="18" charset="0"/>
              </a:rPr>
              <a:t>&lt;!DOCTYPE html&gt;</a:t>
            </a:r>
          </a:p>
          <a:p>
            <a:r>
              <a:rPr lang="en-IN" sz="1600" dirty="0">
                <a:latin typeface="Proxima Nova" panose="020B0604020202020204"/>
                <a:ea typeface="Cambria" panose="02040503050406030204" pitchFamily="18" charset="0"/>
              </a:rPr>
              <a:t>&lt;html&gt;</a:t>
            </a:r>
          </a:p>
          <a:p>
            <a:r>
              <a:rPr lang="en-IN" sz="1600" dirty="0">
                <a:latin typeface="Proxima Nova" panose="020B0604020202020204"/>
                <a:ea typeface="Cambria" panose="02040503050406030204" pitchFamily="18" charset="0"/>
              </a:rPr>
              <a:t>	&lt;head&gt;</a:t>
            </a:r>
          </a:p>
          <a:p>
            <a:r>
              <a:rPr lang="en-IN" sz="1600" dirty="0">
                <a:latin typeface="Proxima Nova" panose="020B0604020202020204"/>
                <a:ea typeface="Cambria" panose="02040503050406030204" pitchFamily="18" charset="0"/>
              </a:rPr>
              <a:t>		&lt;style&gt;</a:t>
            </a:r>
          </a:p>
          <a:p>
            <a:pPr lvl="3"/>
            <a:r>
              <a:rPr lang="en-IN" sz="1600" dirty="0">
                <a:latin typeface="Proxima Nova" panose="020B0604020202020204"/>
                <a:ea typeface="Cambria" panose="02040503050406030204" pitchFamily="18" charset="0"/>
              </a:rPr>
              <a:t>body {</a:t>
            </a:r>
          </a:p>
          <a:p>
            <a:pPr lvl="3"/>
            <a:r>
              <a:rPr lang="en-IN" sz="1600" dirty="0">
                <a:latin typeface="Proxima Nova" panose="020B0604020202020204"/>
                <a:ea typeface="Cambria" panose="02040503050406030204" pitchFamily="18" charset="0"/>
              </a:rPr>
              <a:t>  background-</a:t>
            </a:r>
            <a:r>
              <a:rPr lang="en-IN" sz="1600" dirty="0" err="1">
                <a:latin typeface="Proxima Nova" panose="020B0604020202020204"/>
                <a:ea typeface="Cambria" panose="02040503050406030204" pitchFamily="18" charset="0"/>
              </a:rPr>
              <a:t>color</a:t>
            </a:r>
            <a:r>
              <a:rPr lang="en-IN" sz="1600" dirty="0">
                <a:latin typeface="Proxima Nova" panose="020B0604020202020204"/>
                <a:ea typeface="Cambria" panose="02040503050406030204" pitchFamily="18" charset="0"/>
              </a:rPr>
              <a:t>: pink;</a:t>
            </a:r>
          </a:p>
          <a:p>
            <a:pPr lvl="3"/>
            <a:r>
              <a:rPr lang="en-IN" sz="1600" dirty="0">
                <a:latin typeface="Proxima Nova" panose="020B0604020202020204"/>
                <a:ea typeface="Cambria" panose="02040503050406030204" pitchFamily="18" charset="0"/>
              </a:rPr>
              <a:t>}</a:t>
            </a:r>
          </a:p>
          <a:p>
            <a:endParaRPr lang="en-IN" sz="1600" dirty="0">
              <a:latin typeface="Proxima Nova" panose="020B0604020202020204"/>
              <a:ea typeface="Cambria" panose="02040503050406030204" pitchFamily="18" charset="0"/>
            </a:endParaRPr>
          </a:p>
          <a:p>
            <a:pPr lvl="2"/>
            <a:r>
              <a:rPr lang="en-IN" sz="1600" dirty="0">
                <a:latin typeface="Proxima Nova" panose="020B0604020202020204"/>
                <a:ea typeface="Cambria" panose="02040503050406030204" pitchFamily="18" charset="0"/>
              </a:rPr>
              <a:t>@media screen and (min-width: 480px) {</a:t>
            </a:r>
          </a:p>
          <a:p>
            <a:pPr lvl="2"/>
            <a:r>
              <a:rPr lang="en-IN" sz="1600" dirty="0">
                <a:latin typeface="Proxima Nova" panose="020B0604020202020204"/>
                <a:ea typeface="Cambria" panose="02040503050406030204" pitchFamily="18" charset="0"/>
              </a:rPr>
              <a:t>  body {</a:t>
            </a:r>
          </a:p>
          <a:p>
            <a:pPr lvl="2"/>
            <a:r>
              <a:rPr lang="en-IN" sz="1600" dirty="0">
                <a:latin typeface="Proxima Nova" panose="020B0604020202020204"/>
                <a:ea typeface="Cambria" panose="02040503050406030204" pitchFamily="18" charset="0"/>
              </a:rPr>
              <a:t>    background-</a:t>
            </a:r>
            <a:r>
              <a:rPr lang="en-IN" sz="1600" dirty="0" err="1">
                <a:latin typeface="Proxima Nova" panose="020B0604020202020204"/>
                <a:ea typeface="Cambria" panose="02040503050406030204" pitchFamily="18" charset="0"/>
              </a:rPr>
              <a:t>color</a:t>
            </a:r>
            <a:r>
              <a:rPr lang="en-IN" sz="1600" dirty="0">
                <a:latin typeface="Proxima Nova" panose="020B0604020202020204"/>
                <a:ea typeface="Cambria" panose="02040503050406030204" pitchFamily="18" charset="0"/>
              </a:rPr>
              <a:t>: </a:t>
            </a:r>
            <a:r>
              <a:rPr lang="en-IN" sz="1600" dirty="0" err="1">
                <a:latin typeface="Proxima Nova" panose="020B0604020202020204"/>
                <a:ea typeface="Cambria" panose="02040503050406030204" pitchFamily="18" charset="0"/>
              </a:rPr>
              <a:t>lightgreen</a:t>
            </a:r>
            <a:r>
              <a:rPr lang="en-IN" sz="1600" dirty="0">
                <a:latin typeface="Proxima Nova" panose="020B0604020202020204"/>
                <a:ea typeface="Cambria" panose="02040503050406030204" pitchFamily="18" charset="0"/>
              </a:rPr>
              <a:t>;</a:t>
            </a:r>
          </a:p>
          <a:p>
            <a:pPr lvl="2"/>
            <a:r>
              <a:rPr lang="en-IN" sz="1600" dirty="0">
                <a:latin typeface="Proxima Nova" panose="020B0604020202020204"/>
                <a:ea typeface="Cambria" panose="02040503050406030204" pitchFamily="18" charset="0"/>
              </a:rPr>
              <a:t>  }</a:t>
            </a:r>
          </a:p>
          <a:p>
            <a:pPr lvl="2"/>
            <a:r>
              <a:rPr lang="en-IN" sz="1600" dirty="0">
                <a:latin typeface="Proxima Nova" panose="020B0604020202020204"/>
                <a:ea typeface="Cambria" panose="02040503050406030204" pitchFamily="18" charset="0"/>
              </a:rPr>
              <a:t>}</a:t>
            </a:r>
          </a:p>
          <a:p>
            <a:r>
              <a:rPr lang="en-IN" sz="1600" dirty="0">
                <a:latin typeface="Proxima Nova" panose="020B0604020202020204"/>
                <a:ea typeface="Cambria" panose="02040503050406030204" pitchFamily="18" charset="0"/>
              </a:rPr>
              <a:t>		&lt;/style&gt;</a:t>
            </a:r>
          </a:p>
          <a:p>
            <a:pPr lvl="1"/>
            <a:r>
              <a:rPr lang="en-IN" sz="1600" dirty="0">
                <a:latin typeface="Proxima Nova" panose="020B0604020202020204"/>
                <a:ea typeface="Cambria" panose="02040503050406030204" pitchFamily="18" charset="0"/>
              </a:rPr>
              <a:t>&lt;/head&gt;</a:t>
            </a:r>
          </a:p>
          <a:p>
            <a:pPr lvl="1"/>
            <a:r>
              <a:rPr lang="en-IN" sz="1600" dirty="0">
                <a:latin typeface="Proxima Nova" panose="020B0604020202020204"/>
                <a:ea typeface="Cambria" panose="02040503050406030204" pitchFamily="18" charset="0"/>
              </a:rPr>
              <a:t>&lt;body&gt;</a:t>
            </a:r>
          </a:p>
          <a:p>
            <a:pPr lvl="2"/>
            <a:r>
              <a:rPr lang="en-IN" sz="1600" dirty="0">
                <a:latin typeface="Proxima Nova" panose="020B0604020202020204"/>
                <a:ea typeface="Cambria" panose="02040503050406030204" pitchFamily="18" charset="0"/>
              </a:rPr>
              <a:t>&lt;h1&gt;Resize the browser window to see the effect!&lt;/h1&gt;</a:t>
            </a:r>
          </a:p>
          <a:p>
            <a:pPr lvl="2"/>
            <a:r>
              <a:rPr lang="en-IN" sz="1600" dirty="0">
                <a:latin typeface="Proxima Nova" panose="020B0604020202020204"/>
                <a:ea typeface="Cambria" panose="02040503050406030204" pitchFamily="18" charset="0"/>
              </a:rPr>
              <a:t>&lt;p&gt;The media query will only apply if the media type is screen and the viewport is 480px wide or wider.&lt;/p&gt;</a:t>
            </a:r>
          </a:p>
          <a:p>
            <a:r>
              <a:rPr lang="en-IN" sz="1600" dirty="0">
                <a:latin typeface="Proxima Nova" panose="020B0604020202020204"/>
                <a:ea typeface="Cambria" panose="02040503050406030204" pitchFamily="18" charset="0"/>
              </a:rPr>
              <a:t>	&lt;/body&gt;</a:t>
            </a:r>
          </a:p>
          <a:p>
            <a:r>
              <a:rPr lang="en-US" sz="1600" dirty="0">
                <a:latin typeface="Proxima Nova" panose="020B0604020202020204"/>
                <a:ea typeface="Cambria" panose="02040503050406030204" pitchFamily="18" charset="0"/>
              </a:rPr>
              <a:t>&lt;/html&gt;</a:t>
            </a:r>
            <a:endParaRPr lang="en-IN" sz="1600" dirty="0">
              <a:latin typeface="Proxima Nova" panose="020B0604020202020204"/>
              <a:ea typeface="Cambria" panose="02040503050406030204" pitchFamily="18" charset="0"/>
            </a:endParaRPr>
          </a:p>
        </p:txBody>
      </p:sp>
      <p:pic>
        <p:nvPicPr>
          <p:cNvPr id="6" name="Picture 5">
            <a:extLst>
              <a:ext uri="{FF2B5EF4-FFF2-40B4-BE49-F238E27FC236}">
                <a16:creationId xmlns:a16="http://schemas.microsoft.com/office/drawing/2014/main" id="{4207A78E-D7AF-C15D-49A8-2108AB874472}"/>
              </a:ext>
            </a:extLst>
          </p:cNvPr>
          <p:cNvPicPr>
            <a:picLocks noChangeAspect="1"/>
          </p:cNvPicPr>
          <p:nvPr/>
        </p:nvPicPr>
        <p:blipFill>
          <a:blip r:embed="rId2"/>
          <a:stretch>
            <a:fillRect/>
          </a:stretch>
        </p:blipFill>
        <p:spPr>
          <a:xfrm>
            <a:off x="5583474" y="1293373"/>
            <a:ext cx="6058507" cy="2686050"/>
          </a:xfrm>
          <a:prstGeom prst="rect">
            <a:avLst/>
          </a:prstGeom>
          <a:ln w="19050">
            <a:solidFill>
              <a:schemeClr val="tx1"/>
            </a:solidFill>
          </a:ln>
        </p:spPr>
      </p:pic>
      <p:pic>
        <p:nvPicPr>
          <p:cNvPr id="7" name="Picture 6">
            <a:extLst>
              <a:ext uri="{FF2B5EF4-FFF2-40B4-BE49-F238E27FC236}">
                <a16:creationId xmlns:a16="http://schemas.microsoft.com/office/drawing/2014/main" id="{459CBC93-E412-EFDA-52B1-2EE8210D8803}"/>
              </a:ext>
            </a:extLst>
          </p:cNvPr>
          <p:cNvPicPr>
            <a:picLocks noChangeAspect="1"/>
          </p:cNvPicPr>
          <p:nvPr/>
        </p:nvPicPr>
        <p:blipFill>
          <a:blip r:embed="rId3"/>
          <a:stretch>
            <a:fillRect/>
          </a:stretch>
        </p:blipFill>
        <p:spPr>
          <a:xfrm>
            <a:off x="6630616" y="4027048"/>
            <a:ext cx="5343525" cy="1939210"/>
          </a:xfrm>
          <a:prstGeom prst="rect">
            <a:avLst/>
          </a:prstGeom>
          <a:ln w="19050">
            <a:solidFill>
              <a:schemeClr val="tx1"/>
            </a:solidFill>
          </a:ln>
        </p:spPr>
      </p:pic>
    </p:spTree>
    <p:extLst>
      <p:ext uri="{BB962C8B-B14F-4D97-AF65-F5344CB8AC3E}">
        <p14:creationId xmlns:p14="http://schemas.microsoft.com/office/powerpoint/2010/main" val="3600607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860FF-C5F7-18C7-B0FC-4D8B5D772CA0}"/>
              </a:ext>
            </a:extLst>
          </p:cNvPr>
          <p:cNvSpPr>
            <a:spLocks noGrp="1"/>
          </p:cNvSpPr>
          <p:nvPr>
            <p:ph type="title"/>
          </p:nvPr>
        </p:nvSpPr>
        <p:spPr/>
        <p:txBody>
          <a:bodyPr/>
          <a:lstStyle/>
          <a:p>
            <a:r>
              <a:rPr lang="en-US" dirty="0"/>
              <a:t>CSS Variables</a:t>
            </a:r>
            <a:endParaRPr lang="en-IN" dirty="0"/>
          </a:p>
        </p:txBody>
      </p:sp>
      <p:sp>
        <p:nvSpPr>
          <p:cNvPr id="3" name="Content Placeholder 2">
            <a:extLst>
              <a:ext uri="{FF2B5EF4-FFF2-40B4-BE49-F238E27FC236}">
                <a16:creationId xmlns:a16="http://schemas.microsoft.com/office/drawing/2014/main" id="{82E0BA48-6E1F-6D16-B6BF-B9E8BA1D7BE0}"/>
              </a:ext>
            </a:extLst>
          </p:cNvPr>
          <p:cNvSpPr>
            <a:spLocks noGrp="1"/>
          </p:cNvSpPr>
          <p:nvPr>
            <p:ph idx="1"/>
          </p:nvPr>
        </p:nvSpPr>
        <p:spPr>
          <a:xfrm>
            <a:off x="448951" y="1148555"/>
            <a:ext cx="11294097" cy="5280819"/>
          </a:xfrm>
        </p:spPr>
        <p:txBody>
          <a:bodyPr>
            <a:normAutofit fontScale="92500" lnSpcReduction="20000"/>
          </a:bodyPr>
          <a:lstStyle/>
          <a:p>
            <a:r>
              <a:rPr lang="en-US" dirty="0"/>
              <a:t>The var() function is used to insert the value of a CSS variable.</a:t>
            </a:r>
          </a:p>
          <a:p>
            <a:r>
              <a:rPr lang="en-US" dirty="0"/>
              <a:t>CSS variables have access to the DOM, which means that you can create variables with local or global scope, change the variables with JavaScript, and change the variables based on media queries.</a:t>
            </a:r>
          </a:p>
          <a:p>
            <a:r>
              <a:rPr lang="en-US" dirty="0"/>
              <a:t>A good way to use CSS variables is when it comes to the colors of your design. Instead of copy and paste the same colors over and over again, you can place them in variables.</a:t>
            </a:r>
          </a:p>
          <a:p>
            <a:r>
              <a:rPr lang="en-US" b="1" dirty="0"/>
              <a:t>Syntax of the var() Function</a:t>
            </a:r>
          </a:p>
          <a:p>
            <a:r>
              <a:rPr lang="en-US" dirty="0"/>
              <a:t>The var() function is used to insert the value of a CSS variable.</a:t>
            </a:r>
          </a:p>
          <a:p>
            <a:r>
              <a:rPr lang="en-IN" b="1" dirty="0"/>
              <a:t>var(--name, value)</a:t>
            </a:r>
          </a:p>
          <a:p>
            <a:endParaRPr lang="en-US" dirty="0"/>
          </a:p>
          <a:p>
            <a:endParaRPr lang="en-US" dirty="0"/>
          </a:p>
          <a:p>
            <a:endParaRPr lang="en-US" dirty="0"/>
          </a:p>
          <a:p>
            <a:r>
              <a:rPr lang="en-US" dirty="0"/>
              <a:t>Note: The variable name must begin with two dashes (--) and it is case sensitive!</a:t>
            </a:r>
            <a:endParaRPr lang="en-IN" dirty="0"/>
          </a:p>
        </p:txBody>
      </p:sp>
      <p:pic>
        <p:nvPicPr>
          <p:cNvPr id="6" name="Picture 5">
            <a:extLst>
              <a:ext uri="{FF2B5EF4-FFF2-40B4-BE49-F238E27FC236}">
                <a16:creationId xmlns:a16="http://schemas.microsoft.com/office/drawing/2014/main" id="{A1BEAA8A-F125-995C-632C-B5E4E093C3B8}"/>
              </a:ext>
            </a:extLst>
          </p:cNvPr>
          <p:cNvPicPr>
            <a:picLocks noChangeAspect="1"/>
          </p:cNvPicPr>
          <p:nvPr/>
        </p:nvPicPr>
        <p:blipFill>
          <a:blip r:embed="rId2"/>
          <a:stretch>
            <a:fillRect/>
          </a:stretch>
        </p:blipFill>
        <p:spPr>
          <a:xfrm>
            <a:off x="786477" y="4747160"/>
            <a:ext cx="6637595" cy="1158340"/>
          </a:xfrm>
          <a:prstGeom prst="rect">
            <a:avLst/>
          </a:prstGeom>
        </p:spPr>
      </p:pic>
    </p:spTree>
    <p:extLst>
      <p:ext uri="{BB962C8B-B14F-4D97-AF65-F5344CB8AC3E}">
        <p14:creationId xmlns:p14="http://schemas.microsoft.com/office/powerpoint/2010/main" val="3786427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ACC2-F826-D84B-98D8-EF15C3643D22}"/>
              </a:ext>
            </a:extLst>
          </p:cNvPr>
          <p:cNvSpPr>
            <a:spLocks noGrp="1"/>
          </p:cNvSpPr>
          <p:nvPr>
            <p:ph type="title"/>
          </p:nvPr>
        </p:nvSpPr>
        <p:spPr/>
        <p:txBody>
          <a:bodyPr/>
          <a:lstStyle/>
          <a:p>
            <a:r>
              <a:rPr lang="en-IN" dirty="0"/>
              <a:t>How var() Works</a:t>
            </a:r>
          </a:p>
        </p:txBody>
      </p:sp>
      <p:sp>
        <p:nvSpPr>
          <p:cNvPr id="3" name="Content Placeholder 2">
            <a:extLst>
              <a:ext uri="{FF2B5EF4-FFF2-40B4-BE49-F238E27FC236}">
                <a16:creationId xmlns:a16="http://schemas.microsoft.com/office/drawing/2014/main" id="{4D118A24-6EBB-2D11-13A0-4D396C89781E}"/>
              </a:ext>
            </a:extLst>
          </p:cNvPr>
          <p:cNvSpPr>
            <a:spLocks noGrp="1"/>
          </p:cNvSpPr>
          <p:nvPr>
            <p:ph idx="1"/>
          </p:nvPr>
        </p:nvSpPr>
        <p:spPr>
          <a:xfrm>
            <a:off x="423420" y="1253331"/>
            <a:ext cx="11294097" cy="5233194"/>
          </a:xfrm>
        </p:spPr>
        <p:txBody>
          <a:bodyPr>
            <a:normAutofit/>
          </a:bodyPr>
          <a:lstStyle/>
          <a:p>
            <a:r>
              <a:rPr lang="en-US" dirty="0"/>
              <a:t>First of all: CSS variables can have a global or local scope.</a:t>
            </a:r>
          </a:p>
          <a:p>
            <a:r>
              <a:rPr lang="en-US" dirty="0"/>
              <a:t>Global variables can be accessed/used through the entire document, while local variables can be used only inside the selector where it is declared.</a:t>
            </a:r>
          </a:p>
          <a:p>
            <a:r>
              <a:rPr lang="en-US" dirty="0"/>
              <a:t>To create a variable with global scope, declare it inside the :root selector. The :root selector matches the document's root element.</a:t>
            </a:r>
          </a:p>
          <a:p>
            <a:r>
              <a:rPr lang="en-US" dirty="0"/>
              <a:t>To create a variable with local scope, declare it inside the selector that is going to use it.</a:t>
            </a:r>
          </a:p>
          <a:p>
            <a:r>
              <a:rPr lang="en-US" dirty="0"/>
              <a:t>The following example is equal to the example above, but here we use the var() function.</a:t>
            </a:r>
          </a:p>
          <a:p>
            <a:r>
              <a:rPr lang="en-US" dirty="0"/>
              <a:t>First, we declare two global variables (--blue and --white). Then, we use the var() function to insert the value of the variables later in the style sheet:</a:t>
            </a:r>
            <a:endParaRPr lang="en-IN" dirty="0"/>
          </a:p>
        </p:txBody>
      </p:sp>
    </p:spTree>
    <p:extLst>
      <p:ext uri="{BB962C8B-B14F-4D97-AF65-F5344CB8AC3E}">
        <p14:creationId xmlns:p14="http://schemas.microsoft.com/office/powerpoint/2010/main" val="53602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7167D-9CDF-1F07-A12B-A0ECFB455405}"/>
              </a:ext>
            </a:extLst>
          </p:cNvPr>
          <p:cNvSpPr>
            <a:spLocks noGrp="1"/>
          </p:cNvSpPr>
          <p:nvPr>
            <p:ph type="title"/>
          </p:nvPr>
        </p:nvSpPr>
        <p:spPr>
          <a:xfrm>
            <a:off x="0" y="98425"/>
            <a:ext cx="10515600" cy="876693"/>
          </a:xfrm>
        </p:spPr>
        <p:txBody>
          <a:bodyPr/>
          <a:lstStyle/>
          <a:p>
            <a:r>
              <a:rPr lang="en-US" dirty="0"/>
              <a:t>Example</a:t>
            </a:r>
            <a:endParaRPr lang="en-IN" dirty="0"/>
          </a:p>
        </p:txBody>
      </p:sp>
      <p:sp>
        <p:nvSpPr>
          <p:cNvPr id="5" name="TextBox 4">
            <a:extLst>
              <a:ext uri="{FF2B5EF4-FFF2-40B4-BE49-F238E27FC236}">
                <a16:creationId xmlns:a16="http://schemas.microsoft.com/office/drawing/2014/main" id="{870D8C36-F9AE-CB3C-2C6A-D02547D74C0B}"/>
              </a:ext>
            </a:extLst>
          </p:cNvPr>
          <p:cNvSpPr txBox="1"/>
          <p:nvPr/>
        </p:nvSpPr>
        <p:spPr>
          <a:xfrm>
            <a:off x="295275" y="1207502"/>
            <a:ext cx="6096000" cy="5909310"/>
          </a:xfrm>
          <a:prstGeom prst="rect">
            <a:avLst/>
          </a:prstGeom>
          <a:noFill/>
        </p:spPr>
        <p:txBody>
          <a:bodyPr wrap="square">
            <a:spAutoFit/>
          </a:bodyPr>
          <a:lstStyle/>
          <a:p>
            <a:r>
              <a:rPr lang="en-IN" dirty="0">
                <a:latin typeface="Proxima Nova" panose="020B0604020202020204"/>
              </a:rPr>
              <a:t>&lt;!DOCTYPE html&gt;</a:t>
            </a:r>
          </a:p>
          <a:p>
            <a:r>
              <a:rPr lang="en-IN" dirty="0">
                <a:latin typeface="Proxima Nova" panose="020B0604020202020204"/>
              </a:rPr>
              <a:t>&lt;html&gt;</a:t>
            </a:r>
          </a:p>
          <a:p>
            <a:r>
              <a:rPr lang="en-IN" dirty="0">
                <a:latin typeface="Proxima Nova" panose="020B0604020202020204"/>
              </a:rPr>
              <a:t>&lt;head&gt;</a:t>
            </a:r>
          </a:p>
          <a:p>
            <a:r>
              <a:rPr lang="en-IN" dirty="0">
                <a:latin typeface="Proxima Nova" panose="020B0604020202020204"/>
              </a:rPr>
              <a:t>&lt;style&gt;</a:t>
            </a:r>
          </a:p>
          <a:p>
            <a:r>
              <a:rPr lang="en-IN" dirty="0">
                <a:latin typeface="Proxima Nova" panose="020B0604020202020204"/>
              </a:rPr>
              <a:t>:root {</a:t>
            </a:r>
          </a:p>
          <a:p>
            <a:r>
              <a:rPr lang="en-IN" dirty="0">
                <a:latin typeface="Proxima Nova" panose="020B0604020202020204"/>
              </a:rPr>
              <a:t>  --blue: #1e90ff;</a:t>
            </a:r>
          </a:p>
          <a:p>
            <a:r>
              <a:rPr lang="en-IN" dirty="0">
                <a:latin typeface="Proxima Nova" panose="020B0604020202020204"/>
              </a:rPr>
              <a:t>  --white: #ffffff; </a:t>
            </a:r>
          </a:p>
          <a:p>
            <a:r>
              <a:rPr lang="en-IN" dirty="0">
                <a:latin typeface="Proxima Nova" panose="020B0604020202020204"/>
              </a:rPr>
              <a:t>}</a:t>
            </a:r>
          </a:p>
          <a:p>
            <a:endParaRPr lang="en-IN" dirty="0">
              <a:latin typeface="Proxima Nova" panose="020B0604020202020204"/>
            </a:endParaRPr>
          </a:p>
          <a:p>
            <a:r>
              <a:rPr lang="en-IN" dirty="0">
                <a:latin typeface="Proxima Nova" panose="020B0604020202020204"/>
              </a:rPr>
              <a:t>body {</a:t>
            </a:r>
          </a:p>
          <a:p>
            <a:r>
              <a:rPr lang="en-IN" dirty="0">
                <a:latin typeface="Proxima Nova" panose="020B0604020202020204"/>
              </a:rPr>
              <a:t>  background-</a:t>
            </a:r>
            <a:r>
              <a:rPr lang="en-IN" dirty="0" err="1">
                <a:latin typeface="Proxima Nova" panose="020B0604020202020204"/>
              </a:rPr>
              <a:t>color</a:t>
            </a:r>
            <a:r>
              <a:rPr lang="en-IN" dirty="0">
                <a:latin typeface="Proxima Nova" panose="020B0604020202020204"/>
              </a:rPr>
              <a:t>: var(--blue);</a:t>
            </a:r>
          </a:p>
          <a:p>
            <a:r>
              <a:rPr lang="en-IN" dirty="0">
                <a:latin typeface="Proxima Nova" panose="020B0604020202020204"/>
              </a:rPr>
              <a:t>}</a:t>
            </a:r>
          </a:p>
          <a:p>
            <a:endParaRPr lang="en-IN" dirty="0">
              <a:latin typeface="Proxima Nova" panose="020B0604020202020204"/>
            </a:endParaRPr>
          </a:p>
          <a:p>
            <a:r>
              <a:rPr lang="en-IN" dirty="0">
                <a:latin typeface="Proxima Nova" panose="020B0604020202020204"/>
              </a:rPr>
              <a:t>h2 {</a:t>
            </a:r>
          </a:p>
          <a:p>
            <a:r>
              <a:rPr lang="en-IN" dirty="0">
                <a:latin typeface="Proxima Nova" panose="020B0604020202020204"/>
              </a:rPr>
              <a:t>  border-bottom: 2px solid var(--blue);</a:t>
            </a:r>
          </a:p>
          <a:p>
            <a:r>
              <a:rPr lang="en-IN" dirty="0">
                <a:latin typeface="Proxima Nova" panose="020B0604020202020204"/>
              </a:rPr>
              <a:t>}</a:t>
            </a:r>
          </a:p>
          <a:p>
            <a:endParaRPr lang="en-IN" dirty="0">
              <a:latin typeface="Proxima Nova" panose="020B0604020202020204"/>
            </a:endParaRPr>
          </a:p>
          <a:p>
            <a:r>
              <a:rPr lang="en-IN" dirty="0">
                <a:latin typeface="Proxima Nova" panose="020B0604020202020204"/>
              </a:rPr>
              <a:t>}</a:t>
            </a:r>
          </a:p>
          <a:p>
            <a:r>
              <a:rPr lang="en-IN" dirty="0">
                <a:latin typeface="Proxima Nova" panose="020B0604020202020204"/>
              </a:rPr>
              <a:t>&lt;/style&gt;</a:t>
            </a:r>
          </a:p>
          <a:p>
            <a:r>
              <a:rPr lang="en-IN" dirty="0">
                <a:latin typeface="Proxima Nova" panose="020B0604020202020204"/>
              </a:rPr>
              <a:t>&lt;/head&gt;</a:t>
            </a:r>
          </a:p>
          <a:p>
            <a:endParaRPr lang="en-IN" dirty="0">
              <a:latin typeface="Proxima Nova" panose="020B0604020202020204"/>
            </a:endParaRPr>
          </a:p>
        </p:txBody>
      </p:sp>
      <p:sp>
        <p:nvSpPr>
          <p:cNvPr id="7" name="TextBox 6">
            <a:extLst>
              <a:ext uri="{FF2B5EF4-FFF2-40B4-BE49-F238E27FC236}">
                <a16:creationId xmlns:a16="http://schemas.microsoft.com/office/drawing/2014/main" id="{9FFD1759-9A7F-BB93-F91B-1F0180F7A2ED}"/>
              </a:ext>
            </a:extLst>
          </p:cNvPr>
          <p:cNvSpPr txBox="1"/>
          <p:nvPr/>
        </p:nvSpPr>
        <p:spPr>
          <a:xfrm>
            <a:off x="4953000" y="1207502"/>
            <a:ext cx="6096000" cy="3970318"/>
          </a:xfrm>
          <a:prstGeom prst="rect">
            <a:avLst/>
          </a:prstGeom>
          <a:noFill/>
        </p:spPr>
        <p:txBody>
          <a:bodyPr wrap="square">
            <a:spAutoFit/>
          </a:bodyPr>
          <a:lstStyle/>
          <a:p>
            <a:r>
              <a:rPr lang="en-IN" dirty="0">
                <a:latin typeface="Proxima Nova" panose="020B0604020202020204"/>
              </a:rPr>
              <a:t>&lt;body&gt;</a:t>
            </a:r>
          </a:p>
          <a:p>
            <a:endParaRPr lang="en-IN" dirty="0">
              <a:latin typeface="Proxima Nova" panose="020B0604020202020204"/>
            </a:endParaRPr>
          </a:p>
          <a:p>
            <a:r>
              <a:rPr lang="en-IN" dirty="0">
                <a:latin typeface="Proxima Nova" panose="020B0604020202020204"/>
              </a:rPr>
              <a:t>&lt;h1&gt;Using the var() Function&lt;/h1&gt;</a:t>
            </a:r>
          </a:p>
          <a:p>
            <a:endParaRPr lang="en-IN" dirty="0">
              <a:latin typeface="Proxima Nova" panose="020B0604020202020204"/>
            </a:endParaRPr>
          </a:p>
          <a:p>
            <a:r>
              <a:rPr lang="en-IN" dirty="0">
                <a:latin typeface="Proxima Nova" panose="020B0604020202020204"/>
              </a:rPr>
              <a:t>&lt;div class="container"&gt;</a:t>
            </a:r>
          </a:p>
          <a:p>
            <a:r>
              <a:rPr lang="en-IN" dirty="0">
                <a:latin typeface="Proxima Nova" panose="020B0604020202020204"/>
              </a:rPr>
              <a:t>  &lt;h2&gt;Lorem Ipsum&lt;/h2&gt;</a:t>
            </a:r>
          </a:p>
          <a:p>
            <a:r>
              <a:rPr lang="en-IN" dirty="0">
                <a:latin typeface="Proxima Nova" panose="020B0604020202020204"/>
              </a:rPr>
              <a:t>  &lt;p&gt;Lorem ipsum </a:t>
            </a:r>
            <a:r>
              <a:rPr lang="en-IN" dirty="0" err="1">
                <a:latin typeface="Proxima Nova" panose="020B0604020202020204"/>
              </a:rPr>
              <a:t>dolor</a:t>
            </a:r>
            <a:r>
              <a:rPr lang="en-IN" dirty="0">
                <a:latin typeface="Proxima Nova" panose="020B0604020202020204"/>
              </a:rPr>
              <a:t> sit </a:t>
            </a:r>
            <a:r>
              <a:rPr lang="en-IN" dirty="0" err="1">
                <a:latin typeface="Proxima Nova" panose="020B0604020202020204"/>
              </a:rPr>
              <a:t>amet</a:t>
            </a:r>
            <a:r>
              <a:rPr lang="en-IN" dirty="0">
                <a:latin typeface="Proxima Nova" panose="020B0604020202020204"/>
              </a:rPr>
              <a:t>, </a:t>
            </a:r>
            <a:r>
              <a:rPr lang="en-IN" dirty="0" err="1">
                <a:latin typeface="Proxima Nova" panose="020B0604020202020204"/>
              </a:rPr>
              <a:t>consectetur</a:t>
            </a:r>
            <a:r>
              <a:rPr lang="en-IN" dirty="0">
                <a:latin typeface="Proxima Nova" panose="020B0604020202020204"/>
              </a:rPr>
              <a:t> </a:t>
            </a:r>
            <a:r>
              <a:rPr lang="en-IN" dirty="0" err="1">
                <a:latin typeface="Proxima Nova" panose="020B0604020202020204"/>
              </a:rPr>
              <a:t>adipiscing</a:t>
            </a:r>
            <a:r>
              <a:rPr lang="en-IN" dirty="0">
                <a:latin typeface="Proxima Nova" panose="020B0604020202020204"/>
              </a:rPr>
              <a:t> </a:t>
            </a:r>
            <a:r>
              <a:rPr lang="en-IN" dirty="0" err="1">
                <a:latin typeface="Proxima Nova" panose="020B0604020202020204"/>
              </a:rPr>
              <a:t>elit</a:t>
            </a:r>
            <a:r>
              <a:rPr lang="en-IN" dirty="0">
                <a:latin typeface="Proxima Nova" panose="020B0604020202020204"/>
              </a:rPr>
              <a:t>. </a:t>
            </a:r>
            <a:r>
              <a:rPr lang="en-IN" dirty="0" err="1">
                <a:latin typeface="Proxima Nova" panose="020B0604020202020204"/>
              </a:rPr>
              <a:t>Etiam</a:t>
            </a:r>
            <a:r>
              <a:rPr lang="en-IN" dirty="0">
                <a:latin typeface="Proxima Nova" panose="020B0604020202020204"/>
              </a:rPr>
              <a:t> semper </a:t>
            </a:r>
            <a:r>
              <a:rPr lang="en-IN" dirty="0" err="1">
                <a:latin typeface="Proxima Nova" panose="020B0604020202020204"/>
              </a:rPr>
              <a:t>diam</a:t>
            </a:r>
            <a:r>
              <a:rPr lang="en-IN" dirty="0">
                <a:latin typeface="Proxima Nova" panose="020B0604020202020204"/>
              </a:rPr>
              <a:t> at </a:t>
            </a:r>
            <a:r>
              <a:rPr lang="en-IN" dirty="0" err="1">
                <a:latin typeface="Proxima Nova" panose="020B0604020202020204"/>
              </a:rPr>
              <a:t>erat</a:t>
            </a:r>
            <a:r>
              <a:rPr lang="en-IN" dirty="0">
                <a:latin typeface="Proxima Nova" panose="020B0604020202020204"/>
              </a:rPr>
              <a:t> pulvinar, at pulvinar </a:t>
            </a:r>
            <a:r>
              <a:rPr lang="en-IN" dirty="0" err="1">
                <a:latin typeface="Proxima Nova" panose="020B0604020202020204"/>
              </a:rPr>
              <a:t>felis</a:t>
            </a:r>
            <a:r>
              <a:rPr lang="en-IN" dirty="0">
                <a:latin typeface="Proxima Nova" panose="020B0604020202020204"/>
              </a:rPr>
              <a:t> </a:t>
            </a:r>
            <a:r>
              <a:rPr lang="en-IN" dirty="0" err="1">
                <a:latin typeface="Proxima Nova" panose="020B0604020202020204"/>
              </a:rPr>
              <a:t>blandit</a:t>
            </a:r>
            <a:r>
              <a:rPr lang="en-IN" dirty="0">
                <a:latin typeface="Proxima Nova" panose="020B0604020202020204"/>
              </a:rPr>
              <a:t>.&lt;/p&gt;</a:t>
            </a:r>
          </a:p>
          <a:p>
            <a:endParaRPr lang="en-IN" dirty="0">
              <a:latin typeface="Proxima Nova" panose="020B0604020202020204"/>
            </a:endParaRPr>
          </a:p>
          <a:p>
            <a:r>
              <a:rPr lang="en-IN" dirty="0">
                <a:latin typeface="Proxima Nova" panose="020B0604020202020204"/>
              </a:rPr>
              <a:t>&lt;/div&gt;</a:t>
            </a:r>
          </a:p>
          <a:p>
            <a:endParaRPr lang="en-IN" dirty="0">
              <a:latin typeface="Proxima Nova" panose="020B0604020202020204"/>
            </a:endParaRPr>
          </a:p>
          <a:p>
            <a:r>
              <a:rPr lang="en-IN" dirty="0">
                <a:latin typeface="Proxima Nova" panose="020B0604020202020204"/>
              </a:rPr>
              <a:t>&lt;/body&gt;</a:t>
            </a:r>
          </a:p>
          <a:p>
            <a:r>
              <a:rPr lang="en-IN" dirty="0">
                <a:latin typeface="Proxima Nova" panose="020B0604020202020204"/>
              </a:rPr>
              <a:t>&lt;/html&gt;</a:t>
            </a:r>
          </a:p>
        </p:txBody>
      </p:sp>
      <p:pic>
        <p:nvPicPr>
          <p:cNvPr id="9" name="Picture 8">
            <a:extLst>
              <a:ext uri="{FF2B5EF4-FFF2-40B4-BE49-F238E27FC236}">
                <a16:creationId xmlns:a16="http://schemas.microsoft.com/office/drawing/2014/main" id="{FF81A46D-11AA-2DF8-0C6C-A20778C2E4F3}"/>
              </a:ext>
            </a:extLst>
          </p:cNvPr>
          <p:cNvPicPr>
            <a:picLocks noChangeAspect="1"/>
          </p:cNvPicPr>
          <p:nvPr/>
        </p:nvPicPr>
        <p:blipFill>
          <a:blip r:embed="rId2"/>
          <a:stretch>
            <a:fillRect/>
          </a:stretch>
        </p:blipFill>
        <p:spPr>
          <a:xfrm>
            <a:off x="6391275" y="4252141"/>
            <a:ext cx="5138084" cy="1996613"/>
          </a:xfrm>
          <a:prstGeom prst="rect">
            <a:avLst/>
          </a:prstGeom>
        </p:spPr>
      </p:pic>
    </p:spTree>
    <p:extLst>
      <p:ext uri="{BB962C8B-B14F-4D97-AF65-F5344CB8AC3E}">
        <p14:creationId xmlns:p14="http://schemas.microsoft.com/office/powerpoint/2010/main" val="283811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7284"/>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484</TotalTime>
  <Words>19669</Words>
  <Application>Microsoft Office PowerPoint</Application>
  <PresentationFormat>Widescreen</PresentationFormat>
  <Paragraphs>2954</Paragraphs>
  <Slides>206</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206</vt:i4>
      </vt:variant>
    </vt:vector>
  </HeadingPairs>
  <TitlesOfParts>
    <vt:vector size="216" baseType="lpstr">
      <vt:lpstr>SimSun-ExtB</vt:lpstr>
      <vt:lpstr>Arial</vt:lpstr>
      <vt:lpstr>Calibri</vt:lpstr>
      <vt:lpstr>Calibri Light</vt:lpstr>
      <vt:lpstr>Cambria</vt:lpstr>
      <vt:lpstr>Proxima Nova</vt:lpstr>
      <vt:lpstr>Symbol</vt:lpstr>
      <vt:lpstr>Wingdings 2</vt:lpstr>
      <vt:lpstr>Office Theme</vt:lpstr>
      <vt:lpstr>1_Office Theme</vt:lpstr>
      <vt:lpstr>PowerPoint Presentation</vt:lpstr>
      <vt:lpstr>PowerPoint Presentation</vt:lpstr>
      <vt:lpstr>Outline</vt:lpstr>
      <vt:lpstr>CO Mapping</vt:lpstr>
      <vt:lpstr>Introduction to CSS</vt:lpstr>
      <vt:lpstr>Structure VS Presentation</vt:lpstr>
      <vt:lpstr>Advantage of CSS</vt:lpstr>
      <vt:lpstr>Advantage of CSS</vt:lpstr>
      <vt:lpstr>Advantage of CSS</vt:lpstr>
      <vt:lpstr>CSS Syntax</vt:lpstr>
      <vt:lpstr>Example</vt:lpstr>
      <vt:lpstr>CSS Syntax</vt:lpstr>
      <vt:lpstr>Types of CSS</vt:lpstr>
      <vt:lpstr>Inline CSS</vt:lpstr>
      <vt:lpstr>Example</vt:lpstr>
      <vt:lpstr>Internal CSS</vt:lpstr>
      <vt:lpstr>Example </vt:lpstr>
      <vt:lpstr>External CSS</vt:lpstr>
      <vt:lpstr>Example</vt:lpstr>
      <vt:lpstr>CSS Selectors</vt:lpstr>
      <vt:lpstr>CSS class Selector</vt:lpstr>
      <vt:lpstr>Example</vt:lpstr>
      <vt:lpstr>Example</vt:lpstr>
      <vt:lpstr>CSS id Selector</vt:lpstr>
      <vt:lpstr>Example</vt:lpstr>
      <vt:lpstr>CSS Universal Selector</vt:lpstr>
      <vt:lpstr>Basic Selectors</vt:lpstr>
      <vt:lpstr>CSS Pseudo-classes</vt:lpstr>
      <vt:lpstr>Example</vt:lpstr>
      <vt:lpstr>CSS Pseudo-elements</vt:lpstr>
      <vt:lpstr>Example</vt:lpstr>
      <vt:lpstr>The ::first-line Pseudo-element</vt:lpstr>
      <vt:lpstr>The ::first-line Pseudo-element</vt:lpstr>
      <vt:lpstr>CSS [attribute] Selector </vt:lpstr>
      <vt:lpstr>CSS [attribute="value"] Selector </vt:lpstr>
      <vt:lpstr>PowerPoint Presentation</vt:lpstr>
      <vt:lpstr>Background property </vt:lpstr>
      <vt:lpstr>Background Image </vt:lpstr>
      <vt:lpstr>Background-image</vt:lpstr>
      <vt:lpstr>PowerPoint Presentation</vt:lpstr>
      <vt:lpstr>CSS Background Image Repeat </vt:lpstr>
      <vt:lpstr>PowerPoint Presentation</vt:lpstr>
      <vt:lpstr>PowerPoint Presentation</vt:lpstr>
      <vt:lpstr>Background Position</vt:lpstr>
      <vt:lpstr>Background Position</vt:lpstr>
      <vt:lpstr>CSS Background Attachment </vt:lpstr>
      <vt:lpstr>PowerPoint Presentation</vt:lpstr>
      <vt:lpstr>Background-color</vt:lpstr>
      <vt:lpstr>PowerPoint Presentation</vt:lpstr>
      <vt:lpstr>RGB</vt:lpstr>
      <vt:lpstr>PowerPoint Presentation</vt:lpstr>
      <vt:lpstr>Hex</vt:lpstr>
      <vt:lpstr>HSL</vt:lpstr>
      <vt:lpstr>Opacity / Transparency </vt:lpstr>
      <vt:lpstr>Example</vt:lpstr>
      <vt:lpstr>Text Manipulation</vt:lpstr>
      <vt:lpstr>PowerPoint Presentation</vt:lpstr>
      <vt:lpstr>Vertical Alignment </vt:lpstr>
      <vt:lpstr>PowerPoint Presentation</vt:lpstr>
      <vt:lpstr>Text Direction </vt:lpstr>
      <vt:lpstr>Text Decoration</vt:lpstr>
      <vt:lpstr>PowerPoint Presentation</vt:lpstr>
      <vt:lpstr>Text Transformation</vt:lpstr>
      <vt:lpstr>PowerPoint Presentation</vt:lpstr>
      <vt:lpstr>Text Spacing </vt:lpstr>
      <vt:lpstr>PowerPoint Presentation</vt:lpstr>
      <vt:lpstr>Letter Spacing</vt:lpstr>
      <vt:lpstr>Line Height </vt:lpstr>
      <vt:lpstr>Word Spacing</vt:lpstr>
      <vt:lpstr>White Space</vt:lpstr>
      <vt:lpstr>Text Shadow</vt:lpstr>
      <vt:lpstr>Example</vt:lpstr>
      <vt:lpstr>Font-family</vt:lpstr>
      <vt:lpstr>Font-style</vt:lpstr>
      <vt:lpstr>Example</vt:lpstr>
      <vt:lpstr>Font-weight</vt:lpstr>
      <vt:lpstr>Font-variant</vt:lpstr>
      <vt:lpstr>Font-size</vt:lpstr>
      <vt:lpstr>Font-Size Units</vt:lpstr>
      <vt:lpstr>Font size unit</vt:lpstr>
      <vt:lpstr>Borders</vt:lpstr>
      <vt:lpstr>Border</vt:lpstr>
      <vt:lpstr>Border Width</vt:lpstr>
      <vt:lpstr>Rounded Borders</vt:lpstr>
      <vt:lpstr>Border-color</vt:lpstr>
      <vt:lpstr>Border-color</vt:lpstr>
      <vt:lpstr>Border-color</vt:lpstr>
      <vt:lpstr>Margins</vt:lpstr>
      <vt:lpstr>PowerPoint Presentation</vt:lpstr>
      <vt:lpstr>Example</vt:lpstr>
      <vt:lpstr>The auto Value </vt:lpstr>
      <vt:lpstr>The inherit Value</vt:lpstr>
      <vt:lpstr>CSS PADDINGS</vt:lpstr>
      <vt:lpstr>PowerPoint Presentation</vt:lpstr>
      <vt:lpstr>Padding - Shorthand Property </vt:lpstr>
      <vt:lpstr>Padding - Shorthand Property </vt:lpstr>
      <vt:lpstr>Padding - Shorthand Property </vt:lpstr>
      <vt:lpstr>Box Model</vt:lpstr>
      <vt:lpstr>Box Model</vt:lpstr>
      <vt:lpstr>Example</vt:lpstr>
      <vt:lpstr>Width and Height of an Element </vt:lpstr>
      <vt:lpstr>Width and Height of an Element </vt:lpstr>
      <vt:lpstr>CSS Text Effects </vt:lpstr>
      <vt:lpstr>Example</vt:lpstr>
      <vt:lpstr>Output</vt:lpstr>
      <vt:lpstr>Example</vt:lpstr>
      <vt:lpstr>CSS Word Wrapping </vt:lpstr>
      <vt:lpstr>Example</vt:lpstr>
      <vt:lpstr>CSS Word Breaking </vt:lpstr>
      <vt:lpstr>Example</vt:lpstr>
      <vt:lpstr>CSS Writing Mode </vt:lpstr>
      <vt:lpstr>Output</vt:lpstr>
      <vt:lpstr>CSS 2D Transforms </vt:lpstr>
      <vt:lpstr>The translate() Method </vt:lpstr>
      <vt:lpstr>Example</vt:lpstr>
      <vt:lpstr>The rotate() Method</vt:lpstr>
      <vt:lpstr>PowerPoint Presentation</vt:lpstr>
      <vt:lpstr>The scale() Method </vt:lpstr>
      <vt:lpstr>PowerPoint Presentation</vt:lpstr>
      <vt:lpstr>The scaleX() Method </vt:lpstr>
      <vt:lpstr>The skewX() Method </vt:lpstr>
      <vt:lpstr>PowerPoint Presentation</vt:lpstr>
      <vt:lpstr>PowerPoint Presentation</vt:lpstr>
      <vt:lpstr>PowerPoint Presentation</vt:lpstr>
      <vt:lpstr>The matrix() Method </vt:lpstr>
      <vt:lpstr>PowerPoint Presentation</vt:lpstr>
      <vt:lpstr>CSS 3D Transforms </vt:lpstr>
      <vt:lpstr>CSS 3D Transforms</vt:lpstr>
      <vt:lpstr>PowerPoint Presentation</vt:lpstr>
      <vt:lpstr>PowerPoint Presentation</vt:lpstr>
      <vt:lpstr>PowerPoint Presentation</vt:lpstr>
      <vt:lpstr>CSS 3D Transforms </vt:lpstr>
      <vt:lpstr>CSS 3D Transforms</vt:lpstr>
      <vt:lpstr>PowerPoint Presentation</vt:lpstr>
      <vt:lpstr>PowerPoint Presentation</vt:lpstr>
      <vt:lpstr>PowerPoint Presentation</vt:lpstr>
      <vt:lpstr>CSS Transitions </vt:lpstr>
      <vt:lpstr>How to Use CSS Transitions? </vt:lpstr>
      <vt:lpstr>PowerPoint Presentation</vt:lpstr>
      <vt:lpstr>PowerPoint Presentation</vt:lpstr>
      <vt:lpstr>Specify the Speed Curve of the Transition </vt:lpstr>
      <vt:lpstr>PowerPoint Presentation</vt:lpstr>
      <vt:lpstr>Delay the Transition Effect</vt:lpstr>
      <vt:lpstr>Images</vt:lpstr>
      <vt:lpstr>Images </vt:lpstr>
      <vt:lpstr>Images </vt:lpstr>
      <vt:lpstr>Images </vt:lpstr>
      <vt:lpstr>PowerPoint Presentation</vt:lpstr>
      <vt:lpstr>Images</vt:lpstr>
      <vt:lpstr>Image Text</vt:lpstr>
      <vt:lpstr>PowerPoint Presentation</vt:lpstr>
      <vt:lpstr>PowerPoint Presentation</vt:lpstr>
      <vt:lpstr>Positioning   </vt:lpstr>
      <vt:lpstr>position: static; </vt:lpstr>
      <vt:lpstr>position: relative; </vt:lpstr>
      <vt:lpstr>position: fixed; </vt:lpstr>
      <vt:lpstr>position: absolute; </vt:lpstr>
      <vt:lpstr>Example</vt:lpstr>
      <vt:lpstr>position: sticky; </vt:lpstr>
      <vt:lpstr>Output</vt:lpstr>
      <vt:lpstr>Overlapping Elements Z-Index</vt:lpstr>
      <vt:lpstr>Example</vt:lpstr>
      <vt:lpstr>CSS Animations </vt:lpstr>
      <vt:lpstr>Animation</vt:lpstr>
      <vt:lpstr>Animation</vt:lpstr>
      <vt:lpstr>Example</vt:lpstr>
      <vt:lpstr>Example 2</vt:lpstr>
      <vt:lpstr>Example</vt:lpstr>
      <vt:lpstr>Animation Properties</vt:lpstr>
      <vt:lpstr>Animation Properties</vt:lpstr>
      <vt:lpstr>Animation Properties</vt:lpstr>
      <vt:lpstr>Shorthand Property</vt:lpstr>
      <vt:lpstr>Example</vt:lpstr>
      <vt:lpstr>Example</vt:lpstr>
      <vt:lpstr>Flex Box</vt:lpstr>
      <vt:lpstr>Example</vt:lpstr>
      <vt:lpstr>Flex Container Property</vt:lpstr>
      <vt:lpstr>The flex-direction Property </vt:lpstr>
      <vt:lpstr>The flex-wrap Property </vt:lpstr>
      <vt:lpstr>Example</vt:lpstr>
      <vt:lpstr>The flex-flow Property </vt:lpstr>
      <vt:lpstr>The justify-content Property </vt:lpstr>
      <vt:lpstr>The align-items Property </vt:lpstr>
      <vt:lpstr>The align-content Property </vt:lpstr>
      <vt:lpstr>Example</vt:lpstr>
      <vt:lpstr>CSS Flex Items </vt:lpstr>
      <vt:lpstr>The order Property </vt:lpstr>
      <vt:lpstr>The flex-grow Property </vt:lpstr>
      <vt:lpstr>The flex-shrink Property </vt:lpstr>
      <vt:lpstr>The flex-basis Property </vt:lpstr>
      <vt:lpstr>The align-self Property </vt:lpstr>
      <vt:lpstr>CSS Multi-column Layout </vt:lpstr>
      <vt:lpstr>CSS Multi-column Layout </vt:lpstr>
      <vt:lpstr>CSS Multi-column Layout </vt:lpstr>
      <vt:lpstr>CSS Multi-column Layout </vt:lpstr>
      <vt:lpstr>CSS Multi-column Layout </vt:lpstr>
      <vt:lpstr>CSS Multi-column Layout </vt:lpstr>
      <vt:lpstr>Output</vt:lpstr>
      <vt:lpstr>Media Queries</vt:lpstr>
      <vt:lpstr>Media Query Syntax</vt:lpstr>
      <vt:lpstr>CSS3 Media Types </vt:lpstr>
      <vt:lpstr>Example</vt:lpstr>
      <vt:lpstr>CSS Variables</vt:lpstr>
      <vt:lpstr>How var() Works</vt:lpstr>
      <vt:lpstr>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harvi kalola</cp:lastModifiedBy>
  <cp:revision>282</cp:revision>
  <dcterms:created xsi:type="dcterms:W3CDTF">2023-12-05T07:58:57Z</dcterms:created>
  <dcterms:modified xsi:type="dcterms:W3CDTF">2026-09-16T13:20:12Z</dcterms:modified>
</cp:coreProperties>
</file>