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9" r:id="rId4"/>
    <p:sldId id="267" r:id="rId5"/>
    <p:sldId id="268" r:id="rId6"/>
    <p:sldId id="269" r:id="rId7"/>
    <p:sldId id="270" r:id="rId8"/>
    <p:sldId id="272" r:id="rId9"/>
    <p:sldId id="273" r:id="rId10"/>
    <p:sldId id="274" r:id="rId11"/>
    <p:sldId id="275" r:id="rId12"/>
    <p:sldId id="276" r:id="rId13"/>
    <p:sldId id="277" r:id="rId14"/>
    <p:sldId id="278" r:id="rId15"/>
    <p:sldId id="279" r:id="rId16"/>
    <p:sldId id="280" r:id="rId17"/>
    <p:sldId id="281" r:id="rId18"/>
    <p:sldId id="282" r:id="rId19"/>
    <p:sldId id="285" r:id="rId20"/>
    <p:sldId id="284" r:id="rId21"/>
    <p:sldId id="286" r:id="rId22"/>
    <p:sldId id="294" r:id="rId23"/>
    <p:sldId id="293" r:id="rId24"/>
    <p:sldId id="295" r:id="rId25"/>
    <p:sldId id="296" r:id="rId26"/>
    <p:sldId id="292"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17" r:id="rId48"/>
    <p:sldId id="318" r:id="rId49"/>
    <p:sldId id="319" r:id="rId50"/>
    <p:sldId id="320" r:id="rId51"/>
    <p:sldId id="321" r:id="rId52"/>
    <p:sldId id="322" r:id="rId53"/>
    <p:sldId id="324" r:id="rId54"/>
    <p:sldId id="325" r:id="rId55"/>
    <p:sldId id="326" r:id="rId56"/>
    <p:sldId id="327" r:id="rId57"/>
    <p:sldId id="328" r:id="rId58"/>
    <p:sldId id="329" r:id="rId59"/>
    <p:sldId id="330" r:id="rId60"/>
    <p:sldId id="331" r:id="rId61"/>
    <p:sldId id="25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5" d="100"/>
          <a:sy n="85" d="100"/>
        </p:scale>
        <p:origin x="54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F21616-8455-46B5-9EDE-6C9960BA5CC8}"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IN"/>
        </a:p>
      </dgm:t>
    </dgm:pt>
    <dgm:pt modelId="{7D4AFCF8-320A-453C-8A19-FD78C6DA1241}">
      <dgm:prSet phldrT="[Text]"/>
      <dgm:spPr/>
      <dgm:t>
        <a:bodyPr/>
        <a:lstStyle/>
        <a:p>
          <a:r>
            <a:rPr lang="en-US" dirty="0"/>
            <a:t>Lists</a:t>
          </a:r>
          <a:endParaRPr lang="en-IN" dirty="0"/>
        </a:p>
      </dgm:t>
    </dgm:pt>
    <dgm:pt modelId="{0D567F7F-82F0-44E2-A45D-291932A7571D}" type="parTrans" cxnId="{9BB702C6-B0C3-41F6-9517-92FD42BF6655}">
      <dgm:prSet/>
      <dgm:spPr/>
      <dgm:t>
        <a:bodyPr/>
        <a:lstStyle/>
        <a:p>
          <a:endParaRPr lang="en-IN"/>
        </a:p>
      </dgm:t>
    </dgm:pt>
    <dgm:pt modelId="{2A1B8523-C07A-4A8C-AB33-6FDFFB0C3DC8}" type="sibTrans" cxnId="{9BB702C6-B0C3-41F6-9517-92FD42BF6655}">
      <dgm:prSet/>
      <dgm:spPr/>
      <dgm:t>
        <a:bodyPr/>
        <a:lstStyle/>
        <a:p>
          <a:endParaRPr lang="en-IN"/>
        </a:p>
      </dgm:t>
    </dgm:pt>
    <dgm:pt modelId="{9F099BCB-8B0B-4278-8CE5-3E4422AD3B44}">
      <dgm:prSet phldrT="[Text]"/>
      <dgm:spPr/>
      <dgm:t>
        <a:bodyPr/>
        <a:lstStyle/>
        <a:p>
          <a:r>
            <a:rPr lang="en-US" dirty="0"/>
            <a:t>Unordered list</a:t>
          </a:r>
          <a:endParaRPr lang="en-IN" dirty="0"/>
        </a:p>
      </dgm:t>
    </dgm:pt>
    <dgm:pt modelId="{AFE838A4-8138-4BFA-98F7-F8122D1AF263}" type="parTrans" cxnId="{4AAD0FE0-C74B-4C97-AC16-E25C093E4CAE}">
      <dgm:prSet/>
      <dgm:spPr/>
      <dgm:t>
        <a:bodyPr/>
        <a:lstStyle/>
        <a:p>
          <a:endParaRPr lang="en-IN"/>
        </a:p>
      </dgm:t>
    </dgm:pt>
    <dgm:pt modelId="{A046F598-C04E-4302-8D8E-09FC583E01AA}" type="sibTrans" cxnId="{4AAD0FE0-C74B-4C97-AC16-E25C093E4CAE}">
      <dgm:prSet/>
      <dgm:spPr/>
      <dgm:t>
        <a:bodyPr/>
        <a:lstStyle/>
        <a:p>
          <a:endParaRPr lang="en-IN"/>
        </a:p>
      </dgm:t>
    </dgm:pt>
    <dgm:pt modelId="{1AD15C9B-0905-4ED9-B7A9-1F9A71112946}">
      <dgm:prSet phldrT="[Text]"/>
      <dgm:spPr/>
      <dgm:t>
        <a:bodyPr/>
        <a:lstStyle/>
        <a:p>
          <a:r>
            <a:rPr lang="en-US" dirty="0"/>
            <a:t>Ordered List</a:t>
          </a:r>
          <a:endParaRPr lang="en-IN" dirty="0"/>
        </a:p>
      </dgm:t>
    </dgm:pt>
    <dgm:pt modelId="{48F6F73E-EDB1-47A2-9DBA-A23F9CA84FEF}" type="parTrans" cxnId="{8494607F-D86A-4FBA-A20F-DAE302B8B62C}">
      <dgm:prSet/>
      <dgm:spPr/>
      <dgm:t>
        <a:bodyPr/>
        <a:lstStyle/>
        <a:p>
          <a:endParaRPr lang="en-IN"/>
        </a:p>
      </dgm:t>
    </dgm:pt>
    <dgm:pt modelId="{D0F7FF2A-B131-4D84-9C9D-430E182FF0C2}" type="sibTrans" cxnId="{8494607F-D86A-4FBA-A20F-DAE302B8B62C}">
      <dgm:prSet/>
      <dgm:spPr/>
      <dgm:t>
        <a:bodyPr/>
        <a:lstStyle/>
        <a:p>
          <a:endParaRPr lang="en-IN"/>
        </a:p>
      </dgm:t>
    </dgm:pt>
    <dgm:pt modelId="{83B26866-7E2E-4A7B-9F02-906CC18DC2E3}">
      <dgm:prSet phldrT="[Text]"/>
      <dgm:spPr/>
      <dgm:t>
        <a:bodyPr/>
        <a:lstStyle/>
        <a:p>
          <a:r>
            <a:rPr lang="en-US" dirty="0"/>
            <a:t>Nested List</a:t>
          </a:r>
          <a:endParaRPr lang="en-IN" dirty="0"/>
        </a:p>
      </dgm:t>
    </dgm:pt>
    <dgm:pt modelId="{44E26A25-E816-469C-8BA9-DB23FD67DFB6}" type="parTrans" cxnId="{95D49238-AA8A-47E3-A29C-708882B3B1B2}">
      <dgm:prSet/>
      <dgm:spPr/>
      <dgm:t>
        <a:bodyPr/>
        <a:lstStyle/>
        <a:p>
          <a:endParaRPr lang="en-IN"/>
        </a:p>
      </dgm:t>
    </dgm:pt>
    <dgm:pt modelId="{17743609-1703-4EF2-8E34-2A70BF015BED}" type="sibTrans" cxnId="{95D49238-AA8A-47E3-A29C-708882B3B1B2}">
      <dgm:prSet/>
      <dgm:spPr/>
      <dgm:t>
        <a:bodyPr/>
        <a:lstStyle/>
        <a:p>
          <a:endParaRPr lang="en-IN"/>
        </a:p>
      </dgm:t>
    </dgm:pt>
    <dgm:pt modelId="{68F21098-65B9-4BB9-B89E-555A33AA7FAB}">
      <dgm:prSet/>
      <dgm:spPr/>
      <dgm:t>
        <a:bodyPr/>
        <a:lstStyle/>
        <a:p>
          <a:r>
            <a:rPr lang="en-US" dirty="0"/>
            <a:t>Definition List</a:t>
          </a:r>
          <a:endParaRPr lang="en-IN" dirty="0"/>
        </a:p>
      </dgm:t>
    </dgm:pt>
    <dgm:pt modelId="{00B39CB7-CF19-4AE9-A578-3E6D8CD08292}" type="parTrans" cxnId="{220B36D5-BC00-4843-8A0E-E682F7F49CBA}">
      <dgm:prSet/>
      <dgm:spPr/>
      <dgm:t>
        <a:bodyPr/>
        <a:lstStyle/>
        <a:p>
          <a:endParaRPr lang="en-IN"/>
        </a:p>
      </dgm:t>
    </dgm:pt>
    <dgm:pt modelId="{CDF677BF-1820-49B1-A07F-D9808C87BF5B}" type="sibTrans" cxnId="{220B36D5-BC00-4843-8A0E-E682F7F49CBA}">
      <dgm:prSet/>
      <dgm:spPr/>
      <dgm:t>
        <a:bodyPr/>
        <a:lstStyle/>
        <a:p>
          <a:endParaRPr lang="en-IN"/>
        </a:p>
      </dgm:t>
    </dgm:pt>
    <dgm:pt modelId="{566E58B8-5FC9-4D39-B3CF-0DFA699049BD}" type="pres">
      <dgm:prSet presAssocID="{5EF21616-8455-46B5-9EDE-6C9960BA5CC8}" presName="hierChild1" presStyleCnt="0">
        <dgm:presLayoutVars>
          <dgm:orgChart val="1"/>
          <dgm:chPref val="1"/>
          <dgm:dir/>
          <dgm:animOne val="branch"/>
          <dgm:animLvl val="lvl"/>
          <dgm:resizeHandles/>
        </dgm:presLayoutVars>
      </dgm:prSet>
      <dgm:spPr/>
    </dgm:pt>
    <dgm:pt modelId="{FE8A4475-B73C-49AD-A102-58A3BBB4FF1A}" type="pres">
      <dgm:prSet presAssocID="{7D4AFCF8-320A-453C-8A19-FD78C6DA1241}" presName="hierRoot1" presStyleCnt="0">
        <dgm:presLayoutVars>
          <dgm:hierBranch val="init"/>
        </dgm:presLayoutVars>
      </dgm:prSet>
      <dgm:spPr/>
    </dgm:pt>
    <dgm:pt modelId="{8F1C2099-C7EE-4C51-9E71-F16BB5D409A7}" type="pres">
      <dgm:prSet presAssocID="{7D4AFCF8-320A-453C-8A19-FD78C6DA1241}" presName="rootComposite1" presStyleCnt="0"/>
      <dgm:spPr/>
    </dgm:pt>
    <dgm:pt modelId="{89341C7D-CE09-4FEB-A9B9-CA2E247338C9}" type="pres">
      <dgm:prSet presAssocID="{7D4AFCF8-320A-453C-8A19-FD78C6DA1241}" presName="rootText1" presStyleLbl="node0" presStyleIdx="0" presStyleCnt="1">
        <dgm:presLayoutVars>
          <dgm:chPref val="3"/>
        </dgm:presLayoutVars>
      </dgm:prSet>
      <dgm:spPr/>
    </dgm:pt>
    <dgm:pt modelId="{22102158-C0E2-4E8D-9CD8-3FD981E7A4A5}" type="pres">
      <dgm:prSet presAssocID="{7D4AFCF8-320A-453C-8A19-FD78C6DA1241}" presName="rootConnector1" presStyleLbl="node1" presStyleIdx="0" presStyleCnt="0"/>
      <dgm:spPr/>
    </dgm:pt>
    <dgm:pt modelId="{BA996ED9-500D-469F-85D3-89D7DFC2D402}" type="pres">
      <dgm:prSet presAssocID="{7D4AFCF8-320A-453C-8A19-FD78C6DA1241}" presName="hierChild2" presStyleCnt="0"/>
      <dgm:spPr/>
    </dgm:pt>
    <dgm:pt modelId="{2389E3CE-F4C7-4A64-A2BC-82706B5BF131}" type="pres">
      <dgm:prSet presAssocID="{AFE838A4-8138-4BFA-98F7-F8122D1AF263}" presName="Name37" presStyleLbl="parChTrans1D2" presStyleIdx="0" presStyleCnt="4"/>
      <dgm:spPr/>
    </dgm:pt>
    <dgm:pt modelId="{E12A313E-8089-4F7E-871E-E88EF9F2893B}" type="pres">
      <dgm:prSet presAssocID="{9F099BCB-8B0B-4278-8CE5-3E4422AD3B44}" presName="hierRoot2" presStyleCnt="0">
        <dgm:presLayoutVars>
          <dgm:hierBranch val="init"/>
        </dgm:presLayoutVars>
      </dgm:prSet>
      <dgm:spPr/>
    </dgm:pt>
    <dgm:pt modelId="{D2DC894F-A4CD-4C35-A249-2D175B6099D5}" type="pres">
      <dgm:prSet presAssocID="{9F099BCB-8B0B-4278-8CE5-3E4422AD3B44}" presName="rootComposite" presStyleCnt="0"/>
      <dgm:spPr/>
    </dgm:pt>
    <dgm:pt modelId="{3B4D9FE5-5195-477A-9D99-6EE0DD7BD1F1}" type="pres">
      <dgm:prSet presAssocID="{9F099BCB-8B0B-4278-8CE5-3E4422AD3B44}" presName="rootText" presStyleLbl="node2" presStyleIdx="0" presStyleCnt="4">
        <dgm:presLayoutVars>
          <dgm:chPref val="3"/>
        </dgm:presLayoutVars>
      </dgm:prSet>
      <dgm:spPr/>
    </dgm:pt>
    <dgm:pt modelId="{8BABE157-7AE7-44DB-A7EF-04C186CA649D}" type="pres">
      <dgm:prSet presAssocID="{9F099BCB-8B0B-4278-8CE5-3E4422AD3B44}" presName="rootConnector" presStyleLbl="node2" presStyleIdx="0" presStyleCnt="4"/>
      <dgm:spPr/>
    </dgm:pt>
    <dgm:pt modelId="{1250CF37-85F3-4CEE-9905-CAA279B7CB41}" type="pres">
      <dgm:prSet presAssocID="{9F099BCB-8B0B-4278-8CE5-3E4422AD3B44}" presName="hierChild4" presStyleCnt="0"/>
      <dgm:spPr/>
    </dgm:pt>
    <dgm:pt modelId="{ABDB3DF9-524D-46F0-AF23-ED70CA2D0B50}" type="pres">
      <dgm:prSet presAssocID="{9F099BCB-8B0B-4278-8CE5-3E4422AD3B44}" presName="hierChild5" presStyleCnt="0"/>
      <dgm:spPr/>
    </dgm:pt>
    <dgm:pt modelId="{E6A0857F-980F-468F-B6F0-635D0EC8EC9B}" type="pres">
      <dgm:prSet presAssocID="{48F6F73E-EDB1-47A2-9DBA-A23F9CA84FEF}" presName="Name37" presStyleLbl="parChTrans1D2" presStyleIdx="1" presStyleCnt="4"/>
      <dgm:spPr/>
    </dgm:pt>
    <dgm:pt modelId="{716C324F-EA85-43A2-8F11-7DE4CAFDCC78}" type="pres">
      <dgm:prSet presAssocID="{1AD15C9B-0905-4ED9-B7A9-1F9A71112946}" presName="hierRoot2" presStyleCnt="0">
        <dgm:presLayoutVars>
          <dgm:hierBranch val="init"/>
        </dgm:presLayoutVars>
      </dgm:prSet>
      <dgm:spPr/>
    </dgm:pt>
    <dgm:pt modelId="{1D2FB5F9-787D-411B-9CB8-734E1C8D80C4}" type="pres">
      <dgm:prSet presAssocID="{1AD15C9B-0905-4ED9-B7A9-1F9A71112946}" presName="rootComposite" presStyleCnt="0"/>
      <dgm:spPr/>
    </dgm:pt>
    <dgm:pt modelId="{7EF018DE-2BCA-4EEF-8A61-961604E21225}" type="pres">
      <dgm:prSet presAssocID="{1AD15C9B-0905-4ED9-B7A9-1F9A71112946}" presName="rootText" presStyleLbl="node2" presStyleIdx="1" presStyleCnt="4">
        <dgm:presLayoutVars>
          <dgm:chPref val="3"/>
        </dgm:presLayoutVars>
      </dgm:prSet>
      <dgm:spPr/>
    </dgm:pt>
    <dgm:pt modelId="{4B3BE8AD-A049-4170-B4DD-580BDAE84AA1}" type="pres">
      <dgm:prSet presAssocID="{1AD15C9B-0905-4ED9-B7A9-1F9A71112946}" presName="rootConnector" presStyleLbl="node2" presStyleIdx="1" presStyleCnt="4"/>
      <dgm:spPr/>
    </dgm:pt>
    <dgm:pt modelId="{EA9AAA80-CD42-495A-80DE-547A80B6E0D5}" type="pres">
      <dgm:prSet presAssocID="{1AD15C9B-0905-4ED9-B7A9-1F9A71112946}" presName="hierChild4" presStyleCnt="0"/>
      <dgm:spPr/>
    </dgm:pt>
    <dgm:pt modelId="{E11F65F9-F87E-411D-8D9B-8D23E32FF82D}" type="pres">
      <dgm:prSet presAssocID="{1AD15C9B-0905-4ED9-B7A9-1F9A71112946}" presName="hierChild5" presStyleCnt="0"/>
      <dgm:spPr/>
    </dgm:pt>
    <dgm:pt modelId="{DF26D539-1125-416B-BA93-67C887482158}" type="pres">
      <dgm:prSet presAssocID="{44E26A25-E816-469C-8BA9-DB23FD67DFB6}" presName="Name37" presStyleLbl="parChTrans1D2" presStyleIdx="2" presStyleCnt="4"/>
      <dgm:spPr/>
    </dgm:pt>
    <dgm:pt modelId="{AE2482A5-8B7A-45F4-8245-E205CAF5FC16}" type="pres">
      <dgm:prSet presAssocID="{83B26866-7E2E-4A7B-9F02-906CC18DC2E3}" presName="hierRoot2" presStyleCnt="0">
        <dgm:presLayoutVars>
          <dgm:hierBranch val="init"/>
        </dgm:presLayoutVars>
      </dgm:prSet>
      <dgm:spPr/>
    </dgm:pt>
    <dgm:pt modelId="{35C66E42-C95C-44F3-ABFA-7BCB19CA8D25}" type="pres">
      <dgm:prSet presAssocID="{83B26866-7E2E-4A7B-9F02-906CC18DC2E3}" presName="rootComposite" presStyleCnt="0"/>
      <dgm:spPr/>
    </dgm:pt>
    <dgm:pt modelId="{E5A10C48-480B-4CA5-B237-AC8AD359AF07}" type="pres">
      <dgm:prSet presAssocID="{83B26866-7E2E-4A7B-9F02-906CC18DC2E3}" presName="rootText" presStyleLbl="node2" presStyleIdx="2" presStyleCnt="4">
        <dgm:presLayoutVars>
          <dgm:chPref val="3"/>
        </dgm:presLayoutVars>
      </dgm:prSet>
      <dgm:spPr/>
    </dgm:pt>
    <dgm:pt modelId="{14B42BEC-E2ED-4725-B979-0CBAC79D8A6F}" type="pres">
      <dgm:prSet presAssocID="{83B26866-7E2E-4A7B-9F02-906CC18DC2E3}" presName="rootConnector" presStyleLbl="node2" presStyleIdx="2" presStyleCnt="4"/>
      <dgm:spPr/>
    </dgm:pt>
    <dgm:pt modelId="{CED09F2C-AD64-48AA-9720-49BB72A8B611}" type="pres">
      <dgm:prSet presAssocID="{83B26866-7E2E-4A7B-9F02-906CC18DC2E3}" presName="hierChild4" presStyleCnt="0"/>
      <dgm:spPr/>
    </dgm:pt>
    <dgm:pt modelId="{22C8ADB9-9DA7-4083-9EA1-B5B686F88A8B}" type="pres">
      <dgm:prSet presAssocID="{83B26866-7E2E-4A7B-9F02-906CC18DC2E3}" presName="hierChild5" presStyleCnt="0"/>
      <dgm:spPr/>
    </dgm:pt>
    <dgm:pt modelId="{0FE99FDA-4B39-4397-A72C-F3BA39B04D70}" type="pres">
      <dgm:prSet presAssocID="{00B39CB7-CF19-4AE9-A578-3E6D8CD08292}" presName="Name37" presStyleLbl="parChTrans1D2" presStyleIdx="3" presStyleCnt="4"/>
      <dgm:spPr/>
    </dgm:pt>
    <dgm:pt modelId="{58E3CA7A-C43F-44D1-9912-ABD1A759105A}" type="pres">
      <dgm:prSet presAssocID="{68F21098-65B9-4BB9-B89E-555A33AA7FAB}" presName="hierRoot2" presStyleCnt="0">
        <dgm:presLayoutVars>
          <dgm:hierBranch val="init"/>
        </dgm:presLayoutVars>
      </dgm:prSet>
      <dgm:spPr/>
    </dgm:pt>
    <dgm:pt modelId="{98C2A339-2E66-4212-ADFE-DF737634C023}" type="pres">
      <dgm:prSet presAssocID="{68F21098-65B9-4BB9-B89E-555A33AA7FAB}" presName="rootComposite" presStyleCnt="0"/>
      <dgm:spPr/>
    </dgm:pt>
    <dgm:pt modelId="{CFBD9DCB-4FB5-467D-9517-02F4C83819F9}" type="pres">
      <dgm:prSet presAssocID="{68F21098-65B9-4BB9-B89E-555A33AA7FAB}" presName="rootText" presStyleLbl="node2" presStyleIdx="3" presStyleCnt="4">
        <dgm:presLayoutVars>
          <dgm:chPref val="3"/>
        </dgm:presLayoutVars>
      </dgm:prSet>
      <dgm:spPr/>
    </dgm:pt>
    <dgm:pt modelId="{DF94690D-6B11-41B8-9271-3251D66B7FB3}" type="pres">
      <dgm:prSet presAssocID="{68F21098-65B9-4BB9-B89E-555A33AA7FAB}" presName="rootConnector" presStyleLbl="node2" presStyleIdx="3" presStyleCnt="4"/>
      <dgm:spPr/>
    </dgm:pt>
    <dgm:pt modelId="{1A18E239-9DEA-4149-9343-7BA2BEF9C960}" type="pres">
      <dgm:prSet presAssocID="{68F21098-65B9-4BB9-B89E-555A33AA7FAB}" presName="hierChild4" presStyleCnt="0"/>
      <dgm:spPr/>
    </dgm:pt>
    <dgm:pt modelId="{81183B7D-1DD2-4F86-B6A1-FB2679D99FAB}" type="pres">
      <dgm:prSet presAssocID="{68F21098-65B9-4BB9-B89E-555A33AA7FAB}" presName="hierChild5" presStyleCnt="0"/>
      <dgm:spPr/>
    </dgm:pt>
    <dgm:pt modelId="{01D7BDA7-3343-4D7F-88F6-275C398EAD55}" type="pres">
      <dgm:prSet presAssocID="{7D4AFCF8-320A-453C-8A19-FD78C6DA1241}" presName="hierChild3" presStyleCnt="0"/>
      <dgm:spPr/>
    </dgm:pt>
  </dgm:ptLst>
  <dgm:cxnLst>
    <dgm:cxn modelId="{DBA67911-71EC-4C9D-A025-522A61207444}" type="presOf" srcId="{1AD15C9B-0905-4ED9-B7A9-1F9A71112946}" destId="{7EF018DE-2BCA-4EEF-8A61-961604E21225}" srcOrd="0" destOrd="0" presId="urn:microsoft.com/office/officeart/2005/8/layout/orgChart1"/>
    <dgm:cxn modelId="{48073A2A-4FEB-47B8-9EC4-D066515BD613}" type="presOf" srcId="{9F099BCB-8B0B-4278-8CE5-3E4422AD3B44}" destId="{8BABE157-7AE7-44DB-A7EF-04C186CA649D}" srcOrd="1" destOrd="0" presId="urn:microsoft.com/office/officeart/2005/8/layout/orgChart1"/>
    <dgm:cxn modelId="{5371A52F-4B08-4025-BADD-D37EBF056FDF}" type="presOf" srcId="{9F099BCB-8B0B-4278-8CE5-3E4422AD3B44}" destId="{3B4D9FE5-5195-477A-9D99-6EE0DD7BD1F1}" srcOrd="0" destOrd="0" presId="urn:microsoft.com/office/officeart/2005/8/layout/orgChart1"/>
    <dgm:cxn modelId="{76908430-BAEF-4D27-81F7-574F9C3E57D5}" type="presOf" srcId="{48F6F73E-EDB1-47A2-9DBA-A23F9CA84FEF}" destId="{E6A0857F-980F-468F-B6F0-635D0EC8EC9B}" srcOrd="0" destOrd="0" presId="urn:microsoft.com/office/officeart/2005/8/layout/orgChart1"/>
    <dgm:cxn modelId="{F8C9DB35-36C4-49C8-8B59-0BEAE7805A20}" type="presOf" srcId="{AFE838A4-8138-4BFA-98F7-F8122D1AF263}" destId="{2389E3CE-F4C7-4A64-A2BC-82706B5BF131}" srcOrd="0" destOrd="0" presId="urn:microsoft.com/office/officeart/2005/8/layout/orgChart1"/>
    <dgm:cxn modelId="{95D49238-AA8A-47E3-A29C-708882B3B1B2}" srcId="{7D4AFCF8-320A-453C-8A19-FD78C6DA1241}" destId="{83B26866-7E2E-4A7B-9F02-906CC18DC2E3}" srcOrd="2" destOrd="0" parTransId="{44E26A25-E816-469C-8BA9-DB23FD67DFB6}" sibTransId="{17743609-1703-4EF2-8E34-2A70BF015BED}"/>
    <dgm:cxn modelId="{D7A72A67-A65C-4DDB-8235-6CFA25B826BB}" type="presOf" srcId="{83B26866-7E2E-4A7B-9F02-906CC18DC2E3}" destId="{E5A10C48-480B-4CA5-B237-AC8AD359AF07}" srcOrd="0" destOrd="0" presId="urn:microsoft.com/office/officeart/2005/8/layout/orgChart1"/>
    <dgm:cxn modelId="{57977F4E-ABBF-4902-9684-3A856BE9BA3E}" type="presOf" srcId="{7D4AFCF8-320A-453C-8A19-FD78C6DA1241}" destId="{89341C7D-CE09-4FEB-A9B9-CA2E247338C9}" srcOrd="0" destOrd="0" presId="urn:microsoft.com/office/officeart/2005/8/layout/orgChart1"/>
    <dgm:cxn modelId="{8494607F-D86A-4FBA-A20F-DAE302B8B62C}" srcId="{7D4AFCF8-320A-453C-8A19-FD78C6DA1241}" destId="{1AD15C9B-0905-4ED9-B7A9-1F9A71112946}" srcOrd="1" destOrd="0" parTransId="{48F6F73E-EDB1-47A2-9DBA-A23F9CA84FEF}" sibTransId="{D0F7FF2A-B131-4D84-9C9D-430E182FF0C2}"/>
    <dgm:cxn modelId="{86C241A8-91A0-4064-B88B-82CBDB686CBD}" type="presOf" srcId="{83B26866-7E2E-4A7B-9F02-906CC18DC2E3}" destId="{14B42BEC-E2ED-4725-B979-0CBAC79D8A6F}" srcOrd="1" destOrd="0" presId="urn:microsoft.com/office/officeart/2005/8/layout/orgChart1"/>
    <dgm:cxn modelId="{961183AA-5DFB-4F1C-ACEF-634B49B8615E}" type="presOf" srcId="{7D4AFCF8-320A-453C-8A19-FD78C6DA1241}" destId="{22102158-C0E2-4E8D-9CD8-3FD981E7A4A5}" srcOrd="1" destOrd="0" presId="urn:microsoft.com/office/officeart/2005/8/layout/orgChart1"/>
    <dgm:cxn modelId="{90BFF9C2-457E-4AEE-8670-741177B5C45B}" type="presOf" srcId="{44E26A25-E816-469C-8BA9-DB23FD67DFB6}" destId="{DF26D539-1125-416B-BA93-67C887482158}" srcOrd="0" destOrd="0" presId="urn:microsoft.com/office/officeart/2005/8/layout/orgChart1"/>
    <dgm:cxn modelId="{9BB702C6-B0C3-41F6-9517-92FD42BF6655}" srcId="{5EF21616-8455-46B5-9EDE-6C9960BA5CC8}" destId="{7D4AFCF8-320A-453C-8A19-FD78C6DA1241}" srcOrd="0" destOrd="0" parTransId="{0D567F7F-82F0-44E2-A45D-291932A7571D}" sibTransId="{2A1B8523-C07A-4A8C-AB33-6FDFFB0C3DC8}"/>
    <dgm:cxn modelId="{D87FBFC7-67C0-4748-A6C8-175B15F82CB7}" type="presOf" srcId="{1AD15C9B-0905-4ED9-B7A9-1F9A71112946}" destId="{4B3BE8AD-A049-4170-B4DD-580BDAE84AA1}" srcOrd="1" destOrd="0" presId="urn:microsoft.com/office/officeart/2005/8/layout/orgChart1"/>
    <dgm:cxn modelId="{FE0179CD-549A-4BC6-8964-80A73CC58EE6}" type="presOf" srcId="{68F21098-65B9-4BB9-B89E-555A33AA7FAB}" destId="{DF94690D-6B11-41B8-9271-3251D66B7FB3}" srcOrd="1" destOrd="0" presId="urn:microsoft.com/office/officeart/2005/8/layout/orgChart1"/>
    <dgm:cxn modelId="{220B36D5-BC00-4843-8A0E-E682F7F49CBA}" srcId="{7D4AFCF8-320A-453C-8A19-FD78C6DA1241}" destId="{68F21098-65B9-4BB9-B89E-555A33AA7FAB}" srcOrd="3" destOrd="0" parTransId="{00B39CB7-CF19-4AE9-A578-3E6D8CD08292}" sibTransId="{CDF677BF-1820-49B1-A07F-D9808C87BF5B}"/>
    <dgm:cxn modelId="{4AAD0FE0-C74B-4C97-AC16-E25C093E4CAE}" srcId="{7D4AFCF8-320A-453C-8A19-FD78C6DA1241}" destId="{9F099BCB-8B0B-4278-8CE5-3E4422AD3B44}" srcOrd="0" destOrd="0" parTransId="{AFE838A4-8138-4BFA-98F7-F8122D1AF263}" sibTransId="{A046F598-C04E-4302-8D8E-09FC583E01AA}"/>
    <dgm:cxn modelId="{287243EB-76F1-4123-83DF-872019F298E4}" type="presOf" srcId="{5EF21616-8455-46B5-9EDE-6C9960BA5CC8}" destId="{566E58B8-5FC9-4D39-B3CF-0DFA699049BD}" srcOrd="0" destOrd="0" presId="urn:microsoft.com/office/officeart/2005/8/layout/orgChart1"/>
    <dgm:cxn modelId="{DF9B5EEE-771C-48E2-BEFC-9C911063852D}" type="presOf" srcId="{68F21098-65B9-4BB9-B89E-555A33AA7FAB}" destId="{CFBD9DCB-4FB5-467D-9517-02F4C83819F9}" srcOrd="0" destOrd="0" presId="urn:microsoft.com/office/officeart/2005/8/layout/orgChart1"/>
    <dgm:cxn modelId="{53BDA3EE-6C71-4C12-B0C1-30D30D6991A9}" type="presOf" srcId="{00B39CB7-CF19-4AE9-A578-3E6D8CD08292}" destId="{0FE99FDA-4B39-4397-A72C-F3BA39B04D70}" srcOrd="0" destOrd="0" presId="urn:microsoft.com/office/officeart/2005/8/layout/orgChart1"/>
    <dgm:cxn modelId="{1C58566F-26D5-4E9E-AFAC-FCF5AD30873B}" type="presParOf" srcId="{566E58B8-5FC9-4D39-B3CF-0DFA699049BD}" destId="{FE8A4475-B73C-49AD-A102-58A3BBB4FF1A}" srcOrd="0" destOrd="0" presId="urn:microsoft.com/office/officeart/2005/8/layout/orgChart1"/>
    <dgm:cxn modelId="{8B5E4F35-A7AE-4A9A-B63E-3BB2088DF759}" type="presParOf" srcId="{FE8A4475-B73C-49AD-A102-58A3BBB4FF1A}" destId="{8F1C2099-C7EE-4C51-9E71-F16BB5D409A7}" srcOrd="0" destOrd="0" presId="urn:microsoft.com/office/officeart/2005/8/layout/orgChart1"/>
    <dgm:cxn modelId="{D187E162-EFBA-4BC2-B54C-49A8CB2E8A4B}" type="presParOf" srcId="{8F1C2099-C7EE-4C51-9E71-F16BB5D409A7}" destId="{89341C7D-CE09-4FEB-A9B9-CA2E247338C9}" srcOrd="0" destOrd="0" presId="urn:microsoft.com/office/officeart/2005/8/layout/orgChart1"/>
    <dgm:cxn modelId="{1A450BA7-1DEE-4905-88F0-00A3537EFD8F}" type="presParOf" srcId="{8F1C2099-C7EE-4C51-9E71-F16BB5D409A7}" destId="{22102158-C0E2-4E8D-9CD8-3FD981E7A4A5}" srcOrd="1" destOrd="0" presId="urn:microsoft.com/office/officeart/2005/8/layout/orgChart1"/>
    <dgm:cxn modelId="{6EBC8AC5-823B-4113-A54F-2EBC0E26806B}" type="presParOf" srcId="{FE8A4475-B73C-49AD-A102-58A3BBB4FF1A}" destId="{BA996ED9-500D-469F-85D3-89D7DFC2D402}" srcOrd="1" destOrd="0" presId="urn:microsoft.com/office/officeart/2005/8/layout/orgChart1"/>
    <dgm:cxn modelId="{D3805C59-D1BC-4453-8043-C1ADE6BA2B11}" type="presParOf" srcId="{BA996ED9-500D-469F-85D3-89D7DFC2D402}" destId="{2389E3CE-F4C7-4A64-A2BC-82706B5BF131}" srcOrd="0" destOrd="0" presId="urn:microsoft.com/office/officeart/2005/8/layout/orgChart1"/>
    <dgm:cxn modelId="{B003684F-0C69-4782-8B80-0FA9CE9EA02F}" type="presParOf" srcId="{BA996ED9-500D-469F-85D3-89D7DFC2D402}" destId="{E12A313E-8089-4F7E-871E-E88EF9F2893B}" srcOrd="1" destOrd="0" presId="urn:microsoft.com/office/officeart/2005/8/layout/orgChart1"/>
    <dgm:cxn modelId="{28A298AA-1D71-4930-A1B8-A83A724BBFAD}" type="presParOf" srcId="{E12A313E-8089-4F7E-871E-E88EF9F2893B}" destId="{D2DC894F-A4CD-4C35-A249-2D175B6099D5}" srcOrd="0" destOrd="0" presId="urn:microsoft.com/office/officeart/2005/8/layout/orgChart1"/>
    <dgm:cxn modelId="{C9959E40-65AE-451D-B245-5C1081F6E170}" type="presParOf" srcId="{D2DC894F-A4CD-4C35-A249-2D175B6099D5}" destId="{3B4D9FE5-5195-477A-9D99-6EE0DD7BD1F1}" srcOrd="0" destOrd="0" presId="urn:microsoft.com/office/officeart/2005/8/layout/orgChart1"/>
    <dgm:cxn modelId="{2DF0EAB0-5E67-4FD7-93C6-0305C27E6331}" type="presParOf" srcId="{D2DC894F-A4CD-4C35-A249-2D175B6099D5}" destId="{8BABE157-7AE7-44DB-A7EF-04C186CA649D}" srcOrd="1" destOrd="0" presId="urn:microsoft.com/office/officeart/2005/8/layout/orgChart1"/>
    <dgm:cxn modelId="{6C80E697-085A-466A-9D8A-9282920AAB0A}" type="presParOf" srcId="{E12A313E-8089-4F7E-871E-E88EF9F2893B}" destId="{1250CF37-85F3-4CEE-9905-CAA279B7CB41}" srcOrd="1" destOrd="0" presId="urn:microsoft.com/office/officeart/2005/8/layout/orgChart1"/>
    <dgm:cxn modelId="{09FEEAD9-07BF-4660-A673-3622983932CD}" type="presParOf" srcId="{E12A313E-8089-4F7E-871E-E88EF9F2893B}" destId="{ABDB3DF9-524D-46F0-AF23-ED70CA2D0B50}" srcOrd="2" destOrd="0" presId="urn:microsoft.com/office/officeart/2005/8/layout/orgChart1"/>
    <dgm:cxn modelId="{A849D2B2-D581-4BE0-A47F-497312D140B9}" type="presParOf" srcId="{BA996ED9-500D-469F-85D3-89D7DFC2D402}" destId="{E6A0857F-980F-468F-B6F0-635D0EC8EC9B}" srcOrd="2" destOrd="0" presId="urn:microsoft.com/office/officeart/2005/8/layout/orgChart1"/>
    <dgm:cxn modelId="{F3D69ADD-5C8C-476E-BD89-C5BBB3ACE2B5}" type="presParOf" srcId="{BA996ED9-500D-469F-85D3-89D7DFC2D402}" destId="{716C324F-EA85-43A2-8F11-7DE4CAFDCC78}" srcOrd="3" destOrd="0" presId="urn:microsoft.com/office/officeart/2005/8/layout/orgChart1"/>
    <dgm:cxn modelId="{ED5347EE-244C-4816-9541-FF17580C88BF}" type="presParOf" srcId="{716C324F-EA85-43A2-8F11-7DE4CAFDCC78}" destId="{1D2FB5F9-787D-411B-9CB8-734E1C8D80C4}" srcOrd="0" destOrd="0" presId="urn:microsoft.com/office/officeart/2005/8/layout/orgChart1"/>
    <dgm:cxn modelId="{6152962E-E01B-48F4-9575-178F5B7E010F}" type="presParOf" srcId="{1D2FB5F9-787D-411B-9CB8-734E1C8D80C4}" destId="{7EF018DE-2BCA-4EEF-8A61-961604E21225}" srcOrd="0" destOrd="0" presId="urn:microsoft.com/office/officeart/2005/8/layout/orgChart1"/>
    <dgm:cxn modelId="{AEDE6AAD-3B79-4703-92E2-E41D0163A155}" type="presParOf" srcId="{1D2FB5F9-787D-411B-9CB8-734E1C8D80C4}" destId="{4B3BE8AD-A049-4170-B4DD-580BDAE84AA1}" srcOrd="1" destOrd="0" presId="urn:microsoft.com/office/officeart/2005/8/layout/orgChart1"/>
    <dgm:cxn modelId="{F60BE887-4FD6-4D6F-AA6B-58DC8B27C337}" type="presParOf" srcId="{716C324F-EA85-43A2-8F11-7DE4CAFDCC78}" destId="{EA9AAA80-CD42-495A-80DE-547A80B6E0D5}" srcOrd="1" destOrd="0" presId="urn:microsoft.com/office/officeart/2005/8/layout/orgChart1"/>
    <dgm:cxn modelId="{E3B7A2B3-521A-48B7-BA66-FDF914B8D8A1}" type="presParOf" srcId="{716C324F-EA85-43A2-8F11-7DE4CAFDCC78}" destId="{E11F65F9-F87E-411D-8D9B-8D23E32FF82D}" srcOrd="2" destOrd="0" presId="urn:microsoft.com/office/officeart/2005/8/layout/orgChart1"/>
    <dgm:cxn modelId="{0328BE59-0528-40CD-9569-4147FEA79739}" type="presParOf" srcId="{BA996ED9-500D-469F-85D3-89D7DFC2D402}" destId="{DF26D539-1125-416B-BA93-67C887482158}" srcOrd="4" destOrd="0" presId="urn:microsoft.com/office/officeart/2005/8/layout/orgChart1"/>
    <dgm:cxn modelId="{910F6827-F9D9-4F6C-9435-FC4DA3ACD5D3}" type="presParOf" srcId="{BA996ED9-500D-469F-85D3-89D7DFC2D402}" destId="{AE2482A5-8B7A-45F4-8245-E205CAF5FC16}" srcOrd="5" destOrd="0" presId="urn:microsoft.com/office/officeart/2005/8/layout/orgChart1"/>
    <dgm:cxn modelId="{2FD86FA9-2F39-45BD-8C0B-4505D3DFA32D}" type="presParOf" srcId="{AE2482A5-8B7A-45F4-8245-E205CAF5FC16}" destId="{35C66E42-C95C-44F3-ABFA-7BCB19CA8D25}" srcOrd="0" destOrd="0" presId="urn:microsoft.com/office/officeart/2005/8/layout/orgChart1"/>
    <dgm:cxn modelId="{E4DBD3B0-16C0-4703-8B82-9C4A4896F897}" type="presParOf" srcId="{35C66E42-C95C-44F3-ABFA-7BCB19CA8D25}" destId="{E5A10C48-480B-4CA5-B237-AC8AD359AF07}" srcOrd="0" destOrd="0" presId="urn:microsoft.com/office/officeart/2005/8/layout/orgChart1"/>
    <dgm:cxn modelId="{316CD405-90CE-4475-B3E7-90E83F339B4C}" type="presParOf" srcId="{35C66E42-C95C-44F3-ABFA-7BCB19CA8D25}" destId="{14B42BEC-E2ED-4725-B979-0CBAC79D8A6F}" srcOrd="1" destOrd="0" presId="urn:microsoft.com/office/officeart/2005/8/layout/orgChart1"/>
    <dgm:cxn modelId="{FBC821E1-0127-47DD-BED6-C18554E0A7BB}" type="presParOf" srcId="{AE2482A5-8B7A-45F4-8245-E205CAF5FC16}" destId="{CED09F2C-AD64-48AA-9720-49BB72A8B611}" srcOrd="1" destOrd="0" presId="urn:microsoft.com/office/officeart/2005/8/layout/orgChart1"/>
    <dgm:cxn modelId="{E4A761F7-8326-4092-A612-6BF9253BB72E}" type="presParOf" srcId="{AE2482A5-8B7A-45F4-8245-E205CAF5FC16}" destId="{22C8ADB9-9DA7-4083-9EA1-B5B686F88A8B}" srcOrd="2" destOrd="0" presId="urn:microsoft.com/office/officeart/2005/8/layout/orgChart1"/>
    <dgm:cxn modelId="{A364EACE-4A2B-4EF9-813F-08EEED98D169}" type="presParOf" srcId="{BA996ED9-500D-469F-85D3-89D7DFC2D402}" destId="{0FE99FDA-4B39-4397-A72C-F3BA39B04D70}" srcOrd="6" destOrd="0" presId="urn:microsoft.com/office/officeart/2005/8/layout/orgChart1"/>
    <dgm:cxn modelId="{21F66B62-0034-42E0-AE59-E961F2E17E19}" type="presParOf" srcId="{BA996ED9-500D-469F-85D3-89D7DFC2D402}" destId="{58E3CA7A-C43F-44D1-9912-ABD1A759105A}" srcOrd="7" destOrd="0" presId="urn:microsoft.com/office/officeart/2005/8/layout/orgChart1"/>
    <dgm:cxn modelId="{CDC3B3EC-9FD8-49EC-8009-09186D79537F}" type="presParOf" srcId="{58E3CA7A-C43F-44D1-9912-ABD1A759105A}" destId="{98C2A339-2E66-4212-ADFE-DF737634C023}" srcOrd="0" destOrd="0" presId="urn:microsoft.com/office/officeart/2005/8/layout/orgChart1"/>
    <dgm:cxn modelId="{13B22B66-E905-4130-91FB-DE753554ECC2}" type="presParOf" srcId="{98C2A339-2E66-4212-ADFE-DF737634C023}" destId="{CFBD9DCB-4FB5-467D-9517-02F4C83819F9}" srcOrd="0" destOrd="0" presId="urn:microsoft.com/office/officeart/2005/8/layout/orgChart1"/>
    <dgm:cxn modelId="{8AEBC9BE-FDEC-4AA2-8024-71676AE19901}" type="presParOf" srcId="{98C2A339-2E66-4212-ADFE-DF737634C023}" destId="{DF94690D-6B11-41B8-9271-3251D66B7FB3}" srcOrd="1" destOrd="0" presId="urn:microsoft.com/office/officeart/2005/8/layout/orgChart1"/>
    <dgm:cxn modelId="{1197D749-8E92-4DD6-9849-1126132E8D92}" type="presParOf" srcId="{58E3CA7A-C43F-44D1-9912-ABD1A759105A}" destId="{1A18E239-9DEA-4149-9343-7BA2BEF9C960}" srcOrd="1" destOrd="0" presId="urn:microsoft.com/office/officeart/2005/8/layout/orgChart1"/>
    <dgm:cxn modelId="{D6F2C8AB-1724-4413-8CCD-ED4D082FD3EB}" type="presParOf" srcId="{58E3CA7A-C43F-44D1-9912-ABD1A759105A}" destId="{81183B7D-1DD2-4F86-B6A1-FB2679D99FAB}" srcOrd="2" destOrd="0" presId="urn:microsoft.com/office/officeart/2005/8/layout/orgChart1"/>
    <dgm:cxn modelId="{EBD28D77-7F85-4C91-921B-AD06CD50D989}" type="presParOf" srcId="{FE8A4475-B73C-49AD-A102-58A3BBB4FF1A}" destId="{01D7BDA7-3343-4D7F-88F6-275C398EAD5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E99FDA-4B39-4397-A72C-F3BA39B04D70}">
      <dsp:nvSpPr>
        <dsp:cNvPr id="0" name=""/>
        <dsp:cNvSpPr/>
      </dsp:nvSpPr>
      <dsp:spPr>
        <a:xfrm>
          <a:off x="4064000" y="1523364"/>
          <a:ext cx="3182949" cy="368275"/>
        </a:xfrm>
        <a:custGeom>
          <a:avLst/>
          <a:gdLst/>
          <a:ahLst/>
          <a:cxnLst/>
          <a:rect l="0" t="0" r="0" b="0"/>
          <a:pathLst>
            <a:path>
              <a:moveTo>
                <a:pt x="0" y="0"/>
              </a:moveTo>
              <a:lnTo>
                <a:pt x="0" y="184137"/>
              </a:lnTo>
              <a:lnTo>
                <a:pt x="3182949" y="184137"/>
              </a:lnTo>
              <a:lnTo>
                <a:pt x="3182949" y="3682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26D539-1125-416B-BA93-67C887482158}">
      <dsp:nvSpPr>
        <dsp:cNvPr id="0" name=""/>
        <dsp:cNvSpPr/>
      </dsp:nvSpPr>
      <dsp:spPr>
        <a:xfrm>
          <a:off x="4064000" y="1523364"/>
          <a:ext cx="1060983" cy="368275"/>
        </a:xfrm>
        <a:custGeom>
          <a:avLst/>
          <a:gdLst/>
          <a:ahLst/>
          <a:cxnLst/>
          <a:rect l="0" t="0" r="0" b="0"/>
          <a:pathLst>
            <a:path>
              <a:moveTo>
                <a:pt x="0" y="0"/>
              </a:moveTo>
              <a:lnTo>
                <a:pt x="0" y="184137"/>
              </a:lnTo>
              <a:lnTo>
                <a:pt x="1060983" y="184137"/>
              </a:lnTo>
              <a:lnTo>
                <a:pt x="1060983" y="3682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A0857F-980F-468F-B6F0-635D0EC8EC9B}">
      <dsp:nvSpPr>
        <dsp:cNvPr id="0" name=""/>
        <dsp:cNvSpPr/>
      </dsp:nvSpPr>
      <dsp:spPr>
        <a:xfrm>
          <a:off x="3003016" y="1523364"/>
          <a:ext cx="1060983" cy="368275"/>
        </a:xfrm>
        <a:custGeom>
          <a:avLst/>
          <a:gdLst/>
          <a:ahLst/>
          <a:cxnLst/>
          <a:rect l="0" t="0" r="0" b="0"/>
          <a:pathLst>
            <a:path>
              <a:moveTo>
                <a:pt x="1060983" y="0"/>
              </a:moveTo>
              <a:lnTo>
                <a:pt x="1060983" y="184137"/>
              </a:lnTo>
              <a:lnTo>
                <a:pt x="0" y="184137"/>
              </a:lnTo>
              <a:lnTo>
                <a:pt x="0" y="3682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89E3CE-F4C7-4A64-A2BC-82706B5BF131}">
      <dsp:nvSpPr>
        <dsp:cNvPr id="0" name=""/>
        <dsp:cNvSpPr/>
      </dsp:nvSpPr>
      <dsp:spPr>
        <a:xfrm>
          <a:off x="881050" y="1523364"/>
          <a:ext cx="3182949" cy="368275"/>
        </a:xfrm>
        <a:custGeom>
          <a:avLst/>
          <a:gdLst/>
          <a:ahLst/>
          <a:cxnLst/>
          <a:rect l="0" t="0" r="0" b="0"/>
          <a:pathLst>
            <a:path>
              <a:moveTo>
                <a:pt x="3182949" y="0"/>
              </a:moveTo>
              <a:lnTo>
                <a:pt x="3182949" y="184137"/>
              </a:lnTo>
              <a:lnTo>
                <a:pt x="0" y="184137"/>
              </a:lnTo>
              <a:lnTo>
                <a:pt x="0" y="36827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341C7D-CE09-4FEB-A9B9-CA2E247338C9}">
      <dsp:nvSpPr>
        <dsp:cNvPr id="0" name=""/>
        <dsp:cNvSpPr/>
      </dsp:nvSpPr>
      <dsp:spPr>
        <a:xfrm>
          <a:off x="3187154" y="646518"/>
          <a:ext cx="1753691" cy="87684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Lists</a:t>
          </a:r>
          <a:endParaRPr lang="en-IN" sz="3000" kern="1200" dirty="0"/>
        </a:p>
      </dsp:txBody>
      <dsp:txXfrm>
        <a:off x="3187154" y="646518"/>
        <a:ext cx="1753691" cy="876845"/>
      </dsp:txXfrm>
    </dsp:sp>
    <dsp:sp modelId="{3B4D9FE5-5195-477A-9D99-6EE0DD7BD1F1}">
      <dsp:nvSpPr>
        <dsp:cNvPr id="0" name=""/>
        <dsp:cNvSpPr/>
      </dsp:nvSpPr>
      <dsp:spPr>
        <a:xfrm>
          <a:off x="4204" y="1891639"/>
          <a:ext cx="1753691" cy="87684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Unordered list</a:t>
          </a:r>
          <a:endParaRPr lang="en-IN" sz="3000" kern="1200" dirty="0"/>
        </a:p>
      </dsp:txBody>
      <dsp:txXfrm>
        <a:off x="4204" y="1891639"/>
        <a:ext cx="1753691" cy="876845"/>
      </dsp:txXfrm>
    </dsp:sp>
    <dsp:sp modelId="{7EF018DE-2BCA-4EEF-8A61-961604E21225}">
      <dsp:nvSpPr>
        <dsp:cNvPr id="0" name=""/>
        <dsp:cNvSpPr/>
      </dsp:nvSpPr>
      <dsp:spPr>
        <a:xfrm>
          <a:off x="2126170" y="1891639"/>
          <a:ext cx="1753691" cy="87684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Ordered List</a:t>
          </a:r>
          <a:endParaRPr lang="en-IN" sz="3000" kern="1200" dirty="0"/>
        </a:p>
      </dsp:txBody>
      <dsp:txXfrm>
        <a:off x="2126170" y="1891639"/>
        <a:ext cx="1753691" cy="876845"/>
      </dsp:txXfrm>
    </dsp:sp>
    <dsp:sp modelId="{E5A10C48-480B-4CA5-B237-AC8AD359AF07}">
      <dsp:nvSpPr>
        <dsp:cNvPr id="0" name=""/>
        <dsp:cNvSpPr/>
      </dsp:nvSpPr>
      <dsp:spPr>
        <a:xfrm>
          <a:off x="4248137" y="1891639"/>
          <a:ext cx="1753691" cy="87684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Nested List</a:t>
          </a:r>
          <a:endParaRPr lang="en-IN" sz="3000" kern="1200" dirty="0"/>
        </a:p>
      </dsp:txBody>
      <dsp:txXfrm>
        <a:off x="4248137" y="1891639"/>
        <a:ext cx="1753691" cy="876845"/>
      </dsp:txXfrm>
    </dsp:sp>
    <dsp:sp modelId="{CFBD9DCB-4FB5-467D-9517-02F4C83819F9}">
      <dsp:nvSpPr>
        <dsp:cNvPr id="0" name=""/>
        <dsp:cNvSpPr/>
      </dsp:nvSpPr>
      <dsp:spPr>
        <a:xfrm>
          <a:off x="6370104" y="1891639"/>
          <a:ext cx="1753691" cy="87684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Definition List</a:t>
          </a:r>
          <a:endParaRPr lang="en-IN" sz="3000" kern="1200" dirty="0"/>
        </a:p>
      </dsp:txBody>
      <dsp:txXfrm>
        <a:off x="6370104" y="1891639"/>
        <a:ext cx="1753691" cy="87684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332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5187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414270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67256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368653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26427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3202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9858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77797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6268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77038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pPr/>
              <a:t>16-09-2026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pPr/>
              <a:t>‹#›</a:t>
            </a:fld>
            <a:endParaRPr lang="en-IN"/>
          </a:p>
        </p:txBody>
      </p:sp>
    </p:spTree>
    <p:extLst>
      <p:ext uri="{BB962C8B-B14F-4D97-AF65-F5344CB8AC3E}">
        <p14:creationId xmlns:p14="http://schemas.microsoft.com/office/powerpoint/2010/main" val="185436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4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428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165;p22">
            <a:extLst>
              <a:ext uri="{FF2B5EF4-FFF2-40B4-BE49-F238E27FC236}">
                <a16:creationId xmlns:a16="http://schemas.microsoft.com/office/drawing/2014/main" id="{978FB162-16FC-B68F-8E61-72AD79BA458F}"/>
              </a:ext>
            </a:extLst>
          </p:cNvPr>
          <p:cNvPicPr preferRelativeResize="0"/>
          <p:nvPr/>
        </p:nvPicPr>
        <p:blipFill>
          <a:blip r:embed="rId2">
            <a:alphaModFix/>
          </a:blip>
          <a:stretch>
            <a:fillRect/>
          </a:stretch>
        </p:blipFill>
        <p:spPr>
          <a:xfrm>
            <a:off x="4750" y="0"/>
            <a:ext cx="12187250" cy="6853250"/>
          </a:xfrm>
          <a:prstGeom prst="rect">
            <a:avLst/>
          </a:prstGeom>
          <a:noFill/>
          <a:ln>
            <a:noFill/>
          </a:ln>
        </p:spPr>
      </p:pic>
      <p:sp>
        <p:nvSpPr>
          <p:cNvPr id="8" name="TextBox 7">
            <a:extLst>
              <a:ext uri="{FF2B5EF4-FFF2-40B4-BE49-F238E27FC236}">
                <a16:creationId xmlns:a16="http://schemas.microsoft.com/office/drawing/2014/main" id="{60F5DCF5-4ED3-8CE8-9EA7-DAD022AE1E9B}"/>
              </a:ext>
            </a:extLst>
          </p:cNvPr>
          <p:cNvSpPr txBox="1"/>
          <p:nvPr/>
        </p:nvSpPr>
        <p:spPr>
          <a:xfrm>
            <a:off x="282530" y="461308"/>
            <a:ext cx="10020568" cy="5816977"/>
          </a:xfrm>
          <a:prstGeom prst="rect">
            <a:avLst/>
          </a:prstGeom>
          <a:noFill/>
        </p:spPr>
        <p:txBody>
          <a:bodyPr wrap="square">
            <a:spAutoFit/>
          </a:bodyPr>
          <a:lstStyle/>
          <a:p>
            <a:r>
              <a:rPr lang="en-US" sz="2800" b="1" dirty="0">
                <a:solidFill>
                  <a:srgbClr val="666666"/>
                </a:solidFill>
                <a:latin typeface="Cambria" panose="02040503050406030204" pitchFamily="18" charset="0"/>
                <a:ea typeface="Proxima Nova"/>
                <a:cs typeface="Proxima Nova"/>
                <a:sym typeface="Proxima Nova"/>
              </a:rPr>
              <a:t>01CE1306- WEB TECHNOLOGY</a:t>
            </a:r>
            <a:br>
              <a:rPr lang="en-US" sz="2800" b="1" dirty="0">
                <a:latin typeface="Cambria" panose="02040503050406030204" pitchFamily="18" charset="0"/>
              </a:rPr>
            </a:br>
            <a:endParaRPr lang="en-US" sz="3600" b="1" dirty="0">
              <a:latin typeface="Cambria" panose="02040503050406030204" pitchFamily="18" charset="0"/>
            </a:endParaRPr>
          </a:p>
          <a:p>
            <a:r>
              <a:rPr lang="en-US" sz="4000" b="1" dirty="0">
                <a:solidFill>
                  <a:srgbClr val="666666"/>
                </a:solidFill>
                <a:latin typeface="Cambria" panose="02040503050406030204" pitchFamily="18" charset="0"/>
                <a:ea typeface="Proxima Nova"/>
                <a:cs typeface="Proxima Nova"/>
                <a:sym typeface="Proxima Nova"/>
              </a:rPr>
              <a:t>Unit -1 </a:t>
            </a:r>
            <a:r>
              <a:rPr lang="en-IN" sz="4000" b="1" dirty="0">
                <a:solidFill>
                  <a:srgbClr val="666666"/>
                </a:solidFill>
                <a:latin typeface="Cambria" panose="02040503050406030204" pitchFamily="18" charset="0"/>
                <a:ea typeface="Proxima Nova"/>
                <a:cs typeface="Proxima Nova"/>
                <a:sym typeface="Proxima Nova"/>
              </a:rPr>
              <a:t>Introduction to </a:t>
            </a:r>
          </a:p>
          <a:p>
            <a:r>
              <a:rPr lang="en-IN" sz="4000" b="1" dirty="0">
                <a:solidFill>
                  <a:srgbClr val="666666"/>
                </a:solidFill>
                <a:latin typeface="Cambria" panose="02040503050406030204" pitchFamily="18" charset="0"/>
                <a:ea typeface="Proxima Nova"/>
                <a:cs typeface="Proxima Nova"/>
                <a:sym typeface="Proxima Nova"/>
              </a:rPr>
              <a:t>Web and HTML </a:t>
            </a:r>
            <a:endParaRPr lang="en-US" sz="3200" b="1" dirty="0">
              <a:solidFill>
                <a:schemeClr val="tx1">
                  <a:lumMod val="65000"/>
                  <a:lumOff val="35000"/>
                </a:schemeClr>
              </a:solidFill>
              <a:latin typeface="Cambria" panose="02040503050406030204" pitchFamily="18" charset="0"/>
            </a:endParaRPr>
          </a:p>
          <a:p>
            <a:endParaRPr lang="en-US" sz="4000" b="1" dirty="0">
              <a:solidFill>
                <a:schemeClr val="tx1">
                  <a:lumMod val="65000"/>
                  <a:lumOff val="35000"/>
                </a:schemeClr>
              </a:solidFill>
              <a:latin typeface="Cambria" panose="02040503050406030204" pitchFamily="18" charset="0"/>
            </a:endParaRPr>
          </a:p>
          <a:p>
            <a:endParaRPr lang="en-US" sz="4000" b="1" dirty="0">
              <a:solidFill>
                <a:schemeClr val="tx1">
                  <a:lumMod val="65000"/>
                  <a:lumOff val="35000"/>
                </a:schemeClr>
              </a:solidFill>
              <a:latin typeface="Cambria" panose="02040503050406030204" pitchFamily="18" charset="0"/>
            </a:endParaRPr>
          </a:p>
          <a:p>
            <a:endParaRPr lang="en-US" sz="4000" b="1" dirty="0">
              <a:solidFill>
                <a:schemeClr val="tx1">
                  <a:lumMod val="65000"/>
                  <a:lumOff val="35000"/>
                </a:schemeClr>
              </a:solidFill>
              <a:latin typeface="Cambria" panose="02040503050406030204" pitchFamily="18" charset="0"/>
            </a:endParaRPr>
          </a:p>
          <a:p>
            <a:endParaRPr lang="en-US" sz="4000" dirty="0">
              <a:solidFill>
                <a:schemeClr val="tx1">
                  <a:lumMod val="65000"/>
                  <a:lumOff val="35000"/>
                </a:schemeClr>
              </a:solidFill>
              <a:latin typeface="Cambria" panose="02040503050406030204" pitchFamily="18" charset="0"/>
            </a:endParaRPr>
          </a:p>
          <a:p>
            <a:endParaRPr lang="en-US" sz="4000" dirty="0">
              <a:solidFill>
                <a:schemeClr val="tx1">
                  <a:lumMod val="65000"/>
                  <a:lumOff val="35000"/>
                </a:schemeClr>
              </a:solidFill>
              <a:latin typeface="Cambria" panose="02040503050406030204" pitchFamily="18" charset="0"/>
            </a:endParaRPr>
          </a:p>
          <a:p>
            <a:r>
              <a:rPr lang="en-US" sz="2800" dirty="0">
                <a:solidFill>
                  <a:schemeClr val="tx1">
                    <a:lumMod val="65000"/>
                    <a:lumOff val="35000"/>
                  </a:schemeClr>
                </a:solidFill>
                <a:latin typeface="Cambria" panose="02040503050406030204" pitchFamily="18" charset="0"/>
              </a:rPr>
              <a:t>Prepared By: Prof. Charmy Vora</a:t>
            </a:r>
            <a:endParaRPr lang="en-IN" sz="2800" dirty="0">
              <a:latin typeface="Cambria" panose="02040503050406030204" pitchFamily="18" charset="0"/>
            </a:endParaRPr>
          </a:p>
        </p:txBody>
      </p:sp>
      <p:pic>
        <p:nvPicPr>
          <p:cNvPr id="11" name="Picture 10">
            <a:extLst>
              <a:ext uri="{FF2B5EF4-FFF2-40B4-BE49-F238E27FC236}">
                <a16:creationId xmlns:a16="http://schemas.microsoft.com/office/drawing/2014/main" id="{DDD16BA1-22E7-74AD-1613-2A3BA95618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14350" y="3622354"/>
            <a:ext cx="4495026" cy="1284497"/>
          </a:xfrm>
          <a:prstGeom prst="rect">
            <a:avLst/>
          </a:prstGeom>
          <a:noFill/>
          <a:ln>
            <a:noFill/>
          </a:ln>
        </p:spPr>
      </p:pic>
    </p:spTree>
    <p:extLst>
      <p:ext uri="{BB962C8B-B14F-4D97-AF65-F5344CB8AC3E}">
        <p14:creationId xmlns:p14="http://schemas.microsoft.com/office/powerpoint/2010/main" val="1842472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Course Outcome</a:t>
            </a:r>
            <a:endParaRPr sz="2400" dirty="0">
              <a:latin typeface="Proxima Nova"/>
            </a:endParaRPr>
          </a:p>
        </p:txBody>
      </p:sp>
      <p:sp>
        <p:nvSpPr>
          <p:cNvPr id="7" name="Google Shape;71;p15"/>
          <p:cNvSpPr txBox="1">
            <a:spLocks noChangeArrowheads="1"/>
          </p:cNvSpPr>
          <p:nvPr/>
        </p:nvSpPr>
        <p:spPr bwMode="auto">
          <a:xfrm>
            <a:off x="620355" y="1652778"/>
            <a:ext cx="10970631" cy="1292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US" sz="2400" dirty="0">
                <a:solidFill>
                  <a:srgbClr val="04A2B9"/>
                </a:solidFill>
                <a:latin typeface="Cambria" panose="02040503050406030204" pitchFamily="18" charset="0"/>
              </a:rPr>
              <a:t>CO1</a:t>
            </a:r>
            <a:r>
              <a:rPr lang="en-IN" sz="2400" dirty="0">
                <a:latin typeface="Cambria" panose="02040503050406030204" pitchFamily="18" charset="0"/>
              </a:rPr>
              <a:t>- Design and develop interactive web pages using HTML5, identifying the correct use of attributes, incorporating multimedia elements and form validations. (Apply)</a:t>
            </a:r>
          </a:p>
        </p:txBody>
      </p:sp>
    </p:spTree>
    <p:extLst>
      <p:ext uri="{BB962C8B-B14F-4D97-AF65-F5344CB8AC3E}">
        <p14:creationId xmlns:p14="http://schemas.microsoft.com/office/powerpoint/2010/main" val="3512345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Outlines</a:t>
            </a:r>
            <a:endParaRPr sz="2400" dirty="0">
              <a:latin typeface="Proxima Nova"/>
            </a:endParaRPr>
          </a:p>
        </p:txBody>
      </p:sp>
      <p:sp>
        <p:nvSpPr>
          <p:cNvPr id="4" name="Google Shape;71;p15"/>
          <p:cNvSpPr txBox="1">
            <a:spLocks noChangeArrowheads="1"/>
          </p:cNvSpPr>
          <p:nvPr/>
        </p:nvSpPr>
        <p:spPr bwMode="auto">
          <a:xfrm>
            <a:off x="465396" y="1369443"/>
            <a:ext cx="10970631" cy="4785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algn="just">
              <a:buFont typeface="Arial" panose="020B0604020202020204" pitchFamily="34" charset="0"/>
              <a:buChar char="•"/>
            </a:pPr>
            <a:r>
              <a:rPr lang="en-IN" sz="2300" dirty="0">
                <a:latin typeface="Cambria" panose="02040503050406030204" pitchFamily="18" charset="0"/>
              </a:rPr>
              <a:t>Introduction to Web Servers</a:t>
            </a:r>
          </a:p>
          <a:p>
            <a:pPr marL="342900" indent="-342900" algn="just">
              <a:buFont typeface="Arial" panose="020B0604020202020204" pitchFamily="34" charset="0"/>
              <a:buChar char="•"/>
            </a:pPr>
            <a:r>
              <a:rPr lang="en-IN" sz="2300" dirty="0">
                <a:latin typeface="Cambria" panose="02040503050406030204" pitchFamily="18" charset="0"/>
              </a:rPr>
              <a:t>HTTP request and Response Model</a:t>
            </a:r>
          </a:p>
          <a:p>
            <a:pPr marL="342900" indent="-342900" algn="just">
              <a:buFont typeface="Arial" panose="020B0604020202020204" pitchFamily="34" charset="0"/>
              <a:buChar char="•"/>
            </a:pPr>
            <a:r>
              <a:rPr lang="en-IN" sz="2300" dirty="0">
                <a:latin typeface="Cambria" panose="02040503050406030204" pitchFamily="18" charset="0"/>
              </a:rPr>
              <a:t>Structure of HTML</a:t>
            </a:r>
          </a:p>
          <a:p>
            <a:pPr marL="342900" indent="-342900" algn="just">
              <a:buFont typeface="Arial" panose="020B0604020202020204" pitchFamily="34" charset="0"/>
              <a:buChar char="•"/>
            </a:pPr>
            <a:r>
              <a:rPr lang="en-IN" sz="2300" dirty="0">
                <a:latin typeface="Cambria" panose="02040503050406030204" pitchFamily="18" charset="0"/>
              </a:rPr>
              <a:t>Doctypes in HTML</a:t>
            </a:r>
          </a:p>
          <a:p>
            <a:pPr marL="342900" indent="-342900" algn="just">
              <a:buFont typeface="Arial" panose="020B0604020202020204" pitchFamily="34" charset="0"/>
              <a:buChar char="•"/>
            </a:pPr>
            <a:r>
              <a:rPr lang="en-IN" sz="2300" dirty="0">
                <a:latin typeface="Cambria" panose="02040503050406030204" pitchFamily="18" charset="0"/>
              </a:rPr>
              <a:t>HTML Tags</a:t>
            </a:r>
          </a:p>
          <a:p>
            <a:pPr marL="342900" indent="-342900" algn="just">
              <a:buFont typeface="Arial" panose="020B0604020202020204" pitchFamily="34" charset="0"/>
              <a:buChar char="•"/>
            </a:pPr>
            <a:r>
              <a:rPr lang="en-IN" sz="2300" dirty="0">
                <a:latin typeface="Cambria" panose="02040503050406030204" pitchFamily="18" charset="0"/>
              </a:rPr>
              <a:t>Elements and attributes. </a:t>
            </a:r>
          </a:p>
          <a:p>
            <a:pPr marL="342900" indent="-342900" algn="just">
              <a:buFont typeface="Arial" panose="020B0604020202020204" pitchFamily="34" charset="0"/>
              <a:buChar char="•"/>
            </a:pPr>
            <a:r>
              <a:rPr lang="en-IN" sz="2300" dirty="0">
                <a:latin typeface="Cambria" panose="02040503050406030204" pitchFamily="18" charset="0"/>
              </a:rPr>
              <a:t>HTML 5</a:t>
            </a:r>
          </a:p>
          <a:p>
            <a:pPr marL="342900" indent="-342900" algn="just">
              <a:buFont typeface="Arial" panose="020B0604020202020204" pitchFamily="34" charset="0"/>
              <a:buChar char="•"/>
            </a:pPr>
            <a:r>
              <a:rPr lang="en-IN" sz="2300" dirty="0">
                <a:latin typeface="Cambria" panose="02040503050406030204" pitchFamily="18" charset="0"/>
              </a:rPr>
              <a:t>HTML 5 Layout and syntax</a:t>
            </a:r>
          </a:p>
          <a:p>
            <a:pPr marL="342900" indent="-342900" algn="just">
              <a:buFont typeface="Arial" panose="020B0604020202020204" pitchFamily="34" charset="0"/>
              <a:buChar char="•"/>
            </a:pPr>
            <a:r>
              <a:rPr lang="en-IN" sz="2300" dirty="0">
                <a:latin typeface="Cambria" panose="02040503050406030204" pitchFamily="18" charset="0"/>
              </a:rPr>
              <a:t>Attributes</a:t>
            </a:r>
          </a:p>
          <a:p>
            <a:pPr marL="342900" indent="-342900" algn="just">
              <a:buFont typeface="Arial" panose="020B0604020202020204" pitchFamily="34" charset="0"/>
              <a:buChar char="•"/>
            </a:pPr>
            <a:r>
              <a:rPr lang="en-IN" sz="2300" dirty="0">
                <a:latin typeface="Cambria" panose="02040503050406030204" pitchFamily="18" charset="0"/>
              </a:rPr>
              <a:t>Events</a:t>
            </a:r>
          </a:p>
          <a:p>
            <a:pPr marL="342900" indent="-342900" algn="just">
              <a:buFont typeface="Arial" panose="020B0604020202020204" pitchFamily="34" charset="0"/>
              <a:buChar char="•"/>
            </a:pPr>
            <a:r>
              <a:rPr lang="en-IN" sz="2300" dirty="0">
                <a:latin typeface="Cambria" panose="02040503050406030204" pitchFamily="18" charset="0"/>
              </a:rPr>
              <a:t>Web forms and validations</a:t>
            </a:r>
          </a:p>
          <a:p>
            <a:pPr marL="342900" indent="-342900" algn="just">
              <a:buFont typeface="Arial" panose="020B0604020202020204" pitchFamily="34" charset="0"/>
              <a:buChar char="•"/>
            </a:pPr>
            <a:r>
              <a:rPr lang="en-IN" sz="2300" dirty="0">
                <a:latin typeface="Cambria" panose="02040503050406030204" pitchFamily="18" charset="0"/>
              </a:rPr>
              <a:t>Audio &amp; Video</a:t>
            </a:r>
          </a:p>
          <a:p>
            <a:pPr marL="342900" indent="-342900" algn="just">
              <a:buFont typeface="Arial" panose="020B0604020202020204" pitchFamily="34" charset="0"/>
              <a:buChar char="•"/>
            </a:pPr>
            <a:r>
              <a:rPr lang="en-IN" sz="2300" dirty="0">
                <a:latin typeface="Cambria" panose="02040503050406030204" pitchFamily="18" charset="0"/>
              </a:rPr>
              <a:t>SVG</a:t>
            </a:r>
          </a:p>
        </p:txBody>
      </p:sp>
    </p:spTree>
    <p:extLst>
      <p:ext uri="{BB962C8B-B14F-4D97-AF65-F5344CB8AC3E}">
        <p14:creationId xmlns:p14="http://schemas.microsoft.com/office/powerpoint/2010/main" val="205965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a:t>
            </a:r>
            <a:endParaRPr sz="2400" b="1" dirty="0">
              <a:latin typeface="Proxima Nova"/>
            </a:endParaRPr>
          </a:p>
        </p:txBody>
      </p:sp>
      <p:sp>
        <p:nvSpPr>
          <p:cNvPr id="3" name="Google Shape;71;p15"/>
          <p:cNvSpPr txBox="1">
            <a:spLocks noChangeArrowheads="1"/>
          </p:cNvSpPr>
          <p:nvPr/>
        </p:nvSpPr>
        <p:spPr bwMode="auto">
          <a:xfrm>
            <a:off x="285092" y="1133386"/>
            <a:ext cx="6746773" cy="5355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400" b="1" dirty="0">
                <a:solidFill>
                  <a:srgbClr val="04A2B9"/>
                </a:solidFill>
                <a:latin typeface="Cambria" panose="02040503050406030204" pitchFamily="18" charset="0"/>
                <a:ea typeface="+mj-ea"/>
                <a:cs typeface="+mj-cs"/>
              </a:rPr>
              <a:t>Basic Terminology of Internet and Web Servers</a:t>
            </a:r>
          </a:p>
          <a:p>
            <a:pPr algn="just"/>
            <a:endParaRPr lang="en-IN" sz="2400" dirty="0">
              <a:latin typeface="Cambria" panose="02040503050406030204" pitchFamily="18" charset="0"/>
            </a:endParaRPr>
          </a:p>
          <a:p>
            <a:pPr algn="just"/>
            <a:r>
              <a:rPr lang="en-IN" sz="2400" dirty="0">
                <a:solidFill>
                  <a:srgbClr val="04A2B9"/>
                </a:solidFill>
                <a:latin typeface="Cambria" panose="02040503050406030204" pitchFamily="18" charset="0"/>
                <a:ea typeface="+mj-ea"/>
                <a:cs typeface="+mj-cs"/>
              </a:rPr>
              <a:t>Internet:</a:t>
            </a:r>
          </a:p>
          <a:p>
            <a:pPr marL="342900" indent="-342900" algn="just">
              <a:buFont typeface="Arial" panose="020B0604020202020204" pitchFamily="34" charset="0"/>
              <a:buChar char="•"/>
            </a:pPr>
            <a:r>
              <a:rPr lang="en-IN" sz="2200" dirty="0">
                <a:latin typeface="Cambria" panose="02040503050406030204" pitchFamily="18" charset="0"/>
              </a:rPr>
              <a:t>A vast, global network of interconnected computer networks.</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Enables communication and data exchange between devices worldwide.</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Uses protocols like TCP/IP to manage data transmission.</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Provides the foundation for many online services like email, web browsing, social media, online banking, gaming and many more. </a:t>
            </a:r>
          </a:p>
        </p:txBody>
      </p:sp>
      <p:sp>
        <p:nvSpPr>
          <p:cNvPr id="4" name="Rectangle 2"/>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309913" y="3154921"/>
            <a:ext cx="4450975" cy="2807998"/>
          </a:xfrm>
          <a:prstGeom prst="rect">
            <a:avLst/>
          </a:prstGeom>
        </p:spPr>
      </p:pic>
    </p:spTree>
    <p:extLst>
      <p:ext uri="{BB962C8B-B14F-4D97-AF65-F5344CB8AC3E}">
        <p14:creationId xmlns:p14="http://schemas.microsoft.com/office/powerpoint/2010/main" val="204825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a:t>
            </a:r>
            <a:endParaRPr sz="2400" dirty="0">
              <a:latin typeface="Proxima Nova"/>
            </a:endParaRPr>
          </a:p>
        </p:txBody>
      </p:sp>
      <p:sp>
        <p:nvSpPr>
          <p:cNvPr id="3" name="Google Shape;71;p15"/>
          <p:cNvSpPr txBox="1">
            <a:spLocks noChangeArrowheads="1"/>
          </p:cNvSpPr>
          <p:nvPr/>
        </p:nvSpPr>
        <p:spPr bwMode="auto">
          <a:xfrm>
            <a:off x="465396" y="1266412"/>
            <a:ext cx="11125590" cy="39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400" dirty="0">
                <a:solidFill>
                  <a:srgbClr val="04A2B9"/>
                </a:solidFill>
                <a:latin typeface="Cambria" panose="02040503050406030204" pitchFamily="18" charset="0"/>
                <a:ea typeface="+mj-ea"/>
                <a:cs typeface="+mj-cs"/>
              </a:rPr>
              <a:t>Web (World Wide Web):</a:t>
            </a:r>
          </a:p>
          <a:p>
            <a:pPr marL="342900" indent="-342900" algn="just">
              <a:buFont typeface="Arial" panose="020B0604020202020204" pitchFamily="34" charset="0"/>
              <a:buChar char="•"/>
            </a:pPr>
            <a:endParaRPr lang="en-IN" sz="24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A system of interconnected documents (webpages) and resources.</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Accessed via the Internet using web browsers.</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Uses protocols like HTTP to access and display information.</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Features hyperlinks that allow users to navigate between different webpages.</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Includes websites, images, videos, and other multimedia content. </a:t>
            </a: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546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a:t>
            </a:r>
            <a:endParaRPr sz="2400" dirty="0">
              <a:latin typeface="Proxima Nova"/>
            </a:endParaRPr>
          </a:p>
        </p:txBody>
      </p:sp>
      <p:sp>
        <p:nvSpPr>
          <p:cNvPr id="4" name="Google Shape;71;p15"/>
          <p:cNvSpPr txBox="1">
            <a:spLocks noChangeArrowheads="1"/>
          </p:cNvSpPr>
          <p:nvPr/>
        </p:nvSpPr>
        <p:spPr bwMode="auto">
          <a:xfrm>
            <a:off x="465396" y="1266412"/>
            <a:ext cx="11125590" cy="2400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400" dirty="0">
                <a:solidFill>
                  <a:srgbClr val="04A2B9"/>
                </a:solidFill>
                <a:latin typeface="Cambria" panose="02040503050406030204" pitchFamily="18" charset="0"/>
                <a:ea typeface="+mj-ea"/>
                <a:cs typeface="+mj-cs"/>
              </a:rPr>
              <a:t>Web (World Wide Web) V/S Internet:</a:t>
            </a:r>
          </a:p>
          <a:p>
            <a:pPr algn="just"/>
            <a:endParaRPr lang="en-IN" sz="2400" dirty="0">
              <a:solidFill>
                <a:srgbClr val="04A2B9"/>
              </a:solidFill>
              <a:latin typeface="Cambria" panose="02040503050406030204" pitchFamily="18" charset="0"/>
              <a:ea typeface="+mj-ea"/>
              <a:cs typeface="+mj-cs"/>
            </a:endParaRPr>
          </a:p>
          <a:p>
            <a:pPr algn="just"/>
            <a:endParaRPr lang="en-IN" sz="2400" dirty="0">
              <a:solidFill>
                <a:srgbClr val="04A2B9"/>
              </a:solidFill>
              <a:latin typeface="Cambria" panose="02040503050406030204" pitchFamily="18" charset="0"/>
              <a:ea typeface="+mj-ea"/>
              <a:cs typeface="+mj-cs"/>
            </a:endParaRPr>
          </a:p>
          <a:p>
            <a:pPr algn="just"/>
            <a:endParaRPr lang="en-IN" sz="2400" dirty="0">
              <a:solidFill>
                <a:srgbClr val="04A2B9"/>
              </a:solidFill>
              <a:latin typeface="Cambria" panose="02040503050406030204" pitchFamily="18" charset="0"/>
              <a:ea typeface="+mj-ea"/>
              <a:cs typeface="+mj-cs"/>
            </a:endParaRPr>
          </a:p>
          <a:p>
            <a:pPr algn="just"/>
            <a:endParaRPr lang="en-IN" sz="2400" dirty="0">
              <a:solidFill>
                <a:srgbClr val="04A2B9"/>
              </a:solidFill>
              <a:latin typeface="Cambria" panose="02040503050406030204" pitchFamily="18" charset="0"/>
              <a:ea typeface="+mj-ea"/>
              <a:cs typeface="+mj-cs"/>
            </a:endParaRPr>
          </a:p>
          <a:p>
            <a:pPr algn="just"/>
            <a:endParaRPr lang="en-IN" sz="2400" dirty="0">
              <a:solidFill>
                <a:srgbClr val="04A2B9"/>
              </a:solidFill>
              <a:latin typeface="Cambria" panose="02040503050406030204" pitchFamily="18" charset="0"/>
              <a:ea typeface="+mj-ea"/>
              <a:cs typeface="+mj-cs"/>
            </a:endParaRPr>
          </a:p>
        </p:txBody>
      </p:sp>
      <p:graphicFrame>
        <p:nvGraphicFramePr>
          <p:cNvPr id="6" name="Table 5"/>
          <p:cNvGraphicFramePr>
            <a:graphicFrameLocks noGrp="1"/>
          </p:cNvGraphicFramePr>
          <p:nvPr>
            <p:extLst>
              <p:ext uri="{D42A27DB-BD31-4B8C-83A1-F6EECF244321}">
                <p14:modId xmlns:p14="http://schemas.microsoft.com/office/powerpoint/2010/main" val="708766737"/>
              </p:ext>
            </p:extLst>
          </p:nvPr>
        </p:nvGraphicFramePr>
        <p:xfrm>
          <a:off x="628202" y="2045656"/>
          <a:ext cx="10537780" cy="4239232"/>
        </p:xfrm>
        <a:graphic>
          <a:graphicData uri="http://schemas.openxmlformats.org/drawingml/2006/table">
            <a:tbl>
              <a:tblPr firstRow="1" bandRow="1">
                <a:tableStyleId>{F5AB1C69-6EDB-4FF4-983F-18BD219EF322}</a:tableStyleId>
              </a:tblPr>
              <a:tblGrid>
                <a:gridCol w="1638479">
                  <a:extLst>
                    <a:ext uri="{9D8B030D-6E8A-4147-A177-3AD203B41FA5}">
                      <a16:colId xmlns:a16="http://schemas.microsoft.com/office/drawing/2014/main" val="20000"/>
                    </a:ext>
                  </a:extLst>
                </a:gridCol>
                <a:gridCol w="3928056">
                  <a:extLst>
                    <a:ext uri="{9D8B030D-6E8A-4147-A177-3AD203B41FA5}">
                      <a16:colId xmlns:a16="http://schemas.microsoft.com/office/drawing/2014/main" val="20001"/>
                    </a:ext>
                  </a:extLst>
                </a:gridCol>
                <a:gridCol w="4971245">
                  <a:extLst>
                    <a:ext uri="{9D8B030D-6E8A-4147-A177-3AD203B41FA5}">
                      <a16:colId xmlns:a16="http://schemas.microsoft.com/office/drawing/2014/main" val="20002"/>
                    </a:ext>
                  </a:extLst>
                </a:gridCol>
              </a:tblGrid>
              <a:tr h="510278">
                <a:tc>
                  <a:txBody>
                    <a:bodyPr/>
                    <a:lstStyle/>
                    <a:p>
                      <a:pPr algn="ctr"/>
                      <a:endParaRPr lang="en-IN" sz="2000" b="0" dirty="0">
                        <a:solidFill>
                          <a:schemeClr val="bg1"/>
                        </a:solidFill>
                        <a:latin typeface="Cambria" panose="02040503050406030204" pitchFamily="18" charset="0"/>
                      </a:endParaRPr>
                    </a:p>
                  </a:txBody>
                  <a:tcPr/>
                </a:tc>
                <a:tc>
                  <a:txBody>
                    <a:bodyPr/>
                    <a:lstStyle/>
                    <a:p>
                      <a:pPr algn="ctr"/>
                      <a:r>
                        <a:rPr lang="en-IN" sz="2000" kern="1200" dirty="0">
                          <a:latin typeface="Cambria" panose="02040503050406030204" pitchFamily="18" charset="0"/>
                        </a:rPr>
                        <a:t>Web (World Wide Web) </a:t>
                      </a:r>
                      <a:endParaRPr lang="en-IN" sz="2000" b="0" dirty="0">
                        <a:solidFill>
                          <a:schemeClr val="bg1"/>
                        </a:solidFill>
                        <a:latin typeface="Cambria" panose="02040503050406030204" pitchFamily="18" charset="0"/>
                      </a:endParaRPr>
                    </a:p>
                  </a:txBody>
                  <a:tcPr/>
                </a:tc>
                <a:tc>
                  <a:txBody>
                    <a:bodyPr/>
                    <a:lstStyle/>
                    <a:p>
                      <a:pPr algn="ctr"/>
                      <a:r>
                        <a:rPr lang="en-IN" sz="2000" kern="1200" dirty="0">
                          <a:latin typeface="Cambria" panose="02040503050406030204" pitchFamily="18" charset="0"/>
                        </a:rPr>
                        <a:t>Internet</a:t>
                      </a:r>
                      <a:endParaRPr lang="en-IN" sz="2000" b="0" dirty="0">
                        <a:solidFill>
                          <a:schemeClr val="bg1"/>
                        </a:solidFill>
                        <a:latin typeface="Cambria" panose="02040503050406030204" pitchFamily="18" charset="0"/>
                      </a:endParaRPr>
                    </a:p>
                  </a:txBody>
                  <a:tcPr/>
                </a:tc>
                <a:extLst>
                  <a:ext uri="{0D108BD9-81ED-4DB2-BD59-A6C34878D82A}">
                    <a16:rowId xmlns:a16="http://schemas.microsoft.com/office/drawing/2014/main" val="10000"/>
                  </a:ext>
                </a:extLst>
              </a:tr>
              <a:tr h="1295321">
                <a:tc>
                  <a:txBody>
                    <a:bodyPr/>
                    <a:lstStyle/>
                    <a:p>
                      <a:pPr algn="ctr"/>
                      <a:r>
                        <a:rPr lang="en-IN" sz="2000" dirty="0">
                          <a:latin typeface="Cambria" panose="02040503050406030204" pitchFamily="18" charset="0"/>
                        </a:rPr>
                        <a:t>Definition</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A system of interlinked hypertext documents and multimedia content accessible via the Internet</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A global system of interconnected computer networks </a:t>
                      </a:r>
                      <a:endParaRPr lang="en-IN" sz="2000" b="0" dirty="0">
                        <a:solidFill>
                          <a:schemeClr val="tx1"/>
                        </a:solidFill>
                        <a:latin typeface="Cambria" panose="02040503050406030204" pitchFamily="18" charset="0"/>
                      </a:endParaRPr>
                    </a:p>
                  </a:txBody>
                  <a:tcPr/>
                </a:tc>
                <a:extLst>
                  <a:ext uri="{0D108BD9-81ED-4DB2-BD59-A6C34878D82A}">
                    <a16:rowId xmlns:a16="http://schemas.microsoft.com/office/drawing/2014/main" val="10001"/>
                  </a:ext>
                </a:extLst>
              </a:tr>
              <a:tr h="510278">
                <a:tc>
                  <a:txBody>
                    <a:bodyPr/>
                    <a:lstStyle/>
                    <a:p>
                      <a:pPr algn="ctr"/>
                      <a:r>
                        <a:rPr lang="en-IN" sz="2000" dirty="0">
                          <a:latin typeface="Cambria" panose="02040503050406030204" pitchFamily="18" charset="0"/>
                        </a:rPr>
                        <a:t>Founded</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In 1989, Tim Berners-Lee</a:t>
                      </a:r>
                      <a:endParaRPr lang="en-IN" sz="2000" b="0" dirty="0">
                        <a:solidFill>
                          <a:schemeClr val="tx1"/>
                        </a:solidFill>
                        <a:latin typeface="Cambria" panose="02040503050406030204" pitchFamily="18" charset="0"/>
                      </a:endParaRPr>
                    </a:p>
                  </a:txBody>
                  <a:tcPr/>
                </a:tc>
                <a:tc>
                  <a:txBody>
                    <a:bodyPr/>
                    <a:lstStyle/>
                    <a:p>
                      <a:pPr algn="just"/>
                      <a:r>
                        <a:rPr lang="en-IN" sz="2000" dirty="0">
                          <a:latin typeface="Cambria" panose="02040503050406030204" pitchFamily="18" charset="0"/>
                        </a:rPr>
                        <a:t>1960s</a:t>
                      </a:r>
                      <a:endParaRPr lang="en-IN" sz="2000" b="0" dirty="0">
                        <a:solidFill>
                          <a:schemeClr val="tx1"/>
                        </a:solidFill>
                        <a:latin typeface="Cambria" panose="02040503050406030204" pitchFamily="18" charset="0"/>
                      </a:endParaRPr>
                    </a:p>
                  </a:txBody>
                  <a:tcPr/>
                </a:tc>
                <a:extLst>
                  <a:ext uri="{0D108BD9-81ED-4DB2-BD59-A6C34878D82A}">
                    <a16:rowId xmlns:a16="http://schemas.microsoft.com/office/drawing/2014/main" val="10002"/>
                  </a:ext>
                </a:extLst>
              </a:tr>
              <a:tr h="510278">
                <a:tc>
                  <a:txBody>
                    <a:bodyPr/>
                    <a:lstStyle/>
                    <a:p>
                      <a:pPr algn="ctr"/>
                      <a:r>
                        <a:rPr lang="en-IN" sz="2000" kern="1200" dirty="0">
                          <a:effectLst/>
                          <a:latin typeface="Cambria" panose="02040503050406030204" pitchFamily="18" charset="0"/>
                        </a:rPr>
                        <a:t>Is</a:t>
                      </a:r>
                      <a:r>
                        <a:rPr lang="en-IN" sz="2000" kern="1200" baseline="0" dirty="0">
                          <a:effectLst/>
                          <a:latin typeface="Cambria" panose="02040503050406030204" pitchFamily="18" charset="0"/>
                        </a:rPr>
                        <a:t> it Service?</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Yes</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No. It is an infrastructure.</a:t>
                      </a:r>
                      <a:endParaRPr lang="en-IN" sz="2000" b="0" dirty="0">
                        <a:solidFill>
                          <a:schemeClr val="tx1"/>
                        </a:solidFill>
                        <a:latin typeface="Cambria" panose="02040503050406030204" pitchFamily="18" charset="0"/>
                      </a:endParaRPr>
                    </a:p>
                  </a:txBody>
                  <a:tcPr/>
                </a:tc>
                <a:extLst>
                  <a:ext uri="{0D108BD9-81ED-4DB2-BD59-A6C34878D82A}">
                    <a16:rowId xmlns:a16="http://schemas.microsoft.com/office/drawing/2014/main" val="10003"/>
                  </a:ext>
                </a:extLst>
              </a:tr>
              <a:tr h="510278">
                <a:tc>
                  <a:txBody>
                    <a:bodyPr/>
                    <a:lstStyle/>
                    <a:p>
                      <a:pPr algn="ctr"/>
                      <a:r>
                        <a:rPr lang="en-IN" sz="2000" kern="1200" dirty="0">
                          <a:effectLst/>
                          <a:latin typeface="Cambria" panose="02040503050406030204" pitchFamily="18" charset="0"/>
                        </a:rPr>
                        <a:t>It uses</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An HTTP/HTTPS</a:t>
                      </a:r>
                      <a:endParaRPr lang="en-IN" sz="2000" b="0" dirty="0">
                        <a:solidFill>
                          <a:schemeClr val="tx1"/>
                        </a:solidFill>
                        <a:latin typeface="Cambria" panose="02040503050406030204" pitchFamily="18" charset="0"/>
                      </a:endParaRPr>
                    </a:p>
                  </a:txBody>
                  <a:tcPr/>
                </a:tc>
                <a:tc>
                  <a:txBody>
                    <a:bodyPr/>
                    <a:lstStyle/>
                    <a:p>
                      <a:pPr algn="just"/>
                      <a:r>
                        <a:rPr lang="en-IN" sz="2000" kern="1200" dirty="0">
                          <a:effectLst/>
                          <a:latin typeface="Cambria" panose="02040503050406030204" pitchFamily="18" charset="0"/>
                        </a:rPr>
                        <a:t>TCP/IP, FTS, SMTP, IMAP and many more.</a:t>
                      </a:r>
                      <a:endParaRPr lang="en-IN" sz="2000" b="0" dirty="0">
                        <a:solidFill>
                          <a:schemeClr val="tx1"/>
                        </a:solidFill>
                        <a:latin typeface="Cambria" panose="02040503050406030204" pitchFamily="18" charset="0"/>
                      </a:endParaRPr>
                    </a:p>
                  </a:txBody>
                  <a:tcPr/>
                </a:tc>
                <a:extLst>
                  <a:ext uri="{0D108BD9-81ED-4DB2-BD59-A6C34878D82A}">
                    <a16:rowId xmlns:a16="http://schemas.microsoft.com/office/drawing/2014/main" val="10004"/>
                  </a:ext>
                </a:extLst>
              </a:tr>
              <a:tr h="902799">
                <a:tc>
                  <a:txBody>
                    <a:bodyPr/>
                    <a:lstStyle/>
                    <a:p>
                      <a:pPr algn="ctr"/>
                      <a:r>
                        <a:rPr lang="en-IN" sz="2000" dirty="0">
                          <a:latin typeface="Cambria" panose="02040503050406030204" pitchFamily="18" charset="0"/>
                        </a:rPr>
                        <a:t>Based on Hardware?</a:t>
                      </a:r>
                      <a:endParaRPr lang="en-IN" sz="2000" b="0" dirty="0">
                        <a:solidFill>
                          <a:schemeClr val="tx1"/>
                        </a:solidFill>
                        <a:latin typeface="Cambria" panose="02040503050406030204" pitchFamily="18" charset="0"/>
                      </a:endParaRPr>
                    </a:p>
                  </a:txBody>
                  <a:tcPr/>
                </a:tc>
                <a:tc>
                  <a:txBody>
                    <a:bodyPr/>
                    <a:lstStyle/>
                    <a:p>
                      <a:pPr algn="ctr"/>
                      <a:r>
                        <a:rPr lang="en-IN" sz="2000" dirty="0">
                          <a:latin typeface="Cambria" panose="02040503050406030204" pitchFamily="18" charset="0"/>
                        </a:rPr>
                        <a:t>No. It’s more software-oriented.</a:t>
                      </a:r>
                      <a:endParaRPr lang="en-IN" sz="2000" b="0" dirty="0">
                        <a:solidFill>
                          <a:schemeClr val="tx1"/>
                        </a:solidFill>
                        <a:latin typeface="Cambria" panose="02040503050406030204" pitchFamily="18" charset="0"/>
                      </a:endParaRPr>
                    </a:p>
                  </a:txBody>
                  <a:tcPr/>
                </a:tc>
                <a:tc>
                  <a:txBody>
                    <a:bodyPr/>
                    <a:lstStyle/>
                    <a:p>
                      <a:pPr algn="l"/>
                      <a:r>
                        <a:rPr lang="en-IN" sz="2000" dirty="0">
                          <a:latin typeface="Cambria" panose="02040503050406030204" pitchFamily="18" charset="0"/>
                        </a:rPr>
                        <a:t>Yes</a:t>
                      </a:r>
                      <a:endParaRPr lang="en-IN" sz="2000" b="0" dirty="0">
                        <a:solidFill>
                          <a:schemeClr val="tx1"/>
                        </a:solidFill>
                        <a:latin typeface="Cambria" panose="020405030504060302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1727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465396" y="1266412"/>
            <a:ext cx="11125590" cy="4801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000" b="1" dirty="0">
                <a:solidFill>
                  <a:srgbClr val="04A2B9"/>
                </a:solidFill>
                <a:latin typeface="Cambria" panose="02040503050406030204" pitchFamily="18" charset="0"/>
                <a:ea typeface="+mj-ea"/>
                <a:cs typeface="+mj-cs"/>
              </a:rPr>
              <a:t>Web Page: </a:t>
            </a:r>
            <a:r>
              <a:rPr lang="en-IN" sz="2000" dirty="0">
                <a:solidFill>
                  <a:schemeClr val="tx1"/>
                </a:solidFill>
                <a:latin typeface="Cambria" panose="02040503050406030204" pitchFamily="18" charset="0"/>
                <a:ea typeface="+mj-ea"/>
                <a:cs typeface="+mj-cs"/>
              </a:rPr>
              <a:t>A single page on the web (a "homepage" is the first web page on a web site)</a:t>
            </a:r>
          </a:p>
          <a:p>
            <a:pPr algn="just"/>
            <a:endParaRPr lang="en-IN" sz="2000" dirty="0">
              <a:solidFill>
                <a:srgbClr val="04A2B9"/>
              </a:solidFill>
              <a:latin typeface="Cambria" panose="02040503050406030204" pitchFamily="18" charset="0"/>
              <a:ea typeface="+mj-ea"/>
              <a:cs typeface="+mj-cs"/>
            </a:endParaRPr>
          </a:p>
          <a:p>
            <a:pPr algn="just"/>
            <a:r>
              <a:rPr lang="en-IN" sz="2000" b="1" dirty="0">
                <a:solidFill>
                  <a:srgbClr val="04A2B9"/>
                </a:solidFill>
                <a:latin typeface="Cambria" panose="02040503050406030204" pitchFamily="18" charset="0"/>
                <a:ea typeface="+mj-ea"/>
                <a:cs typeface="+mj-cs"/>
              </a:rPr>
              <a:t>Website : </a:t>
            </a:r>
            <a:r>
              <a:rPr lang="en-IN" sz="2000" dirty="0">
                <a:solidFill>
                  <a:schemeClr val="tx1"/>
                </a:solidFill>
                <a:latin typeface="Cambria" panose="02040503050406030204" pitchFamily="18" charset="0"/>
                <a:ea typeface="+mj-ea"/>
                <a:cs typeface="+mj-cs"/>
              </a:rPr>
              <a:t>A collection of web pages.</a:t>
            </a:r>
          </a:p>
          <a:p>
            <a:pPr algn="just"/>
            <a:endParaRPr lang="en-IN" sz="2000" dirty="0">
              <a:solidFill>
                <a:schemeClr val="tx1"/>
              </a:solidFill>
              <a:latin typeface="Cambria" panose="02040503050406030204" pitchFamily="18" charset="0"/>
              <a:ea typeface="+mj-ea"/>
              <a:cs typeface="+mj-cs"/>
            </a:endParaRPr>
          </a:p>
          <a:p>
            <a:pPr algn="just"/>
            <a:r>
              <a:rPr lang="en-IN" sz="2000" b="1" dirty="0">
                <a:solidFill>
                  <a:srgbClr val="04A2B9"/>
                </a:solidFill>
                <a:latin typeface="Cambria" panose="02040503050406030204" pitchFamily="18" charset="0"/>
                <a:ea typeface="+mj-ea"/>
                <a:cs typeface="+mj-cs"/>
              </a:rPr>
              <a:t>Web Browser/Navigator/Client :</a:t>
            </a:r>
            <a:r>
              <a:rPr lang="en-IN" sz="2000" dirty="0">
                <a:solidFill>
                  <a:srgbClr val="04A2B9"/>
                </a:solidFill>
                <a:latin typeface="Cambria" panose="02040503050406030204" pitchFamily="18" charset="0"/>
                <a:ea typeface="+mj-ea"/>
                <a:cs typeface="+mj-cs"/>
              </a:rPr>
              <a:t> </a:t>
            </a:r>
            <a:r>
              <a:rPr lang="en-IN" sz="2000" dirty="0">
                <a:solidFill>
                  <a:schemeClr val="tx1"/>
                </a:solidFill>
                <a:latin typeface="Cambria" panose="02040503050406030204" pitchFamily="18" charset="0"/>
                <a:ea typeface="+mj-ea"/>
                <a:cs typeface="+mj-cs"/>
              </a:rPr>
              <a:t>The software application which displays web pages</a:t>
            </a:r>
          </a:p>
          <a:p>
            <a:pPr algn="just"/>
            <a:endParaRPr lang="en-IN" sz="2000" dirty="0">
              <a:solidFill>
                <a:schemeClr val="tx1"/>
              </a:solidFill>
              <a:latin typeface="Cambria" panose="02040503050406030204" pitchFamily="18" charset="0"/>
              <a:ea typeface="+mj-ea"/>
              <a:cs typeface="+mj-cs"/>
            </a:endParaRPr>
          </a:p>
          <a:p>
            <a:pPr algn="just"/>
            <a:r>
              <a:rPr lang="en-IN" sz="2000" b="1" dirty="0">
                <a:solidFill>
                  <a:srgbClr val="04A2B9"/>
                </a:solidFill>
                <a:latin typeface="Cambria" panose="02040503050406030204" pitchFamily="18" charset="0"/>
                <a:ea typeface="+mj-ea"/>
                <a:cs typeface="+mj-cs"/>
              </a:rPr>
              <a:t>Web Server :</a:t>
            </a:r>
            <a:r>
              <a:rPr lang="en-IN" sz="2000" dirty="0">
                <a:solidFill>
                  <a:schemeClr val="tx1"/>
                </a:solidFill>
                <a:latin typeface="Cambria" panose="02040503050406030204" pitchFamily="18" charset="0"/>
                <a:ea typeface="+mj-ea"/>
                <a:cs typeface="+mj-cs"/>
              </a:rPr>
              <a:t> A computer and software that delivers web pages to users over the Internet (e.g., Apache, Nginx).</a:t>
            </a:r>
          </a:p>
          <a:p>
            <a:pPr algn="just"/>
            <a:endParaRPr lang="en-IN" sz="2000" dirty="0">
              <a:solidFill>
                <a:schemeClr val="tx1"/>
              </a:solidFill>
              <a:latin typeface="Cambria" panose="02040503050406030204" pitchFamily="18" charset="0"/>
              <a:ea typeface="+mj-ea"/>
              <a:cs typeface="+mj-cs"/>
            </a:endParaRPr>
          </a:p>
          <a:p>
            <a:pPr algn="just"/>
            <a:r>
              <a:rPr lang="en-IN" sz="2000" b="1" dirty="0">
                <a:solidFill>
                  <a:srgbClr val="04A2B9"/>
                </a:solidFill>
                <a:latin typeface="Cambria" panose="02040503050406030204" pitchFamily="18" charset="0"/>
                <a:ea typeface="+mj-ea"/>
                <a:cs typeface="+mj-cs"/>
              </a:rPr>
              <a:t>HTML (Hyper Text Markup Language) : </a:t>
            </a:r>
            <a:r>
              <a:rPr lang="en-IN" sz="2000" dirty="0">
                <a:solidFill>
                  <a:schemeClr val="tx1"/>
                </a:solidFill>
                <a:latin typeface="Cambria" panose="02040503050406030204" pitchFamily="18" charset="0"/>
                <a:ea typeface="+mj-ea"/>
                <a:cs typeface="+mj-cs"/>
              </a:rPr>
              <a:t>The standard language for creating web pages.</a:t>
            </a:r>
          </a:p>
          <a:p>
            <a:pPr algn="just"/>
            <a:endParaRPr lang="en-IN" sz="2000" dirty="0">
              <a:solidFill>
                <a:schemeClr val="tx1"/>
              </a:solidFill>
              <a:latin typeface="Cambria" panose="02040503050406030204" pitchFamily="18" charset="0"/>
              <a:ea typeface="+mj-ea"/>
              <a:cs typeface="+mj-cs"/>
            </a:endParaRPr>
          </a:p>
          <a:p>
            <a:pPr algn="just"/>
            <a:r>
              <a:rPr lang="en-IN" sz="2000" b="1" dirty="0">
                <a:solidFill>
                  <a:srgbClr val="04A2B9"/>
                </a:solidFill>
                <a:latin typeface="Cambria" panose="02040503050406030204" pitchFamily="18" charset="0"/>
                <a:ea typeface="+mj-ea"/>
                <a:cs typeface="+mj-cs"/>
              </a:rPr>
              <a:t>HTTP/HTTPS (Hyper Text Transfer Protocol / Secure) :</a:t>
            </a:r>
            <a:r>
              <a:rPr lang="en-IN" sz="2000" dirty="0">
                <a:solidFill>
                  <a:schemeClr val="tx1"/>
                </a:solidFill>
                <a:latin typeface="Cambria" panose="02040503050406030204" pitchFamily="18" charset="0"/>
                <a:ea typeface="+mj-ea"/>
                <a:cs typeface="+mj-cs"/>
              </a:rPr>
              <a:t> Protocols used to transfer web content. HTTPS includes encryption.</a:t>
            </a:r>
          </a:p>
          <a:p>
            <a:pPr algn="just"/>
            <a:endParaRPr lang="en-IN" sz="2000" dirty="0">
              <a:solidFill>
                <a:schemeClr val="tx1"/>
              </a:solidFill>
              <a:latin typeface="Cambria" panose="02040503050406030204" pitchFamily="18" charset="0"/>
              <a:ea typeface="+mj-ea"/>
              <a:cs typeface="+mj-cs"/>
            </a:endParaRPr>
          </a:p>
          <a:p>
            <a:pPr algn="just"/>
            <a:r>
              <a:rPr lang="en-IN" sz="2000" b="1" dirty="0">
                <a:solidFill>
                  <a:srgbClr val="04A2B9"/>
                </a:solidFill>
                <a:latin typeface="Cambria" panose="02040503050406030204" pitchFamily="18" charset="0"/>
                <a:ea typeface="+mj-ea"/>
                <a:cs typeface="+mj-cs"/>
              </a:rPr>
              <a:t>Uniform Resource Locator (URL) : </a:t>
            </a:r>
            <a:r>
              <a:rPr lang="en-IN" sz="2000" dirty="0">
                <a:solidFill>
                  <a:schemeClr val="tx1"/>
                </a:solidFill>
                <a:latin typeface="Cambria" panose="02040503050406030204" pitchFamily="18" charset="0"/>
                <a:ea typeface="+mj-ea"/>
                <a:cs typeface="+mj-cs"/>
              </a:rPr>
              <a:t>The full web address used to access a specific page or file</a:t>
            </a:r>
          </a:p>
        </p:txBody>
      </p:sp>
    </p:spTree>
    <p:extLst>
      <p:ext uri="{BB962C8B-B14F-4D97-AF65-F5344CB8AC3E}">
        <p14:creationId xmlns:p14="http://schemas.microsoft.com/office/powerpoint/2010/main" val="24760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 to Web Servers </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4492" y="2037586"/>
            <a:ext cx="8278238" cy="4519816"/>
          </a:xfrm>
          <a:prstGeom prst="rect">
            <a:avLst/>
          </a:prstGeom>
        </p:spPr>
      </p:pic>
      <p:sp>
        <p:nvSpPr>
          <p:cNvPr id="8" name="Google Shape;71;p15"/>
          <p:cNvSpPr txBox="1">
            <a:spLocks noChangeArrowheads="1"/>
          </p:cNvSpPr>
          <p:nvPr/>
        </p:nvSpPr>
        <p:spPr bwMode="auto">
          <a:xfrm>
            <a:off x="3653340" y="1227775"/>
            <a:ext cx="3900542" cy="553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r>
              <a:rPr lang="en-IN" sz="2400" b="1" dirty="0">
                <a:solidFill>
                  <a:srgbClr val="04A2B9"/>
                </a:solidFill>
                <a:latin typeface="Cambria" panose="02040503050406030204" pitchFamily="18" charset="0"/>
                <a:ea typeface="+mj-ea"/>
                <a:cs typeface="+mj-cs"/>
              </a:rPr>
              <a:t>Working of Web Server</a:t>
            </a:r>
          </a:p>
        </p:txBody>
      </p:sp>
    </p:spTree>
    <p:extLst>
      <p:ext uri="{BB962C8B-B14F-4D97-AF65-F5344CB8AC3E}">
        <p14:creationId xmlns:p14="http://schemas.microsoft.com/office/powerpoint/2010/main" val="405371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 to Web Servers </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465396" y="1266412"/>
            <a:ext cx="11125590" cy="424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200" dirty="0">
                <a:solidFill>
                  <a:schemeClr val="tx1"/>
                </a:solidFill>
                <a:latin typeface="Cambria" panose="02040503050406030204" pitchFamily="18" charset="0"/>
                <a:ea typeface="+mj-ea"/>
                <a:cs typeface="+mj-cs"/>
              </a:rPr>
              <a:t>Web server is a computer where the web content is stored. Basically web server is used to host the web sites but there exists other web servers also such as gaming, storage, FTP, email etc.</a:t>
            </a:r>
          </a:p>
          <a:p>
            <a:pPr algn="just"/>
            <a:endParaRPr lang="en-IN" sz="2200" dirty="0">
              <a:solidFill>
                <a:schemeClr val="tx1"/>
              </a:solidFill>
              <a:latin typeface="Cambria" panose="02040503050406030204" pitchFamily="18" charset="0"/>
              <a:ea typeface="+mj-ea"/>
              <a:cs typeface="+mj-cs"/>
            </a:endParaRPr>
          </a:p>
          <a:p>
            <a:pPr algn="just"/>
            <a:r>
              <a:rPr lang="en-IN" sz="2200" b="1" dirty="0">
                <a:solidFill>
                  <a:schemeClr val="tx1"/>
                </a:solidFill>
                <a:latin typeface="Cambria" panose="02040503050406030204" pitchFamily="18" charset="0"/>
                <a:ea typeface="+mj-ea"/>
                <a:cs typeface="+mj-cs"/>
              </a:rPr>
              <a:t>Web Server Working</a:t>
            </a:r>
          </a:p>
          <a:p>
            <a:pPr algn="just"/>
            <a:endParaRPr lang="en-IN" sz="2200" dirty="0">
              <a:solidFill>
                <a:schemeClr val="tx1"/>
              </a:solidFill>
              <a:latin typeface="Cambria" panose="02040503050406030204" pitchFamily="18" charset="0"/>
              <a:ea typeface="+mj-ea"/>
              <a:cs typeface="+mj-cs"/>
            </a:endParaRPr>
          </a:p>
          <a:p>
            <a:pPr algn="just"/>
            <a:r>
              <a:rPr lang="en-IN" sz="2200" dirty="0">
                <a:latin typeface="Cambria" panose="02040503050406030204" pitchFamily="18" charset="0"/>
              </a:rPr>
              <a:t>Web server respond to the client request in either of the following two ways:</a:t>
            </a:r>
          </a:p>
          <a:p>
            <a:pPr algn="just"/>
            <a:endParaRPr lang="en-IN" sz="2200" dirty="0">
              <a:solidFill>
                <a:schemeClr val="tx1"/>
              </a:solidFill>
              <a:latin typeface="Cambria" panose="02040503050406030204" pitchFamily="18" charset="0"/>
              <a:ea typeface="+mj-ea"/>
              <a:cs typeface="+mj-cs"/>
            </a:endParaRPr>
          </a:p>
          <a:p>
            <a:r>
              <a:rPr lang="en-IN" sz="2200" dirty="0">
                <a:latin typeface="Cambria" panose="02040503050406030204" pitchFamily="18" charset="0"/>
              </a:rPr>
              <a:t>1. Sending the file to the client associated with the requested URL.</a:t>
            </a:r>
          </a:p>
          <a:p>
            <a:endParaRPr lang="en-IN" sz="2200" dirty="0">
              <a:latin typeface="Cambria" panose="02040503050406030204" pitchFamily="18" charset="0"/>
            </a:endParaRPr>
          </a:p>
          <a:p>
            <a:r>
              <a:rPr lang="en-IN" sz="2200" dirty="0">
                <a:latin typeface="Cambria" panose="02040503050406030204" pitchFamily="18" charset="0"/>
              </a:rPr>
              <a:t>2. Generating response by invoking a script and communicating with database</a:t>
            </a:r>
          </a:p>
          <a:p>
            <a:pPr algn="just"/>
            <a:endParaRPr lang="en-IN" sz="2200" dirty="0">
              <a:solidFill>
                <a:schemeClr val="tx1"/>
              </a:solidFill>
              <a:latin typeface="Cambria" panose="02040503050406030204" pitchFamily="18" charset="0"/>
              <a:ea typeface="+mj-ea"/>
              <a:cs typeface="+mj-cs"/>
            </a:endParaRPr>
          </a:p>
        </p:txBody>
      </p:sp>
    </p:spTree>
    <p:extLst>
      <p:ext uri="{BB962C8B-B14F-4D97-AF65-F5344CB8AC3E}">
        <p14:creationId xmlns:p14="http://schemas.microsoft.com/office/powerpoint/2010/main" val="25776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 to Web Servers </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465396" y="1266412"/>
            <a:ext cx="11125590" cy="357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200" b="1" dirty="0">
                <a:latin typeface="Cambria" panose="02040503050406030204" pitchFamily="18" charset="0"/>
              </a:rPr>
              <a:t>Key Points</a:t>
            </a:r>
          </a:p>
          <a:p>
            <a:pPr marL="342900" indent="-342900">
              <a:buFont typeface="Arial" panose="020B0604020202020204" pitchFamily="34" charset="0"/>
              <a:buChar char="•"/>
            </a:pPr>
            <a:endParaRPr lang="en-IN" sz="2200" dirty="0">
              <a:latin typeface="Cambria" panose="02040503050406030204" pitchFamily="18" charset="0"/>
            </a:endParaRPr>
          </a:p>
          <a:p>
            <a:pPr marL="342900" indent="-342900">
              <a:buFont typeface="Arial" panose="020B0604020202020204" pitchFamily="34" charset="0"/>
              <a:buChar char="•"/>
            </a:pPr>
            <a:r>
              <a:rPr lang="en-IN" sz="2200" dirty="0">
                <a:latin typeface="Cambria" panose="02040503050406030204" pitchFamily="18" charset="0"/>
              </a:rPr>
              <a:t>When client sends request for a web page, the web server search for the requested page if requested page is found then it will send it to client with an HTTP response.</a:t>
            </a:r>
          </a:p>
          <a:p>
            <a:pPr marL="342900" indent="-342900">
              <a:buFont typeface="Arial" panose="020B0604020202020204" pitchFamily="34" charset="0"/>
              <a:buChar char="•"/>
            </a:pPr>
            <a:endParaRPr lang="en-IN" sz="2200" dirty="0">
              <a:latin typeface="Cambria" panose="02040503050406030204" pitchFamily="18" charset="0"/>
            </a:endParaRPr>
          </a:p>
          <a:p>
            <a:pPr marL="342900" indent="-342900">
              <a:buFont typeface="Arial" panose="020B0604020202020204" pitchFamily="34" charset="0"/>
              <a:buChar char="•"/>
            </a:pPr>
            <a:r>
              <a:rPr lang="en-IN" sz="2200" dirty="0">
                <a:latin typeface="Cambria" panose="02040503050406030204" pitchFamily="18" charset="0"/>
              </a:rPr>
              <a:t>If the requested web page is not found, web server will the send an </a:t>
            </a:r>
            <a:r>
              <a:rPr lang="en-IN" sz="2200" b="1" dirty="0">
                <a:latin typeface="Cambria" panose="02040503050406030204" pitchFamily="18" charset="0"/>
              </a:rPr>
              <a:t>HTTP response: Error 404 Not  found.</a:t>
            </a:r>
          </a:p>
          <a:p>
            <a:pPr marL="342900" indent="-342900">
              <a:buFont typeface="Arial" panose="020B0604020202020204" pitchFamily="34" charset="0"/>
              <a:buChar char="•"/>
            </a:pPr>
            <a:endParaRPr lang="en-IN" sz="2200" dirty="0">
              <a:latin typeface="Cambria" panose="02040503050406030204" pitchFamily="18" charset="0"/>
            </a:endParaRPr>
          </a:p>
          <a:p>
            <a:pPr marL="342900" indent="-342900">
              <a:buFont typeface="Arial" panose="020B0604020202020204" pitchFamily="34" charset="0"/>
              <a:buChar char="•"/>
            </a:pPr>
            <a:r>
              <a:rPr lang="en-IN" sz="2200" dirty="0">
                <a:latin typeface="Cambria" panose="02040503050406030204" pitchFamily="18" charset="0"/>
              </a:rPr>
              <a:t>If client has requested for some other resources then the web server will contact to the application server and data store to construct the HTTP response.</a:t>
            </a:r>
          </a:p>
        </p:txBody>
      </p:sp>
    </p:spTree>
    <p:extLst>
      <p:ext uri="{BB962C8B-B14F-4D97-AF65-F5344CB8AC3E}">
        <p14:creationId xmlns:p14="http://schemas.microsoft.com/office/powerpoint/2010/main" val="70515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 to Web Servers </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3826781" y="1098987"/>
            <a:ext cx="4055089" cy="553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400" b="1" dirty="0">
                <a:solidFill>
                  <a:srgbClr val="04A2B9"/>
                </a:solidFill>
                <a:latin typeface="Cambria" panose="02040503050406030204" pitchFamily="18" charset="0"/>
                <a:ea typeface="+mj-ea"/>
                <a:cs typeface="+mj-cs"/>
              </a:rPr>
              <a:t>List of Popular Web Servers</a:t>
            </a:r>
          </a:p>
        </p:txBody>
      </p:sp>
      <p:pic>
        <p:nvPicPr>
          <p:cNvPr id="3" name="Picture 2"/>
          <p:cNvPicPr>
            <a:picLocks noChangeAspect="1"/>
          </p:cNvPicPr>
          <p:nvPr/>
        </p:nvPicPr>
        <p:blipFill>
          <a:blip r:embed="rId3"/>
          <a:stretch>
            <a:fillRect/>
          </a:stretch>
        </p:blipFill>
        <p:spPr>
          <a:xfrm>
            <a:off x="1667813" y="1545466"/>
            <a:ext cx="8563432" cy="4984124"/>
          </a:xfrm>
          <a:prstGeom prst="rect">
            <a:avLst/>
          </a:prstGeom>
        </p:spPr>
      </p:pic>
    </p:spTree>
    <p:extLst>
      <p:ext uri="{BB962C8B-B14F-4D97-AF65-F5344CB8AC3E}">
        <p14:creationId xmlns:p14="http://schemas.microsoft.com/office/powerpoint/2010/main" val="350067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 to Web Servers </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465396" y="1266412"/>
            <a:ext cx="11125590" cy="5016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400" b="1" dirty="0">
                <a:solidFill>
                  <a:srgbClr val="04A2B9"/>
                </a:solidFill>
                <a:latin typeface="Cambria" panose="02040503050406030204" pitchFamily="18" charset="0"/>
                <a:ea typeface="+mj-ea"/>
                <a:cs typeface="+mj-cs"/>
              </a:rPr>
              <a:t>Apache Web Server</a:t>
            </a:r>
          </a:p>
          <a:p>
            <a:pPr algn="just"/>
            <a:endParaRPr lang="en-IN" sz="2200" dirty="0">
              <a:latin typeface="Cambria" panose="02040503050406030204" pitchFamily="18" charset="0"/>
            </a:endParaRPr>
          </a:p>
          <a:p>
            <a:pPr algn="just"/>
            <a:r>
              <a:rPr lang="en-IN" sz="2200" dirty="0">
                <a:latin typeface="Cambria" panose="02040503050406030204" pitchFamily="18" charset="0"/>
              </a:rPr>
              <a:t>Apache web server is one of the most popular web servers developed by the Apache Software Foundation. Open source software, Apache supports almost all operating systems such as Linux, Windows, Unix FreeBSD, Mac OS X and more. Approximately, 60% of the machines run on Apache Web Server.</a:t>
            </a:r>
          </a:p>
          <a:p>
            <a:pPr algn="just"/>
            <a:endParaRPr lang="en-IN" sz="2200" dirty="0">
              <a:latin typeface="Cambria" panose="02040503050406030204" pitchFamily="18" charset="0"/>
            </a:endParaRPr>
          </a:p>
          <a:p>
            <a:pPr algn="just"/>
            <a:r>
              <a:rPr lang="en-IN" sz="2400" b="1" dirty="0">
                <a:solidFill>
                  <a:srgbClr val="04A2B9"/>
                </a:solidFill>
                <a:latin typeface="Cambria" panose="02040503050406030204" pitchFamily="18" charset="0"/>
                <a:ea typeface="+mj-ea"/>
                <a:cs typeface="+mj-cs"/>
              </a:rPr>
              <a:t>IIS Web Server</a:t>
            </a:r>
          </a:p>
          <a:p>
            <a:pPr algn="just"/>
            <a:endParaRPr lang="en-IN" sz="2400" b="1" dirty="0">
              <a:solidFill>
                <a:srgbClr val="04A2B9"/>
              </a:solidFill>
              <a:latin typeface="Cambria" panose="02040503050406030204" pitchFamily="18" charset="0"/>
              <a:ea typeface="+mj-ea"/>
              <a:cs typeface="+mj-cs"/>
            </a:endParaRPr>
          </a:p>
          <a:p>
            <a:pPr algn="just"/>
            <a:r>
              <a:rPr lang="en-IN" sz="2200" dirty="0">
                <a:latin typeface="Cambria" panose="02040503050406030204" pitchFamily="18" charset="0"/>
              </a:rPr>
              <a:t>A Microsoft product, IIS is a server that offers all the features such as Apache. Since it’s not an open source, adding personal modules as well as modifying becomes a bit difficult.</a:t>
            </a:r>
          </a:p>
          <a:p>
            <a:pPr algn="just"/>
            <a:endParaRPr lang="en-IN" sz="2200" dirty="0">
              <a:latin typeface="Cambria" panose="02040503050406030204" pitchFamily="18" charset="0"/>
            </a:endParaRPr>
          </a:p>
          <a:p>
            <a:pPr algn="just"/>
            <a:r>
              <a:rPr lang="en-IN" sz="2200" dirty="0">
                <a:latin typeface="Cambria" panose="02040503050406030204" pitchFamily="18" charset="0"/>
              </a:rPr>
              <a:t>It supports all the platforms that run Windows operating system. Additionally, you also get good customer support, if there is any issue.</a:t>
            </a:r>
          </a:p>
        </p:txBody>
      </p:sp>
    </p:spTree>
    <p:extLst>
      <p:ext uri="{BB962C8B-B14F-4D97-AF65-F5344CB8AC3E}">
        <p14:creationId xmlns:p14="http://schemas.microsoft.com/office/powerpoint/2010/main" val="33417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6" y="299545"/>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04A2B9"/>
                </a:solidFill>
                <a:latin typeface="Proxima Nova"/>
              </a:rPr>
              <a:t>Introduction to Web Servers </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336607" y="1034592"/>
            <a:ext cx="11125590" cy="5724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400" b="1" dirty="0">
                <a:solidFill>
                  <a:srgbClr val="04A2B9"/>
                </a:solidFill>
                <a:latin typeface="Cambria" panose="02040503050406030204" pitchFamily="18" charset="0"/>
                <a:ea typeface="+mj-ea"/>
                <a:cs typeface="+mj-cs"/>
              </a:rPr>
              <a:t>Nginx Web Server</a:t>
            </a:r>
          </a:p>
          <a:p>
            <a:pPr algn="just"/>
            <a:endParaRPr lang="en-IN" sz="2400" b="1" dirty="0">
              <a:solidFill>
                <a:srgbClr val="04A2B9"/>
              </a:solidFill>
              <a:latin typeface="Cambria" panose="02040503050406030204" pitchFamily="18" charset="0"/>
              <a:ea typeface="+mj-ea"/>
              <a:cs typeface="+mj-cs"/>
            </a:endParaRPr>
          </a:p>
          <a:p>
            <a:pPr algn="just"/>
            <a:r>
              <a:rPr lang="en-IN" sz="2200" dirty="0">
                <a:latin typeface="Cambria" panose="02040503050406030204" pitchFamily="18" charset="0"/>
              </a:rPr>
              <a:t>Nginx is the next open source web server after Apache. It comprises of IMAP/POP3 proxy server. The significant features offered by Nginx are high performance, stability, simple configuration and low resource usage.</a:t>
            </a:r>
          </a:p>
          <a:p>
            <a:pPr algn="just"/>
            <a:endParaRPr lang="en-IN" sz="2200" dirty="0">
              <a:latin typeface="Cambria" panose="02040503050406030204" pitchFamily="18" charset="0"/>
            </a:endParaRPr>
          </a:p>
          <a:p>
            <a:pPr algn="just"/>
            <a:r>
              <a:rPr lang="en-IN" sz="2400" b="1" dirty="0">
                <a:solidFill>
                  <a:srgbClr val="04A2B9"/>
                </a:solidFill>
                <a:latin typeface="Cambria" panose="02040503050406030204" pitchFamily="18" charset="0"/>
                <a:ea typeface="+mj-ea"/>
                <a:cs typeface="+mj-cs"/>
              </a:rPr>
              <a:t>Apache Tomcat</a:t>
            </a:r>
          </a:p>
          <a:p>
            <a:pPr algn="just"/>
            <a:endParaRPr lang="en-IN" sz="2200" dirty="0">
              <a:latin typeface="Cambria" panose="02040503050406030204" pitchFamily="18" charset="0"/>
            </a:endParaRPr>
          </a:p>
          <a:p>
            <a:pPr algn="just"/>
            <a:r>
              <a:rPr lang="en-IN" sz="2200" dirty="0">
                <a:latin typeface="Cambria" panose="02040503050406030204" pitchFamily="18" charset="0"/>
              </a:rPr>
              <a:t>An open source Java servlet container, Apache Tomcat functions as a web server. A Java program that expands the capabilities of a server is called as a Java servlet. </a:t>
            </a:r>
          </a:p>
          <a:p>
            <a:pPr algn="just"/>
            <a:endParaRPr lang="en-IN" sz="2200" dirty="0">
              <a:latin typeface="Cambria" panose="02040503050406030204" pitchFamily="18" charset="0"/>
            </a:endParaRPr>
          </a:p>
          <a:p>
            <a:pPr algn="just"/>
            <a:r>
              <a:rPr lang="en-IN" sz="2400" b="1" dirty="0">
                <a:solidFill>
                  <a:srgbClr val="04A2B9"/>
                </a:solidFill>
                <a:latin typeface="Cambria" panose="02040503050406030204" pitchFamily="18" charset="0"/>
                <a:ea typeface="+mj-ea"/>
                <a:cs typeface="+mj-cs"/>
              </a:rPr>
              <a:t>Sun Java System Web Server</a:t>
            </a:r>
          </a:p>
          <a:p>
            <a:pPr algn="just"/>
            <a:endParaRPr lang="en-IN" sz="2200" dirty="0">
              <a:latin typeface="Cambria" panose="02040503050406030204" pitchFamily="18" charset="0"/>
            </a:endParaRPr>
          </a:p>
          <a:p>
            <a:pPr algn="just"/>
            <a:r>
              <a:rPr lang="en-IN" sz="2200" dirty="0">
                <a:latin typeface="Cambria" panose="02040503050406030204" pitchFamily="18" charset="0"/>
              </a:rPr>
              <a:t>Sun Java System Web Server, which was earlier known as Sun One Web Server and </a:t>
            </a:r>
            <a:r>
              <a:rPr lang="en-IN" sz="2200" dirty="0" err="1">
                <a:latin typeface="Cambria" panose="02040503050406030204" pitchFamily="18" charset="0"/>
              </a:rPr>
              <a:t>iPlanet</a:t>
            </a:r>
            <a:r>
              <a:rPr lang="en-IN" sz="2200" dirty="0">
                <a:latin typeface="Cambria" panose="02040503050406030204" pitchFamily="18" charset="0"/>
              </a:rPr>
              <a:t> Web Server is a multi-threaded and secure Web Server developed by Sun Microsystems. Later, it was taken over by Oracle. </a:t>
            </a:r>
          </a:p>
        </p:txBody>
      </p:sp>
    </p:spTree>
    <p:extLst>
      <p:ext uri="{BB962C8B-B14F-4D97-AF65-F5344CB8AC3E}">
        <p14:creationId xmlns:p14="http://schemas.microsoft.com/office/powerpoint/2010/main" val="10127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39449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HTTP Request and Response Model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3"/>
          <a:stretch>
            <a:fillRect/>
          </a:stretch>
        </p:blipFill>
        <p:spPr>
          <a:xfrm>
            <a:off x="865413" y="1557781"/>
            <a:ext cx="10119998" cy="4392257"/>
          </a:xfrm>
          <a:prstGeom prst="rect">
            <a:avLst/>
          </a:prstGeom>
        </p:spPr>
      </p:pic>
    </p:spTree>
    <p:extLst>
      <p:ext uri="{BB962C8B-B14F-4D97-AF65-F5344CB8AC3E}">
        <p14:creationId xmlns:p14="http://schemas.microsoft.com/office/powerpoint/2010/main" val="2352780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HTTP Request and Response Model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362365" y="1227775"/>
            <a:ext cx="11125590" cy="4924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200" dirty="0">
                <a:latin typeface="Cambria" panose="02040503050406030204" pitchFamily="18" charset="0"/>
              </a:rPr>
              <a:t>The request-response model defines a communication pattern where a client sends a request to a server, and the server responds with a corresponding response.</a:t>
            </a:r>
          </a:p>
          <a:p>
            <a:pPr algn="just"/>
            <a:endParaRPr lang="en-IN" sz="2200" dirty="0">
              <a:latin typeface="Cambria" panose="02040503050406030204" pitchFamily="18" charset="0"/>
            </a:endParaRPr>
          </a:p>
          <a:p>
            <a:pPr algn="just"/>
            <a:r>
              <a:rPr lang="en-IN" sz="2200" b="1" dirty="0">
                <a:latin typeface="Cambria" panose="02040503050406030204" pitchFamily="18" charset="0"/>
              </a:rPr>
              <a:t>1. Client Sends a Request</a:t>
            </a:r>
          </a:p>
          <a:p>
            <a:pPr algn="just"/>
            <a:endParaRPr lang="en-IN" sz="2200" dirty="0">
              <a:latin typeface="Cambria" panose="02040503050406030204" pitchFamily="18" charset="0"/>
            </a:endParaRPr>
          </a:p>
          <a:p>
            <a:pPr algn="just"/>
            <a:r>
              <a:rPr lang="en-IN" sz="2200" dirty="0">
                <a:latin typeface="Cambria" panose="02040503050406030204" pitchFamily="18" charset="0"/>
              </a:rPr>
              <a:t>The client (usually a browser or app) initiates communication.</a:t>
            </a:r>
          </a:p>
          <a:p>
            <a:pPr algn="just"/>
            <a:endParaRPr lang="en-IN" sz="2200" dirty="0">
              <a:latin typeface="Cambria" panose="02040503050406030204" pitchFamily="18" charset="0"/>
            </a:endParaRPr>
          </a:p>
          <a:p>
            <a:pPr algn="just"/>
            <a:r>
              <a:rPr lang="en-IN" sz="2200" dirty="0">
                <a:latin typeface="Cambria" panose="02040503050406030204" pitchFamily="18" charset="0"/>
              </a:rPr>
              <a:t>It sends an HTTP Request to the web server.</a:t>
            </a:r>
          </a:p>
          <a:p>
            <a:pPr algn="just"/>
            <a:endParaRPr lang="en-IN" sz="2200" dirty="0">
              <a:latin typeface="Cambria" panose="02040503050406030204" pitchFamily="18" charset="0"/>
            </a:endParaRPr>
          </a:p>
          <a:p>
            <a:pPr algn="just"/>
            <a:r>
              <a:rPr lang="en-IN" sz="2200" dirty="0">
                <a:latin typeface="Cambria" panose="02040503050406030204" pitchFamily="18" charset="0"/>
              </a:rPr>
              <a:t>Request includes:</a:t>
            </a:r>
          </a:p>
          <a:p>
            <a:pPr marL="342900" indent="-342900" algn="just">
              <a:buFont typeface="Arial" panose="020B0604020202020204" pitchFamily="34" charset="0"/>
              <a:buChar char="•"/>
            </a:pPr>
            <a:r>
              <a:rPr lang="en-IN" sz="2200" dirty="0">
                <a:latin typeface="Cambria" panose="02040503050406030204" pitchFamily="18" charset="0"/>
              </a:rPr>
              <a:t>Method: What action to perform (e.g., GET, POST)</a:t>
            </a:r>
          </a:p>
          <a:p>
            <a:pPr marL="342900" indent="-342900" algn="just">
              <a:buFont typeface="Arial" panose="020B0604020202020204" pitchFamily="34" charset="0"/>
              <a:buChar char="•"/>
            </a:pPr>
            <a:r>
              <a:rPr lang="en-IN" sz="2200" dirty="0">
                <a:latin typeface="Cambria" panose="02040503050406030204" pitchFamily="18" charset="0"/>
              </a:rPr>
              <a:t>URL: Address of the resource (e.g., /index.html)</a:t>
            </a:r>
          </a:p>
          <a:p>
            <a:pPr marL="342900" indent="-342900" algn="just">
              <a:buFont typeface="Arial" panose="020B0604020202020204" pitchFamily="34" charset="0"/>
              <a:buChar char="•"/>
            </a:pPr>
            <a:r>
              <a:rPr lang="en-IN" sz="2200" dirty="0">
                <a:latin typeface="Cambria" panose="02040503050406030204" pitchFamily="18" charset="0"/>
              </a:rPr>
              <a:t>Headers: Additional information (e.g., browser type, language)</a:t>
            </a:r>
          </a:p>
          <a:p>
            <a:pPr marL="342900" indent="-342900" algn="just">
              <a:buFont typeface="Arial" panose="020B0604020202020204" pitchFamily="34" charset="0"/>
              <a:buChar char="•"/>
            </a:pPr>
            <a:r>
              <a:rPr lang="en-IN" sz="2200" dirty="0">
                <a:latin typeface="Cambria" panose="02040503050406030204" pitchFamily="18" charset="0"/>
              </a:rPr>
              <a:t>Body: (Optional) Data to send (e.g., form data in POST)</a:t>
            </a:r>
          </a:p>
        </p:txBody>
      </p:sp>
    </p:spTree>
    <p:extLst>
      <p:ext uri="{BB962C8B-B14F-4D97-AF65-F5344CB8AC3E}">
        <p14:creationId xmlns:p14="http://schemas.microsoft.com/office/powerpoint/2010/main" val="323906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HTTP Request and Response Model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362365" y="1227775"/>
            <a:ext cx="11125590" cy="255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200" b="1" dirty="0">
                <a:latin typeface="Cambria" panose="02040503050406030204" pitchFamily="18" charset="0"/>
              </a:rPr>
              <a:t>2. Server Processes the Request</a:t>
            </a:r>
          </a:p>
          <a:p>
            <a:pPr algn="just"/>
            <a:endParaRPr lang="en-IN" sz="2200" dirty="0">
              <a:latin typeface="Cambria" panose="02040503050406030204" pitchFamily="18" charset="0"/>
            </a:endParaRPr>
          </a:p>
          <a:p>
            <a:pPr algn="just"/>
            <a:r>
              <a:rPr lang="en-IN" sz="2200" dirty="0">
                <a:latin typeface="Cambria" panose="02040503050406030204" pitchFamily="18" charset="0"/>
              </a:rPr>
              <a:t>The server receives the request.</a:t>
            </a:r>
          </a:p>
          <a:p>
            <a:pPr algn="just"/>
            <a:endParaRPr lang="en-IN" sz="2200" dirty="0">
              <a:latin typeface="Cambria" panose="02040503050406030204" pitchFamily="18" charset="0"/>
            </a:endParaRPr>
          </a:p>
          <a:p>
            <a:pPr algn="just"/>
            <a:r>
              <a:rPr lang="en-IN" sz="2200" dirty="0">
                <a:latin typeface="Cambria" panose="02040503050406030204" pitchFamily="18" charset="0"/>
              </a:rPr>
              <a:t>It finds the resource or performs the requested action.</a:t>
            </a:r>
          </a:p>
          <a:p>
            <a:pPr algn="just"/>
            <a:endParaRPr lang="en-IN" sz="2200" dirty="0">
              <a:latin typeface="Cambria" panose="02040503050406030204" pitchFamily="18" charset="0"/>
            </a:endParaRPr>
          </a:p>
          <a:p>
            <a:pPr algn="just"/>
            <a:r>
              <a:rPr lang="en-IN" sz="2200" dirty="0">
                <a:latin typeface="Cambria" panose="02040503050406030204" pitchFamily="18" charset="0"/>
              </a:rPr>
              <a:t>Prepares an HTTP Response to send back.</a:t>
            </a:r>
          </a:p>
        </p:txBody>
      </p:sp>
    </p:spTree>
    <p:extLst>
      <p:ext uri="{BB962C8B-B14F-4D97-AF65-F5344CB8AC3E}">
        <p14:creationId xmlns:p14="http://schemas.microsoft.com/office/powerpoint/2010/main" val="23253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HTTP Request and Response Model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Google Shape;71;p15"/>
          <p:cNvSpPr txBox="1">
            <a:spLocks noChangeArrowheads="1"/>
          </p:cNvSpPr>
          <p:nvPr/>
        </p:nvSpPr>
        <p:spPr bwMode="auto">
          <a:xfrm>
            <a:off x="362365" y="1227775"/>
            <a:ext cx="11125590" cy="3908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sz="2200" b="1" dirty="0">
                <a:latin typeface="Cambria" panose="02040503050406030204" pitchFamily="18" charset="0"/>
              </a:rPr>
              <a:t>3. Server Sends a Response</a:t>
            </a:r>
          </a:p>
          <a:p>
            <a:pPr algn="just"/>
            <a:endParaRPr lang="en-IN" sz="2200" dirty="0">
              <a:latin typeface="Cambria" panose="02040503050406030204" pitchFamily="18" charset="0"/>
            </a:endParaRPr>
          </a:p>
          <a:p>
            <a:pPr algn="just"/>
            <a:r>
              <a:rPr lang="en-IN" sz="2200" dirty="0">
                <a:latin typeface="Cambria" panose="02040503050406030204" pitchFamily="18" charset="0"/>
              </a:rPr>
              <a:t>The server sends back a response to the client.</a:t>
            </a:r>
          </a:p>
          <a:p>
            <a:pPr algn="just"/>
            <a:endParaRPr lang="en-IN" sz="2200" dirty="0">
              <a:latin typeface="Cambria" panose="02040503050406030204" pitchFamily="18" charset="0"/>
            </a:endParaRPr>
          </a:p>
          <a:p>
            <a:pPr algn="just"/>
            <a:r>
              <a:rPr lang="en-IN" sz="2200" b="1" dirty="0">
                <a:latin typeface="Cambria" panose="02040503050406030204" pitchFamily="18" charset="0"/>
              </a:rPr>
              <a:t>Response includes:</a:t>
            </a:r>
          </a:p>
          <a:p>
            <a:pPr algn="just"/>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Status code (e.g., 200 OK, 404 Not Found)</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Headers (e.g., content type, length)</a:t>
            </a:r>
          </a:p>
          <a:p>
            <a:pPr marL="342900" indent="-342900" algn="just">
              <a:buFont typeface="Arial" panose="020B0604020202020204" pitchFamily="34" charset="0"/>
              <a:buChar char="•"/>
            </a:pPr>
            <a:endParaRPr lang="en-IN" sz="2200" dirty="0">
              <a:latin typeface="Cambria" panose="02040503050406030204" pitchFamily="18" charset="0"/>
            </a:endParaRPr>
          </a:p>
          <a:p>
            <a:pPr marL="342900" indent="-342900" algn="just">
              <a:buFont typeface="Arial" panose="020B0604020202020204" pitchFamily="34" charset="0"/>
              <a:buChar char="•"/>
            </a:pPr>
            <a:r>
              <a:rPr lang="en-IN" sz="2200" dirty="0">
                <a:latin typeface="Cambria" panose="02040503050406030204" pitchFamily="18" charset="0"/>
              </a:rPr>
              <a:t>Body (e.g., HTML page, image, JSON data)</a:t>
            </a:r>
          </a:p>
        </p:txBody>
      </p:sp>
    </p:spTree>
    <p:extLst>
      <p:ext uri="{BB962C8B-B14F-4D97-AF65-F5344CB8AC3E}">
        <p14:creationId xmlns:p14="http://schemas.microsoft.com/office/powerpoint/2010/main" val="162488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Structure of HTML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pic>
        <p:nvPicPr>
          <p:cNvPr id="3" name="Picture 2"/>
          <p:cNvPicPr>
            <a:picLocks noChangeAspect="1"/>
          </p:cNvPicPr>
          <p:nvPr/>
        </p:nvPicPr>
        <p:blipFill>
          <a:blip r:embed="rId3"/>
          <a:stretch>
            <a:fillRect/>
          </a:stretch>
        </p:blipFill>
        <p:spPr>
          <a:xfrm>
            <a:off x="465395" y="1157197"/>
            <a:ext cx="10669629" cy="5359513"/>
          </a:xfrm>
          <a:prstGeom prst="rect">
            <a:avLst/>
          </a:prstGeom>
        </p:spPr>
      </p:pic>
    </p:spTree>
    <p:extLst>
      <p:ext uri="{BB962C8B-B14F-4D97-AF65-F5344CB8AC3E}">
        <p14:creationId xmlns:p14="http://schemas.microsoft.com/office/powerpoint/2010/main" val="356400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Structure of HTML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4" name="Rectangle 3"/>
          <p:cNvSpPr/>
          <p:nvPr/>
        </p:nvSpPr>
        <p:spPr>
          <a:xfrm>
            <a:off x="362365" y="1605279"/>
            <a:ext cx="3855077" cy="3416320"/>
          </a:xfrm>
          <a:prstGeom prst="rect">
            <a:avLst/>
          </a:prstGeom>
        </p:spPr>
        <p:txBody>
          <a:bodyPr wrap="square">
            <a:spAutoFit/>
          </a:bodyPr>
          <a:lstStyle/>
          <a:p>
            <a:r>
              <a:rPr lang="en-IN" dirty="0">
                <a:solidFill>
                  <a:srgbClr val="708090"/>
                </a:solidFill>
                <a:latin typeface="Consolas" panose="020B0609020204030204" pitchFamily="49" charset="0"/>
              </a:rPr>
              <a:t>&lt;!DOCTYPE html&gt;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html</a:t>
            </a:r>
            <a:r>
              <a:rPr lang="en-IN" dirty="0">
                <a:solidFill>
                  <a:srgbClr val="999999"/>
                </a:solidFill>
                <a:latin typeface="Consolas" panose="020B0609020204030204" pitchFamily="49" charset="0"/>
              </a:rPr>
              <a:t>&gt;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head</a:t>
            </a:r>
            <a:r>
              <a:rPr lang="en-IN" dirty="0">
                <a:solidFill>
                  <a:srgbClr val="999999"/>
                </a:solidFill>
                <a:latin typeface="Consolas" panose="020B0609020204030204" pitchFamily="49" charset="0"/>
              </a:rPr>
              <a:t>&gt;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title</a:t>
            </a:r>
            <a:r>
              <a:rPr lang="en-IN" dirty="0">
                <a:solidFill>
                  <a:srgbClr val="999999"/>
                </a:solidFill>
                <a:latin typeface="Consolas" panose="020B0609020204030204" pitchFamily="49" charset="0"/>
              </a:rPr>
              <a:t>&gt;</a:t>
            </a:r>
            <a:r>
              <a:rPr lang="en-IN" dirty="0">
                <a:solidFill>
                  <a:srgbClr val="000000"/>
                </a:solidFill>
                <a:latin typeface="Consolas" panose="020B0609020204030204" pitchFamily="49" charset="0"/>
              </a:rPr>
              <a:t>Page Title</a:t>
            </a: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/title</a:t>
            </a:r>
            <a:r>
              <a:rPr lang="en-IN" dirty="0">
                <a:solidFill>
                  <a:srgbClr val="999999"/>
                </a:solidFill>
                <a:latin typeface="Consolas" panose="020B0609020204030204" pitchFamily="49" charset="0"/>
              </a:rPr>
              <a:t>&gt;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/head</a:t>
            </a:r>
            <a:r>
              <a:rPr lang="en-IN" dirty="0">
                <a:solidFill>
                  <a:srgbClr val="999999"/>
                </a:solidFill>
                <a:latin typeface="Consolas" panose="020B0609020204030204" pitchFamily="49" charset="0"/>
              </a:rPr>
              <a:t>&gt;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body</a:t>
            </a:r>
            <a:r>
              <a:rPr lang="en-IN" dirty="0">
                <a:solidFill>
                  <a:srgbClr val="999999"/>
                </a:solidFill>
                <a:latin typeface="Consolas" panose="020B0609020204030204" pitchFamily="49" charset="0"/>
              </a:rPr>
              <a:t>&gt;</a:t>
            </a:r>
            <a:br>
              <a:rPr lang="en-IN" dirty="0"/>
            </a:b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h1</a:t>
            </a:r>
            <a:r>
              <a:rPr lang="en-IN" dirty="0">
                <a:solidFill>
                  <a:srgbClr val="999999"/>
                </a:solidFill>
                <a:latin typeface="Consolas" panose="020B0609020204030204" pitchFamily="49" charset="0"/>
              </a:rPr>
              <a:t>&gt;</a:t>
            </a:r>
            <a:r>
              <a:rPr lang="en-IN" dirty="0">
                <a:solidFill>
                  <a:srgbClr val="000000"/>
                </a:solidFill>
                <a:latin typeface="Consolas" panose="020B0609020204030204" pitchFamily="49" charset="0"/>
              </a:rPr>
              <a:t>My First Heading</a:t>
            </a: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/h1</a:t>
            </a:r>
            <a:r>
              <a:rPr lang="en-IN" dirty="0">
                <a:solidFill>
                  <a:srgbClr val="999999"/>
                </a:solidFill>
                <a:latin typeface="Consolas" panose="020B0609020204030204" pitchFamily="49" charset="0"/>
              </a:rPr>
              <a:t>&gt;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p</a:t>
            </a:r>
            <a:r>
              <a:rPr lang="en-IN" dirty="0">
                <a:solidFill>
                  <a:srgbClr val="999999"/>
                </a:solidFill>
                <a:latin typeface="Consolas" panose="020B0609020204030204" pitchFamily="49" charset="0"/>
              </a:rPr>
              <a:t>&gt;</a:t>
            </a:r>
            <a:r>
              <a:rPr lang="en-IN" dirty="0">
                <a:solidFill>
                  <a:srgbClr val="000000"/>
                </a:solidFill>
                <a:latin typeface="Consolas" panose="020B0609020204030204" pitchFamily="49" charset="0"/>
              </a:rPr>
              <a:t>My first paragraph.</a:t>
            </a: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/p</a:t>
            </a:r>
            <a:r>
              <a:rPr lang="en-IN" dirty="0">
                <a:solidFill>
                  <a:srgbClr val="999999"/>
                </a:solidFill>
                <a:latin typeface="Consolas" panose="020B0609020204030204" pitchFamily="49" charset="0"/>
              </a:rPr>
              <a:t>&gt;</a:t>
            </a:r>
            <a:br>
              <a:rPr lang="en-IN" dirty="0"/>
            </a:b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/body</a:t>
            </a:r>
            <a:r>
              <a:rPr lang="en-IN" dirty="0">
                <a:solidFill>
                  <a:srgbClr val="999999"/>
                </a:solidFill>
                <a:latin typeface="Consolas" panose="020B0609020204030204" pitchFamily="49" charset="0"/>
              </a:rPr>
              <a:t>&gt;</a:t>
            </a:r>
            <a:br>
              <a:rPr lang="en-IN" dirty="0"/>
            </a:br>
            <a:r>
              <a:rPr lang="en-IN" dirty="0">
                <a:solidFill>
                  <a:srgbClr val="999999"/>
                </a:solidFill>
                <a:latin typeface="Consolas" panose="020B0609020204030204" pitchFamily="49" charset="0"/>
              </a:rPr>
              <a:t>&lt;</a:t>
            </a:r>
            <a:r>
              <a:rPr lang="en-IN" dirty="0">
                <a:solidFill>
                  <a:srgbClr val="990055"/>
                </a:solidFill>
                <a:latin typeface="Consolas" panose="020B0609020204030204" pitchFamily="49" charset="0"/>
              </a:rPr>
              <a:t>/html</a:t>
            </a:r>
            <a:r>
              <a:rPr lang="en-IN" dirty="0">
                <a:solidFill>
                  <a:srgbClr val="999999"/>
                </a:solidFill>
                <a:latin typeface="Consolas" panose="020B0609020204030204" pitchFamily="49" charset="0"/>
              </a:rPr>
              <a:t>&gt;</a:t>
            </a:r>
            <a:endParaRPr lang="en-IN" dirty="0"/>
          </a:p>
        </p:txBody>
      </p:sp>
      <p:sp>
        <p:nvSpPr>
          <p:cNvPr id="8" name="Rectangle 7"/>
          <p:cNvSpPr/>
          <p:nvPr/>
        </p:nvSpPr>
        <p:spPr>
          <a:xfrm>
            <a:off x="4436384" y="1227775"/>
            <a:ext cx="7631120" cy="4801314"/>
          </a:xfrm>
          <a:prstGeom prst="rect">
            <a:avLst/>
          </a:prstGeom>
        </p:spPr>
        <p:txBody>
          <a:bodyPr wrap="square">
            <a:spAutoFit/>
          </a:bodyPr>
          <a:lstStyle/>
          <a:p>
            <a:pPr marL="285750" indent="-285750">
              <a:buFont typeface="Arial" panose="020B0604020202020204" pitchFamily="34" charset="0"/>
              <a:buChar char="•"/>
            </a:pPr>
            <a:r>
              <a:rPr lang="en-IN" dirty="0">
                <a:latin typeface="Cambria" panose="02040503050406030204" pitchFamily="18" charset="0"/>
              </a:rPr>
              <a:t>The &lt;!DOCTYPE html&gt; declaration defines that this document is an HTML5 document.</a:t>
            </a:r>
          </a:p>
          <a:p>
            <a:pPr marL="285750" indent="-285750">
              <a:buFont typeface="Arial" panose="020B0604020202020204" pitchFamily="34" charset="0"/>
              <a:buChar char="•"/>
            </a:pPr>
            <a:endParaRPr lang="en-IN" dirty="0">
              <a:latin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rPr>
              <a:t>The &lt;html&gt; element is the root element of an HTML page</a:t>
            </a:r>
          </a:p>
          <a:p>
            <a:pPr marL="285750" indent="-285750">
              <a:buFont typeface="Arial" panose="020B0604020202020204" pitchFamily="34" charset="0"/>
              <a:buChar char="•"/>
            </a:pPr>
            <a:endParaRPr lang="en-IN" dirty="0">
              <a:latin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rPr>
              <a:t>The &lt;head&gt; element contains meta information about the HTML page</a:t>
            </a:r>
          </a:p>
          <a:p>
            <a:pPr marL="285750" indent="-285750">
              <a:buFont typeface="Arial" panose="020B0604020202020204" pitchFamily="34" charset="0"/>
              <a:buChar char="•"/>
            </a:pPr>
            <a:endParaRPr lang="en-IN" dirty="0">
              <a:latin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rPr>
              <a:t>The &lt;title&gt; element specifies a title for the HTML page (which is shown in the browser's title bar or in the page's tab)</a:t>
            </a:r>
          </a:p>
          <a:p>
            <a:pPr marL="285750" indent="-285750">
              <a:buFont typeface="Arial" panose="020B0604020202020204" pitchFamily="34" charset="0"/>
              <a:buChar char="•"/>
            </a:pPr>
            <a:endParaRPr lang="en-IN" dirty="0">
              <a:latin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rPr>
              <a:t>The &lt;body&gt; element defines the document's body, and is a container for all the visible contents, such as headings, paragraphs, images, hyperlinks, tables, lists, etc.</a:t>
            </a:r>
          </a:p>
          <a:p>
            <a:pPr marL="285750" indent="-285750">
              <a:buFont typeface="Arial" panose="020B0604020202020204" pitchFamily="34" charset="0"/>
              <a:buChar char="•"/>
            </a:pPr>
            <a:endParaRPr lang="en-IN" dirty="0">
              <a:latin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rPr>
              <a:t>The &lt;h1&gt; element defines a large heading</a:t>
            </a:r>
          </a:p>
          <a:p>
            <a:pPr marL="285750" indent="-285750">
              <a:buFont typeface="Arial" panose="020B0604020202020204" pitchFamily="34" charset="0"/>
              <a:buChar char="•"/>
            </a:pPr>
            <a:endParaRPr lang="en-IN" dirty="0">
              <a:latin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rPr>
              <a:t>The &lt;p&gt; element defines a paragraph</a:t>
            </a:r>
          </a:p>
        </p:txBody>
      </p:sp>
    </p:spTree>
    <p:extLst>
      <p:ext uri="{BB962C8B-B14F-4D97-AF65-F5344CB8AC3E}">
        <p14:creationId xmlns:p14="http://schemas.microsoft.com/office/powerpoint/2010/main" val="2149899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Doctypes in HTML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227775"/>
            <a:ext cx="11022560" cy="5324535"/>
          </a:xfrm>
          <a:prstGeom prst="rect">
            <a:avLst/>
          </a:prstGeom>
        </p:spPr>
        <p:txBody>
          <a:bodyPr wrap="square">
            <a:spAutoFit/>
          </a:bodyPr>
          <a:lstStyle/>
          <a:p>
            <a:pPr marL="342900" indent="-342900">
              <a:buFont typeface="Arial" panose="020B0604020202020204" pitchFamily="34" charset="0"/>
              <a:buChar char="•"/>
            </a:pPr>
            <a:r>
              <a:rPr lang="en-IN" sz="2000" dirty="0">
                <a:solidFill>
                  <a:srgbClr val="000000"/>
                </a:solidFill>
                <a:latin typeface="Cambria" panose="02040503050406030204" pitchFamily="18" charset="0"/>
              </a:rPr>
              <a:t>All HTML documents must start with a &lt;!DOCTYPE&gt; declaration.</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The declaration is not an HTML tag. </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It is an "information" to the browser about what document type to expect.</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In </a:t>
            </a:r>
            <a:r>
              <a:rPr lang="en-IN" sz="2000" b="1" dirty="0">
                <a:solidFill>
                  <a:srgbClr val="000000"/>
                </a:solidFill>
                <a:latin typeface="Cambria" panose="02040503050406030204" pitchFamily="18" charset="0"/>
              </a:rPr>
              <a:t>HTML 5,</a:t>
            </a:r>
            <a:r>
              <a:rPr lang="en-IN" sz="2000" dirty="0">
                <a:solidFill>
                  <a:srgbClr val="000000"/>
                </a:solidFill>
                <a:latin typeface="Cambria" panose="02040503050406030204" pitchFamily="18" charset="0"/>
              </a:rPr>
              <a:t> the declaration is simple: </a:t>
            </a:r>
            <a:r>
              <a:rPr lang="en-IN" sz="2000" b="1" dirty="0">
                <a:solidFill>
                  <a:srgbClr val="000000"/>
                </a:solidFill>
                <a:latin typeface="Cambria" panose="02040503050406030204" pitchFamily="18" charset="0"/>
              </a:rPr>
              <a:t>&lt;!DOCTYPE html&gt;</a:t>
            </a:r>
          </a:p>
          <a:p>
            <a:pPr marL="342900" indent="-342900">
              <a:buFont typeface="Arial" panose="020B0604020202020204" pitchFamily="34" charset="0"/>
              <a:buChar char="•"/>
            </a:pPr>
            <a:endParaRPr lang="en-IN" sz="2000" i="0" dirty="0">
              <a:solidFill>
                <a:srgbClr val="000000"/>
              </a:solidFill>
              <a:effectLst/>
              <a:latin typeface="Cambria" panose="02040503050406030204" pitchFamily="18" charset="0"/>
            </a:endParaRPr>
          </a:p>
          <a:p>
            <a:pPr marL="342900" indent="-342900">
              <a:buFont typeface="Arial" panose="020B0604020202020204" pitchFamily="34" charset="0"/>
              <a:buChar char="•"/>
            </a:pPr>
            <a:r>
              <a:rPr lang="en-IN" sz="2000" b="1" dirty="0">
                <a:latin typeface="Cambria" panose="02040503050406030204" pitchFamily="18" charset="0"/>
              </a:rPr>
              <a:t>HTML 4.01</a:t>
            </a:r>
            <a:r>
              <a:rPr lang="en-IN" sz="2000" dirty="0">
                <a:latin typeface="Cambria" panose="02040503050406030204" pitchFamily="18" charset="0"/>
              </a:rPr>
              <a:t>: &lt;!DOCTYPE HTML PUBLIC "-//W3C//DTD HTML 4.01 Transitional//EN" "http://www.w3.org/TR/html4/loose.dtd"&gt;</a:t>
            </a:r>
          </a:p>
          <a:p>
            <a:pPr marL="342900" indent="-342900">
              <a:buFont typeface="Arial" panose="020B0604020202020204" pitchFamily="34" charset="0"/>
              <a:buChar char="•"/>
            </a:pPr>
            <a:endParaRPr lang="en-IN" sz="2000" i="0" dirty="0">
              <a:solidFill>
                <a:srgbClr val="000000"/>
              </a:solidFill>
              <a:effectLst/>
              <a:latin typeface="Cambria" panose="02040503050406030204" pitchFamily="18" charset="0"/>
            </a:endParaRPr>
          </a:p>
          <a:p>
            <a:pPr marL="342900" indent="-342900">
              <a:buFont typeface="Arial" panose="020B0604020202020204" pitchFamily="34" charset="0"/>
              <a:buChar char="•"/>
            </a:pPr>
            <a:r>
              <a:rPr lang="en-IN" sz="2000" b="1" dirty="0">
                <a:solidFill>
                  <a:srgbClr val="000000"/>
                </a:solidFill>
                <a:latin typeface="Cambria" panose="02040503050406030204" pitchFamily="18" charset="0"/>
              </a:rPr>
              <a:t>The &lt;!DOCTYPE&gt; declaration is NOT case sensitive.</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r>
              <a:rPr lang="en-IN" sz="2000" dirty="0">
                <a:solidFill>
                  <a:srgbClr val="000000"/>
                </a:solidFill>
                <a:latin typeface="Cambria" panose="02040503050406030204" pitchFamily="18" charset="0"/>
              </a:rPr>
              <a:t>	&lt;!DOCTYPE html&gt;</a:t>
            </a:r>
          </a:p>
          <a:p>
            <a:r>
              <a:rPr lang="en-IN" sz="2000" dirty="0">
                <a:solidFill>
                  <a:srgbClr val="000000"/>
                </a:solidFill>
                <a:latin typeface="Cambria" panose="02040503050406030204" pitchFamily="18" charset="0"/>
              </a:rPr>
              <a:t>	&lt;!</a:t>
            </a:r>
            <a:r>
              <a:rPr lang="en-IN" sz="2000" dirty="0" err="1">
                <a:solidFill>
                  <a:srgbClr val="000000"/>
                </a:solidFill>
                <a:latin typeface="Cambria" panose="02040503050406030204" pitchFamily="18" charset="0"/>
              </a:rPr>
              <a:t>DocType</a:t>
            </a:r>
            <a:r>
              <a:rPr lang="en-IN" sz="2000" dirty="0">
                <a:solidFill>
                  <a:srgbClr val="000000"/>
                </a:solidFill>
                <a:latin typeface="Cambria" panose="02040503050406030204" pitchFamily="18" charset="0"/>
              </a:rPr>
              <a:t> html&gt;</a:t>
            </a:r>
          </a:p>
          <a:p>
            <a:r>
              <a:rPr lang="en-IN" sz="2000" dirty="0">
                <a:solidFill>
                  <a:srgbClr val="000000"/>
                </a:solidFill>
                <a:latin typeface="Cambria" panose="02040503050406030204" pitchFamily="18" charset="0"/>
              </a:rPr>
              <a:t>	&lt;!</a:t>
            </a:r>
            <a:r>
              <a:rPr lang="en-IN" sz="2000" dirty="0" err="1">
                <a:solidFill>
                  <a:srgbClr val="000000"/>
                </a:solidFill>
                <a:latin typeface="Cambria" panose="02040503050406030204" pitchFamily="18" charset="0"/>
              </a:rPr>
              <a:t>Doctype</a:t>
            </a:r>
            <a:r>
              <a:rPr lang="en-IN" sz="2000" dirty="0">
                <a:solidFill>
                  <a:srgbClr val="000000"/>
                </a:solidFill>
                <a:latin typeface="Cambria" panose="02040503050406030204" pitchFamily="18" charset="0"/>
              </a:rPr>
              <a:t> html&gt;</a:t>
            </a:r>
          </a:p>
          <a:p>
            <a:r>
              <a:rPr lang="en-IN" sz="2000" dirty="0">
                <a:solidFill>
                  <a:srgbClr val="000000"/>
                </a:solidFill>
                <a:latin typeface="Cambria" panose="02040503050406030204" pitchFamily="18" charset="0"/>
              </a:rPr>
              <a:t>	&lt;!</a:t>
            </a:r>
            <a:r>
              <a:rPr lang="en-IN" sz="2000" dirty="0" err="1">
                <a:solidFill>
                  <a:srgbClr val="000000"/>
                </a:solidFill>
                <a:latin typeface="Cambria" panose="02040503050406030204" pitchFamily="18" charset="0"/>
              </a:rPr>
              <a:t>doctype</a:t>
            </a:r>
            <a:r>
              <a:rPr lang="en-IN" sz="2000" dirty="0">
                <a:solidFill>
                  <a:srgbClr val="000000"/>
                </a:solidFill>
                <a:latin typeface="Cambria" panose="02040503050406030204" pitchFamily="18" charset="0"/>
              </a:rPr>
              <a:t> html&gt;</a:t>
            </a:r>
            <a:endParaRPr lang="en-IN" sz="2000" i="0" dirty="0">
              <a:solidFill>
                <a:srgbClr val="000000"/>
              </a:solidFill>
              <a:effectLst/>
              <a:latin typeface="Cambria" panose="02040503050406030204" pitchFamily="18" charset="0"/>
            </a:endParaRPr>
          </a:p>
        </p:txBody>
      </p:sp>
    </p:spTree>
    <p:extLst>
      <p:ext uri="{BB962C8B-B14F-4D97-AF65-F5344CB8AC3E}">
        <p14:creationId xmlns:p14="http://schemas.microsoft.com/office/powerpoint/2010/main" val="397170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Elements, tags and attributes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227775"/>
            <a:ext cx="11022560" cy="3170099"/>
          </a:xfrm>
          <a:prstGeom prst="rect">
            <a:avLst/>
          </a:prstGeom>
        </p:spPr>
        <p:txBody>
          <a:bodyPr wrap="square">
            <a:spAutoFit/>
          </a:bodyPr>
          <a:lstStyle/>
          <a:p>
            <a:r>
              <a:rPr lang="en-IN" sz="2000" b="1" dirty="0">
                <a:solidFill>
                  <a:srgbClr val="000000"/>
                </a:solidFill>
                <a:latin typeface="Cambria" panose="02040503050406030204" pitchFamily="18" charset="0"/>
              </a:rPr>
              <a:t>HTML Element : </a:t>
            </a:r>
          </a:p>
          <a:p>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An HTML element is the basic building block of an HTML document.</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It typically consists of a start tag, content (optional), and an end tag.</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HTML elements define the structure and content of the webpage, such as paragraphs, headings, images, links, etc.</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b="1" dirty="0">
                <a:solidFill>
                  <a:srgbClr val="FF0000"/>
                </a:solidFill>
                <a:latin typeface="Cambria" panose="02040503050406030204" pitchFamily="18" charset="0"/>
              </a:rPr>
              <a:t>Example: &lt;p&gt;This is a paragraph.&lt;/p&gt;</a:t>
            </a:r>
          </a:p>
        </p:txBody>
      </p:sp>
    </p:spTree>
    <p:extLst>
      <p:ext uri="{BB962C8B-B14F-4D97-AF65-F5344CB8AC3E}">
        <p14:creationId xmlns:p14="http://schemas.microsoft.com/office/powerpoint/2010/main" val="26779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Elements, tags and attributes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227775"/>
            <a:ext cx="11022560" cy="3477875"/>
          </a:xfrm>
          <a:prstGeom prst="rect">
            <a:avLst/>
          </a:prstGeom>
        </p:spPr>
        <p:txBody>
          <a:bodyPr wrap="square">
            <a:spAutoFit/>
          </a:bodyPr>
          <a:lstStyle/>
          <a:p>
            <a:r>
              <a:rPr lang="en-IN" sz="2000" b="1" dirty="0">
                <a:solidFill>
                  <a:srgbClr val="000000"/>
                </a:solidFill>
                <a:latin typeface="Cambria" panose="02040503050406030204" pitchFamily="18" charset="0"/>
              </a:rPr>
              <a:t>HTML Tags: </a:t>
            </a:r>
          </a:p>
          <a:p>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HTML tags are used to define the beginning and end of an HTML element.</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They are enclosed within angle </a:t>
            </a:r>
            <a:r>
              <a:rPr lang="en-IN" sz="2000" b="1" dirty="0">
                <a:solidFill>
                  <a:srgbClr val="FF0000"/>
                </a:solidFill>
                <a:latin typeface="Cambria" panose="02040503050406030204" pitchFamily="18" charset="0"/>
              </a:rPr>
              <a:t>brackets (&lt;&gt;).</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Most elements have both an opening tag and a closing tag. The closing tag includes a forward slash before the element's name </a:t>
            </a:r>
            <a:r>
              <a:rPr lang="en-IN" sz="2000" b="1" dirty="0">
                <a:solidFill>
                  <a:srgbClr val="FF0000"/>
                </a:solidFill>
                <a:latin typeface="Cambria" panose="02040503050406030204" pitchFamily="18" charset="0"/>
              </a:rPr>
              <a:t>(e.g., &lt;p&gt; and &lt;/p&gt;).</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Some tags are </a:t>
            </a:r>
            <a:r>
              <a:rPr lang="en-IN" sz="2000" b="1" dirty="0">
                <a:solidFill>
                  <a:srgbClr val="FF0000"/>
                </a:solidFill>
                <a:latin typeface="Cambria" panose="02040503050406030204" pitchFamily="18" charset="0"/>
              </a:rPr>
              <a:t>self-closing (empty elements) </a:t>
            </a:r>
            <a:r>
              <a:rPr lang="en-IN" sz="2000" dirty="0">
                <a:solidFill>
                  <a:srgbClr val="000000"/>
                </a:solidFill>
                <a:latin typeface="Cambria" panose="02040503050406030204" pitchFamily="18" charset="0"/>
              </a:rPr>
              <a:t>and do not require a closing tag, such as the </a:t>
            </a:r>
            <a:r>
              <a:rPr lang="en-IN" sz="2000" b="1" dirty="0">
                <a:solidFill>
                  <a:srgbClr val="000000"/>
                </a:solidFill>
                <a:latin typeface="Cambria" panose="02040503050406030204" pitchFamily="18" charset="0"/>
              </a:rPr>
              <a:t>&lt;</a:t>
            </a:r>
            <a:r>
              <a:rPr lang="en-IN" sz="2000" b="1" dirty="0" err="1">
                <a:solidFill>
                  <a:srgbClr val="000000"/>
                </a:solidFill>
                <a:latin typeface="Cambria" panose="02040503050406030204" pitchFamily="18" charset="0"/>
              </a:rPr>
              <a:t>img</a:t>
            </a:r>
            <a:r>
              <a:rPr lang="en-IN" sz="2000" b="1" dirty="0">
                <a:solidFill>
                  <a:srgbClr val="000000"/>
                </a:solidFill>
                <a:latin typeface="Cambria" panose="02040503050406030204" pitchFamily="18" charset="0"/>
              </a:rPr>
              <a:t>&gt; tag (for images)</a:t>
            </a:r>
            <a:r>
              <a:rPr lang="en-IN" sz="2000" dirty="0">
                <a:solidFill>
                  <a:srgbClr val="000000"/>
                </a:solidFill>
                <a:latin typeface="Cambria" panose="02040503050406030204" pitchFamily="18" charset="0"/>
              </a:rPr>
              <a:t> or the </a:t>
            </a:r>
            <a:r>
              <a:rPr lang="en-IN" sz="2000" b="1" dirty="0">
                <a:solidFill>
                  <a:srgbClr val="000000"/>
                </a:solidFill>
                <a:latin typeface="Cambria" panose="02040503050406030204" pitchFamily="18" charset="0"/>
              </a:rPr>
              <a:t>&lt;</a:t>
            </a:r>
            <a:r>
              <a:rPr lang="en-IN" sz="2000" b="1" dirty="0" err="1">
                <a:solidFill>
                  <a:srgbClr val="000000"/>
                </a:solidFill>
                <a:latin typeface="Cambria" panose="02040503050406030204" pitchFamily="18" charset="0"/>
              </a:rPr>
              <a:t>br</a:t>
            </a:r>
            <a:r>
              <a:rPr lang="en-IN" sz="2000" b="1" dirty="0">
                <a:solidFill>
                  <a:srgbClr val="000000"/>
                </a:solidFill>
                <a:latin typeface="Cambria" panose="02040503050406030204" pitchFamily="18" charset="0"/>
              </a:rPr>
              <a:t>&gt; tag (for line breaks).</a:t>
            </a:r>
          </a:p>
        </p:txBody>
      </p:sp>
    </p:spTree>
    <p:extLst>
      <p:ext uri="{BB962C8B-B14F-4D97-AF65-F5344CB8AC3E}">
        <p14:creationId xmlns:p14="http://schemas.microsoft.com/office/powerpoint/2010/main" val="234766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Elements, tags and attributes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227775"/>
            <a:ext cx="11022560" cy="2554545"/>
          </a:xfrm>
          <a:prstGeom prst="rect">
            <a:avLst/>
          </a:prstGeom>
        </p:spPr>
        <p:txBody>
          <a:bodyPr wrap="square">
            <a:spAutoFit/>
          </a:bodyPr>
          <a:lstStyle/>
          <a:p>
            <a:r>
              <a:rPr lang="en-IN" sz="2000" b="1" dirty="0">
                <a:solidFill>
                  <a:srgbClr val="000000"/>
                </a:solidFill>
                <a:latin typeface="Cambria" panose="02040503050406030204" pitchFamily="18" charset="0"/>
              </a:rPr>
              <a:t>HTML attributes</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Attributes provide </a:t>
            </a:r>
            <a:r>
              <a:rPr lang="en-IN" sz="2000" b="1" dirty="0">
                <a:solidFill>
                  <a:srgbClr val="FF0000"/>
                </a:solidFill>
                <a:latin typeface="Cambria" panose="02040503050406030204" pitchFamily="18" charset="0"/>
              </a:rPr>
              <a:t>additional information </a:t>
            </a:r>
            <a:r>
              <a:rPr lang="en-IN" sz="2000" dirty="0">
                <a:solidFill>
                  <a:srgbClr val="000000"/>
                </a:solidFill>
                <a:latin typeface="Cambria" panose="02040503050406030204" pitchFamily="18" charset="0"/>
              </a:rPr>
              <a:t>or properties about an HTML element.</a:t>
            </a:r>
          </a:p>
          <a:p>
            <a:r>
              <a:rPr lang="en-IN" sz="2000" dirty="0">
                <a:solidFill>
                  <a:srgbClr val="000000"/>
                </a:solidFill>
                <a:latin typeface="Cambria" panose="02040503050406030204" pitchFamily="18" charset="0"/>
              </a:rPr>
              <a:t> </a:t>
            </a:r>
          </a:p>
          <a:p>
            <a:pPr marL="342900" indent="-342900">
              <a:buFont typeface="Arial" panose="020B0604020202020204" pitchFamily="34" charset="0"/>
              <a:buChar char="•"/>
            </a:pPr>
            <a:r>
              <a:rPr lang="en-IN" sz="2000" dirty="0">
                <a:solidFill>
                  <a:srgbClr val="000000"/>
                </a:solidFill>
                <a:latin typeface="Cambria" panose="02040503050406030204" pitchFamily="18" charset="0"/>
              </a:rPr>
              <a:t>They are always placed within the opening tag of an element.</a:t>
            </a:r>
          </a:p>
          <a:p>
            <a:pPr marL="342900" indent="-342900">
              <a:buFont typeface="Arial" panose="020B0604020202020204" pitchFamily="34" charset="0"/>
              <a:buChar char="•"/>
            </a:pPr>
            <a:endParaRPr lang="en-IN" sz="2000" dirty="0">
              <a:solidFill>
                <a:srgbClr val="000000"/>
              </a:solidFill>
              <a:latin typeface="Cambria" panose="02040503050406030204" pitchFamily="18" charset="0"/>
            </a:endParaRPr>
          </a:p>
          <a:p>
            <a:pPr marL="342900" indent="-342900">
              <a:buFont typeface="Arial" panose="020B0604020202020204" pitchFamily="34" charset="0"/>
              <a:buChar char="•"/>
            </a:pPr>
            <a:r>
              <a:rPr lang="en-IN" sz="2000" dirty="0">
                <a:solidFill>
                  <a:srgbClr val="000000"/>
                </a:solidFill>
                <a:latin typeface="Cambria" panose="02040503050406030204" pitchFamily="18" charset="0"/>
              </a:rPr>
              <a:t>Attributes consist of a </a:t>
            </a:r>
            <a:r>
              <a:rPr lang="en-IN" sz="2000" b="1" dirty="0">
                <a:solidFill>
                  <a:srgbClr val="FF0000"/>
                </a:solidFill>
                <a:latin typeface="Cambria" panose="02040503050406030204" pitchFamily="18" charset="0"/>
              </a:rPr>
              <a:t>name-value pair</a:t>
            </a:r>
            <a:r>
              <a:rPr lang="en-IN" sz="2000" dirty="0">
                <a:solidFill>
                  <a:srgbClr val="000000"/>
                </a:solidFill>
                <a:latin typeface="Cambria" panose="02040503050406030204" pitchFamily="18" charset="0"/>
              </a:rPr>
              <a:t>, separated by an equal sign, with the value enclosed in double or single quotes </a:t>
            </a:r>
            <a:r>
              <a:rPr lang="en-IN" sz="2000" b="1" dirty="0">
                <a:solidFill>
                  <a:srgbClr val="FF0000"/>
                </a:solidFill>
                <a:latin typeface="Cambria" panose="02040503050406030204" pitchFamily="18" charset="0"/>
              </a:rPr>
              <a:t>(e.g., </a:t>
            </a:r>
            <a:r>
              <a:rPr lang="en-IN" sz="2000" b="1" dirty="0" err="1">
                <a:solidFill>
                  <a:srgbClr val="FF0000"/>
                </a:solidFill>
                <a:latin typeface="Cambria" panose="02040503050406030204" pitchFamily="18" charset="0"/>
              </a:rPr>
              <a:t>href</a:t>
            </a:r>
            <a:r>
              <a:rPr lang="en-IN" sz="2000" b="1" dirty="0">
                <a:solidFill>
                  <a:srgbClr val="FF0000"/>
                </a:solidFill>
                <a:latin typeface="Cambria" panose="02040503050406030204" pitchFamily="18" charset="0"/>
              </a:rPr>
              <a:t>="value").</a:t>
            </a:r>
          </a:p>
        </p:txBody>
      </p:sp>
    </p:spTree>
    <p:extLst>
      <p:ext uri="{BB962C8B-B14F-4D97-AF65-F5344CB8AC3E}">
        <p14:creationId xmlns:p14="http://schemas.microsoft.com/office/powerpoint/2010/main" val="404270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Elements, tags and attributes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227775"/>
            <a:ext cx="11022560" cy="1631216"/>
          </a:xfrm>
          <a:prstGeom prst="rect">
            <a:avLst/>
          </a:prstGeom>
        </p:spPr>
        <p:txBody>
          <a:bodyPr wrap="square">
            <a:spAutoFit/>
          </a:bodyPr>
          <a:lstStyle/>
          <a:p>
            <a:r>
              <a:rPr lang="en-IN" sz="2000" b="1" dirty="0">
                <a:solidFill>
                  <a:srgbClr val="000000"/>
                </a:solidFill>
                <a:latin typeface="Cambria" panose="02040503050406030204" pitchFamily="18" charset="0"/>
              </a:rPr>
              <a:t>Example of an HTML </a:t>
            </a:r>
            <a:r>
              <a:rPr lang="en-IN" sz="2000" b="1" dirty="0">
                <a:solidFill>
                  <a:srgbClr val="FF0000"/>
                </a:solidFill>
                <a:latin typeface="Cambria" panose="02040503050406030204" pitchFamily="18" charset="0"/>
              </a:rPr>
              <a:t>Element</a:t>
            </a:r>
            <a:r>
              <a:rPr lang="en-IN" sz="2000" b="1" dirty="0">
                <a:solidFill>
                  <a:srgbClr val="000000"/>
                </a:solidFill>
                <a:latin typeface="Cambria" panose="02040503050406030204" pitchFamily="18" charset="0"/>
              </a:rPr>
              <a:t> with </a:t>
            </a:r>
            <a:r>
              <a:rPr lang="en-IN" sz="2000" b="1" dirty="0">
                <a:solidFill>
                  <a:srgbClr val="FF0000"/>
                </a:solidFill>
                <a:latin typeface="Cambria" panose="02040503050406030204" pitchFamily="18" charset="0"/>
              </a:rPr>
              <a:t>Tags</a:t>
            </a:r>
            <a:r>
              <a:rPr lang="en-IN" sz="2000" b="1" dirty="0">
                <a:solidFill>
                  <a:srgbClr val="000000"/>
                </a:solidFill>
                <a:latin typeface="Cambria" panose="02040503050406030204" pitchFamily="18" charset="0"/>
              </a:rPr>
              <a:t> and </a:t>
            </a:r>
            <a:r>
              <a:rPr lang="en-IN" sz="2000" b="1" dirty="0">
                <a:solidFill>
                  <a:srgbClr val="FF0000"/>
                </a:solidFill>
                <a:latin typeface="Cambria" panose="02040503050406030204" pitchFamily="18" charset="0"/>
              </a:rPr>
              <a:t>Attributes</a:t>
            </a:r>
          </a:p>
          <a:p>
            <a:endParaRPr lang="en-IN" sz="2000" dirty="0">
              <a:solidFill>
                <a:srgbClr val="000000"/>
              </a:solidFill>
              <a:latin typeface="Cambria" panose="02040503050406030204" pitchFamily="18" charset="0"/>
            </a:endParaRPr>
          </a:p>
          <a:p>
            <a:endParaRPr lang="en-IN" sz="2000" dirty="0">
              <a:solidFill>
                <a:srgbClr val="000000"/>
              </a:solidFill>
              <a:latin typeface="Cambria" panose="02040503050406030204" pitchFamily="18" charset="0"/>
            </a:endParaRPr>
          </a:p>
          <a:p>
            <a:r>
              <a:rPr lang="en-IN" sz="2000" dirty="0">
                <a:solidFill>
                  <a:srgbClr val="000000"/>
                </a:solidFill>
                <a:latin typeface="Cambria" panose="02040503050406030204" pitchFamily="18" charset="0"/>
              </a:rPr>
              <a:t>&lt;a </a:t>
            </a:r>
            <a:r>
              <a:rPr lang="en-IN" sz="2000" dirty="0" err="1">
                <a:solidFill>
                  <a:srgbClr val="000000"/>
                </a:solidFill>
                <a:latin typeface="Cambria" panose="02040503050406030204" pitchFamily="18" charset="0"/>
              </a:rPr>
              <a:t>href</a:t>
            </a:r>
            <a:r>
              <a:rPr lang="en-IN" sz="2000" dirty="0">
                <a:solidFill>
                  <a:srgbClr val="000000"/>
                </a:solidFill>
                <a:latin typeface="Cambria" panose="02040503050406030204" pitchFamily="18" charset="0"/>
              </a:rPr>
              <a:t>="https://www.example.com" target="_blank" title="Visit Example.com"&gt;Click Here&lt;/a&gt;</a:t>
            </a:r>
          </a:p>
          <a:p>
            <a:endParaRPr lang="en-IN" sz="2000" dirty="0">
              <a:solidFill>
                <a:srgbClr val="000000"/>
              </a:solidFill>
              <a:latin typeface="Cambria" panose="02040503050406030204" pitchFamily="18" charset="0"/>
            </a:endParaRPr>
          </a:p>
        </p:txBody>
      </p:sp>
    </p:spTree>
    <p:extLst>
      <p:ext uri="{BB962C8B-B14F-4D97-AF65-F5344CB8AC3E}">
        <p14:creationId xmlns:p14="http://schemas.microsoft.com/office/powerpoint/2010/main" val="2573767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Elements, tags and attributes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pic>
        <p:nvPicPr>
          <p:cNvPr id="8" name="Picture 7"/>
          <p:cNvPicPr>
            <a:picLocks noChangeAspect="1"/>
          </p:cNvPicPr>
          <p:nvPr/>
        </p:nvPicPr>
        <p:blipFill>
          <a:blip r:embed="rId3"/>
          <a:stretch>
            <a:fillRect/>
          </a:stretch>
        </p:blipFill>
        <p:spPr>
          <a:xfrm>
            <a:off x="759854" y="1357186"/>
            <a:ext cx="9767812" cy="5069371"/>
          </a:xfrm>
          <a:prstGeom prst="rect">
            <a:avLst/>
          </a:prstGeom>
        </p:spPr>
      </p:pic>
    </p:spTree>
    <p:extLst>
      <p:ext uri="{BB962C8B-B14F-4D97-AF65-F5344CB8AC3E}">
        <p14:creationId xmlns:p14="http://schemas.microsoft.com/office/powerpoint/2010/main" val="3084602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Elements, tags and attributes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227775"/>
            <a:ext cx="11022560" cy="4770537"/>
          </a:xfrm>
          <a:prstGeom prst="rect">
            <a:avLst/>
          </a:prstGeom>
        </p:spPr>
        <p:txBody>
          <a:bodyPr wrap="square">
            <a:spAutoFit/>
          </a:bodyPr>
          <a:lstStyle/>
          <a:p>
            <a:r>
              <a:rPr lang="en-IN" sz="2400" b="1" dirty="0">
                <a:latin typeface="Cambria" panose="02040503050406030204" pitchFamily="18" charset="0"/>
              </a:rPr>
              <a:t>HTML Attributes</a:t>
            </a:r>
          </a:p>
          <a:p>
            <a:endParaRPr lang="en-IN" sz="2000" dirty="0">
              <a:latin typeface="Cambria" panose="02040503050406030204" pitchFamily="18" charset="0"/>
            </a:endParaRPr>
          </a:p>
          <a:p>
            <a:r>
              <a:rPr lang="en-US" sz="2000" b="1" dirty="0">
                <a:latin typeface="Cambria" panose="02040503050406030204" pitchFamily="18" charset="0"/>
              </a:rPr>
              <a:t>The </a:t>
            </a:r>
            <a:r>
              <a:rPr lang="en-US" sz="2000" b="1" dirty="0" err="1">
                <a:latin typeface="Cambria" panose="02040503050406030204" pitchFamily="18" charset="0"/>
              </a:rPr>
              <a:t>src</a:t>
            </a:r>
            <a:r>
              <a:rPr lang="en-US" sz="2000" b="1" dirty="0">
                <a:latin typeface="Cambria" panose="02040503050406030204" pitchFamily="18" charset="0"/>
              </a:rPr>
              <a:t> Attribute: </a:t>
            </a:r>
            <a:r>
              <a:rPr lang="en-US" sz="2000" dirty="0">
                <a:latin typeface="Cambria" panose="02040503050406030204" pitchFamily="18" charset="0"/>
              </a:rPr>
              <a:t>&lt;</a:t>
            </a:r>
            <a:r>
              <a:rPr lang="en-US" sz="2000" dirty="0" err="1">
                <a:latin typeface="Cambria" panose="02040503050406030204" pitchFamily="18" charset="0"/>
              </a:rPr>
              <a:t>img</a:t>
            </a:r>
            <a:r>
              <a:rPr lang="en-US" sz="2000" dirty="0">
                <a:latin typeface="Cambria" panose="02040503050406030204" pitchFamily="18" charset="0"/>
              </a:rPr>
              <a:t> </a:t>
            </a:r>
            <a:r>
              <a:rPr lang="en-US" sz="2000" dirty="0" err="1">
                <a:latin typeface="Cambria" panose="02040503050406030204" pitchFamily="18" charset="0"/>
              </a:rPr>
              <a:t>src</a:t>
            </a:r>
            <a:r>
              <a:rPr lang="en-US" sz="2000" dirty="0">
                <a:latin typeface="Cambria" panose="02040503050406030204" pitchFamily="18" charset="0"/>
              </a:rPr>
              <a:t>="img_girl.jpg"&gt; </a:t>
            </a:r>
          </a:p>
          <a:p>
            <a:endParaRPr lang="en-US" sz="2000" dirty="0">
              <a:latin typeface="Cambria" panose="02040503050406030204" pitchFamily="18" charset="0"/>
            </a:endParaRPr>
          </a:p>
          <a:p>
            <a:r>
              <a:rPr lang="en-US" sz="2000" b="1" dirty="0">
                <a:latin typeface="Cambria" panose="02040503050406030204" pitchFamily="18" charset="0"/>
              </a:rPr>
              <a:t>The width and height Attributes : </a:t>
            </a:r>
            <a:r>
              <a:rPr lang="en-US" sz="2000" dirty="0">
                <a:latin typeface="Cambria" panose="02040503050406030204" pitchFamily="18" charset="0"/>
              </a:rPr>
              <a:t>&lt;</a:t>
            </a:r>
            <a:r>
              <a:rPr lang="en-US" sz="2000" dirty="0" err="1">
                <a:latin typeface="Cambria" panose="02040503050406030204" pitchFamily="18" charset="0"/>
              </a:rPr>
              <a:t>img</a:t>
            </a:r>
            <a:r>
              <a:rPr lang="en-US" sz="2000" dirty="0">
                <a:latin typeface="Cambria" panose="02040503050406030204" pitchFamily="18" charset="0"/>
              </a:rPr>
              <a:t> </a:t>
            </a:r>
            <a:r>
              <a:rPr lang="en-US" sz="2000" dirty="0" err="1">
                <a:latin typeface="Cambria" panose="02040503050406030204" pitchFamily="18" charset="0"/>
              </a:rPr>
              <a:t>src</a:t>
            </a:r>
            <a:r>
              <a:rPr lang="en-US" sz="2000" dirty="0">
                <a:latin typeface="Cambria" panose="02040503050406030204" pitchFamily="18" charset="0"/>
              </a:rPr>
              <a:t>="img_girl.jpg" width="500" height=“500"&gt;</a:t>
            </a:r>
          </a:p>
          <a:p>
            <a:endParaRPr lang="en-US" sz="2000" dirty="0">
              <a:latin typeface="Cambria" panose="02040503050406030204" pitchFamily="18" charset="0"/>
            </a:endParaRPr>
          </a:p>
          <a:p>
            <a:r>
              <a:rPr lang="en-US" sz="2000" b="1" dirty="0">
                <a:latin typeface="Cambria" panose="02040503050406030204" pitchFamily="18" charset="0"/>
              </a:rPr>
              <a:t>The alt  Attribute:</a:t>
            </a:r>
            <a:r>
              <a:rPr lang="en-US" sz="2000" dirty="0">
                <a:latin typeface="Cambria" panose="02040503050406030204" pitchFamily="18" charset="0"/>
              </a:rPr>
              <a:t> &lt;</a:t>
            </a:r>
            <a:r>
              <a:rPr lang="en-US" sz="2000" dirty="0" err="1">
                <a:latin typeface="Cambria" panose="02040503050406030204" pitchFamily="18" charset="0"/>
              </a:rPr>
              <a:t>img</a:t>
            </a:r>
            <a:r>
              <a:rPr lang="en-US" sz="2000" dirty="0">
                <a:latin typeface="Cambria" panose="02040503050406030204" pitchFamily="18" charset="0"/>
              </a:rPr>
              <a:t> </a:t>
            </a:r>
            <a:r>
              <a:rPr lang="en-US" sz="2000" dirty="0" err="1">
                <a:latin typeface="Cambria" panose="02040503050406030204" pitchFamily="18" charset="0"/>
              </a:rPr>
              <a:t>src</a:t>
            </a:r>
            <a:r>
              <a:rPr lang="en-US" sz="2000" dirty="0">
                <a:latin typeface="Cambria" panose="02040503050406030204" pitchFamily="18" charset="0"/>
              </a:rPr>
              <a:t>="img_girl.jpg" alt="Girl with a jacket"&gt; </a:t>
            </a:r>
          </a:p>
          <a:p>
            <a:endParaRPr lang="en-US" sz="2000" dirty="0">
              <a:latin typeface="Cambria" panose="02040503050406030204" pitchFamily="18" charset="0"/>
            </a:endParaRPr>
          </a:p>
          <a:p>
            <a:r>
              <a:rPr lang="en-US" sz="2000" b="1" dirty="0">
                <a:latin typeface="Cambria" panose="02040503050406030204" pitchFamily="18" charset="0"/>
              </a:rPr>
              <a:t>The style Attribute : </a:t>
            </a:r>
            <a:r>
              <a:rPr lang="en-US" sz="2000" dirty="0">
                <a:latin typeface="Cambria" panose="02040503050406030204" pitchFamily="18" charset="0"/>
              </a:rPr>
              <a:t>&lt;p style="</a:t>
            </a:r>
            <a:r>
              <a:rPr lang="en-US" sz="2000" dirty="0" err="1">
                <a:latin typeface="Cambria" panose="02040503050406030204" pitchFamily="18" charset="0"/>
              </a:rPr>
              <a:t>color:red</a:t>
            </a:r>
            <a:r>
              <a:rPr lang="en-US" sz="2000" dirty="0">
                <a:latin typeface="Cambria" panose="02040503050406030204" pitchFamily="18" charset="0"/>
              </a:rPr>
              <a:t>"&gt;This is a paragraph.&lt;/p&gt; </a:t>
            </a:r>
          </a:p>
          <a:p>
            <a:endParaRPr lang="en-US" sz="2000" dirty="0">
              <a:latin typeface="Cambria" panose="02040503050406030204" pitchFamily="18" charset="0"/>
            </a:endParaRPr>
          </a:p>
          <a:p>
            <a:r>
              <a:rPr lang="en-US" sz="2000" b="1" dirty="0">
                <a:latin typeface="Cambria" panose="02040503050406030204" pitchFamily="18" charset="0"/>
              </a:rPr>
              <a:t>The </a:t>
            </a:r>
            <a:r>
              <a:rPr lang="en-US" sz="2000" b="1" dirty="0" err="1">
                <a:latin typeface="Cambria" panose="02040503050406030204" pitchFamily="18" charset="0"/>
              </a:rPr>
              <a:t>lang</a:t>
            </a:r>
            <a:r>
              <a:rPr lang="en-US" sz="2000" b="1" dirty="0">
                <a:latin typeface="Cambria" panose="02040503050406030204" pitchFamily="18" charset="0"/>
              </a:rPr>
              <a:t> Attribute:</a:t>
            </a:r>
            <a:r>
              <a:rPr lang="en-US" sz="2000" dirty="0">
                <a:latin typeface="Cambria" panose="02040503050406030204" pitchFamily="18" charset="0"/>
              </a:rPr>
              <a:t> &lt;html </a:t>
            </a:r>
            <a:r>
              <a:rPr lang="en-US" sz="2000" dirty="0" err="1">
                <a:latin typeface="Cambria" panose="02040503050406030204" pitchFamily="18" charset="0"/>
              </a:rPr>
              <a:t>lang</a:t>
            </a:r>
            <a:r>
              <a:rPr lang="en-US" sz="2000" dirty="0">
                <a:latin typeface="Cambria" panose="02040503050406030204" pitchFamily="18" charset="0"/>
              </a:rPr>
              <a:t>="en-US"&gt;</a:t>
            </a:r>
          </a:p>
          <a:p>
            <a:endParaRPr lang="en-US" sz="2000" dirty="0">
              <a:solidFill>
                <a:srgbClr val="000000"/>
              </a:solidFill>
              <a:latin typeface="Cambria" panose="02040503050406030204" pitchFamily="18" charset="0"/>
            </a:endParaRPr>
          </a:p>
          <a:p>
            <a:r>
              <a:rPr lang="en-IN" sz="2000" b="1" dirty="0">
                <a:latin typeface="Cambria" panose="02040503050406030204" pitchFamily="18" charset="0"/>
              </a:rPr>
              <a:t>The title Attribute : </a:t>
            </a:r>
            <a:r>
              <a:rPr lang="en-US" sz="2000" dirty="0">
                <a:latin typeface="Cambria" panose="02040503050406030204" pitchFamily="18" charset="0"/>
              </a:rPr>
              <a:t>&lt;p title="I'm a tooltip"&gt;</a:t>
            </a:r>
            <a:br>
              <a:rPr lang="en-US" sz="2000" dirty="0">
                <a:latin typeface="Cambria" panose="02040503050406030204" pitchFamily="18" charset="0"/>
              </a:rPr>
            </a:br>
            <a:endParaRPr lang="en-IN" sz="2000" dirty="0">
              <a:latin typeface="Cambria" panose="02040503050406030204" pitchFamily="18" charset="0"/>
            </a:endParaRPr>
          </a:p>
          <a:p>
            <a:endParaRPr lang="en-IN" sz="2000" dirty="0">
              <a:solidFill>
                <a:srgbClr val="000000"/>
              </a:solidFill>
              <a:latin typeface="Cambria" panose="02040503050406030204" pitchFamily="18" charset="0"/>
            </a:endParaRPr>
          </a:p>
        </p:txBody>
      </p:sp>
    </p:spTree>
    <p:extLst>
      <p:ext uri="{BB962C8B-B14F-4D97-AF65-F5344CB8AC3E}">
        <p14:creationId xmlns:p14="http://schemas.microsoft.com/office/powerpoint/2010/main" val="2075408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Styles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362365" y="1034592"/>
            <a:ext cx="11022560" cy="5016758"/>
          </a:xfrm>
          <a:prstGeom prst="rect">
            <a:avLst/>
          </a:prstGeom>
        </p:spPr>
        <p:txBody>
          <a:bodyPr wrap="square">
            <a:spAutoFit/>
          </a:bodyPr>
          <a:lstStyle/>
          <a:p>
            <a:r>
              <a:rPr lang="en-IN" sz="2000" dirty="0">
                <a:latin typeface="Cambria" panose="02040503050406030204" pitchFamily="18" charset="0"/>
              </a:rPr>
              <a:t>Setting the style of an HTML element, can be done with the style attribute.</a:t>
            </a:r>
          </a:p>
          <a:p>
            <a:endParaRPr lang="en-IN" sz="2000" dirty="0">
              <a:latin typeface="Cambria" panose="02040503050406030204" pitchFamily="18" charset="0"/>
            </a:endParaRPr>
          </a:p>
          <a:p>
            <a:r>
              <a:rPr lang="en-IN" sz="2000" b="1" dirty="0">
                <a:solidFill>
                  <a:srgbClr val="FF0000"/>
                </a:solidFill>
                <a:latin typeface="Cambria" panose="02040503050406030204" pitchFamily="18" charset="0"/>
              </a:rPr>
              <a:t>&lt;</a:t>
            </a:r>
            <a:r>
              <a:rPr lang="en-IN" sz="2000" b="1" dirty="0" err="1">
                <a:solidFill>
                  <a:srgbClr val="FF0000"/>
                </a:solidFill>
                <a:latin typeface="Cambria" panose="02040503050406030204" pitchFamily="18" charset="0"/>
              </a:rPr>
              <a:t>tagname</a:t>
            </a:r>
            <a:r>
              <a:rPr lang="en-IN" sz="2000" b="1" dirty="0">
                <a:solidFill>
                  <a:srgbClr val="FF0000"/>
                </a:solidFill>
                <a:latin typeface="Cambria" panose="02040503050406030204" pitchFamily="18" charset="0"/>
              </a:rPr>
              <a:t> style="</a:t>
            </a:r>
            <a:r>
              <a:rPr lang="en-IN" sz="2000" b="1" dirty="0" err="1">
                <a:solidFill>
                  <a:srgbClr val="FF0000"/>
                </a:solidFill>
                <a:latin typeface="Cambria" panose="02040503050406030204" pitchFamily="18" charset="0"/>
              </a:rPr>
              <a:t>property:value</a:t>
            </a:r>
            <a:r>
              <a:rPr lang="en-IN" sz="2000" b="1" dirty="0">
                <a:solidFill>
                  <a:srgbClr val="FF0000"/>
                </a:solidFill>
                <a:latin typeface="Cambria" panose="02040503050406030204" pitchFamily="18" charset="0"/>
              </a:rPr>
              <a:t>;"&gt;  </a:t>
            </a:r>
          </a:p>
          <a:p>
            <a:r>
              <a:rPr lang="en-IN" sz="2000" dirty="0">
                <a:latin typeface="Cambria" panose="02040503050406030204" pitchFamily="18" charset="0"/>
              </a:rPr>
              <a:t>The property is a CSS property. The value is a CSS value.</a:t>
            </a:r>
          </a:p>
          <a:p>
            <a:endParaRPr lang="en-IN" sz="2000" dirty="0">
              <a:latin typeface="Cambria" panose="02040503050406030204" pitchFamily="18" charset="0"/>
            </a:endParaRPr>
          </a:p>
          <a:p>
            <a:r>
              <a:rPr lang="en-IN" sz="2000" b="1" dirty="0">
                <a:solidFill>
                  <a:srgbClr val="FF0000"/>
                </a:solidFill>
                <a:latin typeface="Cambria" panose="02040503050406030204" pitchFamily="18" charset="0"/>
              </a:rPr>
              <a:t>style attribute:</a:t>
            </a:r>
            <a:r>
              <a:rPr lang="en-IN" sz="2000" dirty="0">
                <a:latin typeface="Cambria" panose="02040503050406030204" pitchFamily="18" charset="0"/>
              </a:rPr>
              <a:t> for styling HTML elements</a:t>
            </a:r>
          </a:p>
          <a:p>
            <a:endParaRPr lang="en-IN" sz="2000" b="1" dirty="0">
              <a:solidFill>
                <a:srgbClr val="FF0000"/>
              </a:solidFill>
              <a:latin typeface="Cambria" panose="02040503050406030204" pitchFamily="18" charset="0"/>
            </a:endParaRPr>
          </a:p>
          <a:p>
            <a:r>
              <a:rPr lang="en-IN" sz="2000" b="1" dirty="0">
                <a:solidFill>
                  <a:srgbClr val="FF0000"/>
                </a:solidFill>
                <a:latin typeface="Cambria" panose="02040503050406030204" pitchFamily="18" charset="0"/>
              </a:rPr>
              <a:t>background-</a:t>
            </a:r>
            <a:r>
              <a:rPr lang="en-IN" sz="2000" b="1" dirty="0" err="1">
                <a:solidFill>
                  <a:srgbClr val="FF0000"/>
                </a:solidFill>
                <a:latin typeface="Cambria" panose="02040503050406030204" pitchFamily="18" charset="0"/>
              </a:rPr>
              <a:t>color</a:t>
            </a:r>
            <a:r>
              <a:rPr lang="en-IN" sz="2000" b="1" dirty="0">
                <a:solidFill>
                  <a:srgbClr val="FF0000"/>
                </a:solidFill>
                <a:latin typeface="Cambria" panose="02040503050406030204" pitchFamily="18" charset="0"/>
              </a:rPr>
              <a:t>: </a:t>
            </a:r>
            <a:r>
              <a:rPr lang="en-IN" sz="2000" dirty="0">
                <a:latin typeface="Cambria" panose="02040503050406030204" pitchFamily="18" charset="0"/>
              </a:rPr>
              <a:t>for background </a:t>
            </a:r>
            <a:r>
              <a:rPr lang="en-IN" sz="2000" dirty="0" err="1">
                <a:latin typeface="Cambria" panose="02040503050406030204" pitchFamily="18" charset="0"/>
              </a:rPr>
              <a:t>color</a:t>
            </a:r>
            <a:endParaRPr lang="en-IN" sz="2000" dirty="0">
              <a:latin typeface="Cambria" panose="02040503050406030204" pitchFamily="18" charset="0"/>
            </a:endParaRPr>
          </a:p>
          <a:p>
            <a:endParaRPr lang="en-IN" sz="2000" b="1" dirty="0">
              <a:solidFill>
                <a:srgbClr val="FF0000"/>
              </a:solidFill>
              <a:latin typeface="Cambria" panose="02040503050406030204" pitchFamily="18" charset="0"/>
            </a:endParaRPr>
          </a:p>
          <a:p>
            <a:r>
              <a:rPr lang="en-IN" sz="2000" b="1" dirty="0" err="1">
                <a:solidFill>
                  <a:srgbClr val="FF0000"/>
                </a:solidFill>
                <a:latin typeface="Cambria" panose="02040503050406030204" pitchFamily="18" charset="0"/>
              </a:rPr>
              <a:t>color</a:t>
            </a:r>
            <a:r>
              <a:rPr lang="en-IN" sz="2000" b="1" dirty="0">
                <a:solidFill>
                  <a:srgbClr val="FF0000"/>
                </a:solidFill>
                <a:latin typeface="Cambria" panose="02040503050406030204" pitchFamily="18" charset="0"/>
              </a:rPr>
              <a:t> : </a:t>
            </a:r>
            <a:r>
              <a:rPr lang="en-IN" sz="2000" dirty="0">
                <a:latin typeface="Cambria" panose="02040503050406030204" pitchFamily="18" charset="0"/>
              </a:rPr>
              <a:t>for text </a:t>
            </a:r>
            <a:r>
              <a:rPr lang="en-IN" sz="2000" dirty="0" err="1">
                <a:latin typeface="Cambria" panose="02040503050406030204" pitchFamily="18" charset="0"/>
              </a:rPr>
              <a:t>colors</a:t>
            </a:r>
            <a:endParaRPr lang="en-IN" sz="2000" dirty="0">
              <a:latin typeface="Cambria" panose="02040503050406030204" pitchFamily="18" charset="0"/>
            </a:endParaRPr>
          </a:p>
          <a:p>
            <a:endParaRPr lang="en-IN" sz="2000" b="1" dirty="0">
              <a:solidFill>
                <a:srgbClr val="FF0000"/>
              </a:solidFill>
              <a:latin typeface="Cambria" panose="02040503050406030204" pitchFamily="18" charset="0"/>
            </a:endParaRPr>
          </a:p>
          <a:p>
            <a:r>
              <a:rPr lang="en-IN" sz="2000" b="1" dirty="0">
                <a:solidFill>
                  <a:srgbClr val="FF0000"/>
                </a:solidFill>
                <a:latin typeface="Cambria" panose="02040503050406030204" pitchFamily="18" charset="0"/>
              </a:rPr>
              <a:t>font-family: </a:t>
            </a:r>
            <a:r>
              <a:rPr lang="en-IN" sz="2000" dirty="0">
                <a:latin typeface="Cambria" panose="02040503050406030204" pitchFamily="18" charset="0"/>
              </a:rPr>
              <a:t>for text fonts</a:t>
            </a:r>
          </a:p>
          <a:p>
            <a:endParaRPr lang="en-IN" sz="2000" b="1" dirty="0">
              <a:solidFill>
                <a:srgbClr val="FF0000"/>
              </a:solidFill>
              <a:latin typeface="Cambria" panose="02040503050406030204" pitchFamily="18" charset="0"/>
            </a:endParaRPr>
          </a:p>
          <a:p>
            <a:r>
              <a:rPr lang="en-IN" sz="2000" b="1" dirty="0">
                <a:solidFill>
                  <a:srgbClr val="FF0000"/>
                </a:solidFill>
                <a:latin typeface="Cambria" panose="02040503050406030204" pitchFamily="18" charset="0"/>
              </a:rPr>
              <a:t>font-size:</a:t>
            </a:r>
            <a:r>
              <a:rPr lang="en-IN" sz="2000" dirty="0">
                <a:latin typeface="Cambria" panose="02040503050406030204" pitchFamily="18" charset="0"/>
              </a:rPr>
              <a:t> for text sizes</a:t>
            </a:r>
          </a:p>
          <a:p>
            <a:endParaRPr lang="en-IN" sz="2000" dirty="0">
              <a:latin typeface="Cambria" panose="02040503050406030204" pitchFamily="18" charset="0"/>
            </a:endParaRPr>
          </a:p>
          <a:p>
            <a:r>
              <a:rPr lang="en-IN" sz="2000" b="1" dirty="0">
                <a:solidFill>
                  <a:srgbClr val="FF0000"/>
                </a:solidFill>
                <a:latin typeface="Cambria" panose="02040503050406030204" pitchFamily="18" charset="0"/>
              </a:rPr>
              <a:t>text-align:</a:t>
            </a:r>
            <a:r>
              <a:rPr lang="en-IN" sz="2000" dirty="0">
                <a:latin typeface="Cambria" panose="02040503050406030204" pitchFamily="18" charset="0"/>
              </a:rPr>
              <a:t> for text alignment</a:t>
            </a:r>
          </a:p>
        </p:txBody>
      </p:sp>
    </p:spTree>
    <p:extLst>
      <p:ext uri="{BB962C8B-B14F-4D97-AF65-F5344CB8AC3E}">
        <p14:creationId xmlns:p14="http://schemas.microsoft.com/office/powerpoint/2010/main" val="3531751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Styles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362365" y="1034592"/>
            <a:ext cx="11022560" cy="3736407"/>
          </a:xfrm>
          <a:prstGeom prst="rect">
            <a:avLst/>
          </a:prstGeom>
        </p:spPr>
        <p:txBody>
          <a:bodyPr wrap="square">
            <a:spAutoFit/>
          </a:bodyPr>
          <a:lstStyle/>
          <a:p>
            <a:r>
              <a:rPr lang="en-IN" sz="2200" b="1" dirty="0">
                <a:latin typeface="Cambria" panose="02040503050406030204" pitchFamily="18" charset="0"/>
              </a:rPr>
              <a:t>Background Color</a:t>
            </a: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&lt;body style="</a:t>
            </a:r>
            <a:r>
              <a:rPr lang="en-US" sz="2200" dirty="0" err="1">
                <a:solidFill>
                  <a:schemeClr val="accent6">
                    <a:lumMod val="75000"/>
                  </a:schemeClr>
                </a:solidFill>
                <a:latin typeface="Cambria" panose="02040503050406030204" pitchFamily="18" charset="0"/>
              </a:rPr>
              <a:t>background-color:powderblue</a:t>
            </a:r>
            <a:r>
              <a:rPr lang="en-US" sz="2200" dirty="0">
                <a:solidFill>
                  <a:schemeClr val="accent6">
                    <a:lumMod val="75000"/>
                  </a:schemeClr>
                </a:solidFill>
                <a:latin typeface="Cambria" panose="02040503050406030204" pitchFamily="18" charset="0"/>
              </a:rPr>
              <a:t>;"&gt;</a:t>
            </a:r>
            <a:br>
              <a:rPr lang="en-US" sz="2200" dirty="0">
                <a:solidFill>
                  <a:schemeClr val="accent6">
                    <a:lumMod val="75000"/>
                  </a:schemeClr>
                </a:solidFill>
                <a:latin typeface="Cambria" panose="02040503050406030204" pitchFamily="18" charset="0"/>
              </a:rPr>
            </a:br>
            <a:r>
              <a:rPr lang="en-US" sz="2200" dirty="0">
                <a:solidFill>
                  <a:schemeClr val="accent6">
                    <a:lumMod val="75000"/>
                  </a:schemeClr>
                </a:solidFill>
                <a:latin typeface="Cambria" panose="02040503050406030204" pitchFamily="18" charset="0"/>
              </a:rPr>
              <a:t>	&lt;h1&gt;This is a heading&lt;/h1&gt;</a:t>
            </a:r>
            <a:br>
              <a:rPr lang="en-US" sz="2200" dirty="0">
                <a:solidFill>
                  <a:schemeClr val="accent6">
                    <a:lumMod val="75000"/>
                  </a:schemeClr>
                </a:solidFill>
                <a:latin typeface="Cambria" panose="02040503050406030204" pitchFamily="18" charset="0"/>
              </a:rPr>
            </a:br>
            <a:r>
              <a:rPr lang="en-US" sz="2200" dirty="0">
                <a:solidFill>
                  <a:schemeClr val="accent6">
                    <a:lumMod val="75000"/>
                  </a:schemeClr>
                </a:solidFill>
                <a:latin typeface="Cambria" panose="02040503050406030204" pitchFamily="18" charset="0"/>
              </a:rPr>
              <a:t>	&lt;p&gt;This is a paragraph.&lt;/p&gt;</a:t>
            </a:r>
            <a:br>
              <a:rPr lang="en-US" sz="2200" dirty="0">
                <a:solidFill>
                  <a:schemeClr val="accent6">
                    <a:lumMod val="75000"/>
                  </a:schemeClr>
                </a:solidFill>
                <a:latin typeface="Cambria" panose="02040503050406030204" pitchFamily="18" charset="0"/>
              </a:rPr>
            </a:br>
            <a:r>
              <a:rPr lang="en-US" sz="2200" dirty="0">
                <a:solidFill>
                  <a:schemeClr val="accent6">
                    <a:lumMod val="75000"/>
                  </a:schemeClr>
                </a:solidFill>
                <a:latin typeface="Cambria" panose="02040503050406030204" pitchFamily="18" charset="0"/>
              </a:rPr>
              <a:t>&lt;/body&gt; </a:t>
            </a:r>
          </a:p>
          <a:p>
            <a:endParaRPr lang="en-IN" sz="2200" b="1" dirty="0">
              <a:latin typeface="Cambria" panose="02040503050406030204" pitchFamily="18" charset="0"/>
            </a:endParaRPr>
          </a:p>
          <a:p>
            <a:endParaRPr lang="en-IN" sz="2200" b="1" dirty="0">
              <a:latin typeface="Cambria" panose="02040503050406030204" pitchFamily="18" charset="0"/>
            </a:endParaRPr>
          </a:p>
          <a:p>
            <a:r>
              <a:rPr lang="en-IN" sz="2200" b="1" dirty="0">
                <a:latin typeface="Cambria" panose="02040503050406030204" pitchFamily="18" charset="0"/>
              </a:rPr>
              <a:t>Font family</a:t>
            </a:r>
            <a:endParaRPr lang="en-US" sz="2200" dirty="0">
              <a:solidFill>
                <a:schemeClr val="accent6">
                  <a:lumMod val="75000"/>
                </a:schemeClr>
              </a:solidFill>
              <a:latin typeface="Cambria" panose="02040503050406030204" pitchFamily="18" charset="0"/>
            </a:endParaRP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	&lt;h1 style="</a:t>
            </a:r>
            <a:r>
              <a:rPr lang="en-US" sz="2200" dirty="0" err="1">
                <a:solidFill>
                  <a:schemeClr val="accent6">
                    <a:lumMod val="75000"/>
                  </a:schemeClr>
                </a:solidFill>
                <a:latin typeface="Cambria" panose="02040503050406030204" pitchFamily="18" charset="0"/>
              </a:rPr>
              <a:t>font-family:verdana</a:t>
            </a:r>
            <a:r>
              <a:rPr lang="en-US" sz="2200" dirty="0">
                <a:solidFill>
                  <a:schemeClr val="accent6">
                    <a:lumMod val="75000"/>
                  </a:schemeClr>
                </a:solidFill>
                <a:latin typeface="Cambria" panose="02040503050406030204" pitchFamily="18" charset="0"/>
              </a:rPr>
              <a:t>;"&gt;This is a heading&lt;/h1&gt;</a:t>
            </a: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	&lt;p style="</a:t>
            </a:r>
            <a:r>
              <a:rPr lang="en-US" sz="2200" dirty="0" err="1">
                <a:solidFill>
                  <a:schemeClr val="accent6">
                    <a:lumMod val="75000"/>
                  </a:schemeClr>
                </a:solidFill>
                <a:latin typeface="Cambria" panose="02040503050406030204" pitchFamily="18" charset="0"/>
              </a:rPr>
              <a:t>font-family:courier</a:t>
            </a:r>
            <a:r>
              <a:rPr lang="en-US" sz="2200" dirty="0">
                <a:solidFill>
                  <a:schemeClr val="accent6">
                    <a:lumMod val="75000"/>
                  </a:schemeClr>
                </a:solidFill>
                <a:latin typeface="Cambria" panose="02040503050406030204" pitchFamily="18" charset="0"/>
              </a:rPr>
              <a:t>;"&gt;This is a paragraph.&lt;/p&gt;</a:t>
            </a:r>
          </a:p>
        </p:txBody>
      </p:sp>
    </p:spTree>
    <p:extLst>
      <p:ext uri="{BB962C8B-B14F-4D97-AF65-F5344CB8AC3E}">
        <p14:creationId xmlns:p14="http://schemas.microsoft.com/office/powerpoint/2010/main" val="1179929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Styles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13880" y="1227775"/>
            <a:ext cx="11022560" cy="3062377"/>
          </a:xfrm>
          <a:prstGeom prst="rect">
            <a:avLst/>
          </a:prstGeom>
        </p:spPr>
        <p:txBody>
          <a:bodyPr wrap="square">
            <a:spAutoFit/>
          </a:bodyPr>
          <a:lstStyle/>
          <a:p>
            <a:r>
              <a:rPr lang="en-IN" sz="2200" b="1" dirty="0">
                <a:latin typeface="Cambria" panose="02040503050406030204" pitchFamily="18" charset="0"/>
              </a:rPr>
              <a:t>Font </a:t>
            </a:r>
            <a:r>
              <a:rPr lang="en-IN" sz="2200" b="1" dirty="0" err="1">
                <a:latin typeface="Cambria" panose="02040503050406030204" pitchFamily="18" charset="0"/>
              </a:rPr>
              <a:t>color</a:t>
            </a:r>
            <a:endParaRPr lang="en-IN" sz="2200" b="1" dirty="0">
              <a:latin typeface="Cambria" panose="02040503050406030204" pitchFamily="18" charset="0"/>
            </a:endParaRP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	&lt;h1 style=“</a:t>
            </a:r>
            <a:r>
              <a:rPr lang="en-US" sz="2200" dirty="0" err="1">
                <a:solidFill>
                  <a:schemeClr val="accent6">
                    <a:lumMod val="75000"/>
                  </a:schemeClr>
                </a:solidFill>
                <a:latin typeface="Cambria" panose="02040503050406030204" pitchFamily="18" charset="0"/>
              </a:rPr>
              <a:t>color:red</a:t>
            </a:r>
            <a:r>
              <a:rPr lang="en-US" sz="2200" dirty="0">
                <a:solidFill>
                  <a:schemeClr val="accent6">
                    <a:lumMod val="75000"/>
                  </a:schemeClr>
                </a:solidFill>
                <a:latin typeface="Cambria" panose="02040503050406030204" pitchFamily="18" charset="0"/>
              </a:rPr>
              <a:t>;"&gt;This is a heading&lt;/h1&gt;</a:t>
            </a: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	&lt;p style="</a:t>
            </a:r>
            <a:r>
              <a:rPr lang="en-US" sz="2200" dirty="0" err="1">
                <a:solidFill>
                  <a:schemeClr val="accent6">
                    <a:lumMod val="75000"/>
                  </a:schemeClr>
                </a:solidFill>
                <a:latin typeface="Cambria" panose="02040503050406030204" pitchFamily="18" charset="0"/>
              </a:rPr>
              <a:t>font-family:courier</a:t>
            </a:r>
            <a:r>
              <a:rPr lang="en-US" sz="2200" dirty="0">
                <a:solidFill>
                  <a:schemeClr val="accent6">
                    <a:lumMod val="75000"/>
                  </a:schemeClr>
                </a:solidFill>
                <a:latin typeface="Cambria" panose="02040503050406030204" pitchFamily="18" charset="0"/>
              </a:rPr>
              <a:t>;"&gt;This is a paragraph.&lt;/p&gt;</a:t>
            </a:r>
          </a:p>
          <a:p>
            <a:pPr lvl="0">
              <a:lnSpc>
                <a:spcPct val="90000"/>
              </a:lnSpc>
              <a:spcBef>
                <a:spcPts val="1200"/>
              </a:spcBef>
              <a:buClr>
                <a:srgbClr val="40BAD2"/>
              </a:buClr>
            </a:pPr>
            <a:endParaRPr lang="en-US" sz="2200" dirty="0">
              <a:solidFill>
                <a:schemeClr val="accent6">
                  <a:lumMod val="75000"/>
                </a:schemeClr>
              </a:solidFill>
              <a:latin typeface="Cambria" panose="02040503050406030204" pitchFamily="18" charset="0"/>
            </a:endParaRPr>
          </a:p>
          <a:p>
            <a:r>
              <a:rPr lang="en-IN" sz="2200" b="1" dirty="0">
                <a:latin typeface="Cambria" panose="02040503050406030204" pitchFamily="18" charset="0"/>
              </a:rPr>
              <a:t>Text Size</a:t>
            </a: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	&lt;h1 style="font-size:300%;"&gt;This is a heading&lt;/h1&gt;</a:t>
            </a:r>
          </a:p>
          <a:p>
            <a:pPr lvl="0">
              <a:lnSpc>
                <a:spcPct val="90000"/>
              </a:lnSpc>
              <a:spcBef>
                <a:spcPts val="1200"/>
              </a:spcBef>
              <a:buClr>
                <a:srgbClr val="40BAD2"/>
              </a:buClr>
            </a:pPr>
            <a:r>
              <a:rPr lang="en-US" sz="2200" dirty="0">
                <a:solidFill>
                  <a:schemeClr val="accent6">
                    <a:lumMod val="75000"/>
                  </a:schemeClr>
                </a:solidFill>
                <a:latin typeface="Cambria" panose="02040503050406030204" pitchFamily="18" charset="0"/>
              </a:rPr>
              <a:t>	&lt;p style="font-size:160%;"&gt;This is a paragraph.&lt;/p&gt;</a:t>
            </a:r>
          </a:p>
        </p:txBody>
      </p:sp>
    </p:spTree>
    <p:extLst>
      <p:ext uri="{BB962C8B-B14F-4D97-AF65-F5344CB8AC3E}">
        <p14:creationId xmlns:p14="http://schemas.microsoft.com/office/powerpoint/2010/main" val="3798463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Styles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13880" y="1227775"/>
            <a:ext cx="11022560" cy="3499420"/>
          </a:xfrm>
          <a:prstGeom prst="rect">
            <a:avLst/>
          </a:prstGeom>
        </p:spPr>
        <p:txBody>
          <a:bodyPr wrap="square">
            <a:spAutoFit/>
          </a:bodyPr>
          <a:lstStyle/>
          <a:p>
            <a:r>
              <a:rPr lang="en-IN" sz="2200" b="1" dirty="0">
                <a:latin typeface="Cambria" panose="02040503050406030204" pitchFamily="18" charset="0"/>
              </a:rPr>
              <a:t>Text Alignment:</a:t>
            </a:r>
          </a:p>
          <a:p>
            <a:pPr lvl="0">
              <a:lnSpc>
                <a:spcPct val="90000"/>
              </a:lnSpc>
              <a:spcBef>
                <a:spcPts val="1200"/>
              </a:spcBef>
              <a:buClr>
                <a:srgbClr val="40BAD2"/>
              </a:buClr>
            </a:pPr>
            <a:r>
              <a:rPr lang="en-IN" sz="2200" dirty="0">
                <a:solidFill>
                  <a:schemeClr val="accent6">
                    <a:lumMod val="75000"/>
                  </a:schemeClr>
                </a:solidFill>
                <a:latin typeface="Cambria" panose="02040503050406030204" pitchFamily="18" charset="0"/>
              </a:rPr>
              <a:t>	&lt;h1 style="</a:t>
            </a:r>
            <a:r>
              <a:rPr lang="en-IN" sz="2200" dirty="0" err="1">
                <a:solidFill>
                  <a:schemeClr val="accent6">
                    <a:lumMod val="75000"/>
                  </a:schemeClr>
                </a:solidFill>
                <a:latin typeface="Cambria" panose="02040503050406030204" pitchFamily="18" charset="0"/>
              </a:rPr>
              <a:t>text-align:center</a:t>
            </a:r>
            <a:r>
              <a:rPr lang="en-IN" sz="2200" dirty="0">
                <a:solidFill>
                  <a:schemeClr val="accent6">
                    <a:lumMod val="75000"/>
                  </a:schemeClr>
                </a:solidFill>
                <a:latin typeface="Cambria" panose="02040503050406030204" pitchFamily="18" charset="0"/>
              </a:rPr>
              <a:t>;"&gt;</a:t>
            </a:r>
            <a:r>
              <a:rPr lang="en-IN" sz="2200" dirty="0" err="1">
                <a:solidFill>
                  <a:schemeClr val="accent6">
                    <a:lumMod val="75000"/>
                  </a:schemeClr>
                </a:solidFill>
                <a:latin typeface="Cambria" panose="02040503050406030204" pitchFamily="18" charset="0"/>
              </a:rPr>
              <a:t>Centered</a:t>
            </a:r>
            <a:r>
              <a:rPr lang="en-IN" sz="2200" dirty="0">
                <a:solidFill>
                  <a:schemeClr val="accent6">
                    <a:lumMod val="75000"/>
                  </a:schemeClr>
                </a:solidFill>
                <a:latin typeface="Cambria" panose="02040503050406030204" pitchFamily="18" charset="0"/>
              </a:rPr>
              <a:t> Heading&lt;/h1&gt;</a:t>
            </a:r>
          </a:p>
          <a:p>
            <a:pPr lvl="0">
              <a:lnSpc>
                <a:spcPct val="90000"/>
              </a:lnSpc>
              <a:spcBef>
                <a:spcPts val="1200"/>
              </a:spcBef>
              <a:buClr>
                <a:srgbClr val="40BAD2"/>
              </a:buClr>
            </a:pPr>
            <a:r>
              <a:rPr lang="en-IN" sz="2200" dirty="0">
                <a:solidFill>
                  <a:schemeClr val="accent6">
                    <a:lumMod val="75000"/>
                  </a:schemeClr>
                </a:solidFill>
                <a:latin typeface="Cambria" panose="02040503050406030204" pitchFamily="18" charset="0"/>
              </a:rPr>
              <a:t>	&lt;p style="</a:t>
            </a:r>
            <a:r>
              <a:rPr lang="en-IN" sz="2200" dirty="0" err="1">
                <a:solidFill>
                  <a:schemeClr val="accent6">
                    <a:lumMod val="75000"/>
                  </a:schemeClr>
                </a:solidFill>
                <a:latin typeface="Cambria" panose="02040503050406030204" pitchFamily="18" charset="0"/>
              </a:rPr>
              <a:t>text-align:right</a:t>
            </a:r>
            <a:r>
              <a:rPr lang="en-IN" sz="2200" dirty="0">
                <a:solidFill>
                  <a:schemeClr val="accent6">
                    <a:lumMod val="75000"/>
                  </a:schemeClr>
                </a:solidFill>
                <a:latin typeface="Cambria" panose="02040503050406030204" pitchFamily="18" charset="0"/>
              </a:rPr>
              <a:t>;"&gt;</a:t>
            </a:r>
            <a:r>
              <a:rPr lang="en-IN" sz="2200" dirty="0" err="1">
                <a:solidFill>
                  <a:schemeClr val="accent6">
                    <a:lumMod val="75000"/>
                  </a:schemeClr>
                </a:solidFill>
                <a:latin typeface="Cambria" panose="02040503050406030204" pitchFamily="18" charset="0"/>
              </a:rPr>
              <a:t>Centered</a:t>
            </a:r>
            <a:r>
              <a:rPr lang="en-IN" sz="2200" dirty="0">
                <a:solidFill>
                  <a:schemeClr val="accent6">
                    <a:lumMod val="75000"/>
                  </a:schemeClr>
                </a:solidFill>
                <a:latin typeface="Cambria" panose="02040503050406030204" pitchFamily="18" charset="0"/>
              </a:rPr>
              <a:t> paragraph.&lt;/p&gt;</a:t>
            </a:r>
          </a:p>
          <a:p>
            <a:pPr lvl="0">
              <a:lnSpc>
                <a:spcPct val="90000"/>
              </a:lnSpc>
              <a:spcBef>
                <a:spcPts val="1200"/>
              </a:spcBef>
              <a:buClr>
                <a:srgbClr val="40BAD2"/>
              </a:buClr>
            </a:pPr>
            <a:endParaRPr lang="en-IN" sz="2200" dirty="0">
              <a:solidFill>
                <a:schemeClr val="accent6">
                  <a:lumMod val="75000"/>
                </a:schemeClr>
              </a:solidFill>
              <a:latin typeface="Cambria" panose="02040503050406030204" pitchFamily="18" charset="0"/>
            </a:endParaRPr>
          </a:p>
          <a:p>
            <a:r>
              <a:rPr lang="en-US" sz="2200" b="1" dirty="0">
                <a:latin typeface="Cambria" panose="02040503050406030204" pitchFamily="18" charset="0"/>
              </a:rPr>
              <a:t>Alignments can be:</a:t>
            </a:r>
          </a:p>
          <a:p>
            <a:r>
              <a:rPr lang="en-US" sz="2200" dirty="0">
                <a:latin typeface="Cambria" panose="02040503050406030204" pitchFamily="18" charset="0"/>
              </a:rPr>
              <a:t>Right </a:t>
            </a:r>
          </a:p>
          <a:p>
            <a:r>
              <a:rPr lang="en-US" sz="2200" dirty="0">
                <a:latin typeface="Cambria" panose="02040503050406030204" pitchFamily="18" charset="0"/>
              </a:rPr>
              <a:t>Left</a:t>
            </a:r>
          </a:p>
          <a:p>
            <a:r>
              <a:rPr lang="en-US" sz="2200" dirty="0">
                <a:latin typeface="Cambria" panose="02040503050406030204" pitchFamily="18" charset="0"/>
              </a:rPr>
              <a:t>Center</a:t>
            </a:r>
          </a:p>
          <a:p>
            <a:r>
              <a:rPr lang="en-US" sz="2200" dirty="0">
                <a:latin typeface="Cambria" panose="02040503050406030204" pitchFamily="18" charset="0"/>
              </a:rPr>
              <a:t>Justify</a:t>
            </a:r>
            <a:endParaRPr lang="en-IN" sz="2200" dirty="0">
              <a:solidFill>
                <a:schemeClr val="accent6">
                  <a:lumMod val="75000"/>
                </a:schemeClr>
              </a:solidFill>
              <a:latin typeface="Cambria" panose="02040503050406030204" pitchFamily="18" charset="0"/>
            </a:endParaRPr>
          </a:p>
        </p:txBody>
      </p:sp>
    </p:spTree>
    <p:extLst>
      <p:ext uri="{BB962C8B-B14F-4D97-AF65-F5344CB8AC3E}">
        <p14:creationId xmlns:p14="http://schemas.microsoft.com/office/powerpoint/2010/main" val="343247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Text Formatting</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pic>
        <p:nvPicPr>
          <p:cNvPr id="6" name="Content Placeholder 4"/>
          <p:cNvPicPr>
            <a:picLocks noGrp="1" noChangeAspect="1"/>
          </p:cNvPicPr>
          <p:nvPr>
            <p:ph idx="1"/>
          </p:nvPr>
        </p:nvPicPr>
        <p:blipFill>
          <a:blip r:embed="rId3"/>
          <a:stretch>
            <a:fillRect/>
          </a:stretch>
        </p:blipFill>
        <p:spPr>
          <a:xfrm>
            <a:off x="2371083" y="1108646"/>
            <a:ext cx="5523665" cy="5428128"/>
          </a:xfrm>
          <a:prstGeom prst="rect">
            <a:avLst/>
          </a:prstGeom>
        </p:spPr>
      </p:pic>
    </p:spTree>
    <p:extLst>
      <p:ext uri="{BB962C8B-B14F-4D97-AF65-F5344CB8AC3E}">
        <p14:creationId xmlns:p14="http://schemas.microsoft.com/office/powerpoint/2010/main" val="300003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Text Formatting</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111865"/>
            <a:ext cx="11022560" cy="5262979"/>
          </a:xfrm>
          <a:prstGeom prst="rect">
            <a:avLst/>
          </a:prstGeom>
        </p:spPr>
        <p:txBody>
          <a:bodyPr wrap="square">
            <a:spAutoFit/>
          </a:bodyPr>
          <a:lstStyle/>
          <a:p>
            <a:r>
              <a:rPr lang="en-IN" sz="1600" dirty="0">
                <a:latin typeface="Cambria" panose="02040503050406030204" pitchFamily="18" charset="0"/>
              </a:rPr>
              <a:t>&lt;!DOCTYPE html&gt;</a:t>
            </a:r>
          </a:p>
          <a:p>
            <a:r>
              <a:rPr lang="en-IN" sz="1600" dirty="0">
                <a:latin typeface="Cambria" panose="02040503050406030204" pitchFamily="18" charset="0"/>
              </a:rPr>
              <a:t>&lt;html </a:t>
            </a:r>
            <a:r>
              <a:rPr lang="en-IN" sz="1600" dirty="0" err="1">
                <a:latin typeface="Cambria" panose="02040503050406030204" pitchFamily="18" charset="0"/>
              </a:rPr>
              <a:t>lang</a:t>
            </a:r>
            <a:r>
              <a:rPr lang="en-IN" sz="1600" dirty="0">
                <a:latin typeface="Cambria" panose="02040503050406030204" pitchFamily="18" charset="0"/>
              </a:rPr>
              <a:t>="en"&gt;</a:t>
            </a:r>
          </a:p>
          <a:p>
            <a:r>
              <a:rPr lang="en-IN" sz="1600" dirty="0">
                <a:latin typeface="Cambria" panose="02040503050406030204" pitchFamily="18" charset="0"/>
              </a:rPr>
              <a:t>&lt;head&gt;</a:t>
            </a:r>
          </a:p>
          <a:p>
            <a:r>
              <a:rPr lang="en-IN" sz="1600" dirty="0">
                <a:latin typeface="Cambria" panose="02040503050406030204" pitchFamily="18" charset="0"/>
              </a:rPr>
              <a:t>&lt;title&gt;HTML Text Formatting Demo&lt;/title&gt;</a:t>
            </a:r>
          </a:p>
          <a:p>
            <a:r>
              <a:rPr lang="en-IN" sz="1600" dirty="0">
                <a:latin typeface="Cambria" panose="02040503050406030204" pitchFamily="18" charset="0"/>
              </a:rPr>
              <a:t>&lt;/head&gt;</a:t>
            </a:r>
          </a:p>
          <a:p>
            <a:r>
              <a:rPr lang="en-IN" sz="1600" dirty="0">
                <a:latin typeface="Cambria" panose="02040503050406030204" pitchFamily="18" charset="0"/>
              </a:rPr>
              <a:t>&lt;body&gt;</a:t>
            </a:r>
          </a:p>
          <a:p>
            <a:r>
              <a:rPr lang="en-IN" sz="1600" dirty="0">
                <a:latin typeface="Cambria" panose="02040503050406030204" pitchFamily="18" charset="0"/>
              </a:rPr>
              <a:t>  &lt;h2&gt;HTML Text Formatting Demo&lt;/h2&gt;</a:t>
            </a:r>
          </a:p>
          <a:p>
            <a:r>
              <a:rPr lang="en-IN" sz="1600" dirty="0">
                <a:latin typeface="Cambria" panose="02040503050406030204" pitchFamily="18" charset="0"/>
              </a:rPr>
              <a:t>  </a:t>
            </a:r>
          </a:p>
          <a:p>
            <a:r>
              <a:rPr lang="en-IN" sz="1600" dirty="0">
                <a:latin typeface="Cambria" panose="02040503050406030204" pitchFamily="18" charset="0"/>
              </a:rPr>
              <a:t>  &lt;p&gt;&lt;b&gt;This is bold text using &amp;</a:t>
            </a:r>
            <a:r>
              <a:rPr lang="en-IN" sz="1600" dirty="0" err="1">
                <a:latin typeface="Cambria" panose="02040503050406030204" pitchFamily="18" charset="0"/>
              </a:rPr>
              <a:t>lt;b&amp;gt</a:t>
            </a:r>
            <a:r>
              <a:rPr lang="en-IN" sz="1600" dirty="0">
                <a:latin typeface="Cambria" panose="02040503050406030204" pitchFamily="18" charset="0"/>
              </a:rPr>
              <a:t>;&lt;/b&gt;&lt;/p&gt;</a:t>
            </a:r>
          </a:p>
          <a:p>
            <a:r>
              <a:rPr lang="en-IN" sz="1600" dirty="0">
                <a:latin typeface="Cambria" panose="02040503050406030204" pitchFamily="18" charset="0"/>
              </a:rPr>
              <a:t>  &lt;p&gt;&lt;</a:t>
            </a:r>
            <a:r>
              <a:rPr lang="en-IN" sz="1600" dirty="0" err="1">
                <a:latin typeface="Cambria" panose="02040503050406030204" pitchFamily="18" charset="0"/>
              </a:rPr>
              <a:t>em</a:t>
            </a:r>
            <a:r>
              <a:rPr lang="en-IN" sz="1600" dirty="0">
                <a:latin typeface="Cambria" panose="02040503050406030204" pitchFamily="18" charset="0"/>
              </a:rPr>
              <a:t>&gt;This is emphasized text using &amp;</a:t>
            </a:r>
            <a:r>
              <a:rPr lang="en-IN" sz="1600" dirty="0" err="1">
                <a:latin typeface="Cambria" panose="02040503050406030204" pitchFamily="18" charset="0"/>
              </a:rPr>
              <a:t>lt;em&amp;gt</a:t>
            </a:r>
            <a:r>
              <a:rPr lang="en-IN" sz="1600" dirty="0">
                <a:latin typeface="Cambria" panose="02040503050406030204" pitchFamily="18" charset="0"/>
              </a:rPr>
              <a:t>;&lt;/</a:t>
            </a:r>
            <a:r>
              <a:rPr lang="en-IN" sz="1600" dirty="0" err="1">
                <a:latin typeface="Cambria" panose="02040503050406030204" pitchFamily="18" charset="0"/>
              </a:rPr>
              <a:t>em</a:t>
            </a:r>
            <a:r>
              <a:rPr lang="en-IN" sz="1600" dirty="0">
                <a:latin typeface="Cambria" panose="02040503050406030204" pitchFamily="18" charset="0"/>
              </a:rPr>
              <a:t>&gt;&lt;/p&gt;</a:t>
            </a:r>
          </a:p>
          <a:p>
            <a:r>
              <a:rPr lang="en-IN" sz="1600" dirty="0">
                <a:latin typeface="Cambria" panose="02040503050406030204" pitchFamily="18" charset="0"/>
              </a:rPr>
              <a:t>  &lt;p&gt;&lt;</a:t>
            </a:r>
            <a:r>
              <a:rPr lang="en-IN" sz="1600" dirty="0" err="1">
                <a:latin typeface="Cambria" panose="02040503050406030204" pitchFamily="18" charset="0"/>
              </a:rPr>
              <a:t>i</a:t>
            </a:r>
            <a:r>
              <a:rPr lang="en-IN" sz="1600" dirty="0">
                <a:latin typeface="Cambria" panose="02040503050406030204" pitchFamily="18" charset="0"/>
              </a:rPr>
              <a:t>&gt;This is italic text using &amp;</a:t>
            </a:r>
            <a:r>
              <a:rPr lang="en-IN" sz="1600" dirty="0" err="1">
                <a:latin typeface="Cambria" panose="02040503050406030204" pitchFamily="18" charset="0"/>
              </a:rPr>
              <a:t>lt;i&amp;gt</a:t>
            </a:r>
            <a:r>
              <a:rPr lang="en-IN" sz="1600" dirty="0">
                <a:latin typeface="Cambria" panose="02040503050406030204" pitchFamily="18" charset="0"/>
              </a:rPr>
              <a:t>;&lt;/</a:t>
            </a:r>
            <a:r>
              <a:rPr lang="en-IN" sz="1600" dirty="0" err="1">
                <a:latin typeface="Cambria" panose="02040503050406030204" pitchFamily="18" charset="0"/>
              </a:rPr>
              <a:t>i</a:t>
            </a:r>
            <a:r>
              <a:rPr lang="en-IN" sz="1600" dirty="0">
                <a:latin typeface="Cambria" panose="02040503050406030204" pitchFamily="18" charset="0"/>
              </a:rPr>
              <a:t>&gt;&lt;/p&gt;</a:t>
            </a:r>
          </a:p>
          <a:p>
            <a:r>
              <a:rPr lang="en-IN" sz="1600" dirty="0">
                <a:latin typeface="Cambria" panose="02040503050406030204" pitchFamily="18" charset="0"/>
              </a:rPr>
              <a:t>  &lt;p&gt;&lt;small&gt;This is smaller text using &amp;</a:t>
            </a:r>
            <a:r>
              <a:rPr lang="en-IN" sz="1600" dirty="0" err="1">
                <a:latin typeface="Cambria" panose="02040503050406030204" pitchFamily="18" charset="0"/>
              </a:rPr>
              <a:t>lt;small&amp;gt</a:t>
            </a:r>
            <a:r>
              <a:rPr lang="en-IN" sz="1600" dirty="0">
                <a:latin typeface="Cambria" panose="02040503050406030204" pitchFamily="18" charset="0"/>
              </a:rPr>
              <a:t>;&lt;/small&gt;&lt;/p&gt;</a:t>
            </a:r>
          </a:p>
          <a:p>
            <a:r>
              <a:rPr lang="en-IN" sz="1600" dirty="0">
                <a:latin typeface="Cambria" panose="02040503050406030204" pitchFamily="18" charset="0"/>
              </a:rPr>
              <a:t>  &lt;p&gt;&lt;strong&gt;This is important text using &amp;</a:t>
            </a:r>
            <a:r>
              <a:rPr lang="en-IN" sz="1600" dirty="0" err="1">
                <a:latin typeface="Cambria" panose="02040503050406030204" pitchFamily="18" charset="0"/>
              </a:rPr>
              <a:t>lt;strong&amp;gt</a:t>
            </a:r>
            <a:r>
              <a:rPr lang="en-IN" sz="1600" dirty="0">
                <a:latin typeface="Cambria" panose="02040503050406030204" pitchFamily="18" charset="0"/>
              </a:rPr>
              <a:t>;&lt;/strong&gt;&lt;/p&gt;</a:t>
            </a:r>
          </a:p>
          <a:p>
            <a:r>
              <a:rPr lang="en-IN" sz="1600" dirty="0">
                <a:latin typeface="Cambria" panose="02040503050406030204" pitchFamily="18" charset="0"/>
              </a:rPr>
              <a:t>  &lt;p&gt;This is normal text with &lt;sub&gt;subscript&lt;/sub&gt; using &amp;</a:t>
            </a:r>
            <a:r>
              <a:rPr lang="en-IN" sz="1600" dirty="0" err="1">
                <a:latin typeface="Cambria" panose="02040503050406030204" pitchFamily="18" charset="0"/>
              </a:rPr>
              <a:t>lt;sub&amp;gt</a:t>
            </a:r>
            <a:r>
              <a:rPr lang="en-IN" sz="1600" dirty="0">
                <a:latin typeface="Cambria" panose="02040503050406030204" pitchFamily="18" charset="0"/>
              </a:rPr>
              <a:t>;&lt;/p&gt;</a:t>
            </a:r>
          </a:p>
          <a:p>
            <a:r>
              <a:rPr lang="en-IN" sz="1600" dirty="0">
                <a:latin typeface="Cambria" panose="02040503050406030204" pitchFamily="18" charset="0"/>
              </a:rPr>
              <a:t>  &lt;p&gt;This is normal text with &lt;sup&gt;superscript&lt;/sup&gt; using &amp;</a:t>
            </a:r>
            <a:r>
              <a:rPr lang="en-IN" sz="1600" dirty="0" err="1">
                <a:latin typeface="Cambria" panose="02040503050406030204" pitchFamily="18" charset="0"/>
              </a:rPr>
              <a:t>lt;sup&amp;gt</a:t>
            </a:r>
            <a:r>
              <a:rPr lang="en-IN" sz="1600" dirty="0">
                <a:latin typeface="Cambria" panose="02040503050406030204" pitchFamily="18" charset="0"/>
              </a:rPr>
              <a:t>;&lt;/p&gt;</a:t>
            </a:r>
          </a:p>
          <a:p>
            <a:r>
              <a:rPr lang="en-IN" sz="1600" dirty="0">
                <a:latin typeface="Cambria" panose="02040503050406030204" pitchFamily="18" charset="0"/>
              </a:rPr>
              <a:t>  &lt;p&gt;This is &lt;ins&gt;inserted&lt;/ins&gt; text using &amp;</a:t>
            </a:r>
            <a:r>
              <a:rPr lang="en-IN" sz="1600" dirty="0" err="1">
                <a:latin typeface="Cambria" panose="02040503050406030204" pitchFamily="18" charset="0"/>
              </a:rPr>
              <a:t>lt;ins&amp;gt</a:t>
            </a:r>
            <a:r>
              <a:rPr lang="en-IN" sz="1600" dirty="0">
                <a:latin typeface="Cambria" panose="02040503050406030204" pitchFamily="18" charset="0"/>
              </a:rPr>
              <a:t>;&lt;/p&gt;</a:t>
            </a:r>
          </a:p>
          <a:p>
            <a:r>
              <a:rPr lang="en-IN" sz="1600" dirty="0">
                <a:latin typeface="Cambria" panose="02040503050406030204" pitchFamily="18" charset="0"/>
              </a:rPr>
              <a:t>  &lt;p&gt;This is &lt;del&gt;deleted&lt;/del&gt; text using &amp;</a:t>
            </a:r>
            <a:r>
              <a:rPr lang="en-IN" sz="1600" dirty="0" err="1">
                <a:latin typeface="Cambria" panose="02040503050406030204" pitchFamily="18" charset="0"/>
              </a:rPr>
              <a:t>lt;del&amp;gt</a:t>
            </a:r>
            <a:r>
              <a:rPr lang="en-IN" sz="1600" dirty="0">
                <a:latin typeface="Cambria" panose="02040503050406030204" pitchFamily="18" charset="0"/>
              </a:rPr>
              <a:t>;&lt;/p&gt;</a:t>
            </a:r>
          </a:p>
          <a:p>
            <a:r>
              <a:rPr lang="en-IN" sz="1600" dirty="0">
                <a:latin typeface="Cambria" panose="02040503050406030204" pitchFamily="18" charset="0"/>
              </a:rPr>
              <a:t>  &lt;p&gt;This is &lt;mark&gt;highlighted&lt;/mark&gt; text using &amp;</a:t>
            </a:r>
            <a:r>
              <a:rPr lang="en-IN" sz="1600" dirty="0" err="1">
                <a:latin typeface="Cambria" panose="02040503050406030204" pitchFamily="18" charset="0"/>
              </a:rPr>
              <a:t>lt;mark&amp;gt</a:t>
            </a:r>
            <a:r>
              <a:rPr lang="en-IN" sz="1600" dirty="0">
                <a:latin typeface="Cambria" panose="02040503050406030204" pitchFamily="18" charset="0"/>
              </a:rPr>
              <a:t>;&lt;/p&gt;</a:t>
            </a:r>
          </a:p>
          <a:p>
            <a:endParaRPr lang="en-IN" sz="1600" dirty="0">
              <a:latin typeface="Cambria" panose="02040503050406030204" pitchFamily="18" charset="0"/>
            </a:endParaRPr>
          </a:p>
          <a:p>
            <a:r>
              <a:rPr lang="en-IN" sz="1600" dirty="0">
                <a:latin typeface="Cambria" panose="02040503050406030204" pitchFamily="18" charset="0"/>
              </a:rPr>
              <a:t>&lt;/body&gt;</a:t>
            </a:r>
          </a:p>
          <a:p>
            <a:r>
              <a:rPr lang="en-IN" sz="1600" dirty="0">
                <a:latin typeface="Cambria" panose="02040503050406030204" pitchFamily="18" charset="0"/>
              </a:rPr>
              <a:t>&lt;/html&gt;</a:t>
            </a:r>
          </a:p>
        </p:txBody>
      </p:sp>
    </p:spTree>
    <p:extLst>
      <p:ext uri="{BB962C8B-B14F-4D97-AF65-F5344CB8AC3E}">
        <p14:creationId xmlns:p14="http://schemas.microsoft.com/office/powerpoint/2010/main" val="4016625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Text Formatting</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111865"/>
            <a:ext cx="11022560" cy="584775"/>
          </a:xfrm>
          <a:prstGeom prst="rect">
            <a:avLst/>
          </a:prstGeom>
        </p:spPr>
        <p:txBody>
          <a:bodyPr wrap="square">
            <a:spAutoFit/>
          </a:bodyPr>
          <a:lstStyle/>
          <a:p>
            <a:r>
              <a:rPr lang="en-IN" sz="3200" b="1" dirty="0">
                <a:latin typeface="Cambria" panose="02040503050406030204" pitchFamily="18" charset="0"/>
              </a:rPr>
              <a:t>Output</a:t>
            </a:r>
          </a:p>
        </p:txBody>
      </p:sp>
      <p:pic>
        <p:nvPicPr>
          <p:cNvPr id="4" name="Picture 3"/>
          <p:cNvPicPr>
            <a:picLocks noChangeAspect="1"/>
          </p:cNvPicPr>
          <p:nvPr/>
        </p:nvPicPr>
        <p:blipFill>
          <a:blip r:embed="rId3"/>
          <a:stretch>
            <a:fillRect/>
          </a:stretch>
        </p:blipFill>
        <p:spPr>
          <a:xfrm>
            <a:off x="3065172" y="1111865"/>
            <a:ext cx="5344732" cy="5436882"/>
          </a:xfrm>
          <a:prstGeom prst="rect">
            <a:avLst/>
          </a:prstGeom>
        </p:spPr>
      </p:pic>
    </p:spTree>
    <p:extLst>
      <p:ext uri="{BB962C8B-B14F-4D97-AF65-F5344CB8AC3E}">
        <p14:creationId xmlns:p14="http://schemas.microsoft.com/office/powerpoint/2010/main" val="1852585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Link</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111865"/>
            <a:ext cx="11022560" cy="4708981"/>
          </a:xfrm>
          <a:prstGeom prst="rect">
            <a:avLst/>
          </a:prstGeom>
        </p:spPr>
        <p:txBody>
          <a:bodyPr wrap="square">
            <a:spAutoFit/>
          </a:bodyPr>
          <a:lstStyle/>
          <a:p>
            <a:r>
              <a:rPr lang="en-US" sz="2000" dirty="0">
                <a:latin typeface="Cambria" panose="02040503050406030204" pitchFamily="18" charset="0"/>
              </a:rPr>
              <a:t>Links are found in nearly all web pages. Links allow users to click their way from page to page.</a:t>
            </a:r>
          </a:p>
          <a:p>
            <a:r>
              <a:rPr lang="en-US" sz="2000" dirty="0">
                <a:latin typeface="Cambria" panose="02040503050406030204" pitchFamily="18" charset="0"/>
              </a:rPr>
              <a:t>HTML links are hyperlinks. You can click on a link and jump to another document.</a:t>
            </a:r>
          </a:p>
          <a:p>
            <a:endParaRPr lang="en-US" sz="2000" b="1" dirty="0">
              <a:solidFill>
                <a:srgbClr val="FF0000"/>
              </a:solidFill>
              <a:latin typeface="Cambria" panose="02040503050406030204" pitchFamily="18" charset="0"/>
            </a:endParaRPr>
          </a:p>
          <a:p>
            <a:r>
              <a:rPr lang="en-US" sz="2000" b="1" dirty="0">
                <a:solidFill>
                  <a:srgbClr val="FF0000"/>
                </a:solidFill>
                <a:latin typeface="Cambria" panose="02040503050406030204" pitchFamily="18" charset="0"/>
              </a:rPr>
              <a:t>&lt;a </a:t>
            </a:r>
            <a:r>
              <a:rPr lang="en-US" sz="2000" b="1" dirty="0" err="1">
                <a:solidFill>
                  <a:srgbClr val="FF0000"/>
                </a:solidFill>
                <a:latin typeface="Cambria" panose="02040503050406030204" pitchFamily="18" charset="0"/>
              </a:rPr>
              <a:t>href</a:t>
            </a:r>
            <a:r>
              <a:rPr lang="en-US" sz="2000" b="1" dirty="0">
                <a:solidFill>
                  <a:srgbClr val="FF0000"/>
                </a:solidFill>
                <a:latin typeface="Cambria" panose="02040503050406030204" pitchFamily="18" charset="0"/>
              </a:rPr>
              <a:t>="</a:t>
            </a:r>
            <a:r>
              <a:rPr lang="en-US" sz="2000" b="1" i="1" dirty="0">
                <a:solidFill>
                  <a:srgbClr val="FF0000"/>
                </a:solidFill>
                <a:latin typeface="Cambria" panose="02040503050406030204" pitchFamily="18" charset="0"/>
              </a:rPr>
              <a:t>url</a:t>
            </a:r>
            <a:r>
              <a:rPr lang="en-US" sz="2000" b="1" dirty="0">
                <a:solidFill>
                  <a:srgbClr val="FF0000"/>
                </a:solidFill>
                <a:latin typeface="Cambria" panose="02040503050406030204" pitchFamily="18" charset="0"/>
              </a:rPr>
              <a:t>"&gt;</a:t>
            </a:r>
            <a:r>
              <a:rPr lang="en-US" sz="2000" b="1" i="1" dirty="0">
                <a:solidFill>
                  <a:srgbClr val="FF0000"/>
                </a:solidFill>
                <a:latin typeface="Cambria" panose="02040503050406030204" pitchFamily="18" charset="0"/>
              </a:rPr>
              <a:t>link text</a:t>
            </a:r>
            <a:r>
              <a:rPr lang="en-US" sz="2000" b="1" dirty="0">
                <a:solidFill>
                  <a:srgbClr val="FF0000"/>
                </a:solidFill>
                <a:latin typeface="Cambria" panose="02040503050406030204" pitchFamily="18" charset="0"/>
              </a:rPr>
              <a:t>&lt;/a&gt; </a:t>
            </a:r>
          </a:p>
          <a:p>
            <a:endParaRPr lang="en-US" sz="2000" b="1" dirty="0">
              <a:latin typeface="Cambria" panose="02040503050406030204" pitchFamily="18" charset="0"/>
            </a:endParaRPr>
          </a:p>
          <a:p>
            <a:r>
              <a:rPr lang="en-US" sz="2000" b="1" dirty="0">
                <a:latin typeface="Cambria" panose="02040503050406030204" pitchFamily="18" charset="0"/>
              </a:rPr>
              <a:t>HTML Links - The target Attribute</a:t>
            </a:r>
          </a:p>
          <a:p>
            <a:endParaRPr lang="en-US" sz="2000" dirty="0">
              <a:latin typeface="Cambria" panose="02040503050406030204" pitchFamily="18" charset="0"/>
            </a:endParaRPr>
          </a:p>
          <a:p>
            <a:r>
              <a:rPr lang="en-US" sz="2000" dirty="0">
                <a:latin typeface="Cambria" panose="02040503050406030204" pitchFamily="18" charset="0"/>
              </a:rPr>
              <a:t>The target attribute specifies where to open the linked document.</a:t>
            </a:r>
          </a:p>
          <a:p>
            <a:endParaRPr lang="en-US" sz="2000" dirty="0">
              <a:latin typeface="Cambria" panose="02040503050406030204" pitchFamily="18" charset="0"/>
            </a:endParaRPr>
          </a:p>
          <a:p>
            <a:r>
              <a:rPr lang="en-US" sz="2000" dirty="0">
                <a:latin typeface="Cambria" panose="02040503050406030204" pitchFamily="18" charset="0"/>
              </a:rPr>
              <a:t>    </a:t>
            </a:r>
            <a:r>
              <a:rPr lang="en-US" sz="2000" b="1" dirty="0">
                <a:latin typeface="Cambria" panose="02040503050406030204" pitchFamily="18" charset="0"/>
              </a:rPr>
              <a:t>_blank </a:t>
            </a:r>
            <a:r>
              <a:rPr lang="en-US" sz="2000" dirty="0">
                <a:latin typeface="Cambria" panose="02040503050406030204" pitchFamily="18" charset="0"/>
              </a:rPr>
              <a:t>- Opens the linked document in a new window or tab</a:t>
            </a:r>
          </a:p>
          <a:p>
            <a:r>
              <a:rPr lang="en-US" sz="2000" dirty="0">
                <a:latin typeface="Cambria" panose="02040503050406030204" pitchFamily="18" charset="0"/>
              </a:rPr>
              <a:t>    </a:t>
            </a:r>
            <a:r>
              <a:rPr lang="en-US" sz="2000" b="1" dirty="0">
                <a:latin typeface="Cambria" panose="02040503050406030204" pitchFamily="18" charset="0"/>
              </a:rPr>
              <a:t>_self </a:t>
            </a:r>
            <a:r>
              <a:rPr lang="en-US" sz="2000" dirty="0">
                <a:latin typeface="Cambria" panose="02040503050406030204" pitchFamily="18" charset="0"/>
              </a:rPr>
              <a:t>- Opens the linked document in the same window/tab as it was clicked (this is default)</a:t>
            </a:r>
          </a:p>
          <a:p>
            <a:r>
              <a:rPr lang="en-US" sz="2000" b="1" dirty="0">
                <a:latin typeface="Cambria" panose="02040503050406030204" pitchFamily="18" charset="0"/>
              </a:rPr>
              <a:t>    _parent </a:t>
            </a:r>
            <a:r>
              <a:rPr lang="en-US" sz="2000" dirty="0">
                <a:latin typeface="Cambria" panose="02040503050406030204" pitchFamily="18" charset="0"/>
              </a:rPr>
              <a:t>- Opens the linked document in the parent frame</a:t>
            </a:r>
          </a:p>
          <a:p>
            <a:r>
              <a:rPr lang="en-US" sz="2000" b="1" dirty="0">
                <a:latin typeface="Cambria" panose="02040503050406030204" pitchFamily="18" charset="0"/>
              </a:rPr>
              <a:t>    _top </a:t>
            </a:r>
            <a:r>
              <a:rPr lang="en-US" sz="2000" dirty="0">
                <a:latin typeface="Cambria" panose="02040503050406030204" pitchFamily="18" charset="0"/>
              </a:rPr>
              <a:t>- Opens the linked document in the full body of the window</a:t>
            </a:r>
          </a:p>
          <a:p>
            <a:r>
              <a:rPr lang="en-US" sz="2000" dirty="0">
                <a:latin typeface="Cambria" panose="02040503050406030204" pitchFamily="18" charset="0"/>
              </a:rPr>
              <a:t>   </a:t>
            </a:r>
            <a:r>
              <a:rPr lang="en-US" sz="2000" b="1" dirty="0">
                <a:latin typeface="Cambria" panose="02040503050406030204" pitchFamily="18" charset="0"/>
              </a:rPr>
              <a:t> </a:t>
            </a:r>
            <a:r>
              <a:rPr lang="en-US" sz="2000" b="1" dirty="0" err="1">
                <a:latin typeface="Cambria" panose="02040503050406030204" pitchFamily="18" charset="0"/>
              </a:rPr>
              <a:t>framename</a:t>
            </a:r>
            <a:r>
              <a:rPr lang="en-US" sz="2000" b="1" dirty="0">
                <a:latin typeface="Cambria" panose="02040503050406030204" pitchFamily="18" charset="0"/>
              </a:rPr>
              <a:t> </a:t>
            </a:r>
            <a:r>
              <a:rPr lang="en-US" sz="2000" dirty="0">
                <a:latin typeface="Cambria" panose="02040503050406030204" pitchFamily="18" charset="0"/>
              </a:rPr>
              <a:t>- Opens the linked document in a named frame</a:t>
            </a:r>
          </a:p>
          <a:p>
            <a:endParaRPr lang="en-IN" sz="2000" dirty="0">
              <a:latin typeface="Cambria" panose="02040503050406030204" pitchFamily="18" charset="0"/>
            </a:endParaRPr>
          </a:p>
        </p:txBody>
      </p:sp>
    </p:spTree>
    <p:extLst>
      <p:ext uri="{BB962C8B-B14F-4D97-AF65-F5344CB8AC3E}">
        <p14:creationId xmlns:p14="http://schemas.microsoft.com/office/powerpoint/2010/main" val="2202040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List</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397022"/>
            <a:ext cx="11022560" cy="707886"/>
          </a:xfrm>
          <a:prstGeom prst="rect">
            <a:avLst/>
          </a:prstGeom>
        </p:spPr>
        <p:txBody>
          <a:bodyPr wrap="square">
            <a:spAutoFit/>
          </a:bodyPr>
          <a:lstStyle/>
          <a:p>
            <a:r>
              <a:rPr lang="en-US" sz="2000" dirty="0">
                <a:latin typeface="Cambria" panose="02040503050406030204" pitchFamily="18" charset="0"/>
              </a:rPr>
              <a:t>Using HTML we can form Lists, which can be numbered or just bulleted.</a:t>
            </a:r>
          </a:p>
          <a:p>
            <a:endParaRPr lang="en-US" sz="2000" dirty="0">
              <a:latin typeface="Cambria" panose="02040503050406030204" pitchFamily="18" charset="0"/>
            </a:endParaRPr>
          </a:p>
        </p:txBody>
      </p:sp>
      <p:graphicFrame>
        <p:nvGraphicFramePr>
          <p:cNvPr id="8" name="Diagram 7"/>
          <p:cNvGraphicFramePr/>
          <p:nvPr>
            <p:extLst>
              <p:ext uri="{D42A27DB-BD31-4B8C-83A1-F6EECF244321}">
                <p14:modId xmlns:p14="http://schemas.microsoft.com/office/powerpoint/2010/main" val="2602514862"/>
              </p:ext>
            </p:extLst>
          </p:nvPr>
        </p:nvGraphicFramePr>
        <p:xfrm>
          <a:off x="1861160" y="1920212"/>
          <a:ext cx="8128000" cy="34150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58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List</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397022"/>
            <a:ext cx="11022560" cy="3170099"/>
          </a:xfrm>
          <a:prstGeom prst="rect">
            <a:avLst/>
          </a:prstGeom>
        </p:spPr>
        <p:txBody>
          <a:bodyPr wrap="square">
            <a:spAutoFit/>
          </a:bodyPr>
          <a:lstStyle/>
          <a:p>
            <a:r>
              <a:rPr lang="en-IN" sz="2000" b="1" dirty="0">
                <a:latin typeface="Cambria" panose="02040503050406030204" pitchFamily="18" charset="0"/>
              </a:rPr>
              <a:t>1. Unordered lists (&lt;</a:t>
            </a:r>
            <a:r>
              <a:rPr lang="en-IN" sz="2000" b="1" dirty="0" err="1">
                <a:latin typeface="Cambria" panose="02040503050406030204" pitchFamily="18" charset="0"/>
              </a:rPr>
              <a:t>ul</a:t>
            </a:r>
            <a:r>
              <a:rPr lang="en-IN" sz="2000" b="1" dirty="0">
                <a:latin typeface="Cambria" panose="02040503050406030204" pitchFamily="18" charset="0"/>
              </a:rPr>
              <a:t>&gt;)</a:t>
            </a:r>
          </a:p>
          <a:p>
            <a:endParaRPr lang="en-IN" sz="2000" dirty="0">
              <a:latin typeface="Cambria" panose="02040503050406030204" pitchFamily="18" charset="0"/>
            </a:endParaRPr>
          </a:p>
          <a:p>
            <a:pPr marL="342900" indent="-342900">
              <a:buFont typeface="Arial" panose="020B0604020202020204" pitchFamily="34" charset="0"/>
              <a:buChar char="•"/>
            </a:pPr>
            <a:r>
              <a:rPr lang="en-IN" sz="2000" dirty="0">
                <a:latin typeface="Cambria" panose="02040503050406030204" pitchFamily="18" charset="0"/>
              </a:rPr>
              <a:t>These are used when the order of items is not important.</a:t>
            </a:r>
          </a:p>
          <a:p>
            <a:pPr marL="342900" indent="-342900">
              <a:buFont typeface="Arial" panose="020B0604020202020204" pitchFamily="34" charset="0"/>
              <a:buChar char="•"/>
            </a:pPr>
            <a:r>
              <a:rPr lang="en-IN" sz="2000" dirty="0">
                <a:latin typeface="Cambria" panose="02040503050406030204" pitchFamily="18" charset="0"/>
              </a:rPr>
              <a:t>List items are typically marked with bullet points by default.</a:t>
            </a:r>
          </a:p>
          <a:p>
            <a:endParaRPr lang="en-IN" sz="2000" dirty="0">
              <a:latin typeface="Cambria" panose="02040503050406030204" pitchFamily="18" charset="0"/>
            </a:endParaRPr>
          </a:p>
          <a:p>
            <a:pPr lvl="1"/>
            <a:r>
              <a:rPr lang="it-IT" sz="2000" dirty="0">
                <a:latin typeface="Cambria" panose="02040503050406030204" pitchFamily="18" charset="0"/>
              </a:rPr>
              <a:t>&lt;ul&gt;</a:t>
            </a:r>
          </a:p>
          <a:p>
            <a:pPr lvl="2"/>
            <a:r>
              <a:rPr lang="it-IT" sz="2000" dirty="0">
                <a:latin typeface="Cambria" panose="02040503050406030204" pitchFamily="18" charset="0"/>
              </a:rPr>
              <a:t>  &lt;li&gt;Milk&lt;/li&gt;</a:t>
            </a:r>
          </a:p>
          <a:p>
            <a:pPr lvl="2"/>
            <a:r>
              <a:rPr lang="it-IT" sz="2000" dirty="0">
                <a:latin typeface="Cambria" panose="02040503050406030204" pitchFamily="18" charset="0"/>
              </a:rPr>
              <a:t>  &lt;li&gt;Bread&lt;/li&gt;</a:t>
            </a:r>
          </a:p>
          <a:p>
            <a:pPr lvl="2"/>
            <a:r>
              <a:rPr lang="it-IT" sz="2000" dirty="0">
                <a:latin typeface="Cambria" panose="02040503050406030204" pitchFamily="18" charset="0"/>
              </a:rPr>
              <a:t>  &lt;li&gt;Cereal&lt;/li&gt;</a:t>
            </a:r>
          </a:p>
          <a:p>
            <a:pPr lvl="1"/>
            <a:r>
              <a:rPr lang="it-IT" sz="2000" dirty="0">
                <a:latin typeface="Cambria" panose="02040503050406030204" pitchFamily="18" charset="0"/>
              </a:rPr>
              <a:t>&lt;/ul&gt;</a:t>
            </a:r>
            <a:endParaRPr lang="en-IN" sz="2000" dirty="0">
              <a:latin typeface="Cambria" panose="02040503050406030204" pitchFamily="18" charset="0"/>
            </a:endParaRPr>
          </a:p>
        </p:txBody>
      </p:sp>
    </p:spTree>
    <p:extLst>
      <p:ext uri="{BB962C8B-B14F-4D97-AF65-F5344CB8AC3E}">
        <p14:creationId xmlns:p14="http://schemas.microsoft.com/office/powerpoint/2010/main" val="22263897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List</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397022"/>
            <a:ext cx="11022560" cy="3170099"/>
          </a:xfrm>
          <a:prstGeom prst="rect">
            <a:avLst/>
          </a:prstGeom>
        </p:spPr>
        <p:txBody>
          <a:bodyPr wrap="square">
            <a:spAutoFit/>
          </a:bodyPr>
          <a:lstStyle/>
          <a:p>
            <a:r>
              <a:rPr lang="en-IN" sz="2000" b="1" dirty="0">
                <a:latin typeface="Cambria" panose="02040503050406030204" pitchFamily="18" charset="0"/>
              </a:rPr>
              <a:t>2. Ordered lists (&lt;</a:t>
            </a:r>
            <a:r>
              <a:rPr lang="en-IN" sz="2000" b="1" dirty="0" err="1">
                <a:latin typeface="Cambria" panose="02040503050406030204" pitchFamily="18" charset="0"/>
              </a:rPr>
              <a:t>ol</a:t>
            </a:r>
            <a:r>
              <a:rPr lang="en-IN" sz="2000" b="1" dirty="0">
                <a:latin typeface="Cambria" panose="02040503050406030204" pitchFamily="18" charset="0"/>
              </a:rPr>
              <a:t>&gt;)</a:t>
            </a:r>
          </a:p>
          <a:p>
            <a:endParaRPr lang="en-IN" sz="2000" b="1" dirty="0">
              <a:latin typeface="Cambria" panose="02040503050406030204" pitchFamily="18" charset="0"/>
            </a:endParaRPr>
          </a:p>
          <a:p>
            <a:pPr marL="342900" indent="-342900">
              <a:buFont typeface="Arial" panose="020B0604020202020204" pitchFamily="34" charset="0"/>
              <a:buChar char="•"/>
            </a:pPr>
            <a:r>
              <a:rPr lang="en-IN" sz="2000" dirty="0">
                <a:latin typeface="Cambria" panose="02040503050406030204" pitchFamily="18" charset="0"/>
              </a:rPr>
              <a:t>These lists are used when the order of the items is important.</a:t>
            </a:r>
          </a:p>
          <a:p>
            <a:pPr marL="342900" indent="-342900">
              <a:buFont typeface="Arial" panose="020B0604020202020204" pitchFamily="34" charset="0"/>
              <a:buChar char="•"/>
            </a:pPr>
            <a:r>
              <a:rPr lang="en-IN" sz="2000" dirty="0">
                <a:latin typeface="Cambria" panose="02040503050406030204" pitchFamily="18" charset="0"/>
              </a:rPr>
              <a:t>Each item is typically marked with numbers or letters by default.</a:t>
            </a:r>
          </a:p>
          <a:p>
            <a:endParaRPr lang="en-IN" sz="2000" dirty="0">
              <a:latin typeface="Cambria" panose="02040503050406030204" pitchFamily="18" charset="0"/>
            </a:endParaRPr>
          </a:p>
          <a:p>
            <a:pPr lvl="1"/>
            <a:r>
              <a:rPr lang="it-IT" sz="2000" dirty="0">
                <a:latin typeface="Cambria" panose="02040503050406030204" pitchFamily="18" charset="0"/>
              </a:rPr>
              <a:t>&lt;ol&gt;</a:t>
            </a:r>
          </a:p>
          <a:p>
            <a:pPr lvl="2"/>
            <a:r>
              <a:rPr lang="it-IT" sz="2000" dirty="0">
                <a:latin typeface="Cambria" panose="02040503050406030204" pitchFamily="18" charset="0"/>
              </a:rPr>
              <a:t>  &lt;li&gt;First step&lt;/li&gt;</a:t>
            </a:r>
          </a:p>
          <a:p>
            <a:pPr lvl="2"/>
            <a:r>
              <a:rPr lang="it-IT" sz="2000" dirty="0">
                <a:latin typeface="Cambria" panose="02040503050406030204" pitchFamily="18" charset="0"/>
              </a:rPr>
              <a:t>  &lt;li&gt;Second step&lt;/li&gt;</a:t>
            </a:r>
          </a:p>
          <a:p>
            <a:pPr lvl="2"/>
            <a:r>
              <a:rPr lang="it-IT" sz="2000" dirty="0">
                <a:latin typeface="Cambria" panose="02040503050406030204" pitchFamily="18" charset="0"/>
              </a:rPr>
              <a:t>  &lt;li&gt;Third step&lt;/li&gt;</a:t>
            </a:r>
          </a:p>
          <a:p>
            <a:pPr lvl="1"/>
            <a:r>
              <a:rPr lang="it-IT" sz="2000" dirty="0">
                <a:latin typeface="Cambria" panose="02040503050406030204" pitchFamily="18" charset="0"/>
              </a:rPr>
              <a:t>&lt;/ol&gt;</a:t>
            </a:r>
            <a:endParaRPr lang="en-IN" sz="2000" dirty="0">
              <a:latin typeface="Cambria" panose="02040503050406030204" pitchFamily="18" charset="0"/>
            </a:endParaRPr>
          </a:p>
        </p:txBody>
      </p:sp>
    </p:spTree>
    <p:extLst>
      <p:ext uri="{BB962C8B-B14F-4D97-AF65-F5344CB8AC3E}">
        <p14:creationId xmlns:p14="http://schemas.microsoft.com/office/powerpoint/2010/main" val="2047338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List</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397022"/>
            <a:ext cx="11022560" cy="3477875"/>
          </a:xfrm>
          <a:prstGeom prst="rect">
            <a:avLst/>
          </a:prstGeom>
        </p:spPr>
        <p:txBody>
          <a:bodyPr wrap="square">
            <a:spAutoFit/>
          </a:bodyPr>
          <a:lstStyle/>
          <a:p>
            <a:r>
              <a:rPr lang="en-IN" sz="2000" b="1" dirty="0">
                <a:latin typeface="Cambria" panose="02040503050406030204" pitchFamily="18" charset="0"/>
              </a:rPr>
              <a:t>3. Description lists (&lt;dl&gt;)</a:t>
            </a:r>
          </a:p>
          <a:p>
            <a:endParaRPr lang="en-IN" sz="2000" b="1" dirty="0">
              <a:latin typeface="Cambria" panose="02040503050406030204" pitchFamily="18" charset="0"/>
            </a:endParaRPr>
          </a:p>
          <a:p>
            <a:pPr marL="342900" indent="-342900">
              <a:buFont typeface="Arial" panose="020B0604020202020204" pitchFamily="34" charset="0"/>
              <a:buChar char="•"/>
            </a:pPr>
            <a:r>
              <a:rPr lang="en-IN" sz="2000" dirty="0">
                <a:latin typeface="Cambria" panose="02040503050406030204" pitchFamily="18" charset="0"/>
              </a:rPr>
              <a:t>These lists are used to define terms and their corresponding descriptions.</a:t>
            </a:r>
          </a:p>
          <a:p>
            <a:pPr marL="342900" indent="-342900">
              <a:buFont typeface="Arial" panose="020B0604020202020204" pitchFamily="34" charset="0"/>
              <a:buChar char="•"/>
            </a:pPr>
            <a:r>
              <a:rPr lang="en-IN" sz="2000" dirty="0">
                <a:latin typeface="Cambria" panose="02040503050406030204" pitchFamily="18" charset="0"/>
              </a:rPr>
              <a:t>Each list item is composed of a term (&lt;</a:t>
            </a:r>
            <a:r>
              <a:rPr lang="en-IN" sz="2000" dirty="0" err="1">
                <a:latin typeface="Cambria" panose="02040503050406030204" pitchFamily="18" charset="0"/>
              </a:rPr>
              <a:t>dt</a:t>
            </a:r>
            <a:r>
              <a:rPr lang="en-IN" sz="2000" dirty="0">
                <a:latin typeface="Cambria" panose="02040503050406030204" pitchFamily="18" charset="0"/>
              </a:rPr>
              <a:t>&gt;) and its description (&lt;</a:t>
            </a:r>
            <a:r>
              <a:rPr lang="en-IN" sz="2000" dirty="0" err="1">
                <a:latin typeface="Cambria" panose="02040503050406030204" pitchFamily="18" charset="0"/>
              </a:rPr>
              <a:t>dd</a:t>
            </a:r>
            <a:r>
              <a:rPr lang="en-IN" sz="2000" dirty="0">
                <a:latin typeface="Cambria" panose="02040503050406030204" pitchFamily="18" charset="0"/>
              </a:rPr>
              <a:t>&gt;).</a:t>
            </a:r>
          </a:p>
          <a:p>
            <a:pPr marL="342900" indent="-342900">
              <a:buFont typeface="Arial" panose="020B0604020202020204" pitchFamily="34" charset="0"/>
              <a:buChar char="•"/>
            </a:pPr>
            <a:endParaRPr lang="en-IN" sz="2000" dirty="0">
              <a:latin typeface="Cambria" panose="02040503050406030204" pitchFamily="18" charset="0"/>
            </a:endParaRPr>
          </a:p>
          <a:p>
            <a:pPr lvl="1"/>
            <a:r>
              <a:rPr lang="en-IN" sz="2000" dirty="0">
                <a:latin typeface="Cambria" panose="02040503050406030204" pitchFamily="18" charset="0"/>
              </a:rPr>
              <a:t>&lt;dl&gt;</a:t>
            </a:r>
          </a:p>
          <a:p>
            <a:pPr lvl="2"/>
            <a:r>
              <a:rPr lang="en-IN" sz="2000" dirty="0">
                <a:latin typeface="Cambria" panose="02040503050406030204" pitchFamily="18" charset="0"/>
              </a:rPr>
              <a:t>  &lt;</a:t>
            </a:r>
            <a:r>
              <a:rPr lang="en-IN" sz="2000" dirty="0" err="1">
                <a:latin typeface="Cambria" panose="02040503050406030204" pitchFamily="18" charset="0"/>
              </a:rPr>
              <a:t>dt</a:t>
            </a:r>
            <a:r>
              <a:rPr lang="en-IN" sz="2000" dirty="0">
                <a:latin typeface="Cambria" panose="02040503050406030204" pitchFamily="18" charset="0"/>
              </a:rPr>
              <a:t>&gt;HTML&lt;/</a:t>
            </a:r>
            <a:r>
              <a:rPr lang="en-IN" sz="2000" dirty="0" err="1">
                <a:latin typeface="Cambria" panose="02040503050406030204" pitchFamily="18" charset="0"/>
              </a:rPr>
              <a:t>dt</a:t>
            </a:r>
            <a:r>
              <a:rPr lang="en-IN" sz="2000" dirty="0">
                <a:latin typeface="Cambria" panose="02040503050406030204" pitchFamily="18" charset="0"/>
              </a:rPr>
              <a:t>&gt;</a:t>
            </a:r>
          </a:p>
          <a:p>
            <a:pPr lvl="2"/>
            <a:r>
              <a:rPr lang="en-IN" sz="2000" dirty="0">
                <a:latin typeface="Cambria" panose="02040503050406030204" pitchFamily="18" charset="0"/>
              </a:rPr>
              <a:t>  &lt;</a:t>
            </a:r>
            <a:r>
              <a:rPr lang="en-IN" sz="2000" dirty="0" err="1">
                <a:latin typeface="Cambria" panose="02040503050406030204" pitchFamily="18" charset="0"/>
              </a:rPr>
              <a:t>dd</a:t>
            </a:r>
            <a:r>
              <a:rPr lang="en-IN" sz="2000" dirty="0">
                <a:latin typeface="Cambria" panose="02040503050406030204" pitchFamily="18" charset="0"/>
              </a:rPr>
              <a:t>&gt;</a:t>
            </a:r>
            <a:r>
              <a:rPr lang="en-IN" sz="2000" dirty="0" err="1">
                <a:latin typeface="Cambria" panose="02040503050406030204" pitchFamily="18" charset="0"/>
              </a:rPr>
              <a:t>HyperText</a:t>
            </a:r>
            <a:r>
              <a:rPr lang="en-IN" sz="2000" dirty="0">
                <a:latin typeface="Cambria" panose="02040503050406030204" pitchFamily="18" charset="0"/>
              </a:rPr>
              <a:t> Markup Language&lt;/</a:t>
            </a:r>
            <a:r>
              <a:rPr lang="en-IN" sz="2000" dirty="0" err="1">
                <a:latin typeface="Cambria" panose="02040503050406030204" pitchFamily="18" charset="0"/>
              </a:rPr>
              <a:t>dd</a:t>
            </a:r>
            <a:r>
              <a:rPr lang="en-IN" sz="2000" dirty="0">
                <a:latin typeface="Cambria" panose="02040503050406030204" pitchFamily="18" charset="0"/>
              </a:rPr>
              <a:t>&gt;</a:t>
            </a:r>
          </a:p>
          <a:p>
            <a:pPr lvl="2"/>
            <a:r>
              <a:rPr lang="en-IN" sz="2000" dirty="0">
                <a:latin typeface="Cambria" panose="02040503050406030204" pitchFamily="18" charset="0"/>
              </a:rPr>
              <a:t>  &lt;</a:t>
            </a:r>
            <a:r>
              <a:rPr lang="en-IN" sz="2000" dirty="0" err="1">
                <a:latin typeface="Cambria" panose="02040503050406030204" pitchFamily="18" charset="0"/>
              </a:rPr>
              <a:t>dt</a:t>
            </a:r>
            <a:r>
              <a:rPr lang="en-IN" sz="2000" dirty="0">
                <a:latin typeface="Cambria" panose="02040503050406030204" pitchFamily="18" charset="0"/>
              </a:rPr>
              <a:t>&gt;CSS&lt;/</a:t>
            </a:r>
            <a:r>
              <a:rPr lang="en-IN" sz="2000" dirty="0" err="1">
                <a:latin typeface="Cambria" panose="02040503050406030204" pitchFamily="18" charset="0"/>
              </a:rPr>
              <a:t>dt</a:t>
            </a:r>
            <a:r>
              <a:rPr lang="en-IN" sz="2000" dirty="0">
                <a:latin typeface="Cambria" panose="02040503050406030204" pitchFamily="18" charset="0"/>
              </a:rPr>
              <a:t>&gt;</a:t>
            </a:r>
          </a:p>
          <a:p>
            <a:pPr lvl="2"/>
            <a:r>
              <a:rPr lang="en-IN" sz="2000" dirty="0">
                <a:latin typeface="Cambria" panose="02040503050406030204" pitchFamily="18" charset="0"/>
              </a:rPr>
              <a:t>  &lt;</a:t>
            </a:r>
            <a:r>
              <a:rPr lang="en-IN" sz="2000" dirty="0" err="1">
                <a:latin typeface="Cambria" panose="02040503050406030204" pitchFamily="18" charset="0"/>
              </a:rPr>
              <a:t>dd</a:t>
            </a:r>
            <a:r>
              <a:rPr lang="en-IN" sz="2000" dirty="0">
                <a:latin typeface="Cambria" panose="02040503050406030204" pitchFamily="18" charset="0"/>
              </a:rPr>
              <a:t>&gt;Cascading Style Sheets&lt;/</a:t>
            </a:r>
            <a:r>
              <a:rPr lang="en-IN" sz="2000" dirty="0" err="1">
                <a:latin typeface="Cambria" panose="02040503050406030204" pitchFamily="18" charset="0"/>
              </a:rPr>
              <a:t>dd</a:t>
            </a:r>
            <a:r>
              <a:rPr lang="en-IN" sz="2000" dirty="0">
                <a:latin typeface="Cambria" panose="02040503050406030204" pitchFamily="18" charset="0"/>
              </a:rPr>
              <a:t>&gt;</a:t>
            </a:r>
          </a:p>
          <a:p>
            <a:pPr lvl="1"/>
            <a:r>
              <a:rPr lang="en-IN" sz="2000" dirty="0">
                <a:latin typeface="Cambria" panose="02040503050406030204" pitchFamily="18" charset="0"/>
              </a:rPr>
              <a:t>&lt;/dl&gt;</a:t>
            </a:r>
          </a:p>
        </p:txBody>
      </p:sp>
    </p:spTree>
    <p:extLst>
      <p:ext uri="{BB962C8B-B14F-4D97-AF65-F5344CB8AC3E}">
        <p14:creationId xmlns:p14="http://schemas.microsoft.com/office/powerpoint/2010/main" val="1552626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List</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397022"/>
            <a:ext cx="11022560" cy="4401205"/>
          </a:xfrm>
          <a:prstGeom prst="rect">
            <a:avLst/>
          </a:prstGeom>
        </p:spPr>
        <p:txBody>
          <a:bodyPr wrap="square">
            <a:spAutoFit/>
          </a:bodyPr>
          <a:lstStyle/>
          <a:p>
            <a:r>
              <a:rPr lang="en-IN" sz="2000" b="1" dirty="0">
                <a:latin typeface="Cambria" panose="02040503050406030204" pitchFamily="18" charset="0"/>
              </a:rPr>
              <a:t>Nesting lists</a:t>
            </a:r>
          </a:p>
          <a:p>
            <a:endParaRPr lang="en-IN" sz="2000" dirty="0">
              <a:latin typeface="Cambria" panose="02040503050406030204" pitchFamily="18" charset="0"/>
            </a:endParaRPr>
          </a:p>
          <a:p>
            <a:r>
              <a:rPr lang="en-IN" sz="2000" dirty="0">
                <a:latin typeface="Cambria" panose="02040503050406030204" pitchFamily="18" charset="0"/>
              </a:rPr>
              <a:t>You can create hierarchical structures by placing one list inside a list item (&lt;li&gt;) of another list.</a:t>
            </a:r>
          </a:p>
          <a:p>
            <a:endParaRPr lang="en-IN" sz="2000" dirty="0">
              <a:latin typeface="Cambria" panose="02040503050406030204" pitchFamily="18" charset="0"/>
            </a:endParaRPr>
          </a:p>
          <a:p>
            <a:pPr lvl="1"/>
            <a:r>
              <a:rPr lang="it-IT" sz="2000" dirty="0">
                <a:latin typeface="Cambria" panose="02040503050406030204" pitchFamily="18" charset="0"/>
              </a:rPr>
              <a:t>&lt;ul&gt;</a:t>
            </a:r>
          </a:p>
          <a:p>
            <a:pPr lvl="2"/>
            <a:r>
              <a:rPr lang="it-IT" sz="2000" dirty="0">
                <a:latin typeface="Cambria" panose="02040503050406030204" pitchFamily="18" charset="0"/>
              </a:rPr>
              <a:t>  &lt;li&gt;Fruits</a:t>
            </a:r>
          </a:p>
          <a:p>
            <a:pPr lvl="3"/>
            <a:r>
              <a:rPr lang="it-IT" sz="2000" dirty="0">
                <a:latin typeface="Cambria" panose="02040503050406030204" pitchFamily="18" charset="0"/>
              </a:rPr>
              <a:t>    &lt;ul&gt;</a:t>
            </a:r>
          </a:p>
          <a:p>
            <a:pPr lvl="4"/>
            <a:r>
              <a:rPr lang="it-IT" sz="2000" dirty="0">
                <a:latin typeface="Cambria" panose="02040503050406030204" pitchFamily="18" charset="0"/>
              </a:rPr>
              <a:t>      &lt;li&gt;Apple&lt;/li&gt;</a:t>
            </a:r>
          </a:p>
          <a:p>
            <a:pPr lvl="4"/>
            <a:r>
              <a:rPr lang="it-IT" sz="2000" dirty="0">
                <a:latin typeface="Cambria" panose="02040503050406030204" pitchFamily="18" charset="0"/>
              </a:rPr>
              <a:t>      &lt;li&gt;Banana&lt;/li&gt;</a:t>
            </a:r>
          </a:p>
          <a:p>
            <a:pPr lvl="3"/>
            <a:r>
              <a:rPr lang="it-IT" sz="2000" dirty="0">
                <a:latin typeface="Cambria" panose="02040503050406030204" pitchFamily="18" charset="0"/>
              </a:rPr>
              <a:t>    &lt;/ul&gt;</a:t>
            </a:r>
          </a:p>
          <a:p>
            <a:pPr lvl="2"/>
            <a:r>
              <a:rPr lang="it-IT" sz="2000" dirty="0">
                <a:latin typeface="Cambria" panose="02040503050406030204" pitchFamily="18" charset="0"/>
              </a:rPr>
              <a:t>  &lt;/li&gt;</a:t>
            </a:r>
          </a:p>
          <a:p>
            <a:pPr lvl="2"/>
            <a:r>
              <a:rPr lang="it-IT" sz="2000" dirty="0">
                <a:latin typeface="Cambria" panose="02040503050406030204" pitchFamily="18" charset="0"/>
              </a:rPr>
              <a:t>  &lt;li&gt;Vegetables&lt;/li&gt;</a:t>
            </a:r>
          </a:p>
          <a:p>
            <a:pPr lvl="1"/>
            <a:r>
              <a:rPr lang="it-IT" sz="2000" dirty="0">
                <a:latin typeface="Cambria" panose="02040503050406030204" pitchFamily="18" charset="0"/>
              </a:rPr>
              <a:t>&lt;/ul&gt;</a:t>
            </a:r>
            <a:endParaRPr lang="en-IN" sz="2000" dirty="0">
              <a:latin typeface="Cambria" panose="02040503050406030204" pitchFamily="18" charset="0"/>
            </a:endParaRPr>
          </a:p>
          <a:p>
            <a:endParaRPr lang="en-IN" sz="2000" dirty="0">
              <a:latin typeface="Cambria" panose="02040503050406030204" pitchFamily="18" charset="0"/>
            </a:endParaRPr>
          </a:p>
        </p:txBody>
      </p:sp>
    </p:spTree>
    <p:extLst>
      <p:ext uri="{BB962C8B-B14F-4D97-AF65-F5344CB8AC3E}">
        <p14:creationId xmlns:p14="http://schemas.microsoft.com/office/powerpoint/2010/main" val="2696454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Tables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062172"/>
            <a:ext cx="11022560" cy="5324535"/>
          </a:xfrm>
          <a:prstGeom prst="rect">
            <a:avLst/>
          </a:prstGeom>
        </p:spPr>
        <p:txBody>
          <a:bodyPr wrap="square">
            <a:spAutoFit/>
          </a:bodyPr>
          <a:lstStyle/>
          <a:p>
            <a:pPr marL="342900" indent="-342900">
              <a:buFont typeface="Arial" panose="020B0604020202020204" pitchFamily="34" charset="0"/>
              <a:buChar char="•"/>
            </a:pPr>
            <a:r>
              <a:rPr lang="en-IN" sz="2000" dirty="0">
                <a:latin typeface="Cambria" panose="02040503050406030204" pitchFamily="18" charset="0"/>
              </a:rPr>
              <a:t>To display data in tabular form, that is area is divided into rows and columns to show association.</a:t>
            </a:r>
          </a:p>
          <a:p>
            <a:pPr marL="342900" indent="-342900">
              <a:buFont typeface="Arial" panose="020B0604020202020204" pitchFamily="34" charset="0"/>
              <a:buChar char="•"/>
            </a:pPr>
            <a:endParaRPr lang="en-US" sz="2000" dirty="0">
              <a:latin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rPr>
              <a:t>An HTML table is defined with the </a:t>
            </a:r>
            <a:r>
              <a:rPr lang="en-US" sz="2000" b="1" dirty="0">
                <a:solidFill>
                  <a:srgbClr val="FF0000"/>
                </a:solidFill>
                <a:latin typeface="Cambria" panose="02040503050406030204" pitchFamily="18" charset="0"/>
              </a:rPr>
              <a:t>&lt;table&gt; </a:t>
            </a:r>
            <a:r>
              <a:rPr lang="en-US" sz="2000" dirty="0">
                <a:latin typeface="Cambria" panose="02040503050406030204" pitchFamily="18" charset="0"/>
              </a:rPr>
              <a:t>tag.</a:t>
            </a:r>
          </a:p>
          <a:p>
            <a:pPr marL="342900" indent="-342900">
              <a:buFont typeface="Arial" panose="020B0604020202020204" pitchFamily="34" charset="0"/>
              <a:buChar char="•"/>
            </a:pPr>
            <a:endParaRPr lang="en-US" sz="2000" dirty="0">
              <a:latin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rPr>
              <a:t>Each table row is defined with the</a:t>
            </a:r>
            <a:r>
              <a:rPr lang="en-US" sz="2000" b="1" dirty="0">
                <a:solidFill>
                  <a:srgbClr val="FF0000"/>
                </a:solidFill>
                <a:latin typeface="Cambria" panose="02040503050406030204" pitchFamily="18" charset="0"/>
              </a:rPr>
              <a:t> &lt;</a:t>
            </a:r>
            <a:r>
              <a:rPr lang="en-US" sz="2000" b="1" dirty="0" err="1">
                <a:solidFill>
                  <a:srgbClr val="FF0000"/>
                </a:solidFill>
                <a:latin typeface="Cambria" panose="02040503050406030204" pitchFamily="18" charset="0"/>
              </a:rPr>
              <a:t>tr</a:t>
            </a:r>
            <a:r>
              <a:rPr lang="en-US" sz="2000" b="1" dirty="0">
                <a:solidFill>
                  <a:srgbClr val="FF0000"/>
                </a:solidFill>
                <a:latin typeface="Cambria" panose="02040503050406030204" pitchFamily="18" charset="0"/>
              </a:rPr>
              <a:t>&gt; </a:t>
            </a:r>
            <a:r>
              <a:rPr lang="en-US" sz="2000" dirty="0">
                <a:latin typeface="Cambria" panose="02040503050406030204" pitchFamily="18" charset="0"/>
              </a:rPr>
              <a:t>tag. </a:t>
            </a:r>
          </a:p>
          <a:p>
            <a:pPr marL="342900" indent="-342900">
              <a:buFont typeface="Arial" panose="020B0604020202020204" pitchFamily="34" charset="0"/>
              <a:buChar char="•"/>
            </a:pPr>
            <a:endParaRPr lang="en-US" sz="2000" dirty="0">
              <a:latin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rPr>
              <a:t>A table header is defined with the </a:t>
            </a:r>
            <a:r>
              <a:rPr lang="en-US" sz="2000" b="1" dirty="0">
                <a:solidFill>
                  <a:srgbClr val="FF0000"/>
                </a:solidFill>
                <a:latin typeface="Cambria" panose="02040503050406030204" pitchFamily="18" charset="0"/>
              </a:rPr>
              <a:t>&lt;</a:t>
            </a:r>
            <a:r>
              <a:rPr lang="en-US" sz="2000" b="1" dirty="0" err="1">
                <a:solidFill>
                  <a:srgbClr val="FF0000"/>
                </a:solidFill>
                <a:latin typeface="Cambria" panose="02040503050406030204" pitchFamily="18" charset="0"/>
              </a:rPr>
              <a:t>th</a:t>
            </a:r>
            <a:r>
              <a:rPr lang="en-US" sz="2000" b="1" dirty="0">
                <a:solidFill>
                  <a:srgbClr val="FF0000"/>
                </a:solidFill>
                <a:latin typeface="Cambria" panose="02040503050406030204" pitchFamily="18" charset="0"/>
              </a:rPr>
              <a:t>&gt; </a:t>
            </a:r>
            <a:r>
              <a:rPr lang="en-US" sz="2000" dirty="0">
                <a:latin typeface="Cambria" panose="02040503050406030204" pitchFamily="18" charset="0"/>
              </a:rPr>
              <a:t>tag. By default, table headings are bold and centered.</a:t>
            </a:r>
          </a:p>
          <a:p>
            <a:pPr marL="342900" indent="-342900">
              <a:buFont typeface="Arial" panose="020B0604020202020204" pitchFamily="34" charset="0"/>
              <a:buChar char="•"/>
            </a:pPr>
            <a:endParaRPr lang="en-US" sz="2000" dirty="0">
              <a:latin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rPr>
              <a:t>A table data/cell is defined with the </a:t>
            </a:r>
            <a:r>
              <a:rPr lang="en-US" sz="2000" b="1" dirty="0">
                <a:solidFill>
                  <a:srgbClr val="FF0000"/>
                </a:solidFill>
                <a:latin typeface="Cambria" panose="02040503050406030204" pitchFamily="18" charset="0"/>
              </a:rPr>
              <a:t>&lt;td&gt; </a:t>
            </a:r>
            <a:r>
              <a:rPr lang="en-US" sz="2000" dirty="0">
                <a:latin typeface="Cambria" panose="02040503050406030204" pitchFamily="18" charset="0"/>
              </a:rPr>
              <a:t>tag.</a:t>
            </a:r>
          </a:p>
          <a:p>
            <a:pPr marL="342900" indent="-342900">
              <a:buFont typeface="Arial" panose="020B0604020202020204" pitchFamily="34" charset="0"/>
              <a:buChar char="•"/>
            </a:pPr>
            <a:endParaRPr lang="en-US" sz="2000" b="1" dirty="0">
              <a:latin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rPr>
              <a:t>Note: </a:t>
            </a:r>
            <a:r>
              <a:rPr lang="en-US" sz="2000" dirty="0">
                <a:latin typeface="Cambria" panose="02040503050406030204" pitchFamily="18" charset="0"/>
              </a:rPr>
              <a:t>The &lt;td&gt; elements are the data containers of the table.</a:t>
            </a:r>
          </a:p>
          <a:p>
            <a:pPr marL="342900" indent="-342900">
              <a:buFont typeface="Arial" panose="020B0604020202020204" pitchFamily="34" charset="0"/>
              <a:buChar char="•"/>
            </a:pPr>
            <a:endParaRPr lang="en-US" sz="2000" dirty="0">
              <a:latin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rPr>
              <a:t>They can contain all sorts of HTML elements; text, images, lists, other tables, etc.</a:t>
            </a:r>
          </a:p>
          <a:p>
            <a:pPr marL="342900" indent="-342900">
              <a:buFont typeface="Arial" panose="020B0604020202020204" pitchFamily="34" charset="0"/>
              <a:buChar char="•"/>
            </a:pPr>
            <a:endParaRPr lang="en-US" sz="2000" dirty="0">
              <a:latin typeface="Cambria" panose="02040503050406030204" pitchFamily="18" charset="0"/>
            </a:endParaRPr>
          </a:p>
          <a:p>
            <a:r>
              <a:rPr lang="en-IN" sz="2000" b="1" dirty="0" err="1">
                <a:latin typeface="Cambria" panose="02040503050406030204" pitchFamily="18" charset="0"/>
              </a:rPr>
              <a:t>Rowspan</a:t>
            </a:r>
            <a:r>
              <a:rPr lang="en-IN" sz="2000" b="1" dirty="0">
                <a:latin typeface="Cambria" panose="02040503050406030204" pitchFamily="18" charset="0"/>
              </a:rPr>
              <a:t>: </a:t>
            </a:r>
            <a:r>
              <a:rPr lang="en-US" sz="2000" dirty="0">
                <a:latin typeface="Cambria" panose="02040503050406030204" pitchFamily="18" charset="0"/>
              </a:rPr>
              <a:t>To make a cell span more than one row, use the </a:t>
            </a:r>
            <a:r>
              <a:rPr lang="en-US" sz="2000" dirty="0" err="1">
                <a:latin typeface="Cambria" panose="02040503050406030204" pitchFamily="18" charset="0"/>
              </a:rPr>
              <a:t>rowpan</a:t>
            </a:r>
            <a:r>
              <a:rPr lang="en-US" sz="2000" dirty="0">
                <a:latin typeface="Cambria" panose="02040503050406030204" pitchFamily="18" charset="0"/>
              </a:rPr>
              <a:t> attribute.</a:t>
            </a:r>
            <a:endParaRPr lang="en-IN" sz="2000" dirty="0">
              <a:latin typeface="Cambria" panose="02040503050406030204" pitchFamily="18" charset="0"/>
            </a:endParaRPr>
          </a:p>
          <a:p>
            <a:endParaRPr lang="en-IN" sz="2000" b="1" dirty="0">
              <a:latin typeface="Cambria" panose="02040503050406030204" pitchFamily="18" charset="0"/>
            </a:endParaRPr>
          </a:p>
          <a:p>
            <a:r>
              <a:rPr lang="en-IN" sz="2000" b="1" dirty="0" err="1">
                <a:latin typeface="Cambria" panose="02040503050406030204" pitchFamily="18" charset="0"/>
              </a:rPr>
              <a:t>Colspan</a:t>
            </a:r>
            <a:r>
              <a:rPr lang="en-IN" sz="2000" b="1" dirty="0">
                <a:latin typeface="Cambria" panose="02040503050406030204" pitchFamily="18" charset="0"/>
              </a:rPr>
              <a:t>: </a:t>
            </a:r>
            <a:r>
              <a:rPr lang="en-US" sz="2000" dirty="0">
                <a:latin typeface="Cambria" panose="02040503050406030204" pitchFamily="18" charset="0"/>
              </a:rPr>
              <a:t>To make a cell span more than one column, use the </a:t>
            </a:r>
            <a:r>
              <a:rPr lang="en-US" sz="2000" dirty="0" err="1">
                <a:latin typeface="Cambria" panose="02040503050406030204" pitchFamily="18" charset="0"/>
              </a:rPr>
              <a:t>colspan</a:t>
            </a:r>
            <a:r>
              <a:rPr lang="en-US" sz="2000" dirty="0">
                <a:latin typeface="Cambria" panose="02040503050406030204" pitchFamily="18" charset="0"/>
              </a:rPr>
              <a:t> attribute.</a:t>
            </a:r>
          </a:p>
        </p:txBody>
      </p:sp>
    </p:spTree>
    <p:extLst>
      <p:ext uri="{BB962C8B-B14F-4D97-AF65-F5344CB8AC3E}">
        <p14:creationId xmlns:p14="http://schemas.microsoft.com/office/powerpoint/2010/main" val="1855956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Tables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371264"/>
            <a:ext cx="11022560" cy="4401205"/>
          </a:xfrm>
          <a:prstGeom prst="rect">
            <a:avLst/>
          </a:prstGeom>
        </p:spPr>
        <p:txBody>
          <a:bodyPr wrap="square">
            <a:spAutoFit/>
          </a:bodyPr>
          <a:lstStyle/>
          <a:p>
            <a:endParaRPr lang="en-US" sz="2000" dirty="0">
              <a:latin typeface="Cambria" panose="02040503050406030204" pitchFamily="18" charset="0"/>
            </a:endParaRPr>
          </a:p>
          <a:p>
            <a:r>
              <a:rPr lang="en-IN" sz="2000" b="1" dirty="0"/>
              <a:t>Adding a Caption : </a:t>
            </a:r>
            <a:r>
              <a:rPr lang="en-US" sz="2000" dirty="0"/>
              <a:t>To add a caption to a table, use the &lt;caption&gt; tag right after table tag.</a:t>
            </a:r>
          </a:p>
          <a:p>
            <a:r>
              <a:rPr lang="en-IN" sz="2000" b="1" dirty="0">
                <a:solidFill>
                  <a:schemeClr val="accent6">
                    <a:lumMod val="75000"/>
                  </a:schemeClr>
                </a:solidFill>
              </a:rPr>
              <a:t>&lt;caption&gt;caption for table&lt;/caption&gt;</a:t>
            </a:r>
          </a:p>
          <a:p>
            <a:endParaRPr lang="en-IN" sz="2000" b="1" dirty="0">
              <a:solidFill>
                <a:schemeClr val="accent6">
                  <a:lumMod val="75000"/>
                </a:schemeClr>
              </a:solidFill>
            </a:endParaRPr>
          </a:p>
          <a:p>
            <a:r>
              <a:rPr lang="en-IN" sz="2000" b="1" dirty="0"/>
              <a:t>Adding table border: </a:t>
            </a:r>
            <a:r>
              <a:rPr lang="en-US" sz="2000" dirty="0"/>
              <a:t>If you do not specify a border for the table, it will be displayed without borders.</a:t>
            </a:r>
          </a:p>
          <a:p>
            <a:r>
              <a:rPr lang="en-US" sz="2000" dirty="0"/>
              <a:t>A border is set using the CSS border property</a:t>
            </a:r>
          </a:p>
          <a:p>
            <a:r>
              <a:rPr lang="en-US" sz="2000" b="1" dirty="0">
                <a:solidFill>
                  <a:schemeClr val="accent6">
                    <a:lumMod val="75000"/>
                  </a:schemeClr>
                </a:solidFill>
              </a:rPr>
              <a:t>&lt;table border=“1px”&gt;</a:t>
            </a:r>
            <a:endParaRPr lang="en-IN" sz="2000" b="1" dirty="0">
              <a:solidFill>
                <a:schemeClr val="accent6">
                  <a:lumMod val="75000"/>
                </a:schemeClr>
              </a:solidFill>
            </a:endParaRPr>
          </a:p>
          <a:p>
            <a:endParaRPr lang="en-IN" sz="2000" b="1" dirty="0"/>
          </a:p>
          <a:p>
            <a:r>
              <a:rPr lang="en-IN" sz="2000" b="1" dirty="0"/>
              <a:t>Collapsed Borders : </a:t>
            </a:r>
            <a:r>
              <a:rPr lang="en-US" sz="2000" dirty="0"/>
              <a:t>If you want the borders to collapse into one border, add the CSS border-collapse property.</a:t>
            </a:r>
          </a:p>
          <a:p>
            <a:r>
              <a:rPr lang="en-US" sz="2000" b="1" dirty="0">
                <a:solidFill>
                  <a:schemeClr val="accent6">
                    <a:lumMod val="75000"/>
                  </a:schemeClr>
                </a:solidFill>
              </a:rPr>
              <a:t>&lt;table border=“1px” style=“</a:t>
            </a:r>
            <a:r>
              <a:rPr lang="en-US" sz="2000" b="1" dirty="0" err="1">
                <a:solidFill>
                  <a:schemeClr val="accent6">
                    <a:lumMod val="75000"/>
                  </a:schemeClr>
                </a:solidFill>
              </a:rPr>
              <a:t>border-collapse:collapse</a:t>
            </a:r>
            <a:r>
              <a:rPr lang="en-US" sz="2000" b="1" dirty="0">
                <a:solidFill>
                  <a:schemeClr val="accent6">
                    <a:lumMod val="75000"/>
                  </a:schemeClr>
                </a:solidFill>
              </a:rPr>
              <a:t>”&gt;</a:t>
            </a:r>
          </a:p>
          <a:p>
            <a:endParaRPr lang="en-IN" sz="2000" b="1" dirty="0"/>
          </a:p>
          <a:p>
            <a:r>
              <a:rPr lang="en-IN" sz="2000" b="1" dirty="0"/>
              <a:t>Adding Cell Padding : </a:t>
            </a:r>
            <a:r>
              <a:rPr lang="en-US" sz="2000" dirty="0"/>
              <a:t>Cell padding specifies the space between the cell content and its borders.</a:t>
            </a:r>
          </a:p>
          <a:p>
            <a:r>
              <a:rPr lang="en-US" sz="2000" dirty="0"/>
              <a:t>To set the padding, use the CSS </a:t>
            </a:r>
            <a:r>
              <a:rPr lang="en-US" sz="2000" b="1" dirty="0"/>
              <a:t>padding</a:t>
            </a:r>
            <a:r>
              <a:rPr lang="en-US" sz="2000" dirty="0"/>
              <a:t> property or we can specify it in table tag</a:t>
            </a:r>
            <a:r>
              <a:rPr lang="en-US" sz="2000" b="1" dirty="0"/>
              <a:t> </a:t>
            </a:r>
            <a:r>
              <a:rPr lang="en-US" sz="2000" b="1" dirty="0" err="1"/>
              <a:t>cellpadding</a:t>
            </a:r>
            <a:r>
              <a:rPr lang="en-US" sz="2000" b="1" dirty="0"/>
              <a:t> </a:t>
            </a:r>
            <a:r>
              <a:rPr lang="en-US" sz="2000" dirty="0"/>
              <a:t>property.</a:t>
            </a:r>
          </a:p>
        </p:txBody>
      </p:sp>
    </p:spTree>
    <p:extLst>
      <p:ext uri="{BB962C8B-B14F-4D97-AF65-F5344CB8AC3E}">
        <p14:creationId xmlns:p14="http://schemas.microsoft.com/office/powerpoint/2010/main" val="2330604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5 Layout and syntax</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392" y="1371264"/>
            <a:ext cx="4540339" cy="518577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1772" y="1529795"/>
            <a:ext cx="6152345" cy="4405595"/>
          </a:xfrm>
          <a:prstGeom prst="rect">
            <a:avLst/>
          </a:prstGeom>
        </p:spPr>
      </p:pic>
    </p:spTree>
    <p:extLst>
      <p:ext uri="{BB962C8B-B14F-4D97-AF65-F5344CB8AC3E}">
        <p14:creationId xmlns:p14="http://schemas.microsoft.com/office/powerpoint/2010/main" val="22679329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5 Layout and syntax</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80426" y="1100807"/>
            <a:ext cx="11022560" cy="4401205"/>
          </a:xfrm>
          <a:prstGeom prst="rect">
            <a:avLst/>
          </a:prstGeom>
        </p:spPr>
        <p:txBody>
          <a:bodyPr wrap="square">
            <a:spAutoFit/>
          </a:bodyPr>
          <a:lstStyle/>
          <a:p>
            <a:r>
              <a:rPr lang="en-IN" sz="2000" dirty="0">
                <a:latin typeface="Cambria" panose="02040503050406030204" pitchFamily="18" charset="0"/>
              </a:rPr>
              <a:t>HTML5 introduced semantic tags specifically designed to improve the structure and layout of webpages, making them more meaningful for both browsers and developers.</a:t>
            </a:r>
          </a:p>
          <a:p>
            <a:endParaRPr lang="en-IN" sz="2000" dirty="0">
              <a:latin typeface="Cambria" panose="02040503050406030204" pitchFamily="18" charset="0"/>
            </a:endParaRPr>
          </a:p>
          <a:p>
            <a:r>
              <a:rPr lang="en-IN" sz="2000" b="1" dirty="0">
                <a:latin typeface="Cambria" panose="02040503050406030204" pitchFamily="18" charset="0"/>
              </a:rPr>
              <a:t>&lt;header&gt;: </a:t>
            </a:r>
            <a:r>
              <a:rPr lang="en-IN" sz="2000" dirty="0">
                <a:latin typeface="Cambria" panose="02040503050406030204" pitchFamily="18" charset="0"/>
              </a:rPr>
              <a:t>Represents the introductory content or a section of navigational links at the top of a document or a section.</a:t>
            </a:r>
          </a:p>
          <a:p>
            <a:endParaRPr lang="en-IN" sz="2000" dirty="0">
              <a:latin typeface="Cambria" panose="02040503050406030204" pitchFamily="18" charset="0"/>
            </a:endParaRPr>
          </a:p>
          <a:p>
            <a:r>
              <a:rPr lang="en-IN" sz="2000" b="1" dirty="0">
                <a:latin typeface="Cambria" panose="02040503050406030204" pitchFamily="18" charset="0"/>
              </a:rPr>
              <a:t>&lt;</a:t>
            </a:r>
            <a:r>
              <a:rPr lang="en-IN" sz="2000" b="1" dirty="0" err="1">
                <a:latin typeface="Cambria" panose="02040503050406030204" pitchFamily="18" charset="0"/>
              </a:rPr>
              <a:t>nav</a:t>
            </a:r>
            <a:r>
              <a:rPr lang="en-IN" sz="2000" b="1" dirty="0">
                <a:latin typeface="Cambria" panose="02040503050406030204" pitchFamily="18" charset="0"/>
              </a:rPr>
              <a:t>&gt;: </a:t>
            </a:r>
            <a:r>
              <a:rPr lang="en-IN" sz="2000" dirty="0">
                <a:latin typeface="Cambria" panose="02040503050406030204" pitchFamily="18" charset="0"/>
              </a:rPr>
              <a:t>Defines a set of navigation links (e.g., the main menu of a website). It's best used for major blocks of navigation.</a:t>
            </a:r>
          </a:p>
          <a:p>
            <a:endParaRPr lang="en-IN" sz="2000" dirty="0">
              <a:latin typeface="Cambria" panose="02040503050406030204" pitchFamily="18" charset="0"/>
            </a:endParaRPr>
          </a:p>
          <a:p>
            <a:r>
              <a:rPr lang="en-IN" sz="2000" b="1" dirty="0">
                <a:latin typeface="Cambria" panose="02040503050406030204" pitchFamily="18" charset="0"/>
              </a:rPr>
              <a:t>&lt;section&gt;: </a:t>
            </a:r>
            <a:r>
              <a:rPr lang="en-IN" sz="2000" dirty="0">
                <a:latin typeface="Cambria" panose="02040503050406030204" pitchFamily="18" charset="0"/>
              </a:rPr>
              <a:t>Used to group related content together, forming thematic groupings. Each &lt;section&gt; usually has a heading to describe its content.</a:t>
            </a:r>
          </a:p>
          <a:p>
            <a:endParaRPr lang="en-IN" sz="2000" dirty="0">
              <a:latin typeface="Cambria" panose="02040503050406030204" pitchFamily="18" charset="0"/>
            </a:endParaRPr>
          </a:p>
          <a:p>
            <a:r>
              <a:rPr lang="en-IN" sz="2000" b="1" dirty="0">
                <a:latin typeface="Cambria" panose="02040503050406030204" pitchFamily="18" charset="0"/>
              </a:rPr>
              <a:t>&lt;article&gt;: </a:t>
            </a:r>
            <a:r>
              <a:rPr lang="en-IN" sz="2000" dirty="0">
                <a:latin typeface="Cambria" panose="02040503050406030204" pitchFamily="18" charset="0"/>
              </a:rPr>
              <a:t>Represents independent, self-contained content that can be distributed independently of the rest of the page (e.g., blog posts, news articles).</a:t>
            </a:r>
          </a:p>
        </p:txBody>
      </p:sp>
    </p:spTree>
    <p:extLst>
      <p:ext uri="{BB962C8B-B14F-4D97-AF65-F5344CB8AC3E}">
        <p14:creationId xmlns:p14="http://schemas.microsoft.com/office/powerpoint/2010/main" val="64527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5 Layout and syntax</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80426" y="1227775"/>
            <a:ext cx="11022560" cy="4708981"/>
          </a:xfrm>
          <a:prstGeom prst="rect">
            <a:avLst/>
          </a:prstGeom>
        </p:spPr>
        <p:txBody>
          <a:bodyPr wrap="square">
            <a:spAutoFit/>
          </a:bodyPr>
          <a:lstStyle/>
          <a:p>
            <a:r>
              <a:rPr lang="en-IN" sz="2000" b="1" dirty="0">
                <a:latin typeface="Cambria" panose="02040503050406030204" pitchFamily="18" charset="0"/>
              </a:rPr>
              <a:t>&lt;aside&gt;: </a:t>
            </a:r>
            <a:r>
              <a:rPr lang="en-IN" sz="2000" dirty="0">
                <a:latin typeface="Cambria" panose="02040503050406030204" pitchFamily="18" charset="0"/>
              </a:rPr>
              <a:t>Contains content that is indirectly related to the main content, like a sidebar with related links or additional information.</a:t>
            </a:r>
          </a:p>
          <a:p>
            <a:endParaRPr lang="en-IN" sz="2000" dirty="0">
              <a:latin typeface="Cambria" panose="02040503050406030204" pitchFamily="18" charset="0"/>
            </a:endParaRPr>
          </a:p>
          <a:p>
            <a:r>
              <a:rPr lang="en-IN" sz="2000" b="1" dirty="0">
                <a:latin typeface="Cambria" panose="02040503050406030204" pitchFamily="18" charset="0"/>
              </a:rPr>
              <a:t>&lt;footer&gt;:</a:t>
            </a:r>
            <a:r>
              <a:rPr lang="en-IN" sz="2000" dirty="0">
                <a:latin typeface="Cambria" panose="02040503050406030204" pitchFamily="18" charset="0"/>
              </a:rPr>
              <a:t> Defines the footer of a document or section, typically containing information like authorship, copyright, or related links.</a:t>
            </a:r>
          </a:p>
          <a:p>
            <a:endParaRPr lang="en-IN" sz="2000" dirty="0">
              <a:latin typeface="Cambria" panose="02040503050406030204" pitchFamily="18" charset="0"/>
            </a:endParaRPr>
          </a:p>
          <a:p>
            <a:r>
              <a:rPr lang="en-IN" sz="2000" b="1" dirty="0">
                <a:latin typeface="Cambria" panose="02040503050406030204" pitchFamily="18" charset="0"/>
              </a:rPr>
              <a:t>&lt;main&gt;:</a:t>
            </a:r>
            <a:r>
              <a:rPr lang="en-IN" sz="2000" dirty="0">
                <a:latin typeface="Cambria" panose="02040503050406030204" pitchFamily="18" charset="0"/>
              </a:rPr>
              <a:t> Specifies the dominant content of the &lt;body&gt; of a document or web application, intended to be unique to that page.</a:t>
            </a:r>
          </a:p>
          <a:p>
            <a:endParaRPr lang="en-IN" sz="2000" dirty="0">
              <a:latin typeface="Cambria" panose="02040503050406030204" pitchFamily="18" charset="0"/>
            </a:endParaRPr>
          </a:p>
          <a:p>
            <a:r>
              <a:rPr lang="en-IN" sz="2000" b="1" dirty="0">
                <a:latin typeface="Cambria" panose="02040503050406030204" pitchFamily="18" charset="0"/>
              </a:rPr>
              <a:t>&lt;figure&gt; and &lt;</a:t>
            </a:r>
            <a:r>
              <a:rPr lang="en-IN" sz="2000" b="1" dirty="0" err="1">
                <a:latin typeface="Cambria" panose="02040503050406030204" pitchFamily="18" charset="0"/>
              </a:rPr>
              <a:t>figcaption</a:t>
            </a:r>
            <a:r>
              <a:rPr lang="en-IN" sz="2000" b="1" dirty="0">
                <a:latin typeface="Cambria" panose="02040503050406030204" pitchFamily="18" charset="0"/>
              </a:rPr>
              <a:t>&gt;:</a:t>
            </a:r>
            <a:r>
              <a:rPr lang="en-IN" sz="2000" dirty="0">
                <a:latin typeface="Cambria" panose="02040503050406030204" pitchFamily="18" charset="0"/>
              </a:rPr>
              <a:t> The &lt;figure&gt; tag specifies self-contained content, like images or diagrams, while &lt;</a:t>
            </a:r>
            <a:r>
              <a:rPr lang="en-IN" sz="2000" dirty="0" err="1">
                <a:latin typeface="Cambria" panose="02040503050406030204" pitchFamily="18" charset="0"/>
              </a:rPr>
              <a:t>figcaption</a:t>
            </a:r>
            <a:r>
              <a:rPr lang="en-IN" sz="2000" dirty="0">
                <a:latin typeface="Cambria" panose="02040503050406030204" pitchFamily="18" charset="0"/>
              </a:rPr>
              <a:t>&gt; provides a caption for the &lt;figure&gt;.</a:t>
            </a:r>
          </a:p>
          <a:p>
            <a:endParaRPr lang="en-IN" sz="2000" dirty="0">
              <a:latin typeface="Cambria" panose="02040503050406030204" pitchFamily="18" charset="0"/>
            </a:endParaRPr>
          </a:p>
          <a:p>
            <a:r>
              <a:rPr lang="en-IN" sz="2000" b="1" dirty="0">
                <a:latin typeface="Cambria" panose="02040503050406030204" pitchFamily="18" charset="0"/>
              </a:rPr>
              <a:t>&lt;mark&gt;: </a:t>
            </a:r>
            <a:r>
              <a:rPr lang="en-IN" sz="2000" dirty="0">
                <a:latin typeface="Cambria" panose="02040503050406030204" pitchFamily="18" charset="0"/>
              </a:rPr>
              <a:t>The &lt;mark&gt; tag in HTML is used to define the marked text. It is used to highlight the part of the text in the paragraph.</a:t>
            </a:r>
          </a:p>
          <a:p>
            <a:endParaRPr lang="en-US" sz="2000" dirty="0">
              <a:latin typeface="Cambria" panose="02040503050406030204" pitchFamily="18" charset="0"/>
            </a:endParaRPr>
          </a:p>
        </p:txBody>
      </p:sp>
    </p:spTree>
    <p:extLst>
      <p:ext uri="{BB962C8B-B14F-4D97-AF65-F5344CB8AC3E}">
        <p14:creationId xmlns:p14="http://schemas.microsoft.com/office/powerpoint/2010/main" val="11785439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5 Layout and syntax</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073229"/>
            <a:ext cx="11022560" cy="5632311"/>
          </a:xfrm>
          <a:prstGeom prst="rect">
            <a:avLst/>
          </a:prstGeom>
        </p:spPr>
        <p:txBody>
          <a:bodyPr wrap="square">
            <a:spAutoFit/>
          </a:bodyPr>
          <a:lstStyle/>
          <a:p>
            <a:r>
              <a:rPr lang="en-US" sz="2000" b="1" dirty="0">
                <a:latin typeface="Cambria" panose="02040503050406030204" pitchFamily="18" charset="0"/>
              </a:rPr>
              <a:t>&lt;audio&gt;: </a:t>
            </a:r>
            <a:r>
              <a:rPr lang="en-US" sz="2000" dirty="0">
                <a:latin typeface="Cambria" panose="02040503050406030204" pitchFamily="18" charset="0"/>
              </a:rPr>
              <a:t>It defines the music or audio content.</a:t>
            </a:r>
          </a:p>
          <a:p>
            <a:endParaRPr lang="en-US" sz="2000" dirty="0">
              <a:latin typeface="Cambria" panose="02040503050406030204" pitchFamily="18" charset="0"/>
            </a:endParaRPr>
          </a:p>
          <a:p>
            <a:r>
              <a:rPr lang="en-US" sz="2000" b="1" dirty="0">
                <a:latin typeface="Cambria" panose="02040503050406030204" pitchFamily="18" charset="0"/>
              </a:rPr>
              <a:t>&lt;embed&gt;: </a:t>
            </a:r>
            <a:r>
              <a:rPr lang="en-US" sz="2000" dirty="0">
                <a:latin typeface="Cambria" panose="02040503050406030204" pitchFamily="18" charset="0"/>
              </a:rPr>
              <a:t>Defines containers for external applications (usually a video player).</a:t>
            </a:r>
          </a:p>
          <a:p>
            <a:endParaRPr lang="en-US" sz="2000" b="1" dirty="0">
              <a:latin typeface="Cambria" panose="02040503050406030204" pitchFamily="18" charset="0"/>
            </a:endParaRPr>
          </a:p>
          <a:p>
            <a:r>
              <a:rPr lang="en-US" sz="2000" b="1" dirty="0">
                <a:latin typeface="Cambria" panose="02040503050406030204" pitchFamily="18" charset="0"/>
              </a:rPr>
              <a:t>&lt;source&gt;: </a:t>
            </a:r>
            <a:r>
              <a:rPr lang="en-US" sz="2000" dirty="0">
                <a:latin typeface="Cambria" panose="02040503050406030204" pitchFamily="18" charset="0"/>
              </a:rPr>
              <a:t>It defines the sources for &lt;video&gt; and &lt;audio&gt;.</a:t>
            </a:r>
          </a:p>
          <a:p>
            <a:endParaRPr lang="en-US" sz="2000" b="1" dirty="0">
              <a:latin typeface="Cambria" panose="02040503050406030204" pitchFamily="18" charset="0"/>
            </a:endParaRPr>
          </a:p>
          <a:p>
            <a:r>
              <a:rPr lang="en-US" sz="2000" b="1" dirty="0">
                <a:latin typeface="Cambria" panose="02040503050406030204" pitchFamily="18" charset="0"/>
              </a:rPr>
              <a:t>&lt;track&gt;: </a:t>
            </a:r>
            <a:r>
              <a:rPr lang="en-US" sz="2000" dirty="0">
                <a:latin typeface="Cambria" panose="02040503050406030204" pitchFamily="18" charset="0"/>
              </a:rPr>
              <a:t>It defines the tracks for &lt;video&gt; and &lt;audio&gt;.</a:t>
            </a:r>
          </a:p>
          <a:p>
            <a:endParaRPr lang="en-US" sz="2000" b="1" dirty="0">
              <a:latin typeface="Cambria" panose="02040503050406030204" pitchFamily="18" charset="0"/>
            </a:endParaRPr>
          </a:p>
          <a:p>
            <a:r>
              <a:rPr lang="en-US" sz="2000" b="1" dirty="0">
                <a:latin typeface="Cambria" panose="02040503050406030204" pitchFamily="18" charset="0"/>
              </a:rPr>
              <a:t>&lt;video&gt;: </a:t>
            </a:r>
            <a:r>
              <a:rPr lang="en-US" sz="2000" dirty="0">
                <a:latin typeface="Cambria" panose="02040503050406030204" pitchFamily="18" charset="0"/>
              </a:rPr>
              <a:t>It defines the video content.</a:t>
            </a:r>
          </a:p>
          <a:p>
            <a:endParaRPr lang="en-US" sz="2000" b="1" dirty="0">
              <a:latin typeface="Cambria" panose="02040503050406030204" pitchFamily="18" charset="0"/>
            </a:endParaRPr>
          </a:p>
          <a:p>
            <a:r>
              <a:rPr lang="en-US" sz="2000" b="1" dirty="0">
                <a:latin typeface="Cambria" panose="02040503050406030204" pitchFamily="18" charset="0"/>
              </a:rPr>
              <a:t>&lt;time&gt;: </a:t>
            </a:r>
            <a:r>
              <a:rPr lang="en-US" sz="2000" dirty="0">
                <a:latin typeface="Cambria" panose="02040503050406030204" pitchFamily="18" charset="0"/>
              </a:rPr>
              <a:t>The &lt;time&gt; tag is used to display the human-readable data/time. It can also be used to encode dates and times in a machine-readable form. The main advantage for users is that they can offer to add birthday reminders or scheduled events in their </a:t>
            </a:r>
            <a:r>
              <a:rPr lang="en-US" sz="2000" dirty="0" err="1">
                <a:latin typeface="Cambria" panose="02040503050406030204" pitchFamily="18" charset="0"/>
              </a:rPr>
              <a:t>calender’s</a:t>
            </a:r>
            <a:r>
              <a:rPr lang="en-US" sz="2000" dirty="0">
                <a:latin typeface="Cambria" panose="02040503050406030204" pitchFamily="18" charset="0"/>
              </a:rPr>
              <a:t> and search engines can produce smarter search results.</a:t>
            </a:r>
          </a:p>
          <a:p>
            <a:endParaRPr lang="en-US" sz="2000" b="1" dirty="0">
              <a:latin typeface="Cambria" panose="02040503050406030204" pitchFamily="18" charset="0"/>
            </a:endParaRPr>
          </a:p>
          <a:p>
            <a:r>
              <a:rPr lang="en-US" sz="2000" b="1" dirty="0">
                <a:latin typeface="Cambria" panose="02040503050406030204" pitchFamily="18" charset="0"/>
              </a:rPr>
              <a:t>&lt;</a:t>
            </a:r>
            <a:r>
              <a:rPr lang="en-US" sz="2000" b="1" dirty="0" err="1">
                <a:latin typeface="Cambria" panose="02040503050406030204" pitchFamily="18" charset="0"/>
              </a:rPr>
              <a:t>bdi</a:t>
            </a:r>
            <a:r>
              <a:rPr lang="en-US" sz="2000" b="1" dirty="0">
                <a:latin typeface="Cambria" panose="02040503050406030204" pitchFamily="18" charset="0"/>
              </a:rPr>
              <a:t>&gt;: </a:t>
            </a:r>
            <a:r>
              <a:rPr lang="en-US" sz="2000" dirty="0">
                <a:latin typeface="Cambria" panose="02040503050406030204" pitchFamily="18" charset="0"/>
              </a:rPr>
              <a:t>The &lt;</a:t>
            </a:r>
            <a:r>
              <a:rPr lang="en-US" sz="2000" dirty="0" err="1">
                <a:latin typeface="Cambria" panose="02040503050406030204" pitchFamily="18" charset="0"/>
              </a:rPr>
              <a:t>bdi</a:t>
            </a:r>
            <a:r>
              <a:rPr lang="en-US" sz="2000" dirty="0">
                <a:latin typeface="Cambria" panose="02040503050406030204" pitchFamily="18" charset="0"/>
              </a:rPr>
              <a:t>&gt; tag refers to the Bi-Directional Isolation. It differentiate a text from other text that may be formatted in different direction. This tag is used when a user generated text with an unknown directions.</a:t>
            </a:r>
          </a:p>
        </p:txBody>
      </p:sp>
    </p:spTree>
    <p:extLst>
      <p:ext uri="{BB962C8B-B14F-4D97-AF65-F5344CB8AC3E}">
        <p14:creationId xmlns:p14="http://schemas.microsoft.com/office/powerpoint/2010/main" val="197945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Events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465395" y="1108602"/>
            <a:ext cx="11022560" cy="5324535"/>
          </a:xfrm>
          <a:prstGeom prst="rect">
            <a:avLst/>
          </a:prstGeom>
        </p:spPr>
        <p:txBody>
          <a:bodyPr wrap="square">
            <a:spAutoFit/>
          </a:bodyPr>
          <a:lstStyle/>
          <a:p>
            <a:pPr algn="just"/>
            <a:r>
              <a:rPr lang="en-IN" sz="2000" dirty="0">
                <a:latin typeface="Cambria" panose="02040503050406030204" pitchFamily="18" charset="0"/>
              </a:rPr>
              <a:t>HTML events are "things" that happen to HTML elements, such as a </a:t>
            </a:r>
            <a:r>
              <a:rPr lang="en-IN" sz="2000" b="1" dirty="0">
                <a:latin typeface="Cambria" panose="02040503050406030204" pitchFamily="18" charset="0"/>
              </a:rPr>
              <a:t>user clicking on a button </a:t>
            </a:r>
            <a:r>
              <a:rPr lang="en-IN" sz="2000" dirty="0">
                <a:latin typeface="Cambria" panose="02040503050406030204" pitchFamily="18" charset="0"/>
              </a:rPr>
              <a:t>or </a:t>
            </a:r>
            <a:r>
              <a:rPr lang="en-IN" sz="2000" b="1" dirty="0">
                <a:latin typeface="Cambria" panose="02040503050406030204" pitchFamily="18" charset="0"/>
              </a:rPr>
              <a:t>submitting a form</a:t>
            </a:r>
            <a:r>
              <a:rPr lang="en-IN" sz="2000" dirty="0">
                <a:latin typeface="Cambria" panose="02040503050406030204" pitchFamily="18" charset="0"/>
              </a:rPr>
              <a:t>, or a </a:t>
            </a:r>
            <a:r>
              <a:rPr lang="en-IN" sz="2000" b="1" dirty="0">
                <a:latin typeface="Cambria" panose="02040503050406030204" pitchFamily="18" charset="0"/>
              </a:rPr>
              <a:t>page finishing loading</a:t>
            </a:r>
            <a:r>
              <a:rPr lang="en-IN" sz="2000" dirty="0">
                <a:latin typeface="Cambria" panose="02040503050406030204" pitchFamily="18" charset="0"/>
              </a:rPr>
              <a:t>. </a:t>
            </a:r>
          </a:p>
          <a:p>
            <a:pPr algn="just"/>
            <a:endParaRPr lang="en-IN" sz="2000" dirty="0">
              <a:latin typeface="Cambria" panose="02040503050406030204" pitchFamily="18" charset="0"/>
            </a:endParaRPr>
          </a:p>
          <a:p>
            <a:pPr algn="just"/>
            <a:r>
              <a:rPr lang="en-IN" sz="2000" b="1" dirty="0"/>
              <a:t>Types of HTML events</a:t>
            </a:r>
          </a:p>
          <a:p>
            <a:pPr algn="just"/>
            <a:endParaRPr lang="en-IN" sz="2000" dirty="0">
              <a:latin typeface="Cambria" panose="02040503050406030204" pitchFamily="18" charset="0"/>
            </a:endParaRPr>
          </a:p>
          <a:p>
            <a:pPr algn="just"/>
            <a:r>
              <a:rPr lang="en-IN" sz="2000" b="1" dirty="0">
                <a:latin typeface="Cambria" panose="02040503050406030204" pitchFamily="18" charset="0"/>
              </a:rPr>
              <a:t>Window Events: </a:t>
            </a:r>
          </a:p>
          <a:p>
            <a:pPr marL="342900" indent="-342900" algn="just">
              <a:buFont typeface="Arial" panose="020B0604020202020204" pitchFamily="34" charset="0"/>
              <a:buChar char="•"/>
            </a:pPr>
            <a:r>
              <a:rPr lang="en-IN" sz="2000" dirty="0" err="1">
                <a:latin typeface="Cambria" panose="02040503050406030204" pitchFamily="18" charset="0"/>
              </a:rPr>
              <a:t>onload</a:t>
            </a:r>
            <a:endParaRPr lang="en-IN" sz="2000" dirty="0">
              <a:latin typeface="Cambria" panose="02040503050406030204" pitchFamily="18" charset="0"/>
            </a:endParaRPr>
          </a:p>
          <a:p>
            <a:pPr marL="342900" indent="-342900" algn="just">
              <a:buFont typeface="Arial" panose="020B0604020202020204" pitchFamily="34" charset="0"/>
              <a:buChar char="•"/>
            </a:pPr>
            <a:r>
              <a:rPr lang="en-IN" sz="2000" dirty="0" err="1">
                <a:latin typeface="Cambria" panose="02040503050406030204" pitchFamily="18" charset="0"/>
              </a:rPr>
              <a:t>onbeforeunload</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onresize</a:t>
            </a:r>
            <a:r>
              <a:rPr lang="en-IN" sz="2000" dirty="0">
                <a:latin typeface="Cambria" panose="02040503050406030204" pitchFamily="18" charset="0"/>
              </a:rPr>
              <a:t> </a:t>
            </a:r>
          </a:p>
          <a:p>
            <a:pPr algn="just"/>
            <a:endParaRPr lang="en-IN" sz="2000" dirty="0">
              <a:latin typeface="Cambria" panose="02040503050406030204" pitchFamily="18" charset="0"/>
            </a:endParaRPr>
          </a:p>
          <a:p>
            <a:pPr algn="just"/>
            <a:r>
              <a:rPr lang="en-IN" sz="2000" b="1" dirty="0">
                <a:latin typeface="Cambria" panose="02040503050406030204" pitchFamily="18" charset="0"/>
              </a:rPr>
              <a:t>Form Events: </a:t>
            </a:r>
          </a:p>
          <a:p>
            <a:pPr marL="342900" indent="-342900" algn="just">
              <a:buFont typeface="Arial" panose="020B0604020202020204" pitchFamily="34" charset="0"/>
              <a:buChar char="•"/>
            </a:pPr>
            <a:r>
              <a:rPr lang="en-IN" sz="2000" dirty="0" err="1">
                <a:latin typeface="Cambria" panose="02040503050406030204" pitchFamily="18" charset="0"/>
              </a:rPr>
              <a:t>onsubmit</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onchange</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onfocus</a:t>
            </a:r>
            <a:r>
              <a:rPr lang="en-IN" sz="2000" dirty="0">
                <a:latin typeface="Cambria" panose="02040503050406030204" pitchFamily="18" charset="0"/>
              </a:rPr>
              <a:t> </a:t>
            </a:r>
          </a:p>
          <a:p>
            <a:pPr marL="342900" indent="-342900" algn="just">
              <a:buFont typeface="Arial" panose="020B0604020202020204" pitchFamily="34" charset="0"/>
              <a:buChar char="•"/>
            </a:pPr>
            <a:endParaRPr lang="en-IN" sz="2000" dirty="0">
              <a:latin typeface="Cambria" panose="02040503050406030204" pitchFamily="18" charset="0"/>
            </a:endParaRPr>
          </a:p>
          <a:p>
            <a:pPr algn="just"/>
            <a:r>
              <a:rPr lang="en-IN" sz="2000" b="1" dirty="0">
                <a:latin typeface="Cambria" panose="02040503050406030204" pitchFamily="18" charset="0"/>
              </a:rPr>
              <a:t>Keyboard Events: </a:t>
            </a:r>
          </a:p>
          <a:p>
            <a:pPr algn="just"/>
            <a:r>
              <a:rPr lang="en-IN" sz="2000" dirty="0" err="1">
                <a:latin typeface="Cambria" panose="02040503050406030204" pitchFamily="18" charset="0"/>
              </a:rPr>
              <a:t>onkeydown</a:t>
            </a:r>
            <a:r>
              <a:rPr lang="en-IN" sz="2000" dirty="0">
                <a:latin typeface="Cambria" panose="02040503050406030204" pitchFamily="18" charset="0"/>
              </a:rPr>
              <a:t>, </a:t>
            </a:r>
            <a:r>
              <a:rPr lang="en-IN" sz="2000" dirty="0" err="1">
                <a:latin typeface="Cambria" panose="02040503050406030204" pitchFamily="18" charset="0"/>
              </a:rPr>
              <a:t>onkeypress</a:t>
            </a:r>
            <a:r>
              <a:rPr lang="en-IN" sz="2000" dirty="0">
                <a:latin typeface="Cambria" panose="02040503050406030204" pitchFamily="18" charset="0"/>
              </a:rPr>
              <a:t> and </a:t>
            </a:r>
            <a:r>
              <a:rPr lang="en-IN" sz="2000" dirty="0" err="1">
                <a:latin typeface="Cambria" panose="02040503050406030204" pitchFamily="18" charset="0"/>
              </a:rPr>
              <a:t>onkeyup</a:t>
            </a:r>
            <a:endParaRPr lang="en-IN" sz="2000" dirty="0">
              <a:latin typeface="Cambria" panose="02040503050406030204" pitchFamily="18" charset="0"/>
            </a:endParaRPr>
          </a:p>
        </p:txBody>
      </p:sp>
    </p:spTree>
    <p:extLst>
      <p:ext uri="{BB962C8B-B14F-4D97-AF65-F5344CB8AC3E}">
        <p14:creationId xmlns:p14="http://schemas.microsoft.com/office/powerpoint/2010/main" val="30206368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HTML Events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1548099" y="1227775"/>
            <a:ext cx="4377061" cy="3170099"/>
          </a:xfrm>
          <a:prstGeom prst="rect">
            <a:avLst/>
          </a:prstGeom>
        </p:spPr>
        <p:txBody>
          <a:bodyPr wrap="square">
            <a:spAutoFit/>
          </a:bodyPr>
          <a:lstStyle/>
          <a:p>
            <a:pPr algn="just"/>
            <a:r>
              <a:rPr lang="en-IN" sz="2000" b="1" dirty="0">
                <a:latin typeface="Cambria" panose="02040503050406030204" pitchFamily="18" charset="0"/>
              </a:rPr>
              <a:t>Mouse Events: </a:t>
            </a:r>
          </a:p>
          <a:p>
            <a:pPr marL="342900" indent="-342900" algn="just">
              <a:buFont typeface="Arial" panose="020B0604020202020204" pitchFamily="34" charset="0"/>
              <a:buChar char="•"/>
            </a:pPr>
            <a:r>
              <a:rPr lang="en-IN" sz="2000" dirty="0" err="1">
                <a:latin typeface="Cambria" panose="02040503050406030204" pitchFamily="18" charset="0"/>
              </a:rPr>
              <a:t>onclick</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onmouseover</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onmousedown</a:t>
            </a:r>
            <a:endParaRPr lang="en-IN" sz="2000" dirty="0">
              <a:latin typeface="Cambria" panose="02040503050406030204" pitchFamily="18" charset="0"/>
            </a:endParaRPr>
          </a:p>
          <a:p>
            <a:pPr algn="just"/>
            <a:endParaRPr lang="en-IN" sz="2000" dirty="0">
              <a:latin typeface="Cambria" panose="02040503050406030204" pitchFamily="18" charset="0"/>
            </a:endParaRPr>
          </a:p>
          <a:p>
            <a:pPr algn="just"/>
            <a:r>
              <a:rPr lang="en-IN" sz="2000" b="1" dirty="0">
                <a:latin typeface="Cambria" panose="02040503050406030204" pitchFamily="18" charset="0"/>
              </a:rPr>
              <a:t>Drag Events:</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ondragstart</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ondragenter</a:t>
            </a:r>
            <a:endParaRPr lang="en-IN" sz="2000" dirty="0">
              <a:latin typeface="Cambria" panose="02040503050406030204" pitchFamily="18" charset="0"/>
            </a:endParaRPr>
          </a:p>
          <a:p>
            <a:pPr marL="342900" indent="-342900" algn="just">
              <a:buFont typeface="Arial" panose="020B0604020202020204" pitchFamily="34" charset="0"/>
              <a:buChar char="•"/>
            </a:pPr>
            <a:r>
              <a:rPr lang="en-IN" sz="2000" dirty="0" err="1">
                <a:latin typeface="Cambria" panose="02040503050406030204" pitchFamily="18" charset="0"/>
              </a:rPr>
              <a:t>ondrop</a:t>
            </a:r>
            <a:endParaRPr lang="en-IN" sz="2000" dirty="0">
              <a:latin typeface="Cambria" panose="02040503050406030204" pitchFamily="18" charset="0"/>
            </a:endParaRPr>
          </a:p>
          <a:p>
            <a:pPr algn="just"/>
            <a:endParaRPr lang="en-IN" sz="2000" b="1" dirty="0">
              <a:latin typeface="Cambria" panose="02040503050406030204" pitchFamily="18" charset="0"/>
            </a:endParaRPr>
          </a:p>
        </p:txBody>
      </p:sp>
      <p:sp>
        <p:nvSpPr>
          <p:cNvPr id="6" name="Rectangle 5"/>
          <p:cNvSpPr/>
          <p:nvPr/>
        </p:nvSpPr>
        <p:spPr>
          <a:xfrm>
            <a:off x="6310258" y="1227775"/>
            <a:ext cx="4377061" cy="2862322"/>
          </a:xfrm>
          <a:prstGeom prst="rect">
            <a:avLst/>
          </a:prstGeom>
        </p:spPr>
        <p:txBody>
          <a:bodyPr wrap="square">
            <a:spAutoFit/>
          </a:bodyPr>
          <a:lstStyle/>
          <a:p>
            <a:pPr algn="just"/>
            <a:r>
              <a:rPr lang="en-IN" sz="2000" b="1" dirty="0">
                <a:latin typeface="Cambria" panose="02040503050406030204" pitchFamily="18" charset="0"/>
              </a:rPr>
              <a:t>Clipboard Events:</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oncopy</a:t>
            </a:r>
            <a:endParaRPr lang="en-IN" sz="2000" dirty="0">
              <a:latin typeface="Cambria" panose="02040503050406030204" pitchFamily="18" charset="0"/>
            </a:endParaRPr>
          </a:p>
          <a:p>
            <a:pPr marL="342900" indent="-342900" algn="just">
              <a:buFont typeface="Arial" panose="020B0604020202020204" pitchFamily="34" charset="0"/>
              <a:buChar char="•"/>
            </a:pPr>
            <a:r>
              <a:rPr lang="en-IN" sz="2000" dirty="0" err="1">
                <a:latin typeface="Cambria" panose="02040503050406030204" pitchFamily="18" charset="0"/>
              </a:rPr>
              <a:t>oncut</a:t>
            </a:r>
            <a:endParaRPr lang="en-IN" sz="2000" dirty="0">
              <a:latin typeface="Cambria" panose="02040503050406030204" pitchFamily="18" charset="0"/>
            </a:endParaRPr>
          </a:p>
          <a:p>
            <a:pPr marL="342900" indent="-342900" algn="just">
              <a:buFont typeface="Arial" panose="020B0604020202020204" pitchFamily="34" charset="0"/>
              <a:buChar char="•"/>
            </a:pPr>
            <a:r>
              <a:rPr lang="en-IN" sz="2000" dirty="0" err="1">
                <a:latin typeface="Cambria" panose="02040503050406030204" pitchFamily="18" charset="0"/>
              </a:rPr>
              <a:t>onpaste</a:t>
            </a:r>
            <a:endParaRPr lang="en-IN" sz="2000" dirty="0">
              <a:latin typeface="Cambria" panose="02040503050406030204" pitchFamily="18" charset="0"/>
            </a:endParaRPr>
          </a:p>
          <a:p>
            <a:pPr algn="just"/>
            <a:endParaRPr lang="en-IN" sz="2000" dirty="0">
              <a:latin typeface="Cambria" panose="02040503050406030204" pitchFamily="18" charset="0"/>
            </a:endParaRPr>
          </a:p>
          <a:p>
            <a:pPr algn="just"/>
            <a:r>
              <a:rPr lang="en-IN" sz="2000" b="1" dirty="0">
                <a:latin typeface="Cambria" panose="02040503050406030204" pitchFamily="18" charset="0"/>
              </a:rPr>
              <a:t>Media Events:</a:t>
            </a:r>
            <a:r>
              <a:rPr lang="en-IN" sz="2000" dirty="0">
                <a:latin typeface="Cambria" panose="02040503050406030204" pitchFamily="18" charset="0"/>
              </a:rPr>
              <a:t> </a:t>
            </a:r>
          </a:p>
          <a:p>
            <a:pPr marL="342900" indent="-342900" algn="just">
              <a:buFont typeface="Arial" panose="020B0604020202020204" pitchFamily="34" charset="0"/>
              <a:buChar char="•"/>
            </a:pPr>
            <a:r>
              <a:rPr lang="en-IN" sz="2000" dirty="0" err="1">
                <a:latin typeface="Cambria" panose="02040503050406030204" pitchFamily="18" charset="0"/>
              </a:rPr>
              <a:t>onplay</a:t>
            </a:r>
            <a:endParaRPr lang="en-IN" sz="2000" dirty="0">
              <a:latin typeface="Cambria" panose="02040503050406030204" pitchFamily="18" charset="0"/>
            </a:endParaRPr>
          </a:p>
          <a:p>
            <a:pPr marL="342900" indent="-342900" algn="just">
              <a:buFont typeface="Arial" panose="020B0604020202020204" pitchFamily="34" charset="0"/>
              <a:buChar char="•"/>
            </a:pPr>
            <a:r>
              <a:rPr lang="en-IN" sz="2000" dirty="0" err="1">
                <a:latin typeface="Cambria" panose="02040503050406030204" pitchFamily="18" charset="0"/>
              </a:rPr>
              <a:t>onpause</a:t>
            </a:r>
            <a:endParaRPr lang="en-IN" sz="2000" dirty="0">
              <a:latin typeface="Cambria" panose="02040503050406030204" pitchFamily="18" charset="0"/>
            </a:endParaRPr>
          </a:p>
          <a:p>
            <a:pPr marL="342900" indent="-342900" algn="just">
              <a:buFont typeface="Arial" panose="020B0604020202020204" pitchFamily="34" charset="0"/>
              <a:buChar char="•"/>
            </a:pPr>
            <a:r>
              <a:rPr lang="en-IN" sz="2000" dirty="0" err="1">
                <a:latin typeface="Cambria" panose="02040503050406030204" pitchFamily="18" charset="0"/>
              </a:rPr>
              <a:t>onended</a:t>
            </a:r>
            <a:endParaRPr lang="en-IN" sz="2000" dirty="0">
              <a:latin typeface="Cambria" panose="02040503050406030204" pitchFamily="18" charset="0"/>
            </a:endParaRPr>
          </a:p>
        </p:txBody>
      </p:sp>
    </p:spTree>
    <p:extLst>
      <p:ext uri="{BB962C8B-B14F-4D97-AF65-F5344CB8AC3E}">
        <p14:creationId xmlns:p14="http://schemas.microsoft.com/office/powerpoint/2010/main" val="1928258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Audio and Video in HTML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659457" y="1227775"/>
            <a:ext cx="10635315" cy="4093428"/>
          </a:xfrm>
          <a:prstGeom prst="rect">
            <a:avLst/>
          </a:prstGeom>
        </p:spPr>
        <p:txBody>
          <a:bodyPr wrap="square">
            <a:spAutoFit/>
          </a:bodyPr>
          <a:lstStyle/>
          <a:p>
            <a:pPr algn="just"/>
            <a:r>
              <a:rPr lang="en-IN" sz="2000" dirty="0">
                <a:latin typeface="Cambria" panose="02040503050406030204" pitchFamily="18" charset="0"/>
              </a:rPr>
              <a:t>HTML5 makes it easy to embed audio and video directly into your web pages using the &lt;audio&gt; and &lt;video&gt; tags respectively.</a:t>
            </a:r>
          </a:p>
          <a:p>
            <a:pPr algn="just"/>
            <a:endParaRPr lang="en-IN" sz="2000" dirty="0">
              <a:latin typeface="Cambria" panose="02040503050406030204" pitchFamily="18" charset="0"/>
            </a:endParaRPr>
          </a:p>
          <a:p>
            <a:pPr algn="just"/>
            <a:r>
              <a:rPr lang="en-IN" sz="2000" b="1" dirty="0">
                <a:latin typeface="Cambria" panose="02040503050406030204" pitchFamily="18" charset="0"/>
              </a:rPr>
              <a:t>1. Adding audio</a:t>
            </a:r>
          </a:p>
          <a:p>
            <a:pPr algn="just"/>
            <a:endParaRPr lang="en-IN" sz="2000" dirty="0">
              <a:latin typeface="Cambria" panose="02040503050406030204" pitchFamily="18" charset="0"/>
            </a:endParaRPr>
          </a:p>
          <a:p>
            <a:pPr algn="just"/>
            <a:r>
              <a:rPr lang="en-IN" sz="2000" dirty="0">
                <a:latin typeface="Cambria" panose="02040503050406030204" pitchFamily="18" charset="0"/>
              </a:rPr>
              <a:t>To include an audio file in your HTML, use the &lt;audio&gt; tag.</a:t>
            </a:r>
          </a:p>
          <a:p>
            <a:pPr algn="just"/>
            <a:endParaRPr lang="en-IN" sz="2000" dirty="0">
              <a:latin typeface="Cambria" panose="02040503050406030204" pitchFamily="18" charset="0"/>
            </a:endParaRPr>
          </a:p>
          <a:p>
            <a:pPr algn="just"/>
            <a:r>
              <a:rPr lang="en-IN" sz="2000" dirty="0">
                <a:latin typeface="Cambria" panose="02040503050406030204" pitchFamily="18" charset="0"/>
              </a:rPr>
              <a:t>&lt;audio controls&gt;</a:t>
            </a:r>
          </a:p>
          <a:p>
            <a:pPr lvl="1" algn="just"/>
            <a:r>
              <a:rPr lang="en-IN" sz="2000" dirty="0">
                <a:latin typeface="Cambria" panose="02040503050406030204" pitchFamily="18" charset="0"/>
              </a:rPr>
              <a:t>  &lt;source </a:t>
            </a:r>
            <a:r>
              <a:rPr lang="en-IN" sz="2000" dirty="0" err="1">
                <a:latin typeface="Cambria" panose="02040503050406030204" pitchFamily="18" charset="0"/>
              </a:rPr>
              <a:t>src</a:t>
            </a:r>
            <a:r>
              <a:rPr lang="en-IN" sz="2000" dirty="0">
                <a:latin typeface="Cambria" panose="02040503050406030204" pitchFamily="18" charset="0"/>
              </a:rPr>
              <a:t>="audio.mp3" type="audio/mpeg"&gt;</a:t>
            </a:r>
          </a:p>
          <a:p>
            <a:pPr lvl="1" algn="just"/>
            <a:r>
              <a:rPr lang="en-IN" sz="2000" dirty="0">
                <a:latin typeface="Cambria" panose="02040503050406030204" pitchFamily="18" charset="0"/>
              </a:rPr>
              <a:t>  &lt;source </a:t>
            </a:r>
            <a:r>
              <a:rPr lang="en-IN" sz="2000" dirty="0" err="1">
                <a:latin typeface="Cambria" panose="02040503050406030204" pitchFamily="18" charset="0"/>
              </a:rPr>
              <a:t>src</a:t>
            </a:r>
            <a:r>
              <a:rPr lang="en-IN" sz="2000" dirty="0">
                <a:latin typeface="Cambria" panose="02040503050406030204" pitchFamily="18" charset="0"/>
              </a:rPr>
              <a:t>="audio.ogg" type="audio/</a:t>
            </a:r>
            <a:r>
              <a:rPr lang="en-IN" sz="2000" dirty="0" err="1">
                <a:latin typeface="Cambria" panose="02040503050406030204" pitchFamily="18" charset="0"/>
              </a:rPr>
              <a:t>ogg</a:t>
            </a:r>
            <a:r>
              <a:rPr lang="en-IN" sz="2000" dirty="0">
                <a:latin typeface="Cambria" panose="02040503050406030204" pitchFamily="18" charset="0"/>
              </a:rPr>
              <a:t>"&gt;</a:t>
            </a:r>
          </a:p>
          <a:p>
            <a:pPr lvl="1" algn="just"/>
            <a:r>
              <a:rPr lang="en-IN" sz="2000" dirty="0">
                <a:latin typeface="Cambria" panose="02040503050406030204" pitchFamily="18" charset="0"/>
              </a:rPr>
              <a:t>  Your browser does not support the audio element.</a:t>
            </a:r>
          </a:p>
          <a:p>
            <a:pPr algn="just"/>
            <a:r>
              <a:rPr lang="en-IN" sz="2000" dirty="0">
                <a:latin typeface="Cambria" panose="02040503050406030204" pitchFamily="18" charset="0"/>
              </a:rPr>
              <a:t>&lt;/audio&gt;</a:t>
            </a:r>
          </a:p>
          <a:p>
            <a:pPr algn="just"/>
            <a:endParaRPr lang="en-IN" sz="2000" dirty="0">
              <a:latin typeface="Cambria" panose="02040503050406030204" pitchFamily="18" charset="0"/>
            </a:endParaRPr>
          </a:p>
        </p:txBody>
      </p:sp>
    </p:spTree>
    <p:extLst>
      <p:ext uri="{BB962C8B-B14F-4D97-AF65-F5344CB8AC3E}">
        <p14:creationId xmlns:p14="http://schemas.microsoft.com/office/powerpoint/2010/main" val="24611534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Audio and Video in HTML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62365" y="1227775"/>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659457" y="1227775"/>
            <a:ext cx="10635315" cy="2246769"/>
          </a:xfrm>
          <a:prstGeom prst="rect">
            <a:avLst/>
          </a:prstGeom>
        </p:spPr>
        <p:txBody>
          <a:bodyPr wrap="square">
            <a:spAutoFit/>
          </a:bodyPr>
          <a:lstStyle/>
          <a:p>
            <a:pPr algn="just"/>
            <a:r>
              <a:rPr lang="en-IN" sz="2000" b="1" dirty="0">
                <a:latin typeface="Cambria" panose="02040503050406030204" pitchFamily="18" charset="0"/>
              </a:rPr>
              <a:t>2. Adding video</a:t>
            </a:r>
          </a:p>
          <a:p>
            <a:pPr algn="just"/>
            <a:endParaRPr lang="en-IN" sz="2000" dirty="0">
              <a:latin typeface="Cambria" panose="02040503050406030204" pitchFamily="18" charset="0"/>
            </a:endParaRPr>
          </a:p>
          <a:p>
            <a:pPr algn="just"/>
            <a:r>
              <a:rPr lang="en-IN" sz="2000" dirty="0">
                <a:latin typeface="Cambria" panose="02040503050406030204" pitchFamily="18" charset="0"/>
              </a:rPr>
              <a:t>&lt;video controls width="320" height="240" poster="image.jpg"&gt;</a:t>
            </a:r>
          </a:p>
          <a:p>
            <a:pPr algn="just"/>
            <a:r>
              <a:rPr lang="en-IN" sz="2000" dirty="0">
                <a:latin typeface="Cambria" panose="02040503050406030204" pitchFamily="18" charset="0"/>
              </a:rPr>
              <a:t>  &lt;source </a:t>
            </a:r>
            <a:r>
              <a:rPr lang="en-IN" sz="2000" dirty="0" err="1">
                <a:latin typeface="Cambria" panose="02040503050406030204" pitchFamily="18" charset="0"/>
              </a:rPr>
              <a:t>src</a:t>
            </a:r>
            <a:r>
              <a:rPr lang="en-IN" sz="2000" dirty="0">
                <a:latin typeface="Cambria" panose="02040503050406030204" pitchFamily="18" charset="0"/>
              </a:rPr>
              <a:t>="video.mp4" type="video/mp4"&gt;</a:t>
            </a:r>
          </a:p>
          <a:p>
            <a:pPr algn="just"/>
            <a:r>
              <a:rPr lang="en-IN" sz="2000" dirty="0">
                <a:latin typeface="Cambria" panose="02040503050406030204" pitchFamily="18" charset="0"/>
              </a:rPr>
              <a:t>  &lt;source </a:t>
            </a:r>
            <a:r>
              <a:rPr lang="en-IN" sz="2000" dirty="0" err="1">
                <a:latin typeface="Cambria" panose="02040503050406030204" pitchFamily="18" charset="0"/>
              </a:rPr>
              <a:t>src</a:t>
            </a:r>
            <a:r>
              <a:rPr lang="en-IN" sz="2000" dirty="0">
                <a:latin typeface="Cambria" panose="02040503050406030204" pitchFamily="18" charset="0"/>
              </a:rPr>
              <a:t>="</a:t>
            </a:r>
            <a:r>
              <a:rPr lang="en-IN" sz="2000" dirty="0" err="1">
                <a:latin typeface="Cambria" panose="02040503050406030204" pitchFamily="18" charset="0"/>
              </a:rPr>
              <a:t>video.webm</a:t>
            </a:r>
            <a:r>
              <a:rPr lang="en-IN" sz="2000" dirty="0">
                <a:latin typeface="Cambria" panose="02040503050406030204" pitchFamily="18" charset="0"/>
              </a:rPr>
              <a:t>" type="video/</a:t>
            </a:r>
            <a:r>
              <a:rPr lang="en-IN" sz="2000" dirty="0" err="1">
                <a:latin typeface="Cambria" panose="02040503050406030204" pitchFamily="18" charset="0"/>
              </a:rPr>
              <a:t>webm</a:t>
            </a:r>
            <a:r>
              <a:rPr lang="en-IN" sz="2000" dirty="0">
                <a:latin typeface="Cambria" panose="02040503050406030204" pitchFamily="18" charset="0"/>
              </a:rPr>
              <a:t>"&gt;</a:t>
            </a:r>
          </a:p>
          <a:p>
            <a:pPr algn="just"/>
            <a:r>
              <a:rPr lang="en-IN" sz="2000" dirty="0">
                <a:latin typeface="Cambria" panose="02040503050406030204" pitchFamily="18" charset="0"/>
              </a:rPr>
              <a:t>  Your browser does not support the video element.</a:t>
            </a:r>
          </a:p>
          <a:p>
            <a:pPr algn="just"/>
            <a:r>
              <a:rPr lang="en-IN" sz="2000" dirty="0">
                <a:latin typeface="Cambria" panose="02040503050406030204" pitchFamily="18" charset="0"/>
              </a:rPr>
              <a:t>&lt;/video&gt;</a:t>
            </a:r>
          </a:p>
        </p:txBody>
      </p:sp>
    </p:spTree>
    <p:extLst>
      <p:ext uri="{BB962C8B-B14F-4D97-AF65-F5344CB8AC3E}">
        <p14:creationId xmlns:p14="http://schemas.microsoft.com/office/powerpoint/2010/main" val="14169292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Audio and Video in HTML</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5324535"/>
          </a:xfrm>
          <a:prstGeom prst="rect">
            <a:avLst/>
          </a:prstGeom>
        </p:spPr>
        <p:txBody>
          <a:bodyPr wrap="square">
            <a:spAutoFit/>
          </a:bodyPr>
          <a:lstStyle/>
          <a:p>
            <a:pPr algn="just"/>
            <a:r>
              <a:rPr lang="en-IN" sz="2000" b="1" dirty="0">
                <a:latin typeface="Cambria" panose="02040503050406030204" pitchFamily="18" charset="0"/>
              </a:rPr>
              <a:t>3. Embedding YouTube videos</a:t>
            </a:r>
          </a:p>
          <a:p>
            <a:pPr algn="just"/>
            <a:endParaRPr lang="en-IN" sz="2000" dirty="0">
              <a:latin typeface="Cambria" panose="02040503050406030204" pitchFamily="18" charset="0"/>
            </a:endParaRPr>
          </a:p>
          <a:p>
            <a:pPr algn="just"/>
            <a:r>
              <a:rPr lang="en-IN" sz="2000" dirty="0">
                <a:latin typeface="Cambria" panose="02040503050406030204" pitchFamily="18" charset="0"/>
              </a:rPr>
              <a:t>You can embed YouTube videos into your HTML using the &lt;</a:t>
            </a:r>
            <a:r>
              <a:rPr lang="en-IN" sz="2000" dirty="0" err="1">
                <a:latin typeface="Cambria" panose="02040503050406030204" pitchFamily="18" charset="0"/>
              </a:rPr>
              <a:t>iframe</a:t>
            </a:r>
            <a:r>
              <a:rPr lang="en-IN" sz="2000" dirty="0">
                <a:latin typeface="Cambria" panose="02040503050406030204" pitchFamily="18" charset="0"/>
              </a:rPr>
              <a:t>&gt; tag. </a:t>
            </a:r>
          </a:p>
          <a:p>
            <a:pPr algn="just"/>
            <a:endParaRPr lang="en-IN" sz="2000" b="1" dirty="0">
              <a:latin typeface="Cambria" panose="02040503050406030204" pitchFamily="18" charset="0"/>
            </a:endParaRPr>
          </a:p>
          <a:p>
            <a:pPr algn="just"/>
            <a:r>
              <a:rPr lang="en-IN" sz="2000" b="1" dirty="0">
                <a:latin typeface="Cambria" panose="02040503050406030204" pitchFamily="18" charset="0"/>
              </a:rPr>
              <a:t>Steps:</a:t>
            </a:r>
          </a:p>
          <a:p>
            <a:pPr algn="just"/>
            <a:endParaRPr lang="en-IN" sz="2000" b="1" dirty="0">
              <a:latin typeface="Cambria" panose="02040503050406030204" pitchFamily="18" charset="0"/>
            </a:endParaRPr>
          </a:p>
          <a:p>
            <a:pPr marL="342900" indent="-342900" algn="just">
              <a:buFont typeface="Arial" panose="020B0604020202020204" pitchFamily="34" charset="0"/>
              <a:buChar char="•"/>
            </a:pPr>
            <a:r>
              <a:rPr lang="en-IN" sz="2000" dirty="0">
                <a:latin typeface="Cambria" panose="02040503050406030204" pitchFamily="18" charset="0"/>
              </a:rPr>
              <a:t>Go to the YouTube video you want to embed.</a:t>
            </a:r>
          </a:p>
          <a:p>
            <a:pPr marL="342900" indent="-342900" algn="just">
              <a:buFont typeface="Arial" panose="020B0604020202020204" pitchFamily="34" charset="0"/>
              <a:buChar char="•"/>
            </a:pPr>
            <a:r>
              <a:rPr lang="en-IN" sz="2000" dirty="0">
                <a:latin typeface="Cambria" panose="02040503050406030204" pitchFamily="18" charset="0"/>
              </a:rPr>
              <a:t>Click the "Share" button.</a:t>
            </a:r>
          </a:p>
          <a:p>
            <a:pPr marL="342900" indent="-342900" algn="just">
              <a:buFont typeface="Arial" panose="020B0604020202020204" pitchFamily="34" charset="0"/>
              <a:buChar char="•"/>
            </a:pPr>
            <a:r>
              <a:rPr lang="en-IN" sz="2000" dirty="0">
                <a:latin typeface="Cambria" panose="02040503050406030204" pitchFamily="18" charset="0"/>
              </a:rPr>
              <a:t>Select the "Embed" option.</a:t>
            </a:r>
          </a:p>
          <a:p>
            <a:pPr marL="342900" indent="-342900" algn="just">
              <a:buFont typeface="Arial" panose="020B0604020202020204" pitchFamily="34" charset="0"/>
              <a:buChar char="•"/>
            </a:pPr>
            <a:r>
              <a:rPr lang="en-IN" sz="2000" dirty="0">
                <a:latin typeface="Cambria" panose="02040503050406030204" pitchFamily="18" charset="0"/>
              </a:rPr>
              <a:t>Copy the generated HTML code.</a:t>
            </a:r>
          </a:p>
          <a:p>
            <a:pPr marL="342900" indent="-342900" algn="just">
              <a:buFont typeface="Arial" panose="020B0604020202020204" pitchFamily="34" charset="0"/>
              <a:buChar char="•"/>
            </a:pPr>
            <a:r>
              <a:rPr lang="en-IN" sz="2000" dirty="0">
                <a:latin typeface="Cambria" panose="02040503050406030204" pitchFamily="18" charset="0"/>
              </a:rPr>
              <a:t>Paste the code into your HTML document where you want the video to appear.</a:t>
            </a:r>
          </a:p>
          <a:p>
            <a:pPr marL="342900" indent="-342900" algn="just">
              <a:buFont typeface="Arial" panose="020B0604020202020204" pitchFamily="34" charset="0"/>
              <a:buChar char="•"/>
            </a:pPr>
            <a:endParaRPr lang="en-IN" sz="2000" dirty="0">
              <a:latin typeface="Cambria" panose="02040503050406030204" pitchFamily="18" charset="0"/>
            </a:endParaRPr>
          </a:p>
          <a:p>
            <a:pPr algn="just"/>
            <a:r>
              <a:rPr lang="en-IN" sz="2000" dirty="0">
                <a:latin typeface="Cambria" panose="02040503050406030204" pitchFamily="18" charset="0"/>
              </a:rPr>
              <a:t>&lt;</a:t>
            </a:r>
            <a:r>
              <a:rPr lang="en-IN" sz="2000" dirty="0" err="1">
                <a:latin typeface="Cambria" panose="02040503050406030204" pitchFamily="18" charset="0"/>
              </a:rPr>
              <a:t>iframe</a:t>
            </a:r>
            <a:r>
              <a:rPr lang="en-IN" sz="2000" dirty="0">
                <a:latin typeface="Cambria" panose="02040503050406030204" pitchFamily="18" charset="0"/>
              </a:rPr>
              <a:t> width="560" height="315"</a:t>
            </a:r>
          </a:p>
          <a:p>
            <a:pPr algn="just"/>
            <a:r>
              <a:rPr lang="en-IN" sz="2000" dirty="0">
                <a:latin typeface="Cambria" panose="02040503050406030204" pitchFamily="18" charset="0"/>
              </a:rPr>
              <a:t>        </a:t>
            </a:r>
            <a:r>
              <a:rPr lang="en-IN" sz="2000" dirty="0" err="1">
                <a:latin typeface="Cambria" panose="02040503050406030204" pitchFamily="18" charset="0"/>
              </a:rPr>
              <a:t>src</a:t>
            </a:r>
            <a:r>
              <a:rPr lang="en-IN" sz="2000" dirty="0">
                <a:latin typeface="Cambria" panose="02040503050406030204" pitchFamily="18" charset="0"/>
              </a:rPr>
              <a:t>="https://www.youtube.com/embed/VIDEO_ID?autoplay=1&amp;mute=1"</a:t>
            </a:r>
          </a:p>
          <a:p>
            <a:pPr algn="just"/>
            <a:r>
              <a:rPr lang="en-IN" sz="2000" dirty="0">
                <a:latin typeface="Cambria" panose="02040503050406030204" pitchFamily="18" charset="0"/>
              </a:rPr>
              <a:t>        allow="</a:t>
            </a:r>
            <a:r>
              <a:rPr lang="en-IN" sz="2000" dirty="0" err="1">
                <a:latin typeface="Cambria" panose="02040503050406030204" pitchFamily="18" charset="0"/>
              </a:rPr>
              <a:t>autoplay</a:t>
            </a:r>
            <a:r>
              <a:rPr lang="en-IN" sz="2000" dirty="0">
                <a:latin typeface="Cambria" panose="02040503050406030204" pitchFamily="18" charset="0"/>
              </a:rPr>
              <a:t>; encrypted-media"</a:t>
            </a:r>
          </a:p>
          <a:p>
            <a:pPr algn="just"/>
            <a:r>
              <a:rPr lang="en-IN" sz="2000" dirty="0">
                <a:latin typeface="Cambria" panose="02040503050406030204" pitchFamily="18" charset="0"/>
              </a:rPr>
              <a:t>        </a:t>
            </a:r>
            <a:r>
              <a:rPr lang="en-IN" sz="2000" dirty="0" err="1">
                <a:latin typeface="Cambria" panose="02040503050406030204" pitchFamily="18" charset="0"/>
              </a:rPr>
              <a:t>frameborder</a:t>
            </a:r>
            <a:r>
              <a:rPr lang="en-IN" sz="2000" dirty="0">
                <a:latin typeface="Cambria" panose="02040503050406030204" pitchFamily="18" charset="0"/>
              </a:rPr>
              <a:t>="0" </a:t>
            </a:r>
            <a:r>
              <a:rPr lang="en-IN" sz="2000" dirty="0" err="1">
                <a:latin typeface="Cambria" panose="02040503050406030204" pitchFamily="18" charset="0"/>
              </a:rPr>
              <a:t>allowfullscreen</a:t>
            </a:r>
            <a:r>
              <a:rPr lang="en-IN" sz="2000" dirty="0">
                <a:latin typeface="Cambria" panose="02040503050406030204" pitchFamily="18" charset="0"/>
              </a:rPr>
              <a:t>&gt;</a:t>
            </a:r>
          </a:p>
          <a:p>
            <a:pPr algn="just"/>
            <a:r>
              <a:rPr lang="en-IN" sz="2000" dirty="0">
                <a:latin typeface="Cambria" panose="02040503050406030204" pitchFamily="18" charset="0"/>
              </a:rPr>
              <a:t>&lt;/</a:t>
            </a:r>
            <a:r>
              <a:rPr lang="en-IN" sz="2000" dirty="0" err="1">
                <a:latin typeface="Cambria" panose="02040503050406030204" pitchFamily="18" charset="0"/>
              </a:rPr>
              <a:t>iframe</a:t>
            </a:r>
            <a:r>
              <a:rPr lang="en-IN" sz="2000" dirty="0">
                <a:latin typeface="Cambria" panose="02040503050406030204" pitchFamily="18" charset="0"/>
              </a:rPr>
              <a:t>&gt;</a:t>
            </a:r>
          </a:p>
        </p:txBody>
      </p:sp>
    </p:spTree>
    <p:extLst>
      <p:ext uri="{BB962C8B-B14F-4D97-AF65-F5344CB8AC3E}">
        <p14:creationId xmlns:p14="http://schemas.microsoft.com/office/powerpoint/2010/main" val="20500826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Web Form and Validation</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893647"/>
          </a:xfrm>
          <a:prstGeom prst="rect">
            <a:avLst/>
          </a:prstGeom>
        </p:spPr>
        <p:txBody>
          <a:bodyPr wrap="square">
            <a:spAutoFit/>
          </a:bodyPr>
          <a:lstStyle/>
          <a:p>
            <a:pPr algn="just"/>
            <a:r>
              <a:rPr lang="en-IN" sz="2400" dirty="0">
                <a:latin typeface="Cambria" panose="02040503050406030204" pitchFamily="18" charset="0"/>
              </a:rPr>
              <a:t>To collect information from user, there is need to generate form.</a:t>
            </a:r>
          </a:p>
          <a:p>
            <a:pPr algn="just"/>
            <a:endParaRPr lang="en-IN" sz="2400" dirty="0">
              <a:latin typeface="Cambria" panose="02040503050406030204" pitchFamily="18" charset="0"/>
            </a:endParaRPr>
          </a:p>
          <a:p>
            <a:pPr algn="just"/>
            <a:r>
              <a:rPr lang="en-IN" sz="2400" b="1" dirty="0">
                <a:latin typeface="Cambria" panose="02040503050406030204" pitchFamily="18" charset="0"/>
              </a:rPr>
              <a:t>The &lt;form&gt; Element</a:t>
            </a:r>
          </a:p>
          <a:p>
            <a:pPr algn="just"/>
            <a:r>
              <a:rPr lang="en-IN" sz="2400" dirty="0">
                <a:latin typeface="Cambria" panose="02040503050406030204" pitchFamily="18" charset="0"/>
              </a:rPr>
              <a:t>HTML &lt;form&gt; element defines a form that is used to collect user input.</a:t>
            </a:r>
          </a:p>
          <a:p>
            <a:pPr algn="just"/>
            <a:endParaRPr lang="en-IN" sz="2400" dirty="0">
              <a:latin typeface="Cambria" panose="02040503050406030204" pitchFamily="18" charset="0"/>
            </a:endParaRPr>
          </a:p>
          <a:p>
            <a:pPr algn="just"/>
            <a:r>
              <a:rPr lang="en-IN" sz="2400" b="1" dirty="0">
                <a:solidFill>
                  <a:srgbClr val="FF0000"/>
                </a:solidFill>
                <a:latin typeface="Cambria" panose="02040503050406030204" pitchFamily="18" charset="0"/>
              </a:rPr>
              <a:t>&lt;form&gt;</a:t>
            </a:r>
          </a:p>
          <a:p>
            <a:pPr algn="just"/>
            <a:r>
              <a:rPr lang="en-IN" sz="2400" b="1" dirty="0">
                <a:solidFill>
                  <a:srgbClr val="FF0000"/>
                </a:solidFill>
                <a:latin typeface="Cambria" panose="02040503050406030204" pitchFamily="18" charset="0"/>
              </a:rPr>
              <a:t>	Form elements</a:t>
            </a:r>
          </a:p>
          <a:p>
            <a:pPr algn="just"/>
            <a:r>
              <a:rPr lang="en-IN" sz="2400" b="1" dirty="0">
                <a:solidFill>
                  <a:srgbClr val="FF0000"/>
                </a:solidFill>
                <a:latin typeface="Cambria" panose="02040503050406030204" pitchFamily="18" charset="0"/>
              </a:rPr>
              <a:t>&lt;/form&gt;</a:t>
            </a:r>
          </a:p>
          <a:p>
            <a:pPr algn="just"/>
            <a:endParaRPr lang="en-IN" sz="2400" dirty="0">
              <a:latin typeface="Cambria" panose="02040503050406030204" pitchFamily="18" charset="0"/>
            </a:endParaRPr>
          </a:p>
          <a:p>
            <a:pPr algn="just"/>
            <a:r>
              <a:rPr lang="en-IN" sz="2400" dirty="0">
                <a:latin typeface="Cambria" panose="02040503050406030204" pitchFamily="18" charset="0"/>
              </a:rPr>
              <a:t>An HTML form contains form elements.</a:t>
            </a:r>
          </a:p>
          <a:p>
            <a:pPr algn="just"/>
            <a:endParaRPr lang="en-IN" sz="2400" dirty="0">
              <a:latin typeface="Cambria" panose="02040503050406030204" pitchFamily="18" charset="0"/>
            </a:endParaRPr>
          </a:p>
          <a:p>
            <a:pPr algn="just"/>
            <a:r>
              <a:rPr lang="en-IN" sz="2400" dirty="0">
                <a:latin typeface="Cambria" panose="02040503050406030204" pitchFamily="18" charset="0"/>
              </a:rPr>
              <a:t>Form elements are different types of input elements, like text fields, checkboxes, radio buttons, submit buttons, and more.</a:t>
            </a:r>
          </a:p>
        </p:txBody>
      </p:sp>
    </p:spTree>
    <p:extLst>
      <p:ext uri="{BB962C8B-B14F-4D97-AF65-F5344CB8AC3E}">
        <p14:creationId xmlns:p14="http://schemas.microsoft.com/office/powerpoint/2010/main" val="27545650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Web Form and Validation</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95596716"/>
              </p:ext>
            </p:extLst>
          </p:nvPr>
        </p:nvGraphicFramePr>
        <p:xfrm>
          <a:off x="785058" y="1329815"/>
          <a:ext cx="10177170" cy="4929322"/>
        </p:xfrm>
        <a:graphic>
          <a:graphicData uri="http://schemas.openxmlformats.org/drawingml/2006/table">
            <a:tbl>
              <a:tblPr firstRow="1" bandRow="1">
                <a:tableStyleId>{F5AB1C69-6EDB-4FF4-983F-18BD219EF322}</a:tableStyleId>
              </a:tblPr>
              <a:tblGrid>
                <a:gridCol w="5088585">
                  <a:extLst>
                    <a:ext uri="{9D8B030D-6E8A-4147-A177-3AD203B41FA5}">
                      <a16:colId xmlns:a16="http://schemas.microsoft.com/office/drawing/2014/main" val="20000"/>
                    </a:ext>
                  </a:extLst>
                </a:gridCol>
                <a:gridCol w="5088585">
                  <a:extLst>
                    <a:ext uri="{9D8B030D-6E8A-4147-A177-3AD203B41FA5}">
                      <a16:colId xmlns:a16="http://schemas.microsoft.com/office/drawing/2014/main" val="20001"/>
                    </a:ext>
                  </a:extLst>
                </a:gridCol>
              </a:tblGrid>
              <a:tr h="448679">
                <a:tc>
                  <a:txBody>
                    <a:bodyPr/>
                    <a:lstStyle/>
                    <a:p>
                      <a:r>
                        <a:rPr lang="en-IN" dirty="0"/>
                        <a:t>HTML Element</a:t>
                      </a:r>
                    </a:p>
                  </a:txBody>
                  <a:tcPr/>
                </a:tc>
                <a:tc>
                  <a:txBody>
                    <a:bodyPr/>
                    <a:lstStyle/>
                    <a:p>
                      <a:r>
                        <a:rPr lang="en-IN" dirty="0"/>
                        <a:t>Description</a:t>
                      </a:r>
                    </a:p>
                  </a:txBody>
                  <a:tcPr/>
                </a:tc>
                <a:extLst>
                  <a:ext uri="{0D108BD9-81ED-4DB2-BD59-A6C34878D82A}">
                    <a16:rowId xmlns:a16="http://schemas.microsoft.com/office/drawing/2014/main" val="10000"/>
                  </a:ext>
                </a:extLst>
              </a:tr>
              <a:tr h="448679">
                <a:tc>
                  <a:txBody>
                    <a:bodyPr/>
                    <a:lstStyle/>
                    <a:p>
                      <a:r>
                        <a:rPr lang="en-IN" dirty="0"/>
                        <a:t>&lt;form action="#"&gt;</a:t>
                      </a:r>
                    </a:p>
                  </a:txBody>
                  <a:tcPr/>
                </a:tc>
                <a:tc>
                  <a:txBody>
                    <a:bodyPr/>
                    <a:lstStyle/>
                    <a:p>
                      <a:r>
                        <a:rPr lang="en-IN" dirty="0"/>
                        <a:t>Starts a form block</a:t>
                      </a:r>
                    </a:p>
                  </a:txBody>
                  <a:tcPr/>
                </a:tc>
                <a:extLst>
                  <a:ext uri="{0D108BD9-81ED-4DB2-BD59-A6C34878D82A}">
                    <a16:rowId xmlns:a16="http://schemas.microsoft.com/office/drawing/2014/main" val="10001"/>
                  </a:ext>
                </a:extLst>
              </a:tr>
              <a:tr h="448679">
                <a:tc>
                  <a:txBody>
                    <a:bodyPr/>
                    <a:lstStyle/>
                    <a:p>
                      <a:r>
                        <a:rPr lang="en-IN" dirty="0"/>
                        <a:t>&lt;input type="text" name="username"&gt;</a:t>
                      </a:r>
                    </a:p>
                  </a:txBody>
                  <a:tcPr/>
                </a:tc>
                <a:tc>
                  <a:txBody>
                    <a:bodyPr/>
                    <a:lstStyle/>
                    <a:p>
                      <a:r>
                        <a:rPr lang="en-IN" dirty="0"/>
                        <a:t>Single-line text input.</a:t>
                      </a:r>
                    </a:p>
                  </a:txBody>
                  <a:tcPr/>
                </a:tc>
                <a:extLst>
                  <a:ext uri="{0D108BD9-81ED-4DB2-BD59-A6C34878D82A}">
                    <a16:rowId xmlns:a16="http://schemas.microsoft.com/office/drawing/2014/main" val="10002"/>
                  </a:ext>
                </a:extLst>
              </a:tr>
              <a:tr h="448679">
                <a:tc>
                  <a:txBody>
                    <a:bodyPr/>
                    <a:lstStyle/>
                    <a:p>
                      <a:r>
                        <a:rPr lang="en-IN" dirty="0"/>
                        <a:t>&lt;input type="password" name="password"&gt;</a:t>
                      </a:r>
                    </a:p>
                  </a:txBody>
                  <a:tcPr/>
                </a:tc>
                <a:tc>
                  <a:txBody>
                    <a:bodyPr/>
                    <a:lstStyle/>
                    <a:p>
                      <a:r>
                        <a:rPr lang="en-IN" dirty="0"/>
                        <a:t>Hidden-character input for passwords.</a:t>
                      </a:r>
                    </a:p>
                  </a:txBody>
                  <a:tcPr/>
                </a:tc>
                <a:extLst>
                  <a:ext uri="{0D108BD9-81ED-4DB2-BD59-A6C34878D82A}">
                    <a16:rowId xmlns:a16="http://schemas.microsoft.com/office/drawing/2014/main" val="10003"/>
                  </a:ext>
                </a:extLst>
              </a:tr>
              <a:tr h="442532">
                <a:tc>
                  <a:txBody>
                    <a:bodyPr/>
                    <a:lstStyle/>
                    <a:p>
                      <a:r>
                        <a:rPr lang="en-IN" dirty="0"/>
                        <a:t>&lt;input type="email" name="email"&gt;</a:t>
                      </a:r>
                    </a:p>
                  </a:txBody>
                  <a:tcPr/>
                </a:tc>
                <a:tc>
                  <a:txBody>
                    <a:bodyPr/>
                    <a:lstStyle/>
                    <a:p>
                      <a:r>
                        <a:rPr lang="en-IN" dirty="0"/>
                        <a:t>Input for email addresses. </a:t>
                      </a:r>
                    </a:p>
                  </a:txBody>
                  <a:tcPr/>
                </a:tc>
                <a:extLst>
                  <a:ext uri="{0D108BD9-81ED-4DB2-BD59-A6C34878D82A}">
                    <a16:rowId xmlns:a16="http://schemas.microsoft.com/office/drawing/2014/main" val="10004"/>
                  </a:ext>
                </a:extLst>
              </a:tr>
              <a:tr h="448679">
                <a:tc>
                  <a:txBody>
                    <a:bodyPr/>
                    <a:lstStyle/>
                    <a:p>
                      <a:r>
                        <a:rPr lang="en-IN" dirty="0"/>
                        <a:t>&lt;input type="radio" name="gender" value="male"&gt;</a:t>
                      </a:r>
                    </a:p>
                  </a:txBody>
                  <a:tcPr/>
                </a:tc>
                <a:tc>
                  <a:txBody>
                    <a:bodyPr/>
                    <a:lstStyle/>
                    <a:p>
                      <a:r>
                        <a:rPr lang="en-IN" dirty="0"/>
                        <a:t>Radio button (choose one). </a:t>
                      </a:r>
                    </a:p>
                  </a:txBody>
                  <a:tcPr/>
                </a:tc>
                <a:extLst>
                  <a:ext uri="{0D108BD9-81ED-4DB2-BD59-A6C34878D82A}">
                    <a16:rowId xmlns:a16="http://schemas.microsoft.com/office/drawing/2014/main" val="10005"/>
                  </a:ext>
                </a:extLst>
              </a:tr>
              <a:tr h="448679">
                <a:tc>
                  <a:txBody>
                    <a:bodyPr/>
                    <a:lstStyle/>
                    <a:p>
                      <a:r>
                        <a:rPr lang="en-IN" dirty="0"/>
                        <a:t>&lt;input type="checkbox" name="subscribe"&gt;</a:t>
                      </a:r>
                    </a:p>
                  </a:txBody>
                  <a:tcPr/>
                </a:tc>
                <a:tc>
                  <a:txBody>
                    <a:bodyPr/>
                    <a:lstStyle/>
                    <a:p>
                      <a:r>
                        <a:rPr lang="en-IN" dirty="0"/>
                        <a:t>Checkbox for multiple selections.</a:t>
                      </a:r>
                    </a:p>
                  </a:txBody>
                  <a:tcPr/>
                </a:tc>
                <a:extLst>
                  <a:ext uri="{0D108BD9-81ED-4DB2-BD59-A6C34878D82A}">
                    <a16:rowId xmlns:a16="http://schemas.microsoft.com/office/drawing/2014/main" val="10006"/>
                  </a:ext>
                </a:extLst>
              </a:tr>
              <a:tr h="448679">
                <a:tc>
                  <a:txBody>
                    <a:bodyPr/>
                    <a:lstStyle/>
                    <a:p>
                      <a:r>
                        <a:rPr lang="en-IN" dirty="0"/>
                        <a:t>&lt;</a:t>
                      </a:r>
                      <a:r>
                        <a:rPr lang="en-IN" dirty="0" err="1"/>
                        <a:t>textarea</a:t>
                      </a:r>
                      <a:r>
                        <a:rPr lang="en-IN" dirty="0"/>
                        <a:t> name="message"&gt;&lt;/</a:t>
                      </a:r>
                      <a:r>
                        <a:rPr lang="en-IN" dirty="0" err="1"/>
                        <a:t>textarea</a:t>
                      </a:r>
                      <a:r>
                        <a:rPr lang="en-IN" dirty="0"/>
                        <a:t>&gt;</a:t>
                      </a:r>
                    </a:p>
                  </a:txBody>
                  <a:tcPr/>
                </a:tc>
                <a:tc>
                  <a:txBody>
                    <a:bodyPr/>
                    <a:lstStyle/>
                    <a:p>
                      <a:r>
                        <a:rPr lang="en-IN" dirty="0"/>
                        <a:t>Multi-line text input area. </a:t>
                      </a:r>
                    </a:p>
                  </a:txBody>
                  <a:tcPr/>
                </a:tc>
                <a:extLst>
                  <a:ext uri="{0D108BD9-81ED-4DB2-BD59-A6C34878D82A}">
                    <a16:rowId xmlns:a16="http://schemas.microsoft.com/office/drawing/2014/main" val="10007"/>
                  </a:ext>
                </a:extLst>
              </a:tr>
              <a:tr h="448679">
                <a:tc>
                  <a:txBody>
                    <a:bodyPr/>
                    <a:lstStyle/>
                    <a:p>
                      <a:r>
                        <a:rPr lang="en-IN" dirty="0"/>
                        <a:t>&lt;select name="country"&gt;</a:t>
                      </a:r>
                    </a:p>
                  </a:txBody>
                  <a:tcPr/>
                </a:tc>
                <a:tc>
                  <a:txBody>
                    <a:bodyPr/>
                    <a:lstStyle/>
                    <a:p>
                      <a:r>
                        <a:rPr lang="en-IN" dirty="0"/>
                        <a:t>Dropdown selection menu.</a:t>
                      </a:r>
                    </a:p>
                  </a:txBody>
                  <a:tcPr/>
                </a:tc>
                <a:extLst>
                  <a:ext uri="{0D108BD9-81ED-4DB2-BD59-A6C34878D82A}">
                    <a16:rowId xmlns:a16="http://schemas.microsoft.com/office/drawing/2014/main" val="10008"/>
                  </a:ext>
                </a:extLst>
              </a:tr>
              <a:tr h="448679">
                <a:tc>
                  <a:txBody>
                    <a:bodyPr/>
                    <a:lstStyle/>
                    <a:p>
                      <a:r>
                        <a:rPr lang="en-IN" dirty="0"/>
                        <a:t>&lt;input type="submit" value="Submit"&gt;</a:t>
                      </a:r>
                    </a:p>
                  </a:txBody>
                  <a:tcPr/>
                </a:tc>
                <a:tc>
                  <a:txBody>
                    <a:bodyPr/>
                    <a:lstStyle/>
                    <a:p>
                      <a:r>
                        <a:rPr lang="en-IN" dirty="0"/>
                        <a:t>Submit button.</a:t>
                      </a:r>
                    </a:p>
                  </a:txBody>
                  <a:tcPr/>
                </a:tc>
                <a:extLst>
                  <a:ext uri="{0D108BD9-81ED-4DB2-BD59-A6C34878D82A}">
                    <a16:rowId xmlns:a16="http://schemas.microsoft.com/office/drawing/2014/main" val="10009"/>
                  </a:ext>
                </a:extLst>
              </a:tr>
              <a:tr h="448679">
                <a:tc>
                  <a:txBody>
                    <a:bodyPr/>
                    <a:lstStyle/>
                    <a:p>
                      <a:r>
                        <a:rPr lang="en-IN" dirty="0"/>
                        <a:t>&lt;label for="username"&gt;Username:&lt;/label&gt;</a:t>
                      </a:r>
                    </a:p>
                  </a:txBody>
                  <a:tcPr/>
                </a:tc>
                <a:tc>
                  <a:txBody>
                    <a:bodyPr/>
                    <a:lstStyle/>
                    <a:p>
                      <a:r>
                        <a:rPr lang="en-IN" dirty="0"/>
                        <a:t>Label for an input field.</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7796662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Web Form and Validation</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pic>
        <p:nvPicPr>
          <p:cNvPr id="6" name="Picture 5"/>
          <p:cNvPicPr>
            <a:picLocks noChangeAspect="1"/>
          </p:cNvPicPr>
          <p:nvPr/>
        </p:nvPicPr>
        <p:blipFill>
          <a:blip r:embed="rId3"/>
          <a:stretch>
            <a:fillRect/>
          </a:stretch>
        </p:blipFill>
        <p:spPr>
          <a:xfrm>
            <a:off x="3722061" y="1107951"/>
            <a:ext cx="4520418" cy="5486614"/>
          </a:xfrm>
          <a:prstGeom prst="rect">
            <a:avLst/>
          </a:prstGeom>
        </p:spPr>
      </p:pic>
    </p:spTree>
    <p:extLst>
      <p:ext uri="{BB962C8B-B14F-4D97-AF65-F5344CB8AC3E}">
        <p14:creationId xmlns:p14="http://schemas.microsoft.com/office/powerpoint/2010/main" val="2668137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SVG - Scalable Vector Graphics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sp>
        <p:nvSpPr>
          <p:cNvPr id="4" name="Rectangle 3"/>
          <p:cNvSpPr/>
          <p:nvPr/>
        </p:nvSpPr>
        <p:spPr>
          <a:xfrm>
            <a:off x="555986" y="1360581"/>
            <a:ext cx="10738785" cy="4062651"/>
          </a:xfrm>
          <a:prstGeom prst="rect">
            <a:avLst/>
          </a:prstGeom>
        </p:spPr>
        <p:txBody>
          <a:bodyPr wrap="square">
            <a:spAutoFit/>
          </a:bodyPr>
          <a:lstStyle/>
          <a:p>
            <a:pPr marL="285750" indent="-285750">
              <a:buFont typeface="Arial" panose="020B0604020202020204" pitchFamily="34" charset="0"/>
              <a:buChar char="•"/>
            </a:pPr>
            <a:r>
              <a:rPr lang="en-IN" sz="2000" dirty="0">
                <a:latin typeface="Cambria" panose="02040503050406030204" pitchFamily="18" charset="0"/>
              </a:rPr>
              <a:t>SVG defines vector-based graphics in XML, which can be directly embedded in HTML pages.</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SVG graphics are scalable, and do not lose any quality if they are zoomed or resized.</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SVG stands for Scalable Vector Graphics</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SVG is used to define vector-based graphics for the Web</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SVG defines graphics in XML format</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Each element and attribute in SVG files can be animated</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SVG is a W3C recommendation</a:t>
            </a:r>
          </a:p>
        </p:txBody>
      </p:sp>
    </p:spTree>
    <p:extLst>
      <p:ext uri="{BB962C8B-B14F-4D97-AF65-F5344CB8AC3E}">
        <p14:creationId xmlns:p14="http://schemas.microsoft.com/office/powerpoint/2010/main" val="42620870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SVG - Scalable Vector Graphics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sp>
        <p:nvSpPr>
          <p:cNvPr id="4" name="Rectangle 3"/>
          <p:cNvSpPr/>
          <p:nvPr/>
        </p:nvSpPr>
        <p:spPr>
          <a:xfrm>
            <a:off x="555986" y="1360581"/>
            <a:ext cx="10738785" cy="1631216"/>
          </a:xfrm>
          <a:prstGeom prst="rect">
            <a:avLst/>
          </a:prstGeom>
        </p:spPr>
        <p:txBody>
          <a:bodyPr wrap="square">
            <a:spAutoFit/>
          </a:bodyPr>
          <a:lstStyle/>
          <a:p>
            <a:r>
              <a:rPr lang="en-IN" sz="2000" b="1" dirty="0"/>
              <a:t>The &lt;</a:t>
            </a:r>
            <a:r>
              <a:rPr lang="en-IN" sz="2000" b="1" dirty="0" err="1"/>
              <a:t>svg</a:t>
            </a:r>
            <a:r>
              <a:rPr lang="en-IN" sz="2000" b="1" dirty="0"/>
              <a:t>&gt; Element</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latin typeface="Cambria" panose="02040503050406030204" pitchFamily="18" charset="0"/>
              </a:rPr>
              <a:t>The HTML &lt;</a:t>
            </a:r>
            <a:r>
              <a:rPr lang="en-IN" sz="2000" dirty="0" err="1">
                <a:latin typeface="Cambria" panose="02040503050406030204" pitchFamily="18" charset="0"/>
              </a:rPr>
              <a:t>svg</a:t>
            </a:r>
            <a:r>
              <a:rPr lang="en-IN" sz="2000" dirty="0">
                <a:latin typeface="Cambria" panose="02040503050406030204" pitchFamily="18" charset="0"/>
              </a:rPr>
              <a:t>&gt; element is a container for SVG graphics.</a:t>
            </a:r>
          </a:p>
          <a:p>
            <a:pPr marL="285750" indent="-285750">
              <a:buFont typeface="Arial" panose="020B0604020202020204" pitchFamily="34" charset="0"/>
              <a:buChar char="•"/>
            </a:pPr>
            <a:endParaRPr lang="en-IN" sz="2000" dirty="0">
              <a:latin typeface="Cambria" panose="02040503050406030204" pitchFamily="18" charset="0"/>
            </a:endParaRPr>
          </a:p>
          <a:p>
            <a:pPr marL="285750" indent="-285750">
              <a:buFont typeface="Arial" panose="020B0604020202020204" pitchFamily="34" charset="0"/>
              <a:buChar char="•"/>
            </a:pPr>
            <a:r>
              <a:rPr lang="en-IN" sz="2000" dirty="0">
                <a:latin typeface="Cambria" panose="02040503050406030204" pitchFamily="18" charset="0"/>
              </a:rPr>
              <a:t>SVG has several methods for drawing paths, rectangles, circles, polygons, text, and much more.</a:t>
            </a:r>
          </a:p>
        </p:txBody>
      </p:sp>
    </p:spTree>
    <p:extLst>
      <p:ext uri="{BB962C8B-B14F-4D97-AF65-F5344CB8AC3E}">
        <p14:creationId xmlns:p14="http://schemas.microsoft.com/office/powerpoint/2010/main" val="18353228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SVG - Scalable Vector Graphics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sp>
        <p:nvSpPr>
          <p:cNvPr id="4" name="Rectangle 3"/>
          <p:cNvSpPr/>
          <p:nvPr/>
        </p:nvSpPr>
        <p:spPr>
          <a:xfrm>
            <a:off x="555986" y="1360581"/>
            <a:ext cx="10738785" cy="4524315"/>
          </a:xfrm>
          <a:prstGeom prst="rect">
            <a:avLst/>
          </a:prstGeom>
        </p:spPr>
        <p:txBody>
          <a:bodyPr wrap="square">
            <a:spAutoFit/>
          </a:bodyPr>
          <a:lstStyle/>
          <a:p>
            <a:r>
              <a:rPr lang="en-IN" sz="2400" b="1" dirty="0">
                <a:latin typeface="Cambria" panose="02040503050406030204" pitchFamily="18" charset="0"/>
              </a:rPr>
              <a:t>SVG Circle</a:t>
            </a:r>
          </a:p>
          <a:p>
            <a:endParaRPr lang="en-IN" sz="2400" b="1" dirty="0">
              <a:latin typeface="Cambria" panose="02040503050406030204" pitchFamily="18" charset="0"/>
            </a:endParaRPr>
          </a:p>
          <a:p>
            <a:r>
              <a:rPr lang="en-IN" sz="2400" dirty="0">
                <a:solidFill>
                  <a:srgbClr val="708090"/>
                </a:solidFill>
                <a:latin typeface="Cambria" panose="02040503050406030204" pitchFamily="18" charset="0"/>
              </a:rPr>
              <a:t>&lt;!DOCTYPE html&gt;</a:t>
            </a: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html</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body</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err="1">
                <a:solidFill>
                  <a:srgbClr val="990055"/>
                </a:solidFill>
                <a:latin typeface="Cambria" panose="02040503050406030204" pitchFamily="18" charset="0"/>
              </a:rPr>
              <a:t>svg</a:t>
            </a:r>
            <a:r>
              <a:rPr lang="en-IN" sz="2400" dirty="0">
                <a:solidFill>
                  <a:srgbClr val="008000"/>
                </a:solidFill>
                <a:latin typeface="Cambria" panose="02040503050406030204" pitchFamily="18" charset="0"/>
              </a:rPr>
              <a:t> width</a:t>
            </a:r>
            <a:r>
              <a:rPr lang="en-IN" sz="2400" dirty="0">
                <a:solidFill>
                  <a:srgbClr val="005CC5"/>
                </a:solidFill>
                <a:latin typeface="Cambria" panose="02040503050406030204" pitchFamily="18" charset="0"/>
              </a:rPr>
              <a:t>="100"</a:t>
            </a:r>
            <a:r>
              <a:rPr lang="en-IN" sz="2400" dirty="0">
                <a:solidFill>
                  <a:srgbClr val="008000"/>
                </a:solidFill>
                <a:latin typeface="Cambria" panose="02040503050406030204" pitchFamily="18" charset="0"/>
              </a:rPr>
              <a:t> height</a:t>
            </a:r>
            <a:r>
              <a:rPr lang="en-IN" sz="2400" dirty="0">
                <a:solidFill>
                  <a:srgbClr val="005CC5"/>
                </a:solidFill>
                <a:latin typeface="Cambria" panose="02040503050406030204" pitchFamily="18" charset="0"/>
              </a:rPr>
              <a:t>="100"</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r>
              <a:rPr lang="en-IN" sz="2400" dirty="0">
                <a:solidFill>
                  <a:srgbClr val="000000"/>
                </a:solidFill>
                <a:latin typeface="Cambria" panose="02040503050406030204" pitchFamily="18" charset="0"/>
              </a:rPr>
              <a:t>  </a:t>
            </a: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circle</a:t>
            </a:r>
            <a:r>
              <a:rPr lang="en-IN" sz="2400" dirty="0">
                <a:solidFill>
                  <a:srgbClr val="008000"/>
                </a:solidFill>
                <a:latin typeface="Cambria" panose="02040503050406030204" pitchFamily="18" charset="0"/>
              </a:rPr>
              <a:t> cx</a:t>
            </a:r>
            <a:r>
              <a:rPr lang="en-IN" sz="2400" dirty="0">
                <a:solidFill>
                  <a:srgbClr val="005CC5"/>
                </a:solidFill>
                <a:latin typeface="Cambria" panose="02040503050406030204" pitchFamily="18" charset="0"/>
              </a:rPr>
              <a:t>="50"</a:t>
            </a:r>
            <a:r>
              <a:rPr lang="en-IN" sz="2400" dirty="0">
                <a:solidFill>
                  <a:srgbClr val="008000"/>
                </a:solidFill>
                <a:latin typeface="Cambria" panose="02040503050406030204" pitchFamily="18" charset="0"/>
              </a:rPr>
              <a:t> cy</a:t>
            </a:r>
            <a:r>
              <a:rPr lang="en-IN" sz="2400" dirty="0">
                <a:solidFill>
                  <a:srgbClr val="005CC5"/>
                </a:solidFill>
                <a:latin typeface="Cambria" panose="02040503050406030204" pitchFamily="18" charset="0"/>
              </a:rPr>
              <a:t>="50"</a:t>
            </a:r>
            <a:r>
              <a:rPr lang="en-IN" sz="2400" dirty="0">
                <a:solidFill>
                  <a:srgbClr val="008000"/>
                </a:solidFill>
                <a:latin typeface="Cambria" panose="02040503050406030204" pitchFamily="18" charset="0"/>
              </a:rPr>
              <a:t> r</a:t>
            </a:r>
            <a:r>
              <a:rPr lang="en-IN" sz="2400" dirty="0">
                <a:solidFill>
                  <a:srgbClr val="005CC5"/>
                </a:solidFill>
                <a:latin typeface="Cambria" panose="02040503050406030204" pitchFamily="18" charset="0"/>
              </a:rPr>
              <a:t>="40"</a:t>
            </a:r>
            <a:r>
              <a:rPr lang="en-IN" sz="2400" dirty="0">
                <a:solidFill>
                  <a:srgbClr val="008000"/>
                </a:solidFill>
                <a:latin typeface="Cambria" panose="02040503050406030204" pitchFamily="18" charset="0"/>
              </a:rPr>
              <a:t> stroke</a:t>
            </a:r>
            <a:r>
              <a:rPr lang="en-IN" sz="2400" dirty="0">
                <a:solidFill>
                  <a:srgbClr val="005CC5"/>
                </a:solidFill>
                <a:latin typeface="Cambria" panose="02040503050406030204" pitchFamily="18" charset="0"/>
              </a:rPr>
              <a:t>="green"</a:t>
            </a:r>
            <a:r>
              <a:rPr lang="en-IN" sz="2400" dirty="0">
                <a:solidFill>
                  <a:srgbClr val="008000"/>
                </a:solidFill>
                <a:latin typeface="Cambria" panose="02040503050406030204" pitchFamily="18" charset="0"/>
              </a:rPr>
              <a:t> stroke-width</a:t>
            </a:r>
            <a:r>
              <a:rPr lang="en-IN" sz="2400" dirty="0">
                <a:solidFill>
                  <a:srgbClr val="005CC5"/>
                </a:solidFill>
                <a:latin typeface="Cambria" panose="02040503050406030204" pitchFamily="18" charset="0"/>
              </a:rPr>
              <a:t>="4"</a:t>
            </a:r>
            <a:r>
              <a:rPr lang="en-IN" sz="2400" dirty="0">
                <a:solidFill>
                  <a:srgbClr val="008000"/>
                </a:solidFill>
                <a:latin typeface="Cambria" panose="02040503050406030204" pitchFamily="18" charset="0"/>
              </a:rPr>
              <a:t> fill</a:t>
            </a:r>
            <a:r>
              <a:rPr lang="en-IN" sz="2400" dirty="0">
                <a:solidFill>
                  <a:srgbClr val="005CC5"/>
                </a:solidFill>
                <a:latin typeface="Cambria" panose="02040503050406030204" pitchFamily="18" charset="0"/>
              </a:rPr>
              <a:t>="yellow"</a:t>
            </a:r>
            <a:r>
              <a:rPr lang="en-IN" sz="2400" dirty="0">
                <a:solidFill>
                  <a:srgbClr val="008000"/>
                </a:solidFill>
                <a:latin typeface="Cambria" panose="02040503050406030204" pitchFamily="18" charset="0"/>
              </a:rPr>
              <a:t> /</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a:t>
            </a:r>
            <a:r>
              <a:rPr lang="en-IN" sz="2400" dirty="0" err="1">
                <a:solidFill>
                  <a:srgbClr val="990055"/>
                </a:solidFill>
                <a:latin typeface="Cambria" panose="02040503050406030204" pitchFamily="18" charset="0"/>
              </a:rPr>
              <a:t>svg</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/body</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/html</a:t>
            </a:r>
            <a:r>
              <a:rPr lang="en-IN" sz="2400" dirty="0">
                <a:solidFill>
                  <a:srgbClr val="999999"/>
                </a:solidFill>
                <a:latin typeface="Cambria" panose="02040503050406030204" pitchFamily="18" charset="0"/>
              </a:rPr>
              <a:t>&gt;</a:t>
            </a:r>
            <a:endParaRPr lang="en-IN" sz="2400" dirty="0">
              <a:latin typeface="Cambria" panose="02040503050406030204" pitchFamily="18" charset="0"/>
            </a:endParaRPr>
          </a:p>
        </p:txBody>
      </p:sp>
      <p:pic>
        <p:nvPicPr>
          <p:cNvPr id="6" name="Picture 5"/>
          <p:cNvPicPr>
            <a:picLocks noChangeAspect="1"/>
          </p:cNvPicPr>
          <p:nvPr/>
        </p:nvPicPr>
        <p:blipFill>
          <a:blip r:embed="rId3"/>
          <a:stretch>
            <a:fillRect/>
          </a:stretch>
        </p:blipFill>
        <p:spPr>
          <a:xfrm>
            <a:off x="8903728" y="2039461"/>
            <a:ext cx="1927404" cy="1834994"/>
          </a:xfrm>
          <a:prstGeom prst="rect">
            <a:avLst/>
          </a:prstGeom>
        </p:spPr>
      </p:pic>
    </p:spTree>
    <p:extLst>
      <p:ext uri="{BB962C8B-B14F-4D97-AF65-F5344CB8AC3E}">
        <p14:creationId xmlns:p14="http://schemas.microsoft.com/office/powerpoint/2010/main" val="1998135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SVG - Scalable Vector Graphics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sp>
        <p:nvSpPr>
          <p:cNvPr id="8" name="Rectangle 7"/>
          <p:cNvSpPr/>
          <p:nvPr/>
        </p:nvSpPr>
        <p:spPr>
          <a:xfrm>
            <a:off x="555986" y="1468273"/>
            <a:ext cx="11125591" cy="2308324"/>
          </a:xfrm>
          <a:prstGeom prst="rect">
            <a:avLst/>
          </a:prstGeom>
        </p:spPr>
        <p:txBody>
          <a:bodyPr wrap="square">
            <a:spAutoFit/>
          </a:bodyPr>
          <a:lstStyle/>
          <a:p>
            <a:r>
              <a:rPr lang="en-IN" sz="2400" b="1" dirty="0">
                <a:solidFill>
                  <a:srgbClr val="000000"/>
                </a:solidFill>
                <a:latin typeface="Cambria" panose="02040503050406030204" pitchFamily="18" charset="0"/>
              </a:rPr>
              <a:t>SVG Rectangle</a:t>
            </a:r>
          </a:p>
          <a:p>
            <a:endParaRPr lang="en-IN" sz="2400" b="0" i="0" dirty="0">
              <a:solidFill>
                <a:srgbClr val="000000"/>
              </a:solidFill>
              <a:effectLst/>
              <a:latin typeface="Cambria" panose="02040503050406030204" pitchFamily="18" charset="0"/>
            </a:endParaRPr>
          </a:p>
          <a:p>
            <a:r>
              <a:rPr lang="en-IN" sz="2400" dirty="0">
                <a:solidFill>
                  <a:srgbClr val="999999"/>
                </a:solidFill>
                <a:latin typeface="Cambria" panose="02040503050406030204" pitchFamily="18" charset="0"/>
              </a:rPr>
              <a:t>&lt;</a:t>
            </a:r>
            <a:r>
              <a:rPr lang="en-IN" sz="2400" dirty="0" err="1">
                <a:solidFill>
                  <a:srgbClr val="990055"/>
                </a:solidFill>
                <a:latin typeface="Cambria" panose="02040503050406030204" pitchFamily="18" charset="0"/>
              </a:rPr>
              <a:t>svg</a:t>
            </a:r>
            <a:r>
              <a:rPr lang="en-IN" sz="2400" dirty="0">
                <a:solidFill>
                  <a:srgbClr val="008000"/>
                </a:solidFill>
                <a:latin typeface="Cambria" panose="02040503050406030204" pitchFamily="18" charset="0"/>
              </a:rPr>
              <a:t> width</a:t>
            </a:r>
            <a:r>
              <a:rPr lang="en-IN" sz="2400" dirty="0">
                <a:solidFill>
                  <a:srgbClr val="005CC5"/>
                </a:solidFill>
                <a:latin typeface="Cambria" panose="02040503050406030204" pitchFamily="18" charset="0"/>
              </a:rPr>
              <a:t>="400"</a:t>
            </a:r>
            <a:r>
              <a:rPr lang="en-IN" sz="2400" dirty="0">
                <a:solidFill>
                  <a:srgbClr val="008000"/>
                </a:solidFill>
                <a:latin typeface="Cambria" panose="02040503050406030204" pitchFamily="18" charset="0"/>
              </a:rPr>
              <a:t> height</a:t>
            </a:r>
            <a:r>
              <a:rPr lang="en-IN" sz="2400" dirty="0">
                <a:solidFill>
                  <a:srgbClr val="005CC5"/>
                </a:solidFill>
                <a:latin typeface="Cambria" panose="02040503050406030204" pitchFamily="18" charset="0"/>
              </a:rPr>
              <a:t>="120"</a:t>
            </a:r>
            <a:r>
              <a:rPr lang="en-IN" sz="2400" dirty="0">
                <a:solidFill>
                  <a:srgbClr val="999999"/>
                </a:solidFill>
                <a:latin typeface="Cambria" panose="02040503050406030204" pitchFamily="18" charset="0"/>
              </a:rPr>
              <a:t>&gt;</a:t>
            </a:r>
            <a:br>
              <a:rPr lang="en-IN" sz="2400" dirty="0">
                <a:solidFill>
                  <a:srgbClr val="000000"/>
                </a:solidFill>
                <a:latin typeface="Cambria" panose="02040503050406030204" pitchFamily="18" charset="0"/>
              </a:rPr>
            </a:br>
            <a:r>
              <a:rPr lang="en-IN" sz="2400" dirty="0">
                <a:solidFill>
                  <a:srgbClr val="000000"/>
                </a:solidFill>
                <a:latin typeface="Cambria" panose="02040503050406030204" pitchFamily="18" charset="0"/>
              </a:rPr>
              <a:t>  </a:t>
            </a:r>
            <a:r>
              <a:rPr lang="en-IN" sz="2400" dirty="0">
                <a:solidFill>
                  <a:srgbClr val="999999"/>
                </a:solidFill>
                <a:latin typeface="Cambria" panose="02040503050406030204" pitchFamily="18" charset="0"/>
              </a:rPr>
              <a:t>&lt;</a:t>
            </a:r>
            <a:r>
              <a:rPr lang="en-IN" sz="2400" dirty="0" err="1">
                <a:solidFill>
                  <a:srgbClr val="990055"/>
                </a:solidFill>
                <a:latin typeface="Cambria" panose="02040503050406030204" pitchFamily="18" charset="0"/>
              </a:rPr>
              <a:t>rect</a:t>
            </a:r>
            <a:r>
              <a:rPr lang="en-IN" sz="2400" dirty="0">
                <a:solidFill>
                  <a:srgbClr val="008000"/>
                </a:solidFill>
                <a:latin typeface="Cambria" panose="02040503050406030204" pitchFamily="18" charset="0"/>
              </a:rPr>
              <a:t> x</a:t>
            </a:r>
            <a:r>
              <a:rPr lang="en-IN" sz="2400" dirty="0">
                <a:solidFill>
                  <a:srgbClr val="005CC5"/>
                </a:solidFill>
                <a:latin typeface="Cambria" panose="02040503050406030204" pitchFamily="18" charset="0"/>
              </a:rPr>
              <a:t>="10"</a:t>
            </a:r>
            <a:r>
              <a:rPr lang="en-IN" sz="2400" dirty="0">
                <a:solidFill>
                  <a:srgbClr val="008000"/>
                </a:solidFill>
                <a:latin typeface="Cambria" panose="02040503050406030204" pitchFamily="18" charset="0"/>
              </a:rPr>
              <a:t> y</a:t>
            </a:r>
            <a:r>
              <a:rPr lang="en-IN" sz="2400" dirty="0">
                <a:solidFill>
                  <a:srgbClr val="005CC5"/>
                </a:solidFill>
                <a:latin typeface="Cambria" panose="02040503050406030204" pitchFamily="18" charset="0"/>
              </a:rPr>
              <a:t>="10"</a:t>
            </a:r>
            <a:r>
              <a:rPr lang="en-IN" sz="2400" dirty="0">
                <a:solidFill>
                  <a:srgbClr val="008000"/>
                </a:solidFill>
                <a:latin typeface="Cambria" panose="02040503050406030204" pitchFamily="18" charset="0"/>
              </a:rPr>
              <a:t> width</a:t>
            </a:r>
            <a:r>
              <a:rPr lang="en-IN" sz="2400" dirty="0">
                <a:solidFill>
                  <a:srgbClr val="005CC5"/>
                </a:solidFill>
                <a:latin typeface="Cambria" panose="02040503050406030204" pitchFamily="18" charset="0"/>
              </a:rPr>
              <a:t>="200"</a:t>
            </a:r>
            <a:r>
              <a:rPr lang="en-IN" sz="2400" dirty="0">
                <a:solidFill>
                  <a:srgbClr val="008000"/>
                </a:solidFill>
                <a:latin typeface="Cambria" panose="02040503050406030204" pitchFamily="18" charset="0"/>
              </a:rPr>
              <a:t> height</a:t>
            </a:r>
            <a:r>
              <a:rPr lang="en-IN" sz="2400" dirty="0">
                <a:solidFill>
                  <a:srgbClr val="005CC5"/>
                </a:solidFill>
                <a:latin typeface="Cambria" panose="02040503050406030204" pitchFamily="18" charset="0"/>
              </a:rPr>
              <a:t>="100"</a:t>
            </a:r>
            <a:r>
              <a:rPr lang="en-IN" sz="2400" dirty="0">
                <a:solidFill>
                  <a:srgbClr val="008000"/>
                </a:solidFill>
                <a:latin typeface="Cambria" panose="02040503050406030204" pitchFamily="18" charset="0"/>
              </a:rPr>
              <a:t> stroke</a:t>
            </a:r>
            <a:r>
              <a:rPr lang="en-IN" sz="2400" dirty="0">
                <a:solidFill>
                  <a:srgbClr val="005CC5"/>
                </a:solidFill>
                <a:latin typeface="Cambria" panose="02040503050406030204" pitchFamily="18" charset="0"/>
              </a:rPr>
              <a:t>="red"</a:t>
            </a:r>
            <a:r>
              <a:rPr lang="en-IN" sz="2400" dirty="0">
                <a:solidFill>
                  <a:srgbClr val="008000"/>
                </a:solidFill>
                <a:latin typeface="Cambria" panose="02040503050406030204" pitchFamily="18" charset="0"/>
              </a:rPr>
              <a:t> stroke-width</a:t>
            </a:r>
            <a:r>
              <a:rPr lang="en-IN" sz="2400" dirty="0">
                <a:solidFill>
                  <a:srgbClr val="005CC5"/>
                </a:solidFill>
                <a:latin typeface="Cambria" panose="02040503050406030204" pitchFamily="18" charset="0"/>
              </a:rPr>
              <a:t>="6"</a:t>
            </a:r>
            <a:r>
              <a:rPr lang="en-IN" sz="2400" dirty="0">
                <a:solidFill>
                  <a:srgbClr val="008000"/>
                </a:solidFill>
                <a:latin typeface="Cambria" panose="02040503050406030204" pitchFamily="18" charset="0"/>
              </a:rPr>
              <a:t> fill</a:t>
            </a:r>
            <a:r>
              <a:rPr lang="en-IN" sz="2400" dirty="0">
                <a:solidFill>
                  <a:srgbClr val="005CC5"/>
                </a:solidFill>
                <a:latin typeface="Cambria" panose="02040503050406030204" pitchFamily="18" charset="0"/>
              </a:rPr>
              <a:t>="blue"</a:t>
            </a:r>
            <a:r>
              <a:rPr lang="en-IN" sz="2400" dirty="0">
                <a:solidFill>
                  <a:srgbClr val="008000"/>
                </a:solidFill>
                <a:latin typeface="Cambria" panose="02040503050406030204" pitchFamily="18" charset="0"/>
              </a:rPr>
              <a:t> /</a:t>
            </a:r>
            <a:r>
              <a:rPr lang="en-IN" sz="2400" dirty="0">
                <a:solidFill>
                  <a:srgbClr val="999999"/>
                </a:solidFill>
                <a:latin typeface="Cambria" panose="02040503050406030204" pitchFamily="18" charset="0"/>
              </a:rPr>
              <a:t>&gt;</a:t>
            </a:r>
            <a:br>
              <a:rPr lang="en-IN" sz="2400" dirty="0">
                <a:solidFill>
                  <a:srgbClr val="000000"/>
                </a:solidFill>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a:t>
            </a:r>
            <a:r>
              <a:rPr lang="en-IN" sz="2400" dirty="0" err="1">
                <a:solidFill>
                  <a:srgbClr val="990055"/>
                </a:solidFill>
                <a:latin typeface="Cambria" panose="02040503050406030204" pitchFamily="18" charset="0"/>
              </a:rPr>
              <a:t>svg</a:t>
            </a:r>
            <a:r>
              <a:rPr lang="en-IN" sz="2400" dirty="0">
                <a:solidFill>
                  <a:srgbClr val="999999"/>
                </a:solidFill>
                <a:latin typeface="Cambria" panose="02040503050406030204" pitchFamily="18" charset="0"/>
              </a:rPr>
              <a:t>&gt;</a:t>
            </a:r>
            <a:endParaRPr lang="en-IN" sz="2400" dirty="0">
              <a:solidFill>
                <a:srgbClr val="000000"/>
              </a:solidFill>
              <a:latin typeface="Cambria" panose="02040503050406030204" pitchFamily="18" charset="0"/>
            </a:endParaRPr>
          </a:p>
        </p:txBody>
      </p:sp>
      <p:pic>
        <p:nvPicPr>
          <p:cNvPr id="9" name="Picture 8"/>
          <p:cNvPicPr>
            <a:picLocks noChangeAspect="1"/>
          </p:cNvPicPr>
          <p:nvPr/>
        </p:nvPicPr>
        <p:blipFill>
          <a:blip r:embed="rId3"/>
          <a:stretch>
            <a:fillRect/>
          </a:stretch>
        </p:blipFill>
        <p:spPr>
          <a:xfrm>
            <a:off x="3810872" y="3900018"/>
            <a:ext cx="2638425" cy="1504950"/>
          </a:xfrm>
          <a:prstGeom prst="rect">
            <a:avLst/>
          </a:prstGeom>
        </p:spPr>
      </p:pic>
    </p:spTree>
    <p:extLst>
      <p:ext uri="{BB962C8B-B14F-4D97-AF65-F5344CB8AC3E}">
        <p14:creationId xmlns:p14="http://schemas.microsoft.com/office/powerpoint/2010/main" val="25477376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SVG - Scalable Vector Graphics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sp>
        <p:nvSpPr>
          <p:cNvPr id="8" name="Rectangle 7"/>
          <p:cNvSpPr/>
          <p:nvPr/>
        </p:nvSpPr>
        <p:spPr>
          <a:xfrm>
            <a:off x="555986" y="1468273"/>
            <a:ext cx="11125591" cy="3046988"/>
          </a:xfrm>
          <a:prstGeom prst="rect">
            <a:avLst/>
          </a:prstGeom>
        </p:spPr>
        <p:txBody>
          <a:bodyPr wrap="square">
            <a:spAutoFit/>
          </a:bodyPr>
          <a:lstStyle/>
          <a:p>
            <a:r>
              <a:rPr lang="en-IN" sz="2400" b="1" dirty="0">
                <a:solidFill>
                  <a:srgbClr val="000000"/>
                </a:solidFill>
                <a:latin typeface="Cambria" panose="02040503050406030204" pitchFamily="18" charset="0"/>
              </a:rPr>
              <a:t>SVG Star</a:t>
            </a:r>
          </a:p>
          <a:p>
            <a:endParaRPr lang="en-IN" sz="2400" b="1" dirty="0">
              <a:solidFill>
                <a:srgbClr val="000000"/>
              </a:solidFill>
              <a:latin typeface="Cambria" panose="02040503050406030204" pitchFamily="18" charset="0"/>
            </a:endParaRPr>
          </a:p>
          <a:p>
            <a:r>
              <a:rPr lang="en-IN" sz="2400" dirty="0">
                <a:solidFill>
                  <a:srgbClr val="999999"/>
                </a:solidFill>
                <a:latin typeface="Cambria" panose="02040503050406030204" pitchFamily="18" charset="0"/>
              </a:rPr>
              <a:t>&lt;</a:t>
            </a:r>
            <a:r>
              <a:rPr lang="en-IN" sz="2400" dirty="0" err="1">
                <a:solidFill>
                  <a:srgbClr val="990055"/>
                </a:solidFill>
                <a:latin typeface="Cambria" panose="02040503050406030204" pitchFamily="18" charset="0"/>
              </a:rPr>
              <a:t>svg</a:t>
            </a:r>
            <a:r>
              <a:rPr lang="en-IN" sz="2400" dirty="0">
                <a:solidFill>
                  <a:srgbClr val="008000"/>
                </a:solidFill>
                <a:latin typeface="Cambria" panose="02040503050406030204" pitchFamily="18" charset="0"/>
              </a:rPr>
              <a:t> width</a:t>
            </a:r>
            <a:r>
              <a:rPr lang="en-IN" sz="2400" dirty="0">
                <a:solidFill>
                  <a:srgbClr val="005CC5"/>
                </a:solidFill>
                <a:latin typeface="Cambria" panose="02040503050406030204" pitchFamily="18" charset="0"/>
              </a:rPr>
              <a:t>="300"</a:t>
            </a:r>
            <a:r>
              <a:rPr lang="en-IN" sz="2400" dirty="0">
                <a:solidFill>
                  <a:srgbClr val="008000"/>
                </a:solidFill>
                <a:latin typeface="Cambria" panose="02040503050406030204" pitchFamily="18" charset="0"/>
              </a:rPr>
              <a:t> height</a:t>
            </a:r>
            <a:r>
              <a:rPr lang="en-IN" sz="2400" dirty="0">
                <a:solidFill>
                  <a:srgbClr val="005CC5"/>
                </a:solidFill>
                <a:latin typeface="Cambria" panose="02040503050406030204" pitchFamily="18" charset="0"/>
              </a:rPr>
              <a:t>="200"</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r>
              <a:rPr lang="en-IN" sz="2400" dirty="0">
                <a:solidFill>
                  <a:srgbClr val="000000"/>
                </a:solidFill>
                <a:latin typeface="Cambria" panose="02040503050406030204" pitchFamily="18" charset="0"/>
              </a:rPr>
              <a:t>  </a:t>
            </a: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polygon</a:t>
            </a:r>
            <a:r>
              <a:rPr lang="en-IN" sz="2400" dirty="0">
                <a:solidFill>
                  <a:srgbClr val="008000"/>
                </a:solidFill>
                <a:latin typeface="Cambria" panose="02040503050406030204" pitchFamily="18" charset="0"/>
              </a:rPr>
              <a:t> points</a:t>
            </a:r>
            <a:r>
              <a:rPr lang="en-IN" sz="2400" dirty="0">
                <a:solidFill>
                  <a:srgbClr val="005CC5"/>
                </a:solidFill>
                <a:latin typeface="Cambria" panose="02040503050406030204" pitchFamily="18" charset="0"/>
              </a:rPr>
              <a:t>="100,10 40,198 190,78 10,78 160,198"</a:t>
            </a:r>
            <a:br>
              <a:rPr lang="en-IN" sz="2400" dirty="0">
                <a:solidFill>
                  <a:srgbClr val="008000"/>
                </a:solidFill>
                <a:latin typeface="Cambria" panose="02040503050406030204" pitchFamily="18" charset="0"/>
              </a:rPr>
            </a:br>
            <a:r>
              <a:rPr lang="en-IN" sz="2400" dirty="0">
                <a:solidFill>
                  <a:srgbClr val="008000"/>
                </a:solidFill>
                <a:latin typeface="Cambria" panose="02040503050406030204" pitchFamily="18" charset="0"/>
              </a:rPr>
              <a:t>  style</a:t>
            </a:r>
            <a:r>
              <a:rPr lang="en-IN" sz="2400" dirty="0">
                <a:solidFill>
                  <a:srgbClr val="005CC5"/>
                </a:solidFill>
                <a:latin typeface="Cambria" panose="02040503050406030204" pitchFamily="18" charset="0"/>
              </a:rPr>
              <a:t>="fill:lime;stroke:purple;stroke-width:5;fill-rule:evenodd;"</a:t>
            </a:r>
            <a:r>
              <a:rPr lang="en-IN" sz="2400" dirty="0">
                <a:solidFill>
                  <a:srgbClr val="008000"/>
                </a:solidFill>
                <a:latin typeface="Cambria" panose="02040503050406030204" pitchFamily="18" charset="0"/>
              </a:rPr>
              <a:t> /</a:t>
            </a:r>
            <a:r>
              <a:rPr lang="en-IN" sz="2400" dirty="0">
                <a:solidFill>
                  <a:srgbClr val="999999"/>
                </a:solidFill>
                <a:latin typeface="Cambria" panose="02040503050406030204" pitchFamily="18" charset="0"/>
              </a:rPr>
              <a:t>&gt;</a:t>
            </a:r>
            <a:br>
              <a:rPr lang="en-IN" sz="2400" dirty="0">
                <a:latin typeface="Cambria" panose="02040503050406030204" pitchFamily="18" charset="0"/>
              </a:rPr>
            </a:br>
            <a:r>
              <a:rPr lang="en-IN" sz="2400" dirty="0">
                <a:solidFill>
                  <a:srgbClr val="999999"/>
                </a:solidFill>
                <a:latin typeface="Cambria" panose="02040503050406030204" pitchFamily="18" charset="0"/>
              </a:rPr>
              <a:t>&lt;</a:t>
            </a:r>
            <a:r>
              <a:rPr lang="en-IN" sz="2400" dirty="0">
                <a:solidFill>
                  <a:srgbClr val="990055"/>
                </a:solidFill>
                <a:latin typeface="Cambria" panose="02040503050406030204" pitchFamily="18" charset="0"/>
              </a:rPr>
              <a:t>/</a:t>
            </a:r>
            <a:r>
              <a:rPr lang="en-IN" sz="2400" dirty="0" err="1">
                <a:solidFill>
                  <a:srgbClr val="990055"/>
                </a:solidFill>
                <a:latin typeface="Cambria" panose="02040503050406030204" pitchFamily="18" charset="0"/>
              </a:rPr>
              <a:t>svg</a:t>
            </a:r>
            <a:r>
              <a:rPr lang="en-IN" sz="2400" dirty="0">
                <a:solidFill>
                  <a:srgbClr val="999999"/>
                </a:solidFill>
                <a:latin typeface="Cambria" panose="02040503050406030204" pitchFamily="18" charset="0"/>
              </a:rPr>
              <a:t>&gt;</a:t>
            </a:r>
            <a:endParaRPr lang="en-IN" sz="2400" b="1" dirty="0">
              <a:solidFill>
                <a:srgbClr val="000000"/>
              </a:solidFill>
              <a:latin typeface="Cambria" panose="02040503050406030204" pitchFamily="18" charset="0"/>
            </a:endParaRPr>
          </a:p>
          <a:p>
            <a:endParaRPr lang="en-IN" sz="2400" b="1" dirty="0">
              <a:solidFill>
                <a:srgbClr val="000000"/>
              </a:solidFill>
              <a:latin typeface="Cambria" panose="02040503050406030204" pitchFamily="18" charset="0"/>
            </a:endParaRPr>
          </a:p>
          <a:p>
            <a:endParaRPr lang="en-IN" sz="2400" dirty="0">
              <a:solidFill>
                <a:srgbClr val="000000"/>
              </a:solidFill>
              <a:latin typeface="Cambria" panose="02040503050406030204" pitchFamily="18" charset="0"/>
            </a:endParaRPr>
          </a:p>
        </p:txBody>
      </p:sp>
      <p:pic>
        <p:nvPicPr>
          <p:cNvPr id="6" name="Picture 5"/>
          <p:cNvPicPr>
            <a:picLocks noChangeAspect="1"/>
          </p:cNvPicPr>
          <p:nvPr/>
        </p:nvPicPr>
        <p:blipFill>
          <a:blip r:embed="rId3"/>
          <a:stretch>
            <a:fillRect/>
          </a:stretch>
        </p:blipFill>
        <p:spPr>
          <a:xfrm>
            <a:off x="4239764" y="3644319"/>
            <a:ext cx="2733675" cy="2686050"/>
          </a:xfrm>
          <a:prstGeom prst="rect">
            <a:avLst/>
          </a:prstGeom>
        </p:spPr>
      </p:pic>
    </p:spTree>
    <p:extLst>
      <p:ext uri="{BB962C8B-B14F-4D97-AF65-F5344CB8AC3E}">
        <p14:creationId xmlns:p14="http://schemas.microsoft.com/office/powerpoint/2010/main" val="2646217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65395" y="299545"/>
            <a:ext cx="5626311" cy="382156"/>
          </a:xfrm>
          <a:prstGeom prst="rect">
            <a:avLst/>
          </a:prstGeom>
        </p:spPr>
        <p:txBody>
          <a:bodyPr vert="horz" wrap="square" lIns="0" tIns="12700" rIns="0" bIns="0" rtlCol="0">
            <a:spAutoFit/>
          </a:bodyPr>
          <a:lstStyle/>
          <a:p>
            <a:pPr marL="12700">
              <a:lnSpc>
                <a:spcPct val="100000"/>
              </a:lnSpc>
              <a:spcBef>
                <a:spcPts val="100"/>
              </a:spcBef>
            </a:pPr>
            <a:r>
              <a:rPr lang="en-IN" sz="2400" b="1" dirty="0">
                <a:solidFill>
                  <a:srgbClr val="04A2B9"/>
                </a:solidFill>
                <a:latin typeface="Proxima Nova"/>
              </a:rPr>
              <a:t>SVG - Scalable Vector Graphics</a:t>
            </a:r>
            <a:endParaRPr sz="2400" dirty="0">
              <a:latin typeface="Proxima Nova"/>
            </a:endParaRPr>
          </a:p>
        </p:txBody>
      </p:sp>
      <p:sp>
        <p:nvSpPr>
          <p:cNvPr id="2" name="Rectangle 1"/>
          <p:cNvSpPr>
            <a:spLocks noChangeArrowheads="1"/>
          </p:cNvSpPr>
          <p:nvPr/>
        </p:nvSpPr>
        <p:spPr bwMode="auto">
          <a:xfrm>
            <a:off x="0" y="-2739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7" name="Google Shape;71;p15"/>
          <p:cNvSpPr txBox="1">
            <a:spLocks noChangeArrowheads="1"/>
          </p:cNvSpPr>
          <p:nvPr/>
        </p:nvSpPr>
        <p:spPr bwMode="auto">
          <a:xfrm>
            <a:off x="310850" y="1098986"/>
            <a:ext cx="11125590" cy="52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endParaRPr lang="en-IN" sz="2200" dirty="0">
              <a:latin typeface="Cambria" panose="02040503050406030204" pitchFamily="18" charset="0"/>
            </a:endParaRPr>
          </a:p>
        </p:txBody>
      </p:sp>
      <p:sp>
        <p:nvSpPr>
          <p:cNvPr id="3" name="Rectangle 2"/>
          <p:cNvSpPr/>
          <p:nvPr/>
        </p:nvSpPr>
        <p:spPr>
          <a:xfrm>
            <a:off x="555987" y="1098986"/>
            <a:ext cx="10635315" cy="461665"/>
          </a:xfrm>
          <a:prstGeom prst="rect">
            <a:avLst/>
          </a:prstGeom>
        </p:spPr>
        <p:txBody>
          <a:bodyPr wrap="square">
            <a:spAutoFit/>
          </a:bodyPr>
          <a:lstStyle/>
          <a:p>
            <a:pPr algn="just"/>
            <a:endParaRPr lang="en-IN" sz="2400" dirty="0">
              <a:latin typeface="Cambria" panose="02040503050406030204" pitchFamily="18" charset="0"/>
            </a:endParaRPr>
          </a:p>
        </p:txBody>
      </p:sp>
      <p:sp>
        <p:nvSpPr>
          <p:cNvPr id="8" name="Rectangle 7"/>
          <p:cNvSpPr/>
          <p:nvPr/>
        </p:nvSpPr>
        <p:spPr>
          <a:xfrm>
            <a:off x="555986" y="1468273"/>
            <a:ext cx="11125591" cy="4093428"/>
          </a:xfrm>
          <a:prstGeom prst="rect">
            <a:avLst/>
          </a:prstGeom>
        </p:spPr>
        <p:txBody>
          <a:bodyPr wrap="square">
            <a:spAutoFit/>
          </a:bodyPr>
          <a:lstStyle/>
          <a:p>
            <a:r>
              <a:rPr lang="en-IN" sz="2000" b="1" dirty="0">
                <a:solidFill>
                  <a:srgbClr val="000000"/>
                </a:solidFill>
                <a:latin typeface="Cambria" panose="02040503050406030204" pitchFamily="18" charset="0"/>
              </a:rPr>
              <a:t>SVG Gradient Ellipse and Text</a:t>
            </a:r>
          </a:p>
          <a:p>
            <a:endParaRPr lang="en-IN" sz="2000" b="1" dirty="0">
              <a:solidFill>
                <a:srgbClr val="000000"/>
              </a:solidFill>
              <a:latin typeface="Cambria" panose="02040503050406030204" pitchFamily="18" charset="0"/>
            </a:endParaRPr>
          </a:p>
          <a:p>
            <a:r>
              <a:rPr lang="en-IN" sz="2000" dirty="0">
                <a:solidFill>
                  <a:srgbClr val="999999"/>
                </a:solidFill>
                <a:latin typeface="Cambria" panose="02040503050406030204" pitchFamily="18" charset="0"/>
              </a:rPr>
              <a:t>&lt;</a:t>
            </a:r>
            <a:r>
              <a:rPr lang="en-IN" sz="2000" dirty="0" err="1">
                <a:solidFill>
                  <a:srgbClr val="990055"/>
                </a:solidFill>
                <a:latin typeface="Cambria" panose="02040503050406030204" pitchFamily="18" charset="0"/>
              </a:rPr>
              <a:t>svg</a:t>
            </a:r>
            <a:r>
              <a:rPr lang="en-IN" sz="2000" dirty="0">
                <a:solidFill>
                  <a:srgbClr val="008000"/>
                </a:solidFill>
                <a:latin typeface="Cambria" panose="02040503050406030204" pitchFamily="18" charset="0"/>
              </a:rPr>
              <a:t> height</a:t>
            </a:r>
            <a:r>
              <a:rPr lang="en-IN" sz="2000" dirty="0">
                <a:solidFill>
                  <a:srgbClr val="005CC5"/>
                </a:solidFill>
                <a:latin typeface="Cambria" panose="02040503050406030204" pitchFamily="18" charset="0"/>
              </a:rPr>
              <a:t>="130"</a:t>
            </a:r>
            <a:r>
              <a:rPr lang="en-IN" sz="2000" dirty="0">
                <a:solidFill>
                  <a:srgbClr val="008000"/>
                </a:solidFill>
                <a:latin typeface="Cambria" panose="02040503050406030204" pitchFamily="18" charset="0"/>
              </a:rPr>
              <a:t> width</a:t>
            </a:r>
            <a:r>
              <a:rPr lang="en-IN" sz="2000" dirty="0">
                <a:solidFill>
                  <a:srgbClr val="005CC5"/>
                </a:solidFill>
                <a:latin typeface="Cambria" panose="02040503050406030204" pitchFamily="18" charset="0"/>
              </a:rPr>
              <a:t>="500"</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err="1">
                <a:solidFill>
                  <a:srgbClr val="990055"/>
                </a:solidFill>
                <a:latin typeface="Cambria" panose="02040503050406030204" pitchFamily="18" charset="0"/>
              </a:rPr>
              <a:t>defs</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err="1">
                <a:solidFill>
                  <a:srgbClr val="990055"/>
                </a:solidFill>
                <a:latin typeface="Cambria" panose="02040503050406030204" pitchFamily="18" charset="0"/>
              </a:rPr>
              <a:t>linearGradient</a:t>
            </a:r>
            <a:r>
              <a:rPr lang="en-IN" sz="2000" dirty="0">
                <a:solidFill>
                  <a:srgbClr val="008000"/>
                </a:solidFill>
                <a:latin typeface="Cambria" panose="02040503050406030204" pitchFamily="18" charset="0"/>
              </a:rPr>
              <a:t> id</a:t>
            </a:r>
            <a:r>
              <a:rPr lang="en-IN" sz="2000" dirty="0">
                <a:solidFill>
                  <a:srgbClr val="005CC5"/>
                </a:solidFill>
                <a:latin typeface="Cambria" panose="02040503050406030204" pitchFamily="18" charset="0"/>
              </a:rPr>
              <a:t>="grad1"</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stop</a:t>
            </a:r>
            <a:r>
              <a:rPr lang="en-IN" sz="2000" dirty="0">
                <a:solidFill>
                  <a:srgbClr val="008000"/>
                </a:solidFill>
                <a:latin typeface="Cambria" panose="02040503050406030204" pitchFamily="18" charset="0"/>
              </a:rPr>
              <a:t> offset</a:t>
            </a:r>
            <a:r>
              <a:rPr lang="en-IN" sz="2000" dirty="0">
                <a:solidFill>
                  <a:srgbClr val="005CC5"/>
                </a:solidFill>
                <a:latin typeface="Cambria" panose="02040503050406030204" pitchFamily="18" charset="0"/>
              </a:rPr>
              <a:t>="0%"</a:t>
            </a:r>
            <a:r>
              <a:rPr lang="en-IN" sz="2000" dirty="0">
                <a:solidFill>
                  <a:srgbClr val="008000"/>
                </a:solidFill>
                <a:latin typeface="Cambria" panose="02040503050406030204" pitchFamily="18" charset="0"/>
              </a:rPr>
              <a:t> stop-</a:t>
            </a:r>
            <a:r>
              <a:rPr lang="en-IN" sz="2000" dirty="0" err="1">
                <a:solidFill>
                  <a:srgbClr val="008000"/>
                </a:solidFill>
                <a:latin typeface="Cambria" panose="02040503050406030204" pitchFamily="18" charset="0"/>
              </a:rPr>
              <a:t>color</a:t>
            </a:r>
            <a:r>
              <a:rPr lang="en-IN" sz="2000" dirty="0">
                <a:solidFill>
                  <a:srgbClr val="005CC5"/>
                </a:solidFill>
                <a:latin typeface="Cambria" panose="02040503050406030204" pitchFamily="18" charset="0"/>
              </a:rPr>
              <a:t>="yellow"</a:t>
            </a:r>
            <a:r>
              <a:rPr lang="en-IN" sz="2000" dirty="0">
                <a:solidFill>
                  <a:srgbClr val="008000"/>
                </a:solidFill>
                <a:latin typeface="Cambria" panose="02040503050406030204" pitchFamily="18" charset="0"/>
              </a:rPr>
              <a:t> /</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stop</a:t>
            </a:r>
            <a:r>
              <a:rPr lang="en-IN" sz="2000" dirty="0">
                <a:solidFill>
                  <a:srgbClr val="008000"/>
                </a:solidFill>
                <a:latin typeface="Cambria" panose="02040503050406030204" pitchFamily="18" charset="0"/>
              </a:rPr>
              <a:t> offset</a:t>
            </a:r>
            <a:r>
              <a:rPr lang="en-IN" sz="2000" dirty="0">
                <a:solidFill>
                  <a:srgbClr val="005CC5"/>
                </a:solidFill>
                <a:latin typeface="Cambria" panose="02040503050406030204" pitchFamily="18" charset="0"/>
              </a:rPr>
              <a:t>="100%"</a:t>
            </a:r>
            <a:r>
              <a:rPr lang="en-IN" sz="2000" dirty="0">
                <a:solidFill>
                  <a:srgbClr val="008000"/>
                </a:solidFill>
                <a:latin typeface="Cambria" panose="02040503050406030204" pitchFamily="18" charset="0"/>
              </a:rPr>
              <a:t> stop-</a:t>
            </a:r>
            <a:r>
              <a:rPr lang="en-IN" sz="2000" dirty="0" err="1">
                <a:solidFill>
                  <a:srgbClr val="008000"/>
                </a:solidFill>
                <a:latin typeface="Cambria" panose="02040503050406030204" pitchFamily="18" charset="0"/>
              </a:rPr>
              <a:t>color</a:t>
            </a:r>
            <a:r>
              <a:rPr lang="en-IN" sz="2000" dirty="0">
                <a:solidFill>
                  <a:srgbClr val="005CC5"/>
                </a:solidFill>
                <a:latin typeface="Cambria" panose="02040503050406030204" pitchFamily="18" charset="0"/>
              </a:rPr>
              <a:t>="red"</a:t>
            </a:r>
            <a:r>
              <a:rPr lang="en-IN" sz="2000" dirty="0">
                <a:solidFill>
                  <a:srgbClr val="008000"/>
                </a:solidFill>
                <a:latin typeface="Cambria" panose="02040503050406030204" pitchFamily="18" charset="0"/>
              </a:rPr>
              <a:t> /</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a:t>
            </a:r>
            <a:r>
              <a:rPr lang="en-IN" sz="2000" dirty="0" err="1">
                <a:solidFill>
                  <a:srgbClr val="990055"/>
                </a:solidFill>
                <a:latin typeface="Cambria" panose="02040503050406030204" pitchFamily="18" charset="0"/>
              </a:rPr>
              <a:t>linearGradient</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a:t>
            </a:r>
            <a:r>
              <a:rPr lang="en-IN" sz="2000" dirty="0" err="1">
                <a:solidFill>
                  <a:srgbClr val="990055"/>
                </a:solidFill>
                <a:latin typeface="Cambria" panose="02040503050406030204" pitchFamily="18" charset="0"/>
              </a:rPr>
              <a:t>defs</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ellipse</a:t>
            </a:r>
            <a:r>
              <a:rPr lang="en-IN" sz="2000" dirty="0">
                <a:solidFill>
                  <a:srgbClr val="008000"/>
                </a:solidFill>
                <a:latin typeface="Cambria" panose="02040503050406030204" pitchFamily="18" charset="0"/>
              </a:rPr>
              <a:t> cx</a:t>
            </a:r>
            <a:r>
              <a:rPr lang="en-IN" sz="2000" dirty="0">
                <a:solidFill>
                  <a:srgbClr val="005CC5"/>
                </a:solidFill>
                <a:latin typeface="Cambria" panose="02040503050406030204" pitchFamily="18" charset="0"/>
              </a:rPr>
              <a:t>="100"</a:t>
            </a:r>
            <a:r>
              <a:rPr lang="en-IN" sz="2000" dirty="0">
                <a:solidFill>
                  <a:srgbClr val="008000"/>
                </a:solidFill>
                <a:latin typeface="Cambria" panose="02040503050406030204" pitchFamily="18" charset="0"/>
              </a:rPr>
              <a:t> cy</a:t>
            </a:r>
            <a:r>
              <a:rPr lang="en-IN" sz="2000" dirty="0">
                <a:solidFill>
                  <a:srgbClr val="005CC5"/>
                </a:solidFill>
                <a:latin typeface="Cambria" panose="02040503050406030204" pitchFamily="18" charset="0"/>
              </a:rPr>
              <a:t>="70"</a:t>
            </a:r>
            <a:r>
              <a:rPr lang="en-IN" sz="2000" dirty="0">
                <a:solidFill>
                  <a:srgbClr val="008000"/>
                </a:solidFill>
                <a:latin typeface="Cambria" panose="02040503050406030204" pitchFamily="18" charset="0"/>
              </a:rPr>
              <a:t> </a:t>
            </a:r>
            <a:r>
              <a:rPr lang="en-IN" sz="2000" dirty="0" err="1">
                <a:solidFill>
                  <a:srgbClr val="008000"/>
                </a:solidFill>
                <a:latin typeface="Cambria" panose="02040503050406030204" pitchFamily="18" charset="0"/>
              </a:rPr>
              <a:t>rx</a:t>
            </a:r>
            <a:r>
              <a:rPr lang="en-IN" sz="2000" dirty="0">
                <a:solidFill>
                  <a:srgbClr val="005CC5"/>
                </a:solidFill>
                <a:latin typeface="Cambria" panose="02040503050406030204" pitchFamily="18" charset="0"/>
              </a:rPr>
              <a:t>="85"</a:t>
            </a:r>
            <a:r>
              <a:rPr lang="en-IN" sz="2000" dirty="0">
                <a:solidFill>
                  <a:srgbClr val="008000"/>
                </a:solidFill>
                <a:latin typeface="Cambria" panose="02040503050406030204" pitchFamily="18" charset="0"/>
              </a:rPr>
              <a:t> </a:t>
            </a:r>
            <a:r>
              <a:rPr lang="en-IN" sz="2000" dirty="0" err="1">
                <a:solidFill>
                  <a:srgbClr val="008000"/>
                </a:solidFill>
                <a:latin typeface="Cambria" panose="02040503050406030204" pitchFamily="18" charset="0"/>
              </a:rPr>
              <a:t>ry</a:t>
            </a:r>
            <a:r>
              <a:rPr lang="en-IN" sz="2000" dirty="0">
                <a:solidFill>
                  <a:srgbClr val="005CC5"/>
                </a:solidFill>
                <a:latin typeface="Cambria" panose="02040503050406030204" pitchFamily="18" charset="0"/>
              </a:rPr>
              <a:t>="55"</a:t>
            </a:r>
            <a:r>
              <a:rPr lang="en-IN" sz="2000" dirty="0">
                <a:solidFill>
                  <a:srgbClr val="008000"/>
                </a:solidFill>
                <a:latin typeface="Cambria" panose="02040503050406030204" pitchFamily="18" charset="0"/>
              </a:rPr>
              <a:t> fill</a:t>
            </a:r>
            <a:r>
              <a:rPr lang="en-IN" sz="2000" dirty="0">
                <a:solidFill>
                  <a:srgbClr val="005CC5"/>
                </a:solidFill>
                <a:latin typeface="Cambria" panose="02040503050406030204" pitchFamily="18" charset="0"/>
              </a:rPr>
              <a:t>="url(#grad1)"</a:t>
            </a:r>
            <a:r>
              <a:rPr lang="en-IN" sz="2000" dirty="0">
                <a:solidFill>
                  <a:srgbClr val="008000"/>
                </a:solidFill>
                <a:latin typeface="Cambria" panose="02040503050406030204" pitchFamily="18" charset="0"/>
              </a:rPr>
              <a:t> /</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text</a:t>
            </a:r>
            <a:r>
              <a:rPr lang="en-IN" sz="2000" dirty="0">
                <a:solidFill>
                  <a:srgbClr val="008000"/>
                </a:solidFill>
                <a:latin typeface="Cambria" panose="02040503050406030204" pitchFamily="18" charset="0"/>
              </a:rPr>
              <a:t> fill</a:t>
            </a:r>
            <a:r>
              <a:rPr lang="en-IN" sz="2000" dirty="0">
                <a:solidFill>
                  <a:srgbClr val="005CC5"/>
                </a:solidFill>
                <a:latin typeface="Cambria" panose="02040503050406030204" pitchFamily="18" charset="0"/>
              </a:rPr>
              <a:t>="#</a:t>
            </a:r>
            <a:r>
              <a:rPr lang="en-IN" sz="2000" dirty="0" err="1">
                <a:solidFill>
                  <a:srgbClr val="005CC5"/>
                </a:solidFill>
                <a:latin typeface="Cambria" panose="02040503050406030204" pitchFamily="18" charset="0"/>
              </a:rPr>
              <a:t>ffffff</a:t>
            </a:r>
            <a:r>
              <a:rPr lang="en-IN" sz="2000" dirty="0">
                <a:solidFill>
                  <a:srgbClr val="005CC5"/>
                </a:solidFill>
                <a:latin typeface="Cambria" panose="02040503050406030204" pitchFamily="18" charset="0"/>
              </a:rPr>
              <a:t>"</a:t>
            </a:r>
            <a:r>
              <a:rPr lang="en-IN" sz="2000" dirty="0">
                <a:solidFill>
                  <a:srgbClr val="008000"/>
                </a:solidFill>
                <a:latin typeface="Cambria" panose="02040503050406030204" pitchFamily="18" charset="0"/>
              </a:rPr>
              <a:t> font-size</a:t>
            </a:r>
            <a:r>
              <a:rPr lang="en-IN" sz="2000" dirty="0">
                <a:solidFill>
                  <a:srgbClr val="005CC5"/>
                </a:solidFill>
                <a:latin typeface="Cambria" panose="02040503050406030204" pitchFamily="18" charset="0"/>
              </a:rPr>
              <a:t>="45"</a:t>
            </a:r>
            <a:r>
              <a:rPr lang="en-IN" sz="2000" dirty="0">
                <a:solidFill>
                  <a:srgbClr val="008000"/>
                </a:solidFill>
                <a:latin typeface="Cambria" panose="02040503050406030204" pitchFamily="18" charset="0"/>
              </a:rPr>
              <a:t> font-family</a:t>
            </a:r>
            <a:r>
              <a:rPr lang="en-IN" sz="2000" dirty="0">
                <a:solidFill>
                  <a:srgbClr val="005CC5"/>
                </a:solidFill>
                <a:latin typeface="Cambria" panose="02040503050406030204" pitchFamily="18" charset="0"/>
              </a:rPr>
              <a:t>="Verdana"</a:t>
            </a:r>
            <a:r>
              <a:rPr lang="en-IN" sz="2000" dirty="0">
                <a:solidFill>
                  <a:srgbClr val="008000"/>
                </a:solidFill>
                <a:latin typeface="Cambria" panose="02040503050406030204" pitchFamily="18" charset="0"/>
              </a:rPr>
              <a:t> x</a:t>
            </a:r>
            <a:r>
              <a:rPr lang="en-IN" sz="2000" dirty="0">
                <a:solidFill>
                  <a:srgbClr val="005CC5"/>
                </a:solidFill>
                <a:latin typeface="Cambria" panose="02040503050406030204" pitchFamily="18" charset="0"/>
              </a:rPr>
              <a:t>="50"</a:t>
            </a:r>
            <a:r>
              <a:rPr lang="en-IN" sz="2000" dirty="0">
                <a:solidFill>
                  <a:srgbClr val="008000"/>
                </a:solidFill>
                <a:latin typeface="Cambria" panose="02040503050406030204" pitchFamily="18" charset="0"/>
              </a:rPr>
              <a:t> y</a:t>
            </a:r>
            <a:r>
              <a:rPr lang="en-IN" sz="2000" dirty="0">
                <a:solidFill>
                  <a:srgbClr val="005CC5"/>
                </a:solidFill>
                <a:latin typeface="Cambria" panose="02040503050406030204" pitchFamily="18" charset="0"/>
              </a:rPr>
              <a:t>="86"</a:t>
            </a:r>
            <a:r>
              <a:rPr lang="en-IN" sz="2000" dirty="0">
                <a:solidFill>
                  <a:srgbClr val="999999"/>
                </a:solidFill>
                <a:latin typeface="Cambria" panose="02040503050406030204" pitchFamily="18" charset="0"/>
              </a:rPr>
              <a:t>&gt;</a:t>
            </a:r>
            <a:r>
              <a:rPr lang="en-IN" sz="2000" dirty="0">
                <a:solidFill>
                  <a:srgbClr val="000000"/>
                </a:solidFill>
                <a:latin typeface="Cambria" panose="02040503050406030204" pitchFamily="18" charset="0"/>
              </a:rPr>
              <a:t>SVG</a:t>
            </a: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/text</a:t>
            </a:r>
            <a:r>
              <a:rPr lang="en-IN" sz="2000" dirty="0">
                <a:solidFill>
                  <a:srgbClr val="999999"/>
                </a:solidFill>
                <a:latin typeface="Cambria" panose="02040503050406030204" pitchFamily="18" charset="0"/>
              </a:rPr>
              <a:t>&gt;</a:t>
            </a:r>
            <a:br>
              <a:rPr lang="en-IN" sz="2000" dirty="0">
                <a:latin typeface="Cambria" panose="02040503050406030204" pitchFamily="18" charset="0"/>
              </a:rPr>
            </a:br>
            <a:r>
              <a:rPr lang="en-IN" sz="2000" dirty="0">
                <a:solidFill>
                  <a:srgbClr val="000000"/>
                </a:solidFill>
                <a:latin typeface="Cambria" panose="02040503050406030204" pitchFamily="18" charset="0"/>
              </a:rPr>
              <a:t>  Sorry, your browser does not support inline SVG.</a:t>
            </a:r>
            <a:br>
              <a:rPr lang="en-IN" sz="2000" dirty="0">
                <a:latin typeface="Cambria" panose="02040503050406030204" pitchFamily="18" charset="0"/>
              </a:rPr>
            </a:br>
            <a:r>
              <a:rPr lang="en-IN" sz="2000" dirty="0">
                <a:solidFill>
                  <a:srgbClr val="999999"/>
                </a:solidFill>
                <a:latin typeface="Cambria" panose="02040503050406030204" pitchFamily="18" charset="0"/>
              </a:rPr>
              <a:t>&lt;</a:t>
            </a:r>
            <a:r>
              <a:rPr lang="en-IN" sz="2000" dirty="0">
                <a:solidFill>
                  <a:srgbClr val="990055"/>
                </a:solidFill>
                <a:latin typeface="Cambria" panose="02040503050406030204" pitchFamily="18" charset="0"/>
              </a:rPr>
              <a:t>/</a:t>
            </a:r>
            <a:r>
              <a:rPr lang="en-IN" sz="2000" dirty="0" err="1">
                <a:solidFill>
                  <a:srgbClr val="990055"/>
                </a:solidFill>
                <a:latin typeface="Cambria" panose="02040503050406030204" pitchFamily="18" charset="0"/>
              </a:rPr>
              <a:t>svg</a:t>
            </a:r>
            <a:r>
              <a:rPr lang="en-IN" sz="2000" dirty="0">
                <a:solidFill>
                  <a:srgbClr val="999999"/>
                </a:solidFill>
                <a:latin typeface="Cambria" panose="02040503050406030204" pitchFamily="18" charset="0"/>
              </a:rPr>
              <a:t>&gt;</a:t>
            </a:r>
            <a:endParaRPr lang="en-IN" sz="2000" dirty="0">
              <a:solidFill>
                <a:srgbClr val="000000"/>
              </a:solidFill>
              <a:latin typeface="Cambria" panose="02040503050406030204" pitchFamily="18" charset="0"/>
            </a:endParaRPr>
          </a:p>
        </p:txBody>
      </p:sp>
      <p:pic>
        <p:nvPicPr>
          <p:cNvPr id="4" name="Picture 3"/>
          <p:cNvPicPr>
            <a:picLocks noChangeAspect="1"/>
          </p:cNvPicPr>
          <p:nvPr/>
        </p:nvPicPr>
        <p:blipFill>
          <a:blip r:embed="rId3"/>
          <a:stretch>
            <a:fillRect/>
          </a:stretch>
        </p:blipFill>
        <p:spPr>
          <a:xfrm>
            <a:off x="7958558" y="1560651"/>
            <a:ext cx="2988483" cy="1980463"/>
          </a:xfrm>
          <a:prstGeom prst="rect">
            <a:avLst/>
          </a:prstGeom>
        </p:spPr>
      </p:pic>
    </p:spTree>
    <p:extLst>
      <p:ext uri="{BB962C8B-B14F-4D97-AF65-F5344CB8AC3E}">
        <p14:creationId xmlns:p14="http://schemas.microsoft.com/office/powerpoint/2010/main" val="2162079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1457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TotalTime>
  <Words>4596</Words>
  <Application>Microsoft Office PowerPoint</Application>
  <PresentationFormat>Widescreen</PresentationFormat>
  <Paragraphs>596</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Arial</vt:lpstr>
      <vt:lpstr>Calibri</vt:lpstr>
      <vt:lpstr>Calibri Light</vt:lpstr>
      <vt:lpstr>Cambria</vt:lpstr>
      <vt:lpstr>Consolas</vt:lpstr>
      <vt:lpstr>Proxima Nova</vt:lpstr>
      <vt:lpstr>Office Theme</vt:lpstr>
      <vt:lpstr>PowerPoint Presentation</vt:lpstr>
      <vt:lpstr>PowerPoint Presentation</vt:lpstr>
      <vt:lpstr>Course Outcome</vt:lpstr>
      <vt:lpstr>Outlines</vt:lpstr>
      <vt:lpstr>Introduction</vt:lpstr>
      <vt:lpstr>Introduction</vt:lpstr>
      <vt:lpstr>Introduction</vt:lpstr>
      <vt:lpstr>Introduction</vt:lpstr>
      <vt:lpstr>Introduction to Web Servers </vt:lpstr>
      <vt:lpstr>Introduction to Web Servers </vt:lpstr>
      <vt:lpstr>Introduction to Web Servers </vt:lpstr>
      <vt:lpstr>Introduction to Web Servers </vt:lpstr>
      <vt:lpstr>Introduction to Web Servers </vt:lpstr>
      <vt:lpstr>Introduction to Web Servers </vt:lpstr>
      <vt:lpstr>HTTP Request and Response Model</vt:lpstr>
      <vt:lpstr>HTTP Request and Response Model</vt:lpstr>
      <vt:lpstr>HTTP Request and Response Model</vt:lpstr>
      <vt:lpstr>HTTP Request and Response Model</vt:lpstr>
      <vt:lpstr>Structure of HTML</vt:lpstr>
      <vt:lpstr>Structure of HTML</vt:lpstr>
      <vt:lpstr>Doctypes in HTML</vt:lpstr>
      <vt:lpstr>HTML Elements, tags and attributes</vt:lpstr>
      <vt:lpstr>HTML Elements, tags and attributes</vt:lpstr>
      <vt:lpstr>HTML Elements, tags and attributes</vt:lpstr>
      <vt:lpstr>HTML Elements, tags and attributes</vt:lpstr>
      <vt:lpstr>HTML Elements, tags and attributes</vt:lpstr>
      <vt:lpstr>HTML Elements, tags and attributes</vt:lpstr>
      <vt:lpstr>HTML Styles</vt:lpstr>
      <vt:lpstr>HTML Styles</vt:lpstr>
      <vt:lpstr>HTML Styles</vt:lpstr>
      <vt:lpstr>HTML Styles</vt:lpstr>
      <vt:lpstr>HTML Text Formatting</vt:lpstr>
      <vt:lpstr>HTML Text Formatting</vt:lpstr>
      <vt:lpstr>HTML Text Formatting</vt:lpstr>
      <vt:lpstr>HTML Link</vt:lpstr>
      <vt:lpstr>List</vt:lpstr>
      <vt:lpstr>List</vt:lpstr>
      <vt:lpstr>List</vt:lpstr>
      <vt:lpstr>List</vt:lpstr>
      <vt:lpstr>List</vt:lpstr>
      <vt:lpstr>HTML Tables</vt:lpstr>
      <vt:lpstr>HTML Tables</vt:lpstr>
      <vt:lpstr>HTML 5 Layout and syntax</vt:lpstr>
      <vt:lpstr>HTML 5 Layout and syntax</vt:lpstr>
      <vt:lpstr>HTML 5 Layout and syntax</vt:lpstr>
      <vt:lpstr>HTML 5 Layout and syntax</vt:lpstr>
      <vt:lpstr>HTML Events</vt:lpstr>
      <vt:lpstr>HTML Events</vt:lpstr>
      <vt:lpstr>Audio and Video in HTML</vt:lpstr>
      <vt:lpstr>Audio and Video in HTML</vt:lpstr>
      <vt:lpstr>Audio and Video in HTML</vt:lpstr>
      <vt:lpstr>Web Form and Validation</vt:lpstr>
      <vt:lpstr>Web Form and Validation</vt:lpstr>
      <vt:lpstr>Web Form and Validation</vt:lpstr>
      <vt:lpstr>SVG - Scalable Vector Graphics</vt:lpstr>
      <vt:lpstr>SVG - Scalable Vector Graphics</vt:lpstr>
      <vt:lpstr>SVG - Scalable Vector Graphics</vt:lpstr>
      <vt:lpstr>SVG - Scalable Vector Graphics</vt:lpstr>
      <vt:lpstr>SVG - Scalable Vector Graphics</vt:lpstr>
      <vt:lpstr>SVG - Scalable Vector Graphics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harvi kalola</cp:lastModifiedBy>
  <cp:revision>275</cp:revision>
  <dcterms:created xsi:type="dcterms:W3CDTF">2023-12-05T07:58:57Z</dcterms:created>
  <dcterms:modified xsi:type="dcterms:W3CDTF">2026-09-16T14:52:47Z</dcterms:modified>
</cp:coreProperties>
</file>